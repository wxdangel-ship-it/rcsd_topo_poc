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RCSD 里程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E0E0E0"/>
              </a:solidFill>
            </c:spPr>
          </c:dPt>
          <c:cat>
            <c:strRef>
              <c:f>Sheet1!$A$2:$A$3</c:f>
              <c:strCache>
                <c:ptCount val="2"/>
                <c:pt idx="0">
                  <c:v>已替换</c:v>
                </c:pt>
                <c:pt idx="1">
                  <c:v>未替换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79.0626</c:v>
                </c:pt>
                <c:pt idx="1">
                  <c:v>20.9374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222222"/>
          </a:solidFill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占未替换里程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缺少有效替换证据</c:v>
                </c:pt>
                <c:pt idx="1">
                  <c:v>路口关联不完整</c:v>
                </c:pt>
                <c:pt idx="2">
                  <c:v>RCSD 不可替换</c:v>
                </c:pt>
                <c:pt idx="3">
                  <c:v>未归因/人工审计</c:v>
                </c:pt>
                <c:pt idx="4">
                  <c:v>超出 Segment 范围</c:v>
                </c:pt>
                <c:pt idx="5">
                  <c:v>可替换未落地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35.05</c:v>
                </c:pt>
                <c:pt idx="1">
                  <c:v>26.76</c:v>
                </c:pt>
                <c:pt idx="2">
                  <c:v>28.01</c:v>
                </c:pt>
                <c:pt idx="3">
                  <c:v>7.06</c:v>
                </c:pt>
                <c:pt idx="4">
                  <c:v>1.89</c:v>
                </c:pt>
                <c:pt idx="5">
                  <c:v>1.23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750">
                  <a:solidFill>
                    <a:srgbClr val="222222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保留通行能力，替换为 RCSD 高精度骨架：城市级收益已验证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自动化链路已形成可审计收益，人工标注进一步释放替换空间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969264"/>
            <a:ext cx="37307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9264"/>
            <a:ext cx="3730752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7840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Microsoft YaHei"/>
              </a:rPr>
              <a:t>当前自动替换收益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353312"/>
          <a:ext cx="1664208" cy="1444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7784" y="188366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79.0626%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1518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>
                <a:solidFill>
                  <a:srgbClr val="222222"/>
                </a:solidFill>
                <a:latin typeface="Microsoft YaHei"/>
              </a:rPr>
              <a:t>RCSD 里程替换率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344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66666"/>
                </a:solidFill>
                <a:latin typeface="Microsoft YaHei"/>
              </a:rPr>
              <a:t>已替换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545336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A8F3D"/>
                </a:solidFill>
                <a:latin typeface="Microsoft YaHei"/>
              </a:rPr>
              <a:t>10,216.596 km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1810512"/>
            <a:ext cx="1572767" cy="0"/>
          </a:xfrm>
          <a:prstGeom prst="line">
            <a:avLst/>
          </a:prstGeom>
          <a:ln w="762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48840" y="184708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66666"/>
                </a:solidFill>
                <a:latin typeface="Microsoft YaHei"/>
              </a:rPr>
              <a:t>总里程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048256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CAD"/>
                </a:solidFill>
                <a:latin typeface="Microsoft YaHei"/>
              </a:rPr>
              <a:t>12,922.165 km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2313432"/>
            <a:ext cx="1572767" cy="0"/>
          </a:xfrm>
          <a:prstGeom prst="line">
            <a:avLst/>
          </a:prstGeom>
          <a:ln w="762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8840" y="235000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66666"/>
                </a:solidFill>
                <a:latin typeface="Microsoft YaHei"/>
              </a:rPr>
              <a:t>未替换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551176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666666"/>
                </a:solidFill>
                <a:latin typeface="Microsoft YaHei"/>
              </a:rPr>
              <a:t>2,705.569 km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0791" y="969264"/>
            <a:ext cx="395020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50791" y="969264"/>
            <a:ext cx="3950208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1" y="978408"/>
            <a:ext cx="3767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未替换问题归因（未人工标注，5+1）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169663" y="1362456"/>
          <a:ext cx="3639312" cy="1481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279392" y="28163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>
                <a:solidFill>
                  <a:srgbClr val="B00000"/>
                </a:solidFill>
                <a:latin typeface="Microsoft YaHei"/>
              </a:rPr>
              <a:t>根因 2–4 合计占未替换里程 89.82%，是主要优化空间。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969264"/>
            <a:ext cx="386791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969264"/>
            <a:ext cx="3867912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978408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Microsoft YaHei"/>
              </a:rPr>
              <a:t>人工标注后收益（内网全量）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138988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Microsoft YaHei"/>
              </a:rPr>
              <a:t>里程替换率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362456"/>
            <a:ext cx="950976" cy="3200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1408176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79.0626%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4704" y="140817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79024" y="1362456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6456" y="1408176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B00000"/>
                </a:solidFill>
                <a:latin typeface="Microsoft YaHei"/>
              </a:rPr>
              <a:t>80.3760%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84864" y="1371600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+1.3134</a:t>
            </a:r>
          </a:p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pct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1911095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Microsoft YaHei"/>
              </a:rPr>
              <a:t>最终已替换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1883664"/>
            <a:ext cx="950976" cy="3200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1929384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10,216.596 km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4" y="1929384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79024" y="1883664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06456" y="1929384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B00000"/>
                </a:solidFill>
                <a:latin typeface="Microsoft YaHei"/>
              </a:rPr>
              <a:t>10,386.319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84864" y="1892807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+169.724</a:t>
            </a:r>
          </a:p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km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243230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Microsoft YaHei"/>
              </a:rPr>
              <a:t>最终未替换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2404872"/>
            <a:ext cx="950976" cy="3200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2450592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2,705.569 km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04704" y="245059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2404872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06456" y="2450592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B00000"/>
                </a:solidFill>
                <a:latin typeface="Microsoft YaHei"/>
              </a:rPr>
              <a:t>2,535.845 km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84864" y="2414016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-169.724</a:t>
            </a:r>
          </a:p>
          <a:p>
            <a:pPr algn="ctr"/>
            <a:r>
              <a:rPr sz="720" b="1">
                <a:solidFill>
                  <a:srgbClr val="0A8F3D"/>
                </a:solidFill>
                <a:latin typeface="Microsoft YaHei"/>
              </a:rPr>
              <a:t>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798064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90" b="1">
                <a:solidFill>
                  <a:srgbClr val="B00000"/>
                </a:solidFill>
                <a:latin typeface="Microsoft YaHei"/>
              </a:rPr>
              <a:t>T11 人工关系 346 / 346 成功消费；最终替换 Segment 净增 +143。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" y="3246120"/>
            <a:ext cx="11740896" cy="43891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3291839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端到端业务结论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847088" y="3337560"/>
            <a:ext cx="0" cy="256031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65960" y="3291839"/>
            <a:ext cx="97932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未人工标注已完成 79.0626% RCSD 里程替换；人工标注提升至 80.3760%，累计减少未替换里程 169.724 km。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56032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5CAD"/>
                </a:solidFill>
                <a:latin typeface="Microsoft YaHei"/>
              </a:rPr>
              <a:t>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SWSD 结构认知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路口 / 路段 / Movement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975104" y="4114800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176272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249424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9424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32888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7C78"/>
                </a:solidFill>
                <a:latin typeface="Microsoft YaHei"/>
              </a:rPr>
              <a:t>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7712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真实证据锚定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49424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路口面 / 道路面 / 导流带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968496" y="4114800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169664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42816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42816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5CAD"/>
                </a:solidFill>
                <a:latin typeface="Microsoft YaHei"/>
              </a:rPr>
              <a:t>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61104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RCSD Segment 构建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2816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以 SWSD 路段与锚定路口牵引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5961888" y="4114800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63056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236208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6A2C91"/>
          </a:solidFill>
          <a:ln>
            <a:solidFill>
              <a:srgbClr val="6A2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6208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9672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2C91"/>
                </a:solidFill>
                <a:latin typeface="Microsoft YaHei"/>
              </a:rPr>
              <a:t>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融合替换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208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保留通行能力前提下替换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955280" y="4114800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156448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229600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96B00"/>
          </a:solidFill>
          <a:ln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0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13064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6B00"/>
                </a:solidFill>
                <a:latin typeface="Microsoft YaHei"/>
              </a:rPr>
              <a:t>║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47888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通行能力建模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restriction / 规则恢复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9948672" y="4114800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149840" y="3822191"/>
            <a:ext cx="1719072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222992" y="38953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22992" y="38907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06456" y="3922776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0" y="4264395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质量闭环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22992" y="4451482"/>
            <a:ext cx="1572768" cy="187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人工标注 / Skill 反馈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82880" y="4828032"/>
            <a:ext cx="37947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2880" y="4828032"/>
            <a:ext cx="3794760" cy="310896"/>
          </a:xfrm>
          <a:prstGeom prst="rect">
            <a:avLst/>
          </a:prstGeom>
          <a:solidFill>
            <a:srgbClr val="2E4057"/>
          </a:solidFill>
          <a:ln>
            <a:solidFill>
              <a:srgbClr val="2E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" y="483717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替换前：SWSD 结构路网</a:t>
            </a:r>
          </a:p>
        </p:txBody>
      </p:sp>
      <p:pic>
        <p:nvPicPr>
          <p:cNvPr id="97" name="Picture 96" descr="page01-map-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157216"/>
            <a:ext cx="3749039" cy="1179576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4206240" y="4828032"/>
            <a:ext cx="37947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06240" y="4828032"/>
            <a:ext cx="3794760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79" y="483717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替换后：RCSD 高精度骨架</a:t>
            </a:r>
          </a:p>
        </p:txBody>
      </p:sp>
      <p:pic>
        <p:nvPicPr>
          <p:cNvPr id="101" name="Picture 100" descr="page01-map-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5157216"/>
            <a:ext cx="3749039" cy="1179576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8211312" y="4828032"/>
            <a:ext cx="37947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11312" y="4828032"/>
            <a:ext cx="3794760" cy="310896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02752" y="483717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正式数据说明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80" y="5239512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66666"/>
                </a:solidFill>
                <a:latin typeface="Microsoft YaHei"/>
              </a:rPr>
              <a:t>SWSD 版本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6880" y="52395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22222"/>
                </a:solidFill>
                <a:latin typeface="Microsoft YaHei"/>
              </a:rPr>
              <a:t>first_layer_road_net_v0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0" y="5495544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66666"/>
                </a:solidFill>
                <a:latin typeface="Microsoft YaHei"/>
              </a:rPr>
              <a:t>RCSD 版本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26880" y="549554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22222"/>
                </a:solidFill>
                <a:latin typeface="Microsoft YaHei"/>
              </a:rPr>
              <a:t>RC4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0" y="575157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66666"/>
                </a:solidFill>
                <a:latin typeface="Microsoft YaHei"/>
              </a:rPr>
              <a:t>CRS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0" y="575157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22222"/>
                </a:solidFill>
                <a:latin typeface="Microsoft YaHei"/>
              </a:rPr>
              <a:t>EPSG:3857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80" y="6007608"/>
            <a:ext cx="841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66666"/>
                </a:solidFill>
                <a:latin typeface="Microsoft YaHei"/>
              </a:rPr>
              <a:t>正式口径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0" y="600760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B00000"/>
                </a:solidFill>
                <a:latin typeface="Microsoft YaHei"/>
              </a:rPr>
              <a:t>未人工标注 / 人工标注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623620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Microsoft YaHei"/>
              </a:rPr>
              <a:t>数据源：030-innernet-baseline-metrics.md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未替换部分已结构化归因，人工标注主要释放路口关联类损失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按未替换 RCSD Road 的 5+1 归因体系进行案例剖析，本页展示更适合讲解的前 4 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64592" y="932688"/>
            <a:ext cx="11850624" cy="658368"/>
          </a:xfrm>
          <a:prstGeom prst="roundRect">
            <a:avLst>
              <a:gd name="adj" fmla="val 8000"/>
            </a:avLst>
          </a:prstGeom>
          <a:solidFill>
            <a:srgbClr val="FFF8F8"/>
          </a:solidFill>
          <a:ln w="11430">
            <a:solidFill>
              <a:srgbClr val="F1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0" b="1">
                <a:solidFill>
                  <a:srgbClr val="222222"/>
                </a:solidFill>
                <a:latin typeface="Microsoft YaHei"/>
              </a:rPr>
              <a:t>人工标注后未替换里程减少 169.724 km，其中根因 3（路口关联不完整）减少 88.158 km，是最主要的可人工释放空间。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" y="1719072"/>
            <a:ext cx="5824728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1" y="18288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" y="18242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19656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RCSD 超出 SWSD Segment 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1024" y="1792224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未人工标注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02536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574 / 51.217 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1792224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828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人工标注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002536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569 / 49.608 km</a:t>
            </a:r>
          </a:p>
        </p:txBody>
      </p:sp>
      <p:pic>
        <p:nvPicPr>
          <p:cNvPr id="17" name="Picture 16" descr="page02-cas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1" y="2322576"/>
            <a:ext cx="2395728" cy="7863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52928" y="23591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B00000"/>
                </a:solidFill>
                <a:latin typeface="Microsoft YaHei"/>
              </a:rPr>
              <a:t>业务解释：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3591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RCSD 位于当前 SWSD Segment 可替换范围之外。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8163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B5CAD"/>
                </a:solidFill>
                <a:latin typeface="Microsoft YaHei"/>
              </a:rPr>
              <a:t>修复路径：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8163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优先检查 Segment 范围、切片边界与结构差异。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2735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A8F3D"/>
                </a:solidFill>
                <a:latin typeface="Microsoft YaHei"/>
              </a:rPr>
              <a:t>收益判断：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2735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人工标注改善有限，偏范围 / 建模问题。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1719072"/>
            <a:ext cx="5824728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1072" y="18288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8242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1819656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SWSD 范围内缺少有效替换证据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0344" y="1792224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19" y="1828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未人工标注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2002536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8,077 / 948.399 km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07624" y="1792224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1828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人工标注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2002536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8,043 / 934.955 km</a:t>
            </a:r>
          </a:p>
        </p:txBody>
      </p:sp>
      <p:pic>
        <p:nvPicPr>
          <p:cNvPr id="34" name="Picture 33" descr="page02-cas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322576"/>
            <a:ext cx="2395728" cy="7863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42248" y="23591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B00000"/>
                </a:solidFill>
                <a:latin typeface="Microsoft YaHei"/>
              </a:rPr>
              <a:t>业务解释：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3591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空间范围内存在道路，但缺少有效证据支撑替换。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2248" y="28163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B5CAD"/>
                </a:solidFill>
                <a:latin typeface="Microsoft YaHei"/>
              </a:rPr>
              <a:t>修复路径：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192" y="28163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补充有效候选证据或进入人工审计。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32735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A8F3D"/>
                </a:solidFill>
                <a:latin typeface="Microsoft YaHei"/>
              </a:rPr>
              <a:t>收益判断：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32735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人工标注减少 13.444 km。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592" y="4023360"/>
            <a:ext cx="5824728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1" y="41330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1" y="41285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123944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有替换证据但路口关联不完整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21024" y="4096512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1330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未人工标注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306824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6,321 / 723.908 km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18304" y="4096512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79" y="41330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人工标注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79" y="4306824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5,727 / 635.750 km</a:t>
            </a:r>
          </a:p>
        </p:txBody>
      </p:sp>
      <p:pic>
        <p:nvPicPr>
          <p:cNvPr id="51" name="Picture 50" descr="page02-cas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1" y="4626864"/>
            <a:ext cx="2395728" cy="78638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852928" y="46634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B00000"/>
                </a:solidFill>
                <a:latin typeface="Microsoft YaHei"/>
              </a:rPr>
              <a:t>业务解释：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7872" y="46634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已有替换证据，但关键路口未形成可消费 Relation。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2928" y="51206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B5CAD"/>
                </a:solidFill>
                <a:latin typeface="Microsoft YaHei"/>
              </a:rPr>
              <a:t>修复路径：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51206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人工补齐 Relation → T05 重新发布 → T06 重跑审查。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55778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A8F3D"/>
                </a:solidFill>
                <a:latin typeface="Microsoft YaHei"/>
              </a:rPr>
              <a:t>收益判断：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5778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人工标注主要收益来源，减少 88.158 km。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53912" y="4023360"/>
            <a:ext cx="5824728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1072" y="41330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41285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02552" y="4123944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路口关联完整但 RCSD 不可替换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10344" y="4096512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46919" y="41330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未人工标注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19" y="4306824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7,795 / 757.719 km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07624" y="4096512"/>
            <a:ext cx="1078992" cy="43891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44200" y="41330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人工标注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44200" y="4306824"/>
            <a:ext cx="10058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Microsoft YaHei"/>
              </a:rPr>
              <a:t>7,476 / 709.665 km</a:t>
            </a:r>
          </a:p>
        </p:txBody>
      </p:sp>
      <p:pic>
        <p:nvPicPr>
          <p:cNvPr id="68" name="Picture 67" descr="page02-cas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626864"/>
            <a:ext cx="2395728" cy="78638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842248" y="46634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B00000"/>
                </a:solidFill>
                <a:latin typeface="Microsoft YaHei"/>
              </a:rPr>
              <a:t>业务解释：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37192" y="46634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Relation 已具备，但 RCSD 仍因方向、等级、几何或规则冲突无法安全替换。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42248" y="51206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B5CAD"/>
                </a:solidFill>
                <a:latin typeface="Microsoft YaHei"/>
              </a:rPr>
              <a:t>修复路径：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37192" y="51206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进入 T06 / T08 / RCSD 质量修复，不靠人工 Relation 直接释放。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42248" y="557784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A8F3D"/>
                </a:solidFill>
                <a:latin typeface="Microsoft YaHei"/>
              </a:rPr>
              <a:t>收益判断：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37192" y="55778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Microsoft YaHei"/>
              </a:rPr>
              <a:t>人工标注减少 48.055 km，仍需算法与数据质量迭代。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6473952"/>
            <a:ext cx="1143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666666"/>
                </a:solidFill>
                <a:latin typeface="Microsoft YaHei"/>
              </a:rPr>
              <a:t>注：正式口径使用 5+1 归因；本页展示前四类，根因 5 与未归因 / 人工审计类进入指标摘要或附录。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以 SWSD 结构认知牵引 RCSD 替换，Relation 漏斗支撑 Segment 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人工标注补齐的是 Relation 前提，不是替换白名单；最终是否替换仍由 T06 审计决定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5CAD"/>
                </a:solidFill>
                <a:latin typeface="Microsoft YaHei"/>
              </a:rPr>
              <a:t>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SWSD 结构层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路口 / 路段 / Movement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75104" y="1344168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6272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9424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7C78"/>
                </a:solidFill>
                <a:latin typeface="Microsoft YaHe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真实证据锚定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9424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SWSD-RCSD 对应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68496" y="1344168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9664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42816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5CAD"/>
                </a:solidFill>
                <a:latin typeface="Microsoft YaHei"/>
              </a:rPr>
              <a:t>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T05 路口锚定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6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资料覆盖、锚定、Relation 发布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1888" y="1344168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63056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6A2C91"/>
          </a:solidFill>
          <a:ln>
            <a:solidFill>
              <a:srgbClr val="6A2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2C91"/>
                </a:solidFill>
                <a:latin typeface="Microsoft YaHei"/>
              </a:rPr>
              <a:t>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T06 路段替换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锚定牵引 RCSD 替换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955280" y="1344168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56448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96B00"/>
          </a:solidFill>
          <a:ln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6B00"/>
                </a:solidFill>
                <a:latin typeface="Microsoft YaHei"/>
              </a:rPr>
              <a:t>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通行能力建模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restriction / 规则恢复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948672" y="1344168"/>
            <a:ext cx="201168" cy="219456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49840" y="1051560"/>
            <a:ext cx="17190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22992" y="11247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1120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6456" y="115214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1489008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F-RCSD 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2992" y="1674083"/>
            <a:ext cx="1572768" cy="185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骨架路网 + 质量闭环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" y="1993392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T10 负责端到端证据编排，T11 提供人工 Relation 审计输入。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2880" y="2304288"/>
            <a:ext cx="4443984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2304288"/>
            <a:ext cx="4443984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2313432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Microsoft YaHei"/>
              </a:rPr>
              <a:t>L1 路口锚定漏斗（T05）</a:t>
            </a:r>
          </a:p>
        </p:txBody>
      </p:sp>
      <p:sp>
        <p:nvSpPr>
          <p:cNvPr id="50" name="Trapezoid 49"/>
          <p:cNvSpPr/>
          <p:nvPr/>
        </p:nvSpPr>
        <p:spPr>
          <a:xfrm>
            <a:off x="411480" y="2862072"/>
            <a:ext cx="3950208" cy="475488"/>
          </a:xfrm>
          <a:prstGeom prst="trapezoid">
            <a:avLst/>
          </a:prstGeom>
          <a:solidFill>
            <a:srgbClr val="FC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" y="2935224"/>
            <a:ext cx="229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Relation 记录总量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60608" y="2916936"/>
            <a:ext cx="134307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00111" y="2962656"/>
            <a:ext cx="126406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B00000"/>
                </a:solidFill>
                <a:latin typeface="Microsoft YaHei"/>
              </a:rPr>
              <a:t>27,768 / 100.00%</a:t>
            </a:r>
          </a:p>
        </p:txBody>
      </p:sp>
      <p:sp>
        <p:nvSpPr>
          <p:cNvPr id="54" name="Trapezoid 53"/>
          <p:cNvSpPr/>
          <p:nvPr/>
        </p:nvSpPr>
        <p:spPr>
          <a:xfrm>
            <a:off x="608990" y="3429000"/>
            <a:ext cx="3555187" cy="475488"/>
          </a:xfrm>
          <a:prstGeom prst="trapezoid">
            <a:avLst/>
          </a:prstGeom>
          <a:solidFill>
            <a:srgbClr val="F5CA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8718" y="3502152"/>
            <a:ext cx="2062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Relation 成功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13206" y="3483864"/>
            <a:ext cx="1208763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48758" y="3529584"/>
            <a:ext cx="11376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B00000"/>
                </a:solidFill>
                <a:latin typeface="Microsoft YaHei"/>
              </a:rPr>
              <a:t>25,711 / 92.59%</a:t>
            </a:r>
          </a:p>
        </p:txBody>
      </p:sp>
      <p:sp>
        <p:nvSpPr>
          <p:cNvPr id="58" name="Trapezoid 57"/>
          <p:cNvSpPr/>
          <p:nvPr/>
        </p:nvSpPr>
        <p:spPr>
          <a:xfrm>
            <a:off x="806500" y="3995928"/>
            <a:ext cx="3160166" cy="475488"/>
          </a:xfrm>
          <a:prstGeom prst="trapezoid">
            <a:avLst/>
          </a:prstGeom>
          <a:solidFill>
            <a:srgbClr val="E8A9A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6228" y="4069080"/>
            <a:ext cx="1832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图可消费 Relation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65803" y="4050791"/>
            <a:ext cx="1074456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97405" y="4096512"/>
            <a:ext cx="101125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25,704 / 92.57%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4864608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8F8"/>
          </a:solidFill>
          <a:ln w="10160">
            <a:solidFill>
              <a:srgbClr val="F1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4992624"/>
            <a:ext cx="36210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Microsoft YaHei"/>
              </a:rPr>
              <a:t>人工标注：T11 输入 / 成功 346 / 346；</a:t>
            </a:r>
          </a:p>
          <a:p>
            <a:pPr algn="ctr"/>
            <a:r>
              <a:rPr sz="950" b="0">
                <a:solidFill>
                  <a:srgbClr val="222222"/>
                </a:solidFill>
                <a:latin typeface="Microsoft YaHei"/>
              </a:rPr>
              <a:t>T05 全局 Relation 成功净增 +124，图可消费净增 +123。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28032" y="2304288"/>
            <a:ext cx="49834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828032" y="2304288"/>
            <a:ext cx="4983480" cy="310896"/>
          </a:xfrm>
          <a:prstGeom prst="rect">
            <a:avLst/>
          </a:prstGeom>
          <a:solidFill>
            <a:srgbClr val="006178"/>
          </a:solidFill>
          <a:ln>
            <a:solidFill>
              <a:srgbClr val="006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19472" y="231343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Microsoft YaHei"/>
              </a:rPr>
              <a:t>L1 路段替换漏斗（T06）</a:t>
            </a:r>
          </a:p>
        </p:txBody>
      </p:sp>
      <p:sp>
        <p:nvSpPr>
          <p:cNvPr id="67" name="Trapezoid 66"/>
          <p:cNvSpPr/>
          <p:nvPr/>
        </p:nvSpPr>
        <p:spPr>
          <a:xfrm>
            <a:off x="5074920" y="2862072"/>
            <a:ext cx="4498848" cy="475488"/>
          </a:xfrm>
          <a:prstGeom prst="trapezoid">
            <a:avLst/>
          </a:prstGeom>
          <a:solidFill>
            <a:srgbClr val="DDEF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84648" y="2935224"/>
            <a:ext cx="26093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资料覆盖路段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64205" y="2916936"/>
            <a:ext cx="1529608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09194" y="2962656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26,825 / 100.00%</a:t>
            </a:r>
          </a:p>
        </p:txBody>
      </p:sp>
      <p:sp>
        <p:nvSpPr>
          <p:cNvPr id="71" name="Trapezoid 70"/>
          <p:cNvSpPr/>
          <p:nvPr/>
        </p:nvSpPr>
        <p:spPr>
          <a:xfrm>
            <a:off x="5299862" y="3429000"/>
            <a:ext cx="4048963" cy="475488"/>
          </a:xfrm>
          <a:prstGeom prst="trapezoid">
            <a:avLst/>
          </a:prstGeom>
          <a:solidFill>
            <a:srgbClr val="C5DF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09590" y="3502152"/>
            <a:ext cx="23483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Relation 作用域路段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10219" y="3483864"/>
            <a:ext cx="1376647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0709" y="3529584"/>
            <a:ext cx="12956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23,169 / 86.37%</a:t>
            </a:r>
          </a:p>
        </p:txBody>
      </p:sp>
      <p:sp>
        <p:nvSpPr>
          <p:cNvPr id="75" name="Trapezoid 74"/>
          <p:cNvSpPr/>
          <p:nvPr/>
        </p:nvSpPr>
        <p:spPr>
          <a:xfrm>
            <a:off x="5524804" y="3995928"/>
            <a:ext cx="3599078" cy="475488"/>
          </a:xfrm>
          <a:prstGeom prst="trapezoid">
            <a:avLst/>
          </a:prstGeom>
          <a:solidFill>
            <a:srgbClr val="A5CB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34532" y="4069080"/>
            <a:ext cx="208746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RCSD 可替换路段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756233" y="4050791"/>
            <a:ext cx="1223686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92224" y="4096512"/>
            <a:ext cx="115170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21,810 / 81.30%</a:t>
            </a:r>
          </a:p>
        </p:txBody>
      </p:sp>
      <p:sp>
        <p:nvSpPr>
          <p:cNvPr id="79" name="Trapezoid 78"/>
          <p:cNvSpPr/>
          <p:nvPr/>
        </p:nvSpPr>
        <p:spPr>
          <a:xfrm>
            <a:off x="5749747" y="4562856"/>
            <a:ext cx="3149193" cy="475488"/>
          </a:xfrm>
          <a:prstGeom prst="trapezoid">
            <a:avLst/>
          </a:prstGeom>
          <a:solidFill>
            <a:srgbClr val="7CB2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9475" y="4636008"/>
            <a:ext cx="18265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最终替换成功路段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02247" y="4617720"/>
            <a:ext cx="1070725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33739" y="4663440"/>
            <a:ext cx="100774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19,446 / 72.49%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74920" y="5294376"/>
            <a:ext cx="4498848" cy="27432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10160">
            <a:solidFill>
              <a:srgbClr val="B9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30368" y="5340096"/>
            <a:ext cx="41879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06178"/>
                </a:solidFill>
                <a:latin typeface="Microsoft YaHei"/>
              </a:rPr>
              <a:t>人工标注最终替换 Segment 净增 +143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94392" y="2304288"/>
            <a:ext cx="2011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94392" y="2304288"/>
            <a:ext cx="2011680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85832" y="2313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人工标注作用路径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49840" y="28346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149840" y="283006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69880" y="2825496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90" b="1">
                <a:solidFill>
                  <a:srgbClr val="222222"/>
                </a:solidFill>
                <a:latin typeface="Microsoft YaHei"/>
              </a:rPr>
              <a:t>T11 人工标注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0259568" y="3090672"/>
            <a:ext cx="0" cy="13716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0149840" y="3264408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49840" y="325983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9880" y="3255264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90" b="1">
                <a:solidFill>
                  <a:srgbClr val="222222"/>
                </a:solidFill>
                <a:latin typeface="Microsoft YaHei"/>
              </a:rPr>
              <a:t>T05 重新发布 Relation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259568" y="3520440"/>
            <a:ext cx="0" cy="13716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0149840" y="3694176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0" y="368960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9880" y="3685032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90" b="1">
                <a:solidFill>
                  <a:srgbClr val="222222"/>
                </a:solidFill>
                <a:latin typeface="Microsoft YaHei"/>
              </a:rPr>
              <a:t>T06 重跑审查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0259568" y="3950208"/>
            <a:ext cx="0" cy="13716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10149840" y="4123944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149840" y="41193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9880" y="4114800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90" b="1">
                <a:solidFill>
                  <a:srgbClr val="222222"/>
                </a:solidFill>
                <a:latin typeface="Microsoft YaHei"/>
              </a:rPr>
              <a:t>提升可替换与替换成功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94392" y="4681728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31552" y="47914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222222"/>
                </a:solidFill>
                <a:latin typeface="Microsoft YaHei"/>
              </a:rPr>
              <a:t>关键边界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49840" y="5138928"/>
            <a:ext cx="1682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90" b="0">
                <a:solidFill>
                  <a:srgbClr val="222222"/>
                </a:solidFill>
                <a:latin typeface="Microsoft YaHei"/>
              </a:rPr>
              <a:t>人工标注补齐 Relation，不直接进入替换白名单；最终仍受 corridor / direction / topology 审计约束。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1168" y="6217920"/>
            <a:ext cx="1161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Microsoft YaHei"/>
              </a:rPr>
              <a:t>数据口径：T05 与 T06 使用最新同版城市级全量 baseline。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从全量融合到滚动构图：沉淀可持续迭代的道路结构能力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当前城市级同版 baseline 已建立，后续将围绕局部更新、质量反馈、高阶要素与 AI Loop 持续演进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evron 4"/>
          <p:cNvSpPr/>
          <p:nvPr/>
        </p:nvSpPr>
        <p:spPr>
          <a:xfrm>
            <a:off x="219456" y="1024128"/>
            <a:ext cx="3931920" cy="804672"/>
          </a:xfrm>
          <a:prstGeom prst="chevron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" y="109728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27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133856"/>
            <a:ext cx="31546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Microsoft YaHei"/>
              </a:rPr>
              <a:t>当前阶段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40817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城市级全量 baseline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79.0626% → 80.3760%</a:t>
            </a:r>
          </a:p>
        </p:txBody>
      </p:sp>
      <p:sp>
        <p:nvSpPr>
          <p:cNvPr id="10" name="Chevron 9"/>
          <p:cNvSpPr/>
          <p:nvPr/>
        </p:nvSpPr>
        <p:spPr>
          <a:xfrm>
            <a:off x="4370832" y="1024128"/>
            <a:ext cx="3703320" cy="804672"/>
          </a:xfrm>
          <a:prstGeom prst="chevron">
            <a:avLst/>
          </a:prstGeom>
          <a:solidFill>
            <a:srgbClr val="FFFFFF"/>
          </a:solidFill>
          <a:ln w="15240"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984" y="109728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96B00"/>
          </a:solidFill>
          <a:ln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0927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133856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6B00"/>
                </a:solidFill>
                <a:latin typeface="Microsoft YaHei"/>
              </a:rPr>
              <a:t>近期阶段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08176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局部更新 + 质量闭环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按区域 / 路口 / 变更范围触发重算</a:t>
            </a:r>
          </a:p>
        </p:txBody>
      </p:sp>
      <p:sp>
        <p:nvSpPr>
          <p:cNvPr id="15" name="Chevron 14"/>
          <p:cNvSpPr/>
          <p:nvPr/>
        </p:nvSpPr>
        <p:spPr>
          <a:xfrm>
            <a:off x="8275320" y="1024128"/>
            <a:ext cx="3685032" cy="804672"/>
          </a:xfrm>
          <a:prstGeom prst="chevron">
            <a:avLst/>
          </a:prstGeom>
          <a:solidFill>
            <a:srgbClr val="FFFFFF"/>
          </a:solidFill>
          <a:ln w="15240"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48472" y="109728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0927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1133856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7C78"/>
                </a:solidFill>
                <a:latin typeface="Microsoft YaHei"/>
              </a:rPr>
              <a:t>中长期阶段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1408176"/>
            <a:ext cx="28620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高阶道路语义产品 + AI Skill Loop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形成可持续演进能力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" y="2011680"/>
            <a:ext cx="57607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2176272"/>
            <a:ext cx="292608" cy="29260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1717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2148840"/>
            <a:ext cx="4892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Microsoft YaHei"/>
              </a:rPr>
              <a:t>全局替换 + 局部更新能力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4871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7" y="2487168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先完成城市级全量融合，统一 baseline 与质量漏斗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26883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7" y="2688336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后续可按区域、路口、Segment 或变更范围做局部重算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288950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7" y="2889504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同时具备全局替换与现实变更后的局部替换能力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011680"/>
            <a:ext cx="57607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2512" y="2176272"/>
            <a:ext cx="292608" cy="292608"/>
          </a:xfrm>
          <a:prstGeom prst="roundRect">
            <a:avLst>
              <a:gd name="adj" fmla="val 8000"/>
            </a:avLst>
          </a:prstGeom>
          <a:solidFill>
            <a:srgbClr val="E96B00"/>
          </a:solidFill>
          <a:ln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1717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148840"/>
            <a:ext cx="4892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6B00"/>
                </a:solidFill>
                <a:latin typeface="Microsoft YaHei"/>
              </a:rPr>
              <a:t>人工标注资产化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4871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E96B00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487168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人工 Relation 不只补洞，还沉淀真值与候选规则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6883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E96B00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688336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可形成候选排序、工作量预估与回归基线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88950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E96B00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889504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人工成果成为后续自动化与 AI 评估资产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" y="3383280"/>
            <a:ext cx="57607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760" y="3547872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5433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3520440"/>
            <a:ext cx="4892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5CAD"/>
                </a:solidFill>
                <a:latin typeface="Microsoft YaHei"/>
              </a:rPr>
              <a:t>指标归因驱动 AI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38587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B5CAD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7" y="3858768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T10 / T11 / T06 的指标、problem registry 与人工结果形成优化基线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40599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B5CAD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7" y="4059936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大模型用于辅助分析、案例归因、规则沉淀与问题分流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7" y="426110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B5CAD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7" y="4261104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不是直接替代审计，而是增强持续迭代效率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383280"/>
            <a:ext cx="57607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82512" y="3547872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35433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3520440"/>
            <a:ext cx="4892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7C78"/>
                </a:solidFill>
                <a:latin typeface="Microsoft YaHei"/>
              </a:rPr>
              <a:t>从骨架路网到高阶道路语义产品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8587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07C78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3858768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稳定的路口 / 路段 / Movement 结构是长期底座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40599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07C78"/>
                </a:solidFill>
                <a:latin typeface="Microsoft YaHe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059936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可继续承载 restriction、Laneinfo、通行规则与法规语义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26110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07C78"/>
                </a:solidFill>
                <a:latin typeface="Microsoft YaHe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261104"/>
            <a:ext cx="44805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快速构建面向不同领域的 RCSD 数据产品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1168" y="4892040"/>
            <a:ext cx="11759184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98848" y="496519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20" b="1">
                <a:solidFill>
                  <a:srgbClr val="B00000"/>
                </a:solidFill>
                <a:latin typeface="Microsoft YaHei"/>
              </a:rPr>
              <a:t>质量与能力演进闭环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8912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5488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运行结果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1993391" y="5449824"/>
            <a:ext cx="228600" cy="201168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340864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377440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77440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1760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问题归因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3895344" y="5449824"/>
            <a:ext cx="228600" cy="201168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42816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279392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79392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53712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人工标注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5797296" y="5449824"/>
            <a:ext cx="228600" cy="201168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144768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81344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81344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55664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T05/T06 重跑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7699248" y="5449824"/>
            <a:ext cx="228600" cy="201168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046720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083296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83296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6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质量回归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9601200" y="5449824"/>
            <a:ext cx="228600" cy="201168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948672" y="5358384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985248" y="540410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85248" y="53995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59568" y="542239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222222"/>
                </a:solidFill>
                <a:latin typeface="Microsoft YaHei"/>
              </a:rPr>
              <a:t>规则 / Skill 沉淀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5824728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0">
                <a:solidFill>
                  <a:srgbClr val="222222"/>
                </a:solidFill>
                <a:latin typeface="Microsoft YaHei"/>
              </a:rPr>
              <a:t>以指标、证据和人工结果为基线，形成“发现问题—修复问题—沉淀能力”的长期机制。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01168" y="6172200"/>
            <a:ext cx="11759184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4048" y="6227064"/>
            <a:ext cx="113934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Microsoft YaHei"/>
              </a:rPr>
              <a:t>后续可进一步引入 RCSD Laneinfo、轨迹通行证据和地方交通法规，增强高阶要素建模能力。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T08：SWSD Road / Node 字段标准化与路口结构修复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增强 SWSD 信息含量，修复基础结构错误，为后续锚定、替换与通行恢复提供稳定输入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" y="1078992"/>
            <a:ext cx="8577072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12252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207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SWSD Road / Node 字段问题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业务意义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4831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84831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增强信息含量，提供后续模块可用信息内容。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32303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32303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Road 的 PatchID 与 RCSD、Patch 内 RC 数据配套，可显著提升后续业务质量。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79776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79776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Road 的 kind 具备参考价值，可用于质量判断与异常处理。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44952" y="1783080"/>
            <a:ext cx="0" cy="1399032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82112" y="17190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T08 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084831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084831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为 Road 补齐 patch_id / kind。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2432303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将 Node 的 kind / grade 初始化并规范为稳定消费字段。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2779776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779776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对环岛 mainnode 进行聚合，显式表达环岛结构。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15583" y="1783080"/>
            <a:ext cx="0" cy="1399032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52744" y="17190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对后续模块的价值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2084831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2084831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为 T01 提供更稳定的 Segment 构建基础。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744" y="2432303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432303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为 T03 / T04 提供统一的路口类型输入。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2744" y="2779776"/>
            <a:ext cx="1645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2779776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222222"/>
                </a:solidFill>
                <a:latin typeface="Microsoft YaHei"/>
              </a:rPr>
              <a:t>为 T05 / T06 提供一致的 Road / Node 语义基础。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" y="3547872"/>
            <a:ext cx="857707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" y="369417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6896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3685032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路口类型与复杂结构修复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15137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业务意义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498848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498848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Node 增加环岛和复杂路口表达，简化后续业务处理难度。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828032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828032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复杂路口内 SWSD 与 RCSD 连接关系可能不同，需要专项类型输入策略。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15721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157216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修复无意义质量问题，降低后续模块非业务性噪声。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044952" y="4206240"/>
            <a:ext cx="0" cy="132588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182112" y="415137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T08 处理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2112" y="4498848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4992" y="4498848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基于入度 / 出度修复错误路口类型。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2112" y="4745736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2" y="474573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对提前右转、辅路等场景做豁免，避免误修。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4992624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4992" y="4992624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聚合连续分岔 / 合流，补充复杂路口结构表达。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2112" y="5239512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64992" y="5239512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处理错误的一对多路口关系。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15583" y="4206240"/>
            <a:ext cx="0" cy="132588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52744" y="415137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00000"/>
                </a:solidFill>
                <a:latin typeface="Microsoft YaHei"/>
              </a:rPr>
              <a:t>对后续模块的价值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52744" y="4498848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5624" y="4498848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T03 聚焦交叉 / T 型场景的虚拟锚定。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2744" y="4745736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474573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T04 聚焦分岔 / 合流 / complex 场景。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52744" y="4992624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5624" y="4992624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T05 接收更稳定的路口语义并统一发布 Relation。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2744" y="5239512"/>
            <a:ext cx="1645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35624" y="5239512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222222"/>
                </a:solidFill>
                <a:latin typeface="Microsoft YaHei"/>
              </a:rPr>
              <a:t>T06 减少因错误路口类型导致的无意义损失。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42832" y="1078992"/>
            <a:ext cx="3063240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42832" y="1078992"/>
            <a:ext cx="3063240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10881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内网真实 Case 位置预留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25712" y="1627632"/>
            <a:ext cx="12344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1700784"/>
            <a:ext cx="1014984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Case A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案例图示预留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533888" y="1627632"/>
            <a:ext cx="12344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43615" y="1700784"/>
            <a:ext cx="1014984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Case B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案例图示预留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42832" y="3547872"/>
            <a:ext cx="306324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42832" y="3547872"/>
            <a:ext cx="3063240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34272" y="3557015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持续修复策略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4096512"/>
            <a:ext cx="1645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096512"/>
            <a:ext cx="24688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持续发现并补充 Node kind 错误模式。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416552"/>
            <a:ext cx="1645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4416552"/>
            <a:ext cx="24688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形成“规则修复 + 人工确认”双轨机制。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4736592"/>
            <a:ext cx="1645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4736592"/>
            <a:ext cx="24688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对新增质量问题沉淀标准修复口径。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5056632"/>
            <a:ext cx="1645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5056632"/>
            <a:ext cx="24688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</a:rPr>
              <a:t>为后续模块降低非业务性噪声。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70848" y="5440680"/>
            <a:ext cx="2788920" cy="201168"/>
          </a:xfrm>
          <a:prstGeom prst="roundRect">
            <a:avLst>
              <a:gd name="adj" fmla="val 8000"/>
            </a:avLst>
          </a:prstGeom>
          <a:solidFill>
            <a:srgbClr val="FFF8F8"/>
          </a:solidFill>
          <a:ln w="10160">
            <a:solidFill>
              <a:srgbClr val="F1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62288" y="5468112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>
                <a:solidFill>
                  <a:srgbClr val="B00000"/>
                </a:solidFill>
                <a:latin typeface="Microsoft YaHei"/>
              </a:rPr>
              <a:t>基线边界：当前最新全量收益不能直接归因于 T08；T08 直接收益需同版底座 A/B 对照。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01168" y="5961888"/>
            <a:ext cx="11740896" cy="475488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8328" y="6007607"/>
            <a:ext cx="777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结论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115568" y="6053327"/>
            <a:ext cx="0" cy="292609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34440" y="6007607"/>
            <a:ext cx="105247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T08 不直接替换道路，而是增强 SWSD 信息含量、修复基础结构错误，为后续 T01 / T03 / T04 / T05 / T06 的判断提供稳定事实基础。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路口锚定：在异源数据间建立稳定现实世界基点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路口锚定的目标不是“找一个最近的 RCSD 节点”，而是把 SWSD 语义路口与 RCSD 中可解释的现实路口基点关系。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" y="105156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51560"/>
            <a:ext cx="3749039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60704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业务挑战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051560"/>
            <a:ext cx="37947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1051560"/>
            <a:ext cx="3794760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7" y="106070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路口锚定：场景分治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051560"/>
            <a:ext cx="3867912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051560"/>
            <a:ext cx="3867912" cy="31089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060704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统一交付给 T05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1645920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7" y="184708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18425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755648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0">
                <a:solidFill>
                  <a:srgbClr val="222222"/>
                </a:solidFill>
                <a:latin typeface="Microsoft YaHei"/>
              </a:rPr>
              <a:t>切分方式不同：SWSD 与 RCSD 对路口边界的划分标准不同，颗粒度不一致。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" y="2578608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7" y="2779776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27752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688336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0">
                <a:solidFill>
                  <a:srgbClr val="222222"/>
                </a:solidFill>
                <a:latin typeface="Microsoft YaHei"/>
              </a:rPr>
              <a:t>节点归组不同：路口内部节点组织方式不同，不能直接按一一对应处理。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" y="3511296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207" y="3712463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" y="3707891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621024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0">
                <a:solidFill>
                  <a:srgbClr val="222222"/>
                </a:solidFill>
                <a:latin typeface="Microsoft YaHei"/>
              </a:rPr>
              <a:t>挂接关系不同：道路与路口的挂接方式不同，无法仅依赖几何位置判断。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4443984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7" y="464515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46405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53712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0">
                <a:solidFill>
                  <a:srgbClr val="222222"/>
                </a:solidFill>
                <a:latin typeface="Microsoft YaHei"/>
              </a:rPr>
              <a:t>复杂结构多样：分岔、合流、连续分岔合流、环岛等结构无法简单匹配。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1554480"/>
            <a:ext cx="3493008" cy="107899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5696" y="1664207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B00000"/>
                </a:solidFill>
                <a:latin typeface="Microsoft YaHe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1645920"/>
            <a:ext cx="2606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0" b="1">
                <a:solidFill>
                  <a:srgbClr val="222222"/>
                </a:solidFill>
                <a:latin typeface="Microsoft YaHei"/>
              </a:rPr>
              <a:t>T07：已有路口面锚定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1938528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处理已有 RCSDIntersection 或已形成路口面的场景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目标：完成 1:1 锚定，不处理 Segment，不生成虚拟路口面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2743200"/>
            <a:ext cx="3493008" cy="107899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2852928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B00000"/>
                </a:solidFill>
                <a:latin typeface="Microsoft Ya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1768" y="2834640"/>
            <a:ext cx="2606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0" b="1">
                <a:solidFill>
                  <a:srgbClr val="222222"/>
                </a:solidFill>
                <a:latin typeface="Microsoft YaHei"/>
              </a:rPr>
              <a:t>T03：交叉 / T 型虚拟锚定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3127248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处理交叉路口、中心交叉、单侧 T 型等场景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目标：在合法空间内生成虚拟锚定面及关系证据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9392" y="3931920"/>
            <a:ext cx="3493008" cy="107899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4041648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B00000"/>
                </a:solidFill>
                <a:latin typeface="Microsoft Ya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4023359"/>
            <a:ext cx="2606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0" b="1">
                <a:solidFill>
                  <a:srgbClr val="222222"/>
                </a:solidFill>
                <a:latin typeface="Microsoft YaHei"/>
              </a:rPr>
              <a:t>T04：分岔 / 合流 / 复杂路口锚定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8" y="4315968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处理分岔、合流、连续分岔合流、复杂路口等场景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目标：将复杂结构拆解为可解释的锚定证据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182880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18242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1810512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锚定面信息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05088" y="2304288"/>
            <a:ext cx="2706624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732520" y="261518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6106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596896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关系证据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05088" y="3090672"/>
            <a:ext cx="2706624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732520" y="3401568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33969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383279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节点状态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05088" y="3877056"/>
            <a:ext cx="2706624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732520" y="418795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41833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4169664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审计记录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937760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60" b="0">
                <a:solidFill>
                  <a:srgbClr val="222222"/>
                </a:solidFill>
                <a:latin typeface="Microsoft YaHei"/>
              </a:rPr>
              <a:t>以上结果统一交由 T05 发布正式 Relation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1168" y="5934456"/>
            <a:ext cx="11740896" cy="585216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" y="5980176"/>
            <a:ext cx="1188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核心结论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527048" y="6025896"/>
            <a:ext cx="0" cy="402336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645920" y="5980176"/>
            <a:ext cx="101132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路口锚定不是单点匹配，而是按照路口形态生成可审计证据，再交由 T05 统一发布 Relation，确保进入替换系统的是可解释、可消费的稳定关系。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T07 / T03 / T04：路口锚定证据生产机制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三类模块职责不同，但目标一致：把不同形态的 SWSD 语义路口转换为 T05 可消费的锚定证据。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" y="1143000"/>
            <a:ext cx="3749039" cy="4590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38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930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T07：已有路口面锚定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177393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适用场景：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73936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存在 RCSDIntersection 或已有路口面的直接对齐场景。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414015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4" y="2523744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核心能力：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523744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直接关联已有路口面，完成 1:1 锚定，不处理 Segment。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3163823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4904" y="3273551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输出交付：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273551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已有路口面、关系证据、节点状态更新、审计记录。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3913631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7472" y="4041648"/>
            <a:ext cx="3511296" cy="1417320"/>
          </a:xfrm>
          <a:prstGeom prst="roundRect">
            <a:avLst>
              <a:gd name="adj" fmla="val 8000"/>
            </a:avLst>
          </a:prstGeom>
          <a:solidFill>
            <a:srgbClr val="FFF9F9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513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0000"/>
                </a:solidFill>
                <a:latin typeface="Microsoft YaHei"/>
              </a:rPr>
              <a:t>质量风险点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448056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4480560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已有路口面是否能准确落到可消费的 RCSD 节点。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476402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764024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路口面位置异常是否会影响后续锚定。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15384" y="1143000"/>
            <a:ext cx="3749039" cy="4590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2544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12938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4024" y="128930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T03：交叉 / T 型虚拟锚定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177393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适用场景：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1773936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交叉路口、中心交叉、单侧 T 型等场景。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52544" y="2414015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61688" y="2523744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核心能力：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2523744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在合法空间内生成虚拟锚定面，并输出关系证据。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2544" y="3163823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61688" y="3273551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输出交付：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3273551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可接受锚定面、关系证据、节点状态更新、审计记录。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52544" y="3913631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34256" y="4041648"/>
            <a:ext cx="3511296" cy="1417320"/>
          </a:xfrm>
          <a:prstGeom prst="roundRect">
            <a:avLst>
              <a:gd name="adj" fmla="val 8000"/>
            </a:avLst>
          </a:prstGeom>
          <a:solidFill>
            <a:srgbClr val="FFF9F9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3984" y="41513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0000"/>
                </a:solidFill>
                <a:latin typeface="Microsoft YaHei"/>
              </a:rPr>
              <a:t>质量风险点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48056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480560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关联类别是否真正支持关系发布。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76402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764024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锚定面被接受并不等于 Relation 一定成功。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04748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047488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必须满足后续统一发布的证据要求。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02168" y="1143000"/>
            <a:ext cx="3749039" cy="4590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39328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8" y="12938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0808" y="128930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T04：分岔 / 合流 / 复杂路口锚定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177393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适用场景：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4856" y="1773936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分岔、合流、连续分岔合流、复杂路口等。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39328" y="2414015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48472" y="2523744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核心能力：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6" y="2523744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基于道路面与多源证据表达复杂结构，形成关系证据。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39328" y="3163823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48472" y="3273551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输出交付：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3273551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可接受 / 拒绝锚定面、关系证据、节点状态更新、审计记录。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39328" y="3913631"/>
            <a:ext cx="3429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321040" y="4041648"/>
            <a:ext cx="3511296" cy="1417320"/>
          </a:xfrm>
          <a:prstGeom prst="roundRect">
            <a:avLst>
              <a:gd name="adj" fmla="val 8000"/>
            </a:avLst>
          </a:prstGeom>
          <a:solidFill>
            <a:srgbClr val="FFF9F9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41513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0000"/>
                </a:solidFill>
                <a:latin typeface="Microsoft YaHei"/>
              </a:rPr>
              <a:t>质量风险点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1624" y="448056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04504" y="4480560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复杂结构证据是否充分。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1624" y="476402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04504" y="4764024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是否需要备用策略或人工复核。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21624" y="504748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04504" y="5047488"/>
            <a:ext cx="306323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是否满足统一 1:1 关系交付要求。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8600" y="5870448"/>
            <a:ext cx="1172260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92608" y="5943600"/>
            <a:ext cx="1143000" cy="38404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5943600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统一目标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9344" y="5934456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三类模块最终都转化为 1:1 Relation 候选并统一交给 T05，确保后续 Relation 发布、路口归组和替换审查使用的是同一套可解释证据。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T05：Relation 统一发布与图可消费质量门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T07 / T03 / T04 只是生产证据，真正决定是否能进入替换系统的是 T05：Relation 是否发布成功，以及是否图可消费。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" y="114300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030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T05 两阶段处理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847088"/>
            <a:ext cx="313639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9842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796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65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0" b="1">
                <a:solidFill>
                  <a:srgbClr val="B00000"/>
                </a:solidFill>
                <a:latin typeface="Microsoft YaHei"/>
              </a:rPr>
              <a:t>阶段一：路口面融合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95728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融合来自 T07 / T03 / T04 的锚定面，按主节点归组，形成后续可用的锚定面融合结果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3447288"/>
            <a:ext cx="313639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5844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98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566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0" b="1">
                <a:solidFill>
                  <a:srgbClr val="B00000"/>
                </a:solidFill>
                <a:latin typeface="Microsoft YaHei"/>
              </a:rPr>
              <a:t>阶段二：RCSD 路口化与 Relation 生产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95928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基于融合后的锚定面，执行 RCSD 路口化处理，并生成 SWSD-RCSD Relation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1143000"/>
            <a:ext cx="4434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23360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3030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29844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路口锚定质量漏斗</a:t>
            </a:r>
          </a:p>
        </p:txBody>
      </p:sp>
      <p:sp>
        <p:nvSpPr>
          <p:cNvPr id="23" name="Trapezoid 22"/>
          <p:cNvSpPr/>
          <p:nvPr/>
        </p:nvSpPr>
        <p:spPr>
          <a:xfrm>
            <a:off x="4293108" y="1874519"/>
            <a:ext cx="2788920" cy="512064"/>
          </a:xfrm>
          <a:prstGeom prst="trapezoid">
            <a:avLst/>
          </a:prstGeom>
          <a:solidFill>
            <a:srgbClr val="DD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8828" y="1938527"/>
            <a:ext cx="26974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30" b="0">
                <a:solidFill>
                  <a:srgbClr val="222222"/>
                </a:solidFill>
                <a:latin typeface="Microsoft YaHei"/>
              </a:rPr>
              <a:t>有效语义路口</a:t>
            </a:r>
          </a:p>
        </p:txBody>
      </p:sp>
      <p:sp>
        <p:nvSpPr>
          <p:cNvPr id="25" name="Trapezoid 24"/>
          <p:cNvSpPr/>
          <p:nvPr/>
        </p:nvSpPr>
        <p:spPr>
          <a:xfrm>
            <a:off x="4430268" y="2441448"/>
            <a:ext cx="2514600" cy="512064"/>
          </a:xfrm>
          <a:prstGeom prst="trapezoid">
            <a:avLst/>
          </a:prstGeom>
          <a:solidFill>
            <a:srgbClr val="C2DA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5988" y="2505456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30" b="0">
                <a:solidFill>
                  <a:srgbClr val="222222"/>
                </a:solidFill>
                <a:latin typeface="Microsoft YaHei"/>
              </a:rPr>
              <a:t>有证据覆盖</a:t>
            </a:r>
          </a:p>
        </p:txBody>
      </p:sp>
      <p:sp>
        <p:nvSpPr>
          <p:cNvPr id="27" name="Trapezoid 26"/>
          <p:cNvSpPr/>
          <p:nvPr/>
        </p:nvSpPr>
        <p:spPr>
          <a:xfrm>
            <a:off x="4567428" y="3008376"/>
            <a:ext cx="2240280" cy="512064"/>
          </a:xfrm>
          <a:prstGeom prst="trapezoid">
            <a:avLst/>
          </a:prstGeom>
          <a:solidFill>
            <a:srgbClr val="8DB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3148" y="30723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30" b="0">
                <a:solidFill>
                  <a:srgbClr val="222222"/>
                </a:solidFill>
                <a:latin typeface="Microsoft YaHei"/>
              </a:rPr>
              <a:t>T05 发布 Relation</a:t>
            </a:r>
          </a:p>
        </p:txBody>
      </p:sp>
      <p:sp>
        <p:nvSpPr>
          <p:cNvPr id="29" name="Trapezoid 28"/>
          <p:cNvSpPr/>
          <p:nvPr/>
        </p:nvSpPr>
        <p:spPr>
          <a:xfrm>
            <a:off x="4704588" y="3575303"/>
            <a:ext cx="1965960" cy="512064"/>
          </a:xfrm>
          <a:prstGeom prst="trapezoid">
            <a:avLst/>
          </a:prstGeom>
          <a:solidFill>
            <a:srgbClr val="5F9F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0308" y="3639311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30" b="1">
                <a:solidFill>
                  <a:srgbClr val="222222"/>
                </a:solidFill>
                <a:latin typeface="Microsoft YaHei"/>
              </a:rPr>
              <a:t>Relation 成功</a:t>
            </a:r>
          </a:p>
        </p:txBody>
      </p:sp>
      <p:sp>
        <p:nvSpPr>
          <p:cNvPr id="31" name="Trapezoid 30"/>
          <p:cNvSpPr/>
          <p:nvPr/>
        </p:nvSpPr>
        <p:spPr>
          <a:xfrm>
            <a:off x="4841748" y="4142231"/>
            <a:ext cx="1691640" cy="512064"/>
          </a:xfrm>
          <a:prstGeom prst="trapezoid">
            <a:avLst/>
          </a:prstGeom>
          <a:solidFill>
            <a:srgbClr val="0057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7468" y="4206240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Microsoft YaHei"/>
              </a:rPr>
              <a:t>图可消费 Relation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926080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1">
                <a:solidFill>
                  <a:srgbClr val="222222"/>
                </a:solidFill>
                <a:latin typeface="Microsoft YaHei"/>
              </a:rPr>
              <a:t>只有图可消费的 Relation</a:t>
            </a:r>
          </a:p>
          <a:p>
            <a:pPr algn="ctr"/>
            <a:r>
              <a:rPr sz="1120" b="1">
                <a:solidFill>
                  <a:srgbClr val="222222"/>
                </a:solidFill>
                <a:latin typeface="Microsoft YaHei"/>
              </a:rPr>
              <a:t>才能进入 T06 替换审查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1143000"/>
            <a:ext cx="345643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41080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13030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129844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关键质量指标（示例）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1874519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7" y="1874519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语义路口总数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207568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7" y="2075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有证据覆盖的路口数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27685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7" y="227685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发布 Relation 的总数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47802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7" y="24780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Relation 成功数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2679191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7" y="2679191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图可消费成功数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288036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7" y="28803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图不可消费成功数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03920" y="34747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41080" y="3639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36347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59" y="363016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主要阻断原因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418795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7" y="41879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缺少 RCSD 对应对象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4425696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7967" y="442569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证据不足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4663440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7967" y="46634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上游锚定失败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5088" y="4901184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7967" y="4901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T05 闭环失败或图不可消费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5623560"/>
            <a:ext cx="5897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5760" y="57972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7927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788152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核心结论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0" y="574243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T05 的目标不是“生成 Relation 记录”，而是发布可被替换审查系统消费的、稳定的 SWSD-RCSD 语义路口关系。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91072" y="5623560"/>
            <a:ext cx="5669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28232" y="57972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28232" y="57927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39712" y="5788152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输出产物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08392" y="5742432"/>
            <a:ext cx="39776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Microsoft YaHei"/>
              </a:rPr>
              <a:t>intersection_match_all.geojson（每个 SWSD 语义路口输出一条 Relation）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补充：路口锚定业务单元总览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从场景识别、证据生产到 Relation 发布，形成可审计、可追溯的路口锚定业务单元。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1234440"/>
            <a:ext cx="258775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" y="13898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3853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80744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场景识别与分治（第6页）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" y="1892807"/>
            <a:ext cx="2286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" y="210312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03120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识别路口结构类型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38658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86584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理解异源差异性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67004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70048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按场景分治：T07 / T03 / T04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953511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953511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目标：建立稳定现实世界基点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52928" y="2176272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1234440"/>
            <a:ext cx="258775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9272" y="13898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3853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1380744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证据生产（第7页）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37560" y="1892807"/>
            <a:ext cx="2286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64992" y="210312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103120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T07：已有路口面锚定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38658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2386584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T03：交叉 / T 型虚拟锚定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267004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2670048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T04：分岔 / 合流 / 复杂路口锚定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2953511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2953511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产出：锚定面 + 关系证据 + 节点状态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70448" y="2176272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1234440"/>
            <a:ext cx="258775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36792" y="13898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13853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1380744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Relation 发布与质量门控（第8页）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1892807"/>
            <a:ext cx="2286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82512" y="210312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103120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T05 两阶段处理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38658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386584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路口锚定质量漏斗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267004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2670048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Relation 成功与图可消费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2953511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2953511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目标：进入替换审查系统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887967" y="2176272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39" y="1234440"/>
            <a:ext cx="258775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54311" y="13898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1" y="13853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5791" y="1380744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替换审查与应用（后续模块）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72599" y="1892807"/>
            <a:ext cx="2286000" cy="0"/>
          </a:xfrm>
          <a:prstGeom prst="line">
            <a:avLst/>
          </a:prstGeom>
          <a:ln w="8890">
            <a:solidFill>
              <a:srgbClr val="D9DE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400031" y="210312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82911" y="2103120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T06 替换审查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1" y="2386584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1" y="2386584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图结构应用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0031" y="267004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1" y="2670048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222222"/>
                </a:solidFill>
                <a:latin typeface="Microsoft YaHei"/>
              </a:rPr>
              <a:t>全链路质量闭环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" y="3767328"/>
            <a:ext cx="26791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3959352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B00000"/>
                </a:solidFill>
                <a:latin typeface="Microsoft YaHei"/>
              </a:rPr>
              <a:t>1. 降低锚定不确定性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" y="4370832"/>
            <a:ext cx="2368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通过场景分治与证据体系，降低异源数据理解带来的锚定不确定性。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0" y="3767328"/>
            <a:ext cx="26791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7560" y="3959352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B00000"/>
                </a:solidFill>
                <a:latin typeface="Microsoft YaHei"/>
              </a:rPr>
              <a:t>2. 提升数据一致性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4370832"/>
            <a:ext cx="2368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统一的 Relation 交付标准，保证证据在不同模块间的一致传递。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767328"/>
            <a:ext cx="26791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3959352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B00000"/>
                </a:solidFill>
                <a:latin typeface="Microsoft YaHei"/>
              </a:rPr>
              <a:t>3. 增强可审计性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2368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全链路审计记录与质量门控，提升问题定位与人工介入效率。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39" y="3767328"/>
            <a:ext cx="26791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72599" y="3959352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B00000"/>
                </a:solidFill>
                <a:latin typeface="Microsoft YaHei"/>
              </a:rPr>
              <a:t>4. 支撑高质量替换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90887" y="4370832"/>
            <a:ext cx="2368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为替换审查提供可靠的路口关系基础，支撑复杂场景高质量滚动构图。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1168" y="5532120"/>
            <a:ext cx="11740896" cy="71323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8328" y="5577840"/>
            <a:ext cx="1234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整体价值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572768" y="5623559"/>
            <a:ext cx="0" cy="530353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691640" y="5577840"/>
            <a:ext cx="1006754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路口锚定业务单元将异源数据理解、证据生产、Relation 发布与质量门控串联起来，为后续 T06 替换和全链路质量闭环提供稳定基础。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基于 SWSD 构建 Segment，定义后续替换单元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先把 SWSD 路网组织成稳定的 Segment 单元，再作为后续替换与通行恢复的共同承载对象。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" y="1143000"/>
            <a:ext cx="3529584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52728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为什么需要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8496" y="1143000"/>
            <a:ext cx="36118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5656" y="125272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T01 如何构建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143000"/>
            <a:ext cx="4169663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252728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输出给下游模块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单根 Road 过于细碎，难以稳定表达两个语义路口之间的连续道路单元。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50008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50008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路口内部段连接、提前右转、环岛、复杂路口会干扰 Road 级替换边界。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16936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16936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直接按 Road 替换，容易丢失路口之间的结构关系。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83863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83863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后续 T06 需要清晰的替换对象与审查分母。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171907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7145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1709928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识别两端语义路口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15968" y="2002536"/>
            <a:ext cx="0" cy="118872"/>
          </a:xfrm>
          <a:prstGeom prst="line">
            <a:avLst/>
          </a:prstGeom>
          <a:ln w="1524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87952" y="2148839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214426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39696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提取内部路口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15968" y="2432303"/>
            <a:ext cx="0" cy="118872"/>
          </a:xfrm>
          <a:prstGeom prst="line">
            <a:avLst/>
          </a:prstGeom>
          <a:ln w="1524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87952" y="257860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257403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569464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聚合道路主体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5968" y="2862072"/>
            <a:ext cx="0" cy="118872"/>
          </a:xfrm>
          <a:prstGeom prst="line">
            <a:avLst/>
          </a:prstGeom>
          <a:ln w="1524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87952" y="3008376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7952" y="30038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2999232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区分双向 Segment 与单向补段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15968" y="3291840"/>
            <a:ext cx="0" cy="118872"/>
          </a:xfrm>
          <a:prstGeom prst="line">
            <a:avLst/>
          </a:prstGeom>
          <a:ln w="1524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87952" y="3438144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343357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4290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输出等级与审计信息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15968" y="3721607"/>
            <a:ext cx="0" cy="118873"/>
          </a:xfrm>
          <a:prstGeom prst="line">
            <a:avLst/>
          </a:prstGeom>
          <a:ln w="1524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187952" y="3867911"/>
            <a:ext cx="256032" cy="2560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7952" y="3863339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858768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聚合形成正式 Segment 结果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1" y="1755648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B00000"/>
                </a:solidFill>
                <a:latin typeface="Microsoft YaHei"/>
              </a:rPr>
              <a:t>给 T06 替换审查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21031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222222"/>
                </a:solidFill>
                <a:latin typeface="Microsoft YaHei"/>
              </a:rPr>
              <a:t>提供 Segment 边界、内部约束、道路集合与等级信息。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1" y="2560320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265176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B00000"/>
                </a:solidFill>
                <a:latin typeface="Microsoft YaHei"/>
              </a:rPr>
              <a:t>给 T09 通行规则恢复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2907791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222222"/>
                </a:solidFill>
                <a:latin typeface="Microsoft YaHei"/>
              </a:rPr>
              <a:t>提供 Arm 恢复与通行规则承载单元。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8431" y="3364991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345643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B00000"/>
                </a:solidFill>
                <a:latin typeface="Microsoft YaHei"/>
              </a:rPr>
              <a:t>给 QA 与审计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3712463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222222"/>
                </a:solidFill>
                <a:latin typeface="Microsoft YaHei"/>
              </a:rPr>
              <a:t>输出未构段 Road、冲突与内部路口审计。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" y="4617720"/>
            <a:ext cx="43434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" y="472744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核心结论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" y="5138928"/>
            <a:ext cx="3977639" cy="932688"/>
          </a:xfrm>
          <a:prstGeom prst="roundRect">
            <a:avLst>
              <a:gd name="adj" fmla="val 8000"/>
            </a:avLst>
          </a:prstGeom>
          <a:solidFill>
            <a:srgbClr val="FFFBFB"/>
          </a:solidFill>
          <a:ln w="10160">
            <a:solidFill>
              <a:srgbClr val="F1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0352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Microsoft YaHei"/>
              </a:rPr>
              <a:t>T01 的价值不是“切路”，而是把 SWSD 路网组织成可审计、可替换、可承载通行恢复的 Segment 单元。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36592" y="4617720"/>
            <a:ext cx="725119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73752" y="4727448"/>
            <a:ext cx="6976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真实 Case 预留位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50109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构建前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02352" y="5614416"/>
            <a:ext cx="1499616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180076" y="5564124"/>
            <a:ext cx="100584" cy="100584"/>
          </a:xfrm>
          <a:prstGeom prst="ellipse">
            <a:avLst/>
          </a:prstGeom>
          <a:solidFill>
            <a:srgbClr val="666666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01868" y="5564124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23660" y="5564124"/>
            <a:ext cx="100584" cy="100584"/>
          </a:xfrm>
          <a:prstGeom prst="ellipse">
            <a:avLst/>
          </a:prstGeom>
          <a:solidFill>
            <a:srgbClr val="666666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ight Arrow 61"/>
          <p:cNvSpPr/>
          <p:nvPr/>
        </p:nvSpPr>
        <p:spPr>
          <a:xfrm>
            <a:off x="6903720" y="5486400"/>
            <a:ext cx="274320" cy="256032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05472" y="50109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构建后（Segment 级）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434072" y="5614416"/>
            <a:ext cx="1499616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511796" y="5564124"/>
            <a:ext cx="100584" cy="100584"/>
          </a:xfrm>
          <a:prstGeom prst="ellipse">
            <a:avLst/>
          </a:prstGeom>
          <a:solidFill>
            <a:srgbClr val="C00000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133588" y="5564124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755380" y="5564124"/>
            <a:ext cx="100584" cy="100584"/>
          </a:xfrm>
          <a:prstGeom prst="ellipse">
            <a:avLst/>
          </a:prstGeom>
          <a:solidFill>
            <a:srgbClr val="C00000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18320" y="4864608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28048" y="4937760"/>
            <a:ext cx="2112263" cy="1088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内网真实 Case 位置预留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（由 Codex 补齐）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消费 T01 Segment 与 T05 Relation，判断是否具备替换前提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T06 的第一步不是替换，而是判断一个 SWSD Segment 是否满足进入 RCSD 替换审查的基础条件。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" y="1170432"/>
            <a:ext cx="3822191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8016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输入 1：T01 Segment（SWSD）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70078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00784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两端语义路口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2024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内部路口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396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396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道路集合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59152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359152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等级信息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1170432"/>
            <a:ext cx="3822191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128016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输入 2：T05 Relation（SWSD-RCSD）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170078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700784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路口映射关系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92024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92024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可消费状态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1396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1396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对应基点信息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170432"/>
            <a:ext cx="3822191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28016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输入 3：RCSD Road / 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70078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1700784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目标道路网络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192024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192024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路口语义节点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21396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21396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2"/>
                </a:solidFill>
                <a:latin typeface="Microsoft YaHei"/>
              </a:rPr>
              <a:t>道路图结构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" y="2926080"/>
            <a:ext cx="5760720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30358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Step1：资格判断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456432"/>
            <a:ext cx="219456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456432"/>
            <a:ext cx="4983480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两端语义路口是否有效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16121"/>
            <a:ext cx="219456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716121"/>
            <a:ext cx="4983480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Segment 是否具备证据前提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975811"/>
            <a:ext cx="219456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975811"/>
            <a:ext cx="4983480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内部路口是否影响必要约束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35500"/>
            <a:ext cx="219456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235500"/>
            <a:ext cx="4983480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是否能够形成后续审查单元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95190"/>
            <a:ext cx="219456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C00000"/>
                </a:solidFill>
                <a:latin typeface="Microsoft YaHei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95190"/>
            <a:ext cx="4983480" cy="259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0">
                <a:solidFill>
                  <a:srgbClr val="222222"/>
                </a:solidFill>
                <a:latin typeface="Microsoft YaHei"/>
              </a:rPr>
              <a:t>不满足条件则进入 rejected，不进入后续替换审查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3056" y="2926080"/>
            <a:ext cx="5824728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3035808"/>
            <a:ext cx="55504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Relation 消费边界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474720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474720"/>
            <a:ext cx="50109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>
                <a:solidFill>
                  <a:srgbClr val="222222"/>
                </a:solidFill>
                <a:latin typeface="Microsoft YaHei"/>
              </a:rPr>
              <a:t>仅消费可用 Relation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758183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3758183"/>
            <a:ext cx="50109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>
                <a:solidFill>
                  <a:srgbClr val="222222"/>
                </a:solidFill>
                <a:latin typeface="Microsoft YaHei"/>
              </a:rPr>
              <a:t>Relation 成功只是前提，不代表已经可替换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041648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041648"/>
            <a:ext cx="50109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>
                <a:solidFill>
                  <a:srgbClr val="222222"/>
                </a:solidFill>
                <a:latin typeface="Microsoft YaHei"/>
              </a:rPr>
              <a:t>Relation 不可消费时，Segment 不能直接进入替换审查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325112"/>
            <a:ext cx="164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325112"/>
            <a:ext cx="50109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>
                <a:solidFill>
                  <a:srgbClr val="222222"/>
                </a:solidFill>
                <a:latin typeface="Microsoft YaHei"/>
              </a:rPr>
              <a:t>人工 Relation 只释放前提，不等于替换白名单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1168" y="5138928"/>
            <a:ext cx="117866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" y="5248656"/>
            <a:ext cx="11512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真实 Case 预留位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" y="5532120"/>
            <a:ext cx="400507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605272"/>
            <a:ext cx="3785615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案例 1：Relation 缺失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两端路口无法映射到 RCSD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73168" y="5532120"/>
            <a:ext cx="391363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82896" y="5605272"/>
            <a:ext cx="3694176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案例 2：pair node 不合法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两端路口约束不匹配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555955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B00000"/>
                </a:solidFill>
                <a:latin typeface="Microsoft YaHei"/>
              </a:rPr>
              <a:t>内网真实 Case 位置预留（由 Codex 补齐）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构建 RCSD Segment，并证明是否可以安全替换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进入 T06 不等于可以替换，T06 需要证明 RCSD 在几何、方向、连通、拓扑和特殊路口组上都能承载该 SWSD Segment。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" y="1170432"/>
            <a:ext cx="4041648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" y="1298448"/>
            <a:ext cx="3822191" cy="31089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07592"/>
            <a:ext cx="3712463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Microsoft YaHei"/>
              </a:rPr>
              <a:t>1. RCSD 候选构建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170432"/>
            <a:ext cx="3566160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7136" y="1298448"/>
            <a:ext cx="3346704" cy="31089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07592"/>
            <a:ext cx="323697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Microsoft YaHei"/>
              </a:rPr>
              <a:t>2. corridor 与硬审查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1170432"/>
            <a:ext cx="3840480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0455" y="1298448"/>
            <a:ext cx="3621024" cy="31089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307592"/>
            <a:ext cx="35112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Microsoft YaHei"/>
              </a:rPr>
              <a:t>3. 特殊路口组与风险处理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810512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810512"/>
            <a:ext cx="33467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222222"/>
                </a:solidFill>
                <a:latin typeface="Microsoft YaHei"/>
              </a:rPr>
              <a:t>以 Segment 缓冲范围筛选 RCSD Road / RCSDNode；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13969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39696"/>
            <a:ext cx="33467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222222"/>
                </a:solidFill>
                <a:latin typeface="Microsoft YaHei"/>
              </a:rPr>
              <a:t>基于 T05 Relation 确定必要语义节点；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46888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468880"/>
            <a:ext cx="33467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222222"/>
                </a:solidFill>
                <a:latin typeface="Microsoft YaHei"/>
              </a:rPr>
              <a:t>构建 RCSD 候选图；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2798064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98064"/>
            <a:ext cx="33467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222222"/>
                </a:solidFill>
                <a:latin typeface="Microsoft YaHei"/>
              </a:rPr>
              <a:t>识别两端必要节点与内部必要节点。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291840"/>
            <a:ext cx="3520440" cy="804672"/>
          </a:xfrm>
          <a:prstGeom prst="roundRect">
            <a:avLst>
              <a:gd name="adj" fmla="val 8000"/>
            </a:avLst>
          </a:prstGeom>
          <a:solidFill>
            <a:srgbClr val="F4FFF4"/>
          </a:solidFill>
          <a:ln w="10160">
            <a:solidFill>
              <a:srgbClr val="55B9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40080" y="3694176"/>
            <a:ext cx="3191256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88466" y="3643884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85416" y="3643884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82365" y="3643884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16052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0">
                <a:solidFill>
                  <a:srgbClr val="666666"/>
                </a:solidFill>
                <a:latin typeface="Microsoft YaHei"/>
              </a:rPr>
              <a:t>RCSD 候选路径与必要节点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810512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1810512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必要节点是否连通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2173224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173224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方向一致性审查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2535936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2535936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几何覆盖审查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898648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2898648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末端合理性审查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261360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3261360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是否穿越额外映射语义节点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3624072"/>
            <a:ext cx="219456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0A8F3D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3624072"/>
            <a:ext cx="2788920" cy="362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222222"/>
                </a:solidFill>
                <a:latin typeface="Microsoft YaHei"/>
              </a:rPr>
              <a:t>是否存在提前右转、调头口、内部短连接等风险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17720" y="4069080"/>
            <a:ext cx="3063240" cy="0"/>
          </a:xfrm>
          <a:prstGeom prst="line">
            <a:avLst/>
          </a:prstGeom>
          <a:ln w="1016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63440" y="4169663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222222"/>
                </a:solidFill>
                <a:latin typeface="Microsoft YaHei"/>
              </a:rPr>
              <a:t>全部通过 → 进入下一步；</a:t>
            </a:r>
          </a:p>
          <a:p>
            <a:pPr algn="l"/>
            <a:r>
              <a:rPr sz="1070" b="1">
                <a:solidFill>
                  <a:srgbClr val="222222"/>
                </a:solidFill>
                <a:latin typeface="Microsoft YaHei"/>
              </a:rPr>
              <a:t>存在问题 → rejected / 复核。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182880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1828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环岛 / 复杂路口组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228600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局部可替换、局部保留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274320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2743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保留 SWSD carrier 承载规则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0040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3200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group replacement 以路口组为单位组织替换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65760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657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problem registry 记录风险并回流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8600" y="5010912"/>
            <a:ext cx="57424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" y="5084064"/>
            <a:ext cx="5522976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RCSD corridor 不连通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内网真实案例补充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81328" y="534009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F4FFF4"/>
          </a:solidFill>
          <a:ln w="10160">
            <a:solidFill>
              <a:srgbClr val="55B9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645920" y="5605272"/>
            <a:ext cx="1786737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61841" y="5605272"/>
            <a:ext cx="1623975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478377" y="546811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Microsoft YaHei"/>
              </a:rPr>
              <a:t>✕</a:t>
            </a:r>
          </a:p>
        </p:txBody>
      </p:sp>
      <p:sp>
        <p:nvSpPr>
          <p:cNvPr id="58" name="Oval 57"/>
          <p:cNvSpPr/>
          <p:nvPr/>
        </p:nvSpPr>
        <p:spPr>
          <a:xfrm>
            <a:off x="2082088" y="5554980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65576" y="5554980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49063" y="5554980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08192" y="5010912"/>
            <a:ext cx="587959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5084064"/>
            <a:ext cx="5660136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方向或几何覆盖不满足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内网真实案例补充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52360" y="534009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F4FFF4"/>
          </a:solidFill>
          <a:ln w="10160">
            <a:solidFill>
              <a:srgbClr val="55B9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616952" y="5605272"/>
            <a:ext cx="1949500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895636" y="5605272"/>
            <a:ext cx="1461212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612172" y="546811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Microsoft YaHei"/>
              </a:rPr>
              <a:t>✕</a:t>
            </a:r>
          </a:p>
        </p:txBody>
      </p:sp>
      <p:sp>
        <p:nvSpPr>
          <p:cNvPr id="67" name="Oval 66"/>
          <p:cNvSpPr/>
          <p:nvPr/>
        </p:nvSpPr>
        <p:spPr>
          <a:xfrm>
            <a:off x="8053120" y="5554980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36608" y="5554980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820095" y="5554980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以 Replacement Plan 驱动替换执行，输出可审计 F-RCSD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T06 Step3 只执行 Step2 发布的 Replacement Plan，不重新猜测替换路径；最终输出既包括 RCSD 替换，也包括 SWSD 保留与风险审计。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" y="1143000"/>
            <a:ext cx="36118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5272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1. Replacement Plan 是执行边界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164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37360"/>
            <a:ext cx="2907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Step2 发布 replacement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21408"/>
            <a:ext cx="164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2907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只有 plan ready 才能执行替换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05456"/>
            <a:ext cx="164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05456"/>
            <a:ext cx="2907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Step3 只执行 plan 中对象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889504"/>
            <a:ext cx="164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889504"/>
            <a:ext cx="2907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Step3 不重新补充 RCSD 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273552"/>
            <a:ext cx="164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73552"/>
            <a:ext cx="2907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222222"/>
                </a:solidFill>
                <a:latin typeface="Microsoft YaHei"/>
              </a:rPr>
              <a:t>rejected Segment 不能绕过 plan 直接替换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F0B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764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0" b="1">
                <a:solidFill>
                  <a:srgbClr val="B00000"/>
                </a:solidFill>
                <a:latin typeface="Microsoft YaHei"/>
              </a:rPr>
              <a:t>问题回流登记进入 problem registry，反馈给上游模块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1143000"/>
            <a:ext cx="345643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125272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2. Step3 输出：F-RCSD 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1737360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737360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t06_frcsd_road：RCSD 承载的道路集合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2093976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093976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t06_frcsd_node：RCSD 节点集合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450591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450591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Step3 替换单元：实际输出单元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7952" y="2807208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807208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路口语义组：用于 T09 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3163824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163824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拓扑连通性审计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3520440"/>
            <a:ext cx="1645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3520440"/>
            <a:ext cx="27249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222222"/>
                </a:solidFill>
                <a:latin typeface="Microsoft YaHei"/>
              </a:rPr>
              <a:t>输出清单与统计摘要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1143000"/>
            <a:ext cx="4443984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252728"/>
            <a:ext cx="41696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B00000"/>
                </a:solidFill>
                <a:latin typeface="Microsoft YaHei"/>
              </a:rPr>
              <a:t>3. Segment Relation 状态（Step3 输出）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1673352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EAF6E7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0688" y="17099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2E7D32"/>
                </a:solidFill>
                <a:latin typeface="Microsoft YaHei"/>
              </a:rPr>
              <a:t>完全替换</a:t>
            </a:r>
          </a:p>
          <a:p>
            <a:pPr algn="ctr"/>
            <a:r>
              <a:rPr sz="940" b="1">
                <a:solidFill>
                  <a:srgbClr val="2E7D32"/>
                </a:solidFill>
                <a:latin typeface="Microsoft YaHei"/>
              </a:rPr>
              <a:t>(replaced)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00032" y="1673352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1719072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22222"/>
                </a:solidFill>
                <a:latin typeface="Microsoft YaHei"/>
              </a:rPr>
              <a:t>Segment 被 RCSD 替换，carrier 来自 RCSD。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2267712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8890">
            <a:solidFill>
              <a:srgbClr val="C4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0688" y="230428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C45B00"/>
                </a:solidFill>
                <a:latin typeface="Microsoft YaHei"/>
              </a:rPr>
              <a:t>主通道替换、局部保留</a:t>
            </a:r>
          </a:p>
          <a:p>
            <a:pPr algn="ctr"/>
            <a:r>
              <a:rPr sz="940" b="1">
                <a:solidFill>
                  <a:srgbClr val="C45B00"/>
                </a:solidFill>
                <a:latin typeface="Microsoft YaHei"/>
              </a:rPr>
              <a:t>(replaced + retained_swsd)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00032" y="2267712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2313432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22222"/>
                </a:solidFill>
                <a:latin typeface="Microsoft YaHei"/>
              </a:rPr>
              <a:t>主通道由 RCSD 替换，局部保留 SWSD carrier 承载规则。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2862072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0688" y="289864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0B5CAD"/>
                </a:solidFill>
                <a:latin typeface="Microsoft YaHei"/>
              </a:rPr>
              <a:t>保留 SWSD</a:t>
            </a:r>
          </a:p>
          <a:p>
            <a:pPr algn="ctr"/>
            <a:r>
              <a:rPr sz="940" b="1">
                <a:solidFill>
                  <a:srgbClr val="0B5CAD"/>
                </a:solidFill>
                <a:latin typeface="Microsoft YaHei"/>
              </a:rPr>
              <a:t>(retained_swsd)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0032" y="2862072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907791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22222"/>
                </a:solidFill>
                <a:latin typeface="Microsoft YaHei"/>
              </a:rPr>
              <a:t>未替换，保留 SWSD carrier 承载通行规则。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26679" y="3456432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889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90688" y="349300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C00000"/>
                </a:solidFill>
                <a:latin typeface="Microsoft YaHei"/>
              </a:rPr>
              <a:t>失败（failed）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00032" y="3456432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502152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22222"/>
                </a:solidFill>
                <a:latin typeface="Microsoft YaHei"/>
              </a:rPr>
              <a:t>关系解析失败或缺少必要系数，需记录原因并审计。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" y="4462272"/>
            <a:ext cx="1178661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1168" y="4462272"/>
            <a:ext cx="1554480" cy="329184"/>
          </a:xfrm>
          <a:prstGeom prst="rect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" y="44988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真实 Case 预留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495604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00000"/>
                </a:solidFill>
                <a:latin typeface="Microsoft YaHei"/>
              </a:rPr>
              <a:t>主通道替换，局部保留规则承载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94944" y="5632704"/>
            <a:ext cx="3054096" cy="0"/>
          </a:xfrm>
          <a:prstGeom prst="line">
            <a:avLst/>
          </a:prstGeom>
          <a:ln w="31750">
            <a:solidFill>
              <a:srgbClr val="0A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21384" y="5582412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71700" y="5582412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22015" y="5582412"/>
            <a:ext cx="100584" cy="100584"/>
          </a:xfrm>
          <a:prstGeom prst="ellipse">
            <a:avLst/>
          </a:prstGeom>
          <a:solidFill>
            <a:srgbClr val="0A8F3D"/>
          </a:solidFill>
          <a:ln w="15240">
            <a:solidFill>
              <a:srgbClr val="0A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944368" y="5303520"/>
            <a:ext cx="914400" cy="658368"/>
          </a:xfrm>
          <a:prstGeom prst="roundRect">
            <a:avLst>
              <a:gd name="adj" fmla="val 8000"/>
            </a:avLst>
          </a:prstGeom>
          <a:solidFill>
            <a:srgbClr val="FFF0C8"/>
          </a:solidFill>
          <a:ln w="10160">
            <a:solidFill>
              <a:srgbClr val="E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989320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0A8F3D"/>
                </a:solidFill>
                <a:latin typeface="Microsoft YaHei"/>
              </a:rPr>
              <a:t>RCSD 承载（替换）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4600" y="5989320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96B00"/>
                </a:solidFill>
                <a:latin typeface="Microsoft YaHei"/>
              </a:rPr>
              <a:t>SWSD 承载（保留）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495604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00000"/>
                </a:solidFill>
                <a:latin typeface="Microsoft YaHei"/>
              </a:rPr>
              <a:t>未替换，保留 SWSD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389120" y="5632704"/>
            <a:ext cx="2642616" cy="0"/>
          </a:xfrm>
          <a:prstGeom prst="line">
            <a:avLst/>
          </a:prstGeom>
          <a:ln w="3175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4649724" y="5582412"/>
            <a:ext cx="100584" cy="100584"/>
          </a:xfrm>
          <a:prstGeom prst="ellipse">
            <a:avLst/>
          </a:prstGeom>
          <a:solidFill>
            <a:srgbClr val="0B5CAD"/>
          </a:solidFill>
          <a:ln w="1524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660136" y="5582412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70548" y="5582412"/>
            <a:ext cx="100584" cy="100584"/>
          </a:xfrm>
          <a:prstGeom prst="ellipse">
            <a:avLst/>
          </a:prstGeom>
          <a:solidFill>
            <a:srgbClr val="0B5CAD"/>
          </a:solidFill>
          <a:ln w="1524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83480" y="5989320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0B5CAD"/>
                </a:solidFill>
                <a:latin typeface="Microsoft YaHei"/>
              </a:rPr>
              <a:t>SWSD 承载（保留）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18120" y="4864608"/>
            <a:ext cx="3886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27848" y="4937760"/>
            <a:ext cx="3666744" cy="1088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内网真实 Case 位置预留</a:t>
            </a:r>
          </a:p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（由 Codex 补齐）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路段替换质量因素与问题定位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路段未替换并非单一原因，而是可能卡在 Segment 构建、Relation 消费、RCSD 候选、连通、方向、几何、特殊路口组、执行与拓扑闭合等多个质量门。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51560"/>
          <a:ext cx="11814048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2404872"/>
                <a:gridCol w="2962656"/>
                <a:gridCol w="1051560"/>
                <a:gridCol w="3858768"/>
              </a:tblGrid>
              <a:tr h="363474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质量门</a:t>
                      </a:r>
                    </a:p>
                  </a:txBody>
                  <a:tcPr marL="54864" marR="36576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典型问题</a:t>
                      </a:r>
                    </a:p>
                  </a:txBody>
                  <a:tcPr marL="54864" marR="36576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影响</a:t>
                      </a:r>
                    </a:p>
                  </a:txBody>
                  <a:tcPr marL="54864" marR="36576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所属模块</a:t>
                      </a:r>
                    </a:p>
                  </a:txBody>
                  <a:tcPr marL="54864" marR="36576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解决方向 / 反馈模块</a:t>
                      </a:r>
                    </a:p>
                  </a:txBody>
                  <a:tcPr marL="54864" marR="36576" marT="27432" marB="27432" anchor="ctr">
                    <a:solidFill>
                      <a:srgbClr val="C00000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T01 Segment 构建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两端路口 / 内部路口 / 道路集合不稳定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替换单元边界不稳，无法形成稳定 Segment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优化构段规则，补充单向补段与未构段审计。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Step1 资格判断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两端路口不合法、证据链不足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不进入替换审查，直接 rejected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T06-1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补充 Relation / 证据，修正 Segment 边界。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T05 Relation 消费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Relation 缺失、基点无效、图不可消费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required endpoints 无法构建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T05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补充或修正 Relation，优化路口归组。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RCSD 候选 / corridor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RCSD 候选不足、必要节点不连通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无法形成 RCSDSegment，候选链路断裂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T06-2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补充 RCSD，优化过滤范围与 corridor 构建。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方向 / 几何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单向 / 双向方向不匹配，几何覆盖不足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替换风险高，进入复核或拒绝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T06-2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优化方向规则，调整几何阈值。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特殊路口组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环岛 / 复杂路口组不完整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局部保留 SWSD carrier，替换能力下降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T06-2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完善组替换逻辑，补充关键节点。</a:t>
                      </a:r>
                    </a:p>
                  </a:txBody>
                  <a:tcPr marL="54864" marR="36576" marT="27432" marB="27432" anchor="ctr">
                    <a:solidFill>
                      <a:srgbClr val="F7F8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222222"/>
                          </a:solidFill>
                          <a:latin typeface="Microsoft YaHei"/>
                        </a:rPr>
                        <a:t>Step3 执行 / topology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plan ready 但执行后拓扑不闭合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标记为 retained / failed / 风险审计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T06-3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22222"/>
                          </a:solidFill>
                          <a:latin typeface="Microsoft YaHei"/>
                        </a:rPr>
                        <a:t>修正 plan 执行，优先排查拓扑路径。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" y="4133087"/>
            <a:ext cx="340156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242816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Microsoft YaHei"/>
              </a:rPr>
              <a:t>Relation 缺失导致无法替换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4632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Microsoft YaHei"/>
              </a:rPr>
              <a:t>A 路口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Microsoft YaHei"/>
              </a:rPr>
              <a:t>B 路口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5074920"/>
            <a:ext cx="1600200" cy="0"/>
          </a:xfrm>
          <a:prstGeom prst="line">
            <a:avLst/>
          </a:prstGeom>
          <a:ln w="1524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47088" y="49377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Microsoft YaHe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52760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B00000"/>
                </a:solidFill>
                <a:latin typeface="Microsoft YaHei"/>
              </a:rPr>
              <a:t>缺失 Relation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4133087"/>
            <a:ext cx="4370832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4242816"/>
            <a:ext cx="40965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B00000"/>
                </a:solidFill>
                <a:latin typeface="Microsoft YaHei"/>
              </a:rPr>
              <a:t>Relation 完整但 corridor / 方向 / topology 不满足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25112" y="5120640"/>
            <a:ext cx="1651406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05702" y="5120640"/>
            <a:ext cx="1164946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22238" y="49834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Microsoft YaHei"/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4666183" y="5070348"/>
            <a:ext cx="100584" cy="100584"/>
          </a:xfrm>
          <a:prstGeom prst="ellipse">
            <a:avLst/>
          </a:prstGeom>
          <a:solidFill>
            <a:srgbClr val="666666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47588" y="5070348"/>
            <a:ext cx="100584" cy="1005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8992" y="5070348"/>
            <a:ext cx="100584" cy="100584"/>
          </a:xfrm>
          <a:prstGeom prst="ellipse">
            <a:avLst/>
          </a:prstGeom>
          <a:solidFill>
            <a:srgbClr val="666666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54864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</a:rPr>
              <a:t>方向不匹配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4864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</a:rPr>
              <a:t>拓扑不闭合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4133087"/>
            <a:ext cx="3822191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4242816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Microsoft YaHei"/>
              </a:rPr>
              <a:t>问题归因连接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475488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4828032"/>
            <a:ext cx="1143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过程质量问题</a:t>
            </a:r>
          </a:p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（T01 / T05 / T06）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857232" y="5001768"/>
            <a:ext cx="402336" cy="27432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69296" y="4754880"/>
            <a:ext cx="13533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2448" y="4828032"/>
            <a:ext cx="1207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最终投影为</a:t>
            </a:r>
          </a:p>
          <a:p>
            <a:pPr algn="ctr"/>
            <a:r>
              <a:rPr sz="1019" b="1">
                <a:solidFill>
                  <a:srgbClr val="222222"/>
                </a:solidFill>
                <a:latin typeface="Microsoft YaHei"/>
              </a:rPr>
              <a:t>未替换 RCSD Road 归因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" y="5961888"/>
            <a:ext cx="11740896" cy="475488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6007607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核心结论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81328" y="6053327"/>
            <a:ext cx="0" cy="292609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00200" y="6007607"/>
            <a:ext cx="10158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T01 定义替换单元，T06 证明替换安全性；路段替换质量取决于 Segment 边界、Relation 消费和 RCSD 承载三类条件共同成立。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现实世界的路口通行限制：三类规则来源与不同作用范围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T09 的前提不是直接恢复数据字段，而是先理解现实世界中的通行限制来自哪里、作用在什么范围。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9456" y="1097280"/>
            <a:ext cx="3785615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98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25296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禁止通行标志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" y="1673352"/>
            <a:ext cx="3438143" cy="0"/>
          </a:xfrm>
          <a:prstGeom prst="line">
            <a:avLst/>
          </a:prstGeom>
          <a:ln w="1016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24528" y="1097280"/>
            <a:ext cx="3785615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2344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2298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225296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地面车道箭头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1673352"/>
            <a:ext cx="3438144" cy="0"/>
          </a:xfrm>
          <a:prstGeom prst="line">
            <a:avLst/>
          </a:prstGeom>
          <a:ln w="1016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1097280"/>
            <a:ext cx="3785615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12344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2298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225296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提前左转 / 提前右转等特殊通道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94192" y="1673352"/>
            <a:ext cx="3438144" cy="0"/>
          </a:xfrm>
          <a:prstGeom prst="line">
            <a:avLst/>
          </a:prstGeom>
          <a:ln w="10160">
            <a:solidFill>
              <a:srgbClr val="D9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" y="1847088"/>
            <a:ext cx="1645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84708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现实含义：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1847088"/>
            <a:ext cx="24505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标牌、地面禁止标识、全时段或分时段限制，表达某个进入方向不能驶向某个退出方向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2651760"/>
            <a:ext cx="16459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0"/>
            <a:ext cx="71323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典型特点：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2651760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约束强度最高；通常是最明确的禁止信息；可以带条件或时段；多数时候更接近 Arm 到 Arm 的禁止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611880"/>
            <a:ext cx="1645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作用范围：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611880"/>
            <a:ext cx="24505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以“进入方向 → 退出方向”的通行动作为主，不只是单根 Road 的属性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7280" y="4919472"/>
            <a:ext cx="214884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71700" y="4462272"/>
            <a:ext cx="0" cy="91440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24712" y="5029200"/>
            <a:ext cx="209397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81428" y="4480560"/>
            <a:ext cx="0" cy="877824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446020" y="4828032"/>
            <a:ext cx="210312" cy="2103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2473452" y="4864608"/>
            <a:ext cx="155448" cy="128016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43984" y="1847088"/>
            <a:ext cx="1645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1847088"/>
            <a:ext cx="71323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现实含义：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1847088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地面箭头决定某条进入 Road 的车道可以去哪些方向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2542032"/>
            <a:ext cx="16459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2542032"/>
            <a:ext cx="71323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典型特点：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2542032"/>
            <a:ext cx="2450591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需要综合该 Road 上所有车道箭头的并集；若实际有出口但箭头并集中缺少该方向，则可推导该 Road 在该方向受限；没有左转箭头时，通常也不能调头，除非有明确的调头箭头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3984" y="3794760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3794760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作用范围：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4" y="3794760"/>
            <a:ext cx="24505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主要是 Road 级方向限制，不一定等同于整个 Arm 禁止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6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8A8E93"/>
          </a:solidFill>
          <a:ln w="10160">
            <a:solidFill>
              <a:srgbClr val="555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736592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↑   ↑   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754880"/>
            <a:ext cx="10972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4818888"/>
            <a:ext cx="9692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30" b="0">
                <a:solidFill>
                  <a:srgbClr val="222222"/>
                </a:solidFill>
                <a:latin typeface="Microsoft YaHei"/>
              </a:rPr>
              <a:t>实际有左转出口，</a:t>
            </a:r>
          </a:p>
          <a:p>
            <a:pPr algn="ctr"/>
            <a:r>
              <a:rPr sz="930" b="0">
                <a:solidFill>
                  <a:srgbClr val="222222"/>
                </a:solidFill>
                <a:latin typeface="Microsoft YaHei"/>
              </a:rPr>
              <a:t>但箭头不支持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1847088"/>
            <a:ext cx="1645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50224" y="184708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现实含义：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1847088"/>
            <a:ext cx="24505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通行方向被提前左转、提前右转、辅路提右等特殊通道承载，属于通行组织位移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2651760"/>
            <a:ext cx="1645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50224" y="2651760"/>
            <a:ext cx="71323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典型特点：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2651760"/>
            <a:ext cx="2450591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主路可能不再承担对应转向，但若主路仍有明确箭头则仍可通行；特殊通道通常只承担对应方向，除非有其它明确箭头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3675887"/>
            <a:ext cx="1645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0224" y="3675887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作用范围：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3456" y="3675887"/>
            <a:ext cx="24505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必须按 Arm 整体理解，不能只看某一条 Road 的属性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079992" y="4919472"/>
            <a:ext cx="214884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54411" y="4462272"/>
            <a:ext cx="0" cy="91440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107424" y="5029200"/>
            <a:ext cx="209397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264139" y="4480560"/>
            <a:ext cx="0" cy="877824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45851" y="4828032"/>
            <a:ext cx="58704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832896" y="4828032"/>
            <a:ext cx="350216" cy="2560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01168" y="5989320"/>
            <a:ext cx="11740896" cy="43891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8328" y="6035040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核心认识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64207" y="6080759"/>
            <a:ext cx="0" cy="256033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83080" y="6035040"/>
            <a:ext cx="99761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现实通行限制同时存在 Arm 级禁止、Road 级方向约束和特殊通道位移，不能用单一的 Road 到 Road 模型完整表达。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65836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T09 章节认知起点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SWSD 如何表达现实通行限制：可用证据与工艺隐患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现实规则进入数据生产后，被压缩为有限证据；T09 需要先理解这些证据能表达什么、又丢失了什么。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9456" y="1115568"/>
            <a:ext cx="3785615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435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90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Restriction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115568"/>
            <a:ext cx="3785615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2435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2390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23444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Laneinfo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15568"/>
            <a:ext cx="3785615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5904" y="12435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2390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123444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提前左转 / 提前右转属性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1755648"/>
            <a:ext cx="16459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55648"/>
            <a:ext cx="71323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数据表达：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1755648"/>
            <a:ext cx="2450591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SWSD 中主要以 inLinkID → outLinkID 的 Road 到 Road 形式表达；同一个 Restriction ID 下可能包含多组进出 Road-Pair；部分场景带条件或时段信息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779776"/>
            <a:ext cx="16459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9776"/>
            <a:ext cx="1234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可表达的现实信息：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2779776"/>
            <a:ext cx="19293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明确禁止某个进入 Road 通往某个退出 Road；多数时候可以作为高优先级的禁止证据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164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71323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主要隐患：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611880"/>
            <a:ext cx="24505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现实可能更接近 Arm 到 Arm 禁止，但工艺中只保留 Road 到 Road；限制原因、作用范围、时段语义可能存在信息损失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817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222222"/>
                </a:solidFill>
                <a:latin typeface="Microsoft YaHei"/>
              </a:rPr>
              <a:t>现实：Arm → Arm 禁止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239512"/>
            <a:ext cx="114300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84148" y="5010912"/>
            <a:ext cx="0" cy="45720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0080" y="5349240"/>
            <a:ext cx="108813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93876" y="5029200"/>
            <a:ext cx="0" cy="420624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458468" y="5148072"/>
            <a:ext cx="210312" cy="2103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485900" y="5184648"/>
            <a:ext cx="155448" cy="128016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1993392" y="5120640"/>
            <a:ext cx="320040" cy="23774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681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222222"/>
                </a:solidFill>
                <a:latin typeface="Microsoft YaHei"/>
              </a:rPr>
              <a:t>数据：Road → Road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32888" y="5239512"/>
            <a:ext cx="91440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90088" y="5010912"/>
            <a:ext cx="0" cy="45720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560320" y="5349240"/>
            <a:ext cx="85953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99816" y="5029200"/>
            <a:ext cx="0" cy="420624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264408" y="5148072"/>
            <a:ext cx="210312" cy="2103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3291840" y="5184648"/>
            <a:ext cx="155448" cy="128016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43984" y="1755648"/>
            <a:ext cx="16459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175564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数据表达：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4" y="1755648"/>
            <a:ext cx="24505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SWSD 保存的是 Road 级车道箭头；需要综合该 Road 上全部车道的箭头方向并集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4" y="2670048"/>
            <a:ext cx="1645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2670048"/>
            <a:ext cx="1234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可表达的现实信息：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79592" y="2670048"/>
            <a:ext cx="192938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可以推导某条进入 Road 是否支持直行、左转、右转、调头等方向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3493008"/>
            <a:ext cx="164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5152" y="3493008"/>
            <a:ext cx="71323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主要隐患：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8384" y="3493008"/>
            <a:ext cx="24505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不是直接的禁止规则；存在未调查、空值、车道不完整、方向不匹配等问题；不能简单把缺失箭头理解为禁止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4590288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8A8E93"/>
          </a:solidFill>
          <a:ln w="10160">
            <a:solidFill>
              <a:srgbClr val="555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478231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↑   ↑   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4800600"/>
            <a:ext cx="10972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846320"/>
            <a:ext cx="9692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Microsoft YaHei"/>
              </a:rPr>
              <a:t>实际存在左转出口，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Microsoft YaHei"/>
              </a:rPr>
              <a:t>但箭头并集不支持左转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1755648"/>
            <a:ext cx="16459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0224" y="17556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数据表达：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3456" y="1755648"/>
            <a:ext cx="245059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主要承载在 Road 的属性中，如提前左转、提前右转、辅路提右等特殊通道信息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6" y="2651760"/>
            <a:ext cx="1645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0224" y="2651760"/>
            <a:ext cx="1234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可表达的现实信息：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84664" y="2651760"/>
            <a:ext cx="192938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说明通行方向可能发生位移，由特殊通道承担部分左转或右转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49056" y="3493008"/>
            <a:ext cx="16459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0224" y="3493008"/>
            <a:ext cx="71323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222222"/>
                </a:solidFill>
                <a:latin typeface="Microsoft YaHei"/>
              </a:rPr>
              <a:t>主要隐患：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6" y="3493008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0">
                <a:solidFill>
                  <a:srgbClr val="222222"/>
                </a:solidFill>
                <a:latin typeface="Microsoft YaHei"/>
              </a:rPr>
              <a:t>属性落在单条 Road 上，但业务影响的是整个 Arm；不能只凭单条 Road 属性直接判断主路是否受限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079992" y="5047488"/>
            <a:ext cx="214884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154411" y="4681727"/>
            <a:ext cx="0" cy="731521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107424" y="5157216"/>
            <a:ext cx="209397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264139" y="4700016"/>
            <a:ext cx="0" cy="694943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45851" y="4956048"/>
            <a:ext cx="58704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832896" y="4956048"/>
            <a:ext cx="350216" cy="25603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01168" y="5989320"/>
            <a:ext cx="11740896" cy="43891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" y="6035040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核心认识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664207" y="6080759"/>
            <a:ext cx="0" cy="256033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783080" y="6035040"/>
            <a:ext cx="99761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SWSD 保存的是现实通行规则经过工艺压缩后的有限证据，而不是完整的现场通行真值。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65836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从数据表达回到业务语义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基于 SWSD 有限证据，逆向推导现场可能的通行规则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先按语义路口重建 Arm 与 Movement，再按 Restriction &gt; Laneinfo &gt; 提前左转 / 提前右转 的优先级，反推现场最可能的通行限制。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1005840"/>
            <a:ext cx="117957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95097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222222"/>
                </a:solidFill>
                <a:latin typeface="Microsoft YaHei"/>
              </a:rPr>
              <a:t>统一分析对象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25296"/>
            <a:ext cx="2240280" cy="47548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icrosoft YaHei"/>
              </a:rPr>
              <a:t>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2618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SWSD Road / Node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60904" y="1353312"/>
            <a:ext cx="256032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63240" y="1225296"/>
            <a:ext cx="2240280" cy="47548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30759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icrosoft YaHei"/>
              </a:rPr>
              <a:t>╱╲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2618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按语义路口构建 Arm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76672" y="1353312"/>
            <a:ext cx="256032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79008" y="1225296"/>
            <a:ext cx="2423160" cy="47548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8736" y="130759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icrosoft YaHei"/>
              </a:rPr>
              <a:t>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618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from Arm → to Arm</a:t>
            </a:r>
          </a:p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形成 Movement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75320" y="1353312"/>
            <a:ext cx="256032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77656" y="1225296"/>
            <a:ext cx="2788920" cy="47548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130759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icrosoft YaHei"/>
              </a:rPr>
              <a:t>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261872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在 Movement 内保留</a:t>
            </a:r>
          </a:p>
          <a:p>
            <a:pPr algn="ctr"/>
            <a:r>
              <a:rPr sz="1010" b="1">
                <a:solidFill>
                  <a:srgbClr val="222222"/>
                </a:solidFill>
                <a:latin typeface="Microsoft YaHei"/>
              </a:rPr>
              <a:t>进入 Road × 退出 Road 承载关系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1965960"/>
            <a:ext cx="377647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0896" y="21122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1076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103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Restriction（最高优先级）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624328"/>
            <a:ext cx="3410712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判断方式：先按 Road-Pair 明确命中，再判断它是具体 Road 到 Road 限制，还是可以提升理解为 Arm 到 Arm 的限制。</a:t>
            </a:r>
          </a:p>
          <a:p>
            <a:pPr algn="l"/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结论特点：当 Restriction 与其它证据冲突时，优先相信 Restriction；它决定最终禁止结论。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4069080"/>
            <a:ext cx="3429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31520" y="4453128"/>
            <a:ext cx="105156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57300" y="4279392"/>
            <a:ext cx="0" cy="347472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8952" y="4562856"/>
            <a:ext cx="99669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67028" y="4297680"/>
            <a:ext cx="0" cy="310896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531620" y="4361688"/>
            <a:ext cx="210312" cy="2103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559052" y="4398264"/>
            <a:ext cx="155448" cy="128016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0" y="42976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0" b="1">
                <a:solidFill>
                  <a:srgbClr val="B00000"/>
                </a:solidFill>
                <a:latin typeface="Microsoft YaHei"/>
              </a:rPr>
              <a:t>最终仍禁止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78808" y="1965960"/>
            <a:ext cx="377647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06824" y="21122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06824" y="21076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8304" y="2103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Laneinfo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2624328"/>
            <a:ext cx="3410712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判断方式：汇总进入 Road 上全部有效车道箭头的方向并集；若实际有出口但箭头并集中缺少该方向，则推导该 Road 在该方向受限。</a:t>
            </a:r>
          </a:p>
          <a:p>
            <a:pPr algn="l"/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结论特点：左转箭头缺失时，通常左转受限，调头也受限；若存在明确调头箭头，则调头仍可通行。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069080"/>
            <a:ext cx="3429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727448" y="4453128"/>
            <a:ext cx="105156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53228" y="4279392"/>
            <a:ext cx="0" cy="347472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54880" y="4562856"/>
            <a:ext cx="99669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62956" y="4297680"/>
            <a:ext cx="0" cy="310896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44668" y="4361688"/>
            <a:ext cx="27980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24474" y="4361688"/>
            <a:ext cx="108814" cy="2560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25896" y="423367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>
                <a:solidFill>
                  <a:srgbClr val="222222"/>
                </a:solidFill>
                <a:latin typeface="Microsoft YaHei"/>
              </a:rPr>
              <a:t>左转受限；调头按箭头判断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1965960"/>
            <a:ext cx="377647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02752" y="21122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21076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4232" y="2103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提前左转 / 提前右转（最低优先级）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5" y="2624328"/>
            <a:ext cx="3410712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判断方式：以 Arm 为单位整体分析是否存在提前左转、提前右转、辅路提右等特殊通道。</a:t>
            </a:r>
          </a:p>
          <a:p>
            <a:pPr algn="l"/>
          </a:p>
          <a:p>
            <a:pPr algn="l"/>
            <a:r>
              <a:rPr sz="950" b="0">
                <a:solidFill>
                  <a:srgbClr val="222222"/>
                </a:solidFill>
                <a:latin typeface="Microsoft YaHei"/>
              </a:rPr>
              <a:t>结论特点：只有在缺少更高优先级证据时，才作为弱推导使用；主路若仍有明确箭头，则主路仍可通行。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39327" y="4069080"/>
            <a:ext cx="3429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723376" y="4453128"/>
            <a:ext cx="1051559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9155" y="4279392"/>
            <a:ext cx="0" cy="347472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750807" y="4562856"/>
            <a:ext cx="99669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58883" y="4297680"/>
            <a:ext cx="0" cy="310896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340595" y="4361688"/>
            <a:ext cx="27980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0402" y="4361688"/>
            <a:ext cx="108813" cy="2560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076688" y="423367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>
                <a:solidFill>
                  <a:srgbClr val="222222"/>
                </a:solidFill>
                <a:latin typeface="Microsoft YaHei"/>
              </a:rPr>
              <a:t>Laneinfo 明确支持时，</a:t>
            </a:r>
          </a:p>
          <a:p>
            <a:pPr algn="ctr"/>
            <a:r>
              <a:rPr sz="969" b="1">
                <a:solidFill>
                  <a:srgbClr val="222222"/>
                </a:solidFill>
                <a:latin typeface="Microsoft YaHei"/>
              </a:rPr>
              <a:t>主路仍可通行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" y="5175504"/>
            <a:ext cx="11795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" y="525780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>
                <a:solidFill>
                  <a:srgbClr val="B00000"/>
                </a:solidFill>
                <a:latin typeface="Microsoft YaHei"/>
              </a:rPr>
              <a:t>冲突裁决示例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54480" y="5285232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45920" y="533095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Microsoft YaHei"/>
              </a:rPr>
              <a:t>案例 1  Restriction 禁止，Laneinfo 支持 → 最终仍禁止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5285232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4920" y="533095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Microsoft YaHei"/>
              </a:rPr>
              <a:t>案例 2  无 Restriction，全部车道无左转箭头 → Road 级左转限制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12480" y="5285232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19" y="533095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Microsoft YaHei"/>
              </a:rPr>
              <a:t>案例 3  存在提前右转，主路也有右转箭头 → 主路仍可右转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" y="5961888"/>
            <a:ext cx="11740896" cy="475488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" y="6007607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核心认识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664207" y="6053327"/>
            <a:ext cx="0" cy="292609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783080" y="6007607"/>
            <a:ext cx="9976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T09 不是复制 SWSD 字段，而是利用 Restriction、Laneinfo 和特殊通道证据，按优先级反推现场最可能的 Arm 级和 Road 级通行规则。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65836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逆向推导是 T09 的核心业务逻辑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54864"/>
            <a:ext cx="1172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B00000"/>
                </a:solidFill>
                <a:latin typeface="Microsoft YaHei"/>
              </a:rPr>
              <a:t>将推导出的通行规则映射到 F-RCSD，并明确当前验证边界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76072"/>
            <a:ext cx="11567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666666"/>
                </a:solidFill>
                <a:latin typeface="Microsoft YaHei"/>
              </a:rPr>
              <a:t>SWSD 侧恢复的是现场规则理解，真正落到 F-RCSD 时，还要结合 T06 的承载关系与当前可用数据条件。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" y="877824"/>
            <a:ext cx="11759184" cy="0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1051560"/>
            <a:ext cx="65653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" y="11978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932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188720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规则恢复链路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737360"/>
            <a:ext cx="12984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105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059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1837943"/>
            <a:ext cx="5852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55199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SWSD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1208"/>
            <a:ext cx="1152144" cy="346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Arm / Movement / 规则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37360" y="2359152"/>
            <a:ext cx="228600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1737360"/>
            <a:ext cx="12984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93392" y="18105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18059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6856" y="1837943"/>
            <a:ext cx="5852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555199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T06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2901208"/>
            <a:ext cx="1152144" cy="346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Segment Relation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273552" y="2359152"/>
            <a:ext cx="228600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6432" y="1737360"/>
            <a:ext cx="12984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9584" y="18105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18059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1837943"/>
            <a:ext cx="5852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2555199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F-RCSD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2901208"/>
            <a:ext cx="1152144" cy="346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承载 Road / Node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09744" y="2359152"/>
            <a:ext cx="228600" cy="2286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92624" y="1737360"/>
            <a:ext cx="12984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65776" y="181051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18059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1837943"/>
            <a:ext cx="5852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2555199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F-RCSD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6" y="2901208"/>
            <a:ext cx="1152144" cy="346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LinkID → outLinkID</a:t>
            </a:r>
          </a:p>
          <a:p>
            <a:pPr algn="ctr"/>
            <a:r>
              <a:rPr sz="940" b="0">
                <a:solidFill>
                  <a:srgbClr val="222222"/>
                </a:solidFill>
                <a:latin typeface="Microsoft YaHei"/>
              </a:rPr>
              <a:t>通行限制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547872"/>
            <a:ext cx="619963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685032"/>
            <a:ext cx="5486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>
                <a:solidFill>
                  <a:srgbClr val="222222"/>
                </a:solidFill>
                <a:latin typeface="Microsoft YaHei"/>
              </a:rPr>
              <a:t>SWSD 与 F-RCSD 的 Road 切分和路口挂接方式不同，不能直接复制原始 Restriction 或 Laneinfo，需要通过 T06 的承载关系完成映射。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1051560"/>
            <a:ext cx="510235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59168" y="11978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11932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1188720"/>
            <a:ext cx="4343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当前可稳定恢复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174650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1746504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</a:rPr>
              <a:t>Restriction 主导的 Arm 级基础禁止恢复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191109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1911095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</a:rPr>
              <a:t>T06 Relation 下的 F-RCSD restriction 投影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207568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2075688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</a:rPr>
              <a:t>replaced / retained_swsd / 混合承载的 carrier 映射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22402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488" y="2240280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</a:rPr>
              <a:t>证据、冲突和风险链保留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3720" y="2761488"/>
            <a:ext cx="510235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59168" y="29077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29032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0648" y="2898648"/>
            <a:ext cx="4343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2222"/>
                </a:solidFill>
                <a:latin typeface="Microsoft YaHei"/>
              </a:rPr>
              <a:t>当前尚未闭环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3410712"/>
            <a:ext cx="16459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3410712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222222"/>
                </a:solidFill>
                <a:latin typeface="Microsoft YaHei"/>
              </a:rPr>
              <a:t>缺少 RCSD Laneinfo，Road 级限制无法充分验证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0608" y="3584448"/>
            <a:ext cx="16459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3584448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222222"/>
                </a:solidFill>
                <a:latin typeface="Microsoft YaHei"/>
              </a:rPr>
              <a:t>Laneinfo 推导的 Road 级规则不能直接放大为整个 Arm 禁止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8" y="3758184"/>
            <a:ext cx="16459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33488" y="3758184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222222"/>
                </a:solidFill>
                <a:latin typeface="Microsoft YaHei"/>
              </a:rPr>
              <a:t>提前左转 / 提前右转替换后的 Lane 级验证仍不足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8" y="3931920"/>
            <a:ext cx="16459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3931920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222222"/>
                </a:solidFill>
                <a:latin typeface="Microsoft YaHei"/>
              </a:rPr>
              <a:t>分时段和复杂条件限制尚未完整恢复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0608" y="4105656"/>
            <a:ext cx="16459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0" b="1">
                <a:solidFill>
                  <a:srgbClr val="C00000"/>
                </a:solidFill>
                <a:latin typeface="Microsoft YaHe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33488" y="4105656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222222"/>
                </a:solidFill>
                <a:latin typeface="Microsoft YaHei"/>
              </a:rPr>
              <a:t>F-RCSD 的完整通行能力仍需后续迭代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2880" y="4645152"/>
            <a:ext cx="11795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04288" y="48280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Arm 级规则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9424" y="5138928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例如明确的 Arm 到 Arm 禁止，可通过 T06 承载关系映射为 F-RCSD 中稳定的进入方向 → 退出方向限制。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88152" y="49926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B00000"/>
                </a:solidFill>
                <a:latin typeface="Microsoft YaHei"/>
              </a:rPr>
              <a:t>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0840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B00000"/>
                </a:solidFill>
                <a:latin typeface="Microsoft YaHei"/>
              </a:rPr>
              <a:t>Road 级规则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56832" y="5138928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Microsoft YaHei"/>
              </a:rPr>
              <a:t>例如由 Laneinfo 推导出的某条进入 Road 左转限制，仍需 RCSD Laneinfo 验证，当前更适合作为候选或未验证结果。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40080" y="5157216"/>
            <a:ext cx="1051560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65860" y="4937759"/>
            <a:ext cx="0" cy="438913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67512" y="5266944"/>
            <a:ext cx="996696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275588" y="4956048"/>
            <a:ext cx="0" cy="402335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440180" y="5065776"/>
            <a:ext cx="210312" cy="2103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1467612" y="5102352"/>
            <a:ext cx="155448" cy="128016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51592" y="5157216"/>
            <a:ext cx="1051559" cy="0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77372" y="4937759"/>
            <a:ext cx="0" cy="438913"/>
          </a:xfrm>
          <a:prstGeom prst="line">
            <a:avLst/>
          </a:prstGeom>
          <a:ln w="15240">
            <a:solidFill>
              <a:srgbClr val="606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479024" y="5266944"/>
            <a:ext cx="996695" cy="0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87099" y="4956048"/>
            <a:ext cx="0" cy="402335"/>
          </a:xfrm>
          <a:prstGeom prst="line">
            <a:avLst/>
          </a:prstGeom>
          <a:ln w="8890">
            <a:solidFill>
              <a:srgbClr val="A5A9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68811" y="5065776"/>
            <a:ext cx="27980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348618" y="5065776"/>
            <a:ext cx="108814" cy="25603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201168" y="5925312"/>
            <a:ext cx="11740896" cy="50292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8328" y="597103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00000"/>
                </a:solidFill>
                <a:latin typeface="Microsoft YaHei"/>
              </a:rPr>
              <a:t>核心认识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664207" y="6016752"/>
            <a:ext cx="0" cy="320040"/>
          </a:xfrm>
          <a:prstGeom prst="line">
            <a:avLst/>
          </a:prstGeom>
          <a:ln w="889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783080" y="5971032"/>
            <a:ext cx="9976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icrosoft YaHei"/>
              </a:rPr>
              <a:t>T09 当前可以恢复明确的 Arm 级禁止关系；Road 级限制已经具备 SWSD 侧推导基础，但由于缺少 RCSD Laneinfo，替换后的精确验证仍未闭环。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80" y="65836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T09 当前能力与边界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RCSD_Topo_Poc 项目技术汇报</dc:title>
  <dc:subject>18页可编辑正式汇报</dc:subject>
  <dc:creator>RCSD_Topo_Poc</dc:creator>
  <cp:keywords/>
  <dc:description>按归档页面视觉等效重建；第1-5页已更新为最新正式内网指标。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