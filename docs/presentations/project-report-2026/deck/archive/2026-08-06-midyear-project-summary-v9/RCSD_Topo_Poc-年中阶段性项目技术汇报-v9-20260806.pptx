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docs/PROJECT_REQUIREMENTS.md</a:t>
            </a:r>
          </a:p>
          <a:p>
            <a:r>
              <a:t>- docs/doc-governance/module-lifecycle.md</a:t>
            </a:r>
          </a:p>
          <a:p>
            <a:r>
              <a:t>- modules/t01_data_preprocess/SPEC.md</a:t>
            </a:r>
          </a:p>
          <a:p>
            <a:r>
              <a:t>- modules/t07_semantic_junction_anchor/SPEC.md</a:t>
            </a:r>
          </a:p>
          <a:p>
            <a:r>
              <a:t>- modules/t03_virtual_junction_anchor/SPEC.md</a:t>
            </a:r>
          </a:p>
          <a:p>
            <a:r>
              <a:t>- modules/t04_divmerge_virtual_polygon/SPEC.md</a:t>
            </a:r>
          </a:p>
          <a:p>
            <a:r>
              <a:t>- modules/t05_junction_surface_fusion/SPEC.md</a:t>
            </a:r>
          </a:p>
          <a:p>
            <a:r>
              <a:t>- modules/t06_segment_fusion_precheck/INTERFACE_CONTRACT.md</a:t>
            </a:r>
          </a:p>
          <a:p>
            <a:r>
              <a:t>- modules/t12_frcsd_quality_audit/INTERFACE_CONTRACT.md</a:t>
            </a:r>
          </a:p>
          <a:p>
            <a:r>
              <a:t>- modules/p04_road_direct_generation/INTERFACE_CONTRACT.md</a:t>
            </a:r>
          </a:p>
          <a:p>
            <a:r>
              <a:t>- modules/p05_neural_road_generation/INTERFACE_CONTRACT.md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V6 第 2 页：完整替换方案主体、真实锚定证据图及空间关系。</a:t>
            </a:r>
          </a:p>
          <a:p>
            <a:r>
              <a:t>- 用户提供：95% 为路口自动锚定成功率业务统计。</a:t>
            </a:r>
          </a:p>
          <a:p>
            <a:r>
              <a:t>- V6 正式内网实测：80.3760%、108,732 条 RCSD 道路、10,386.319 公里。</a:t>
            </a:r>
          </a:p>
          <a:p>
            <a:r>
              <a:t>- 用户提供：85% 为全量路口锚定后的条件预估；剩余约 15% 转入 1V1 匹配补充处理。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V6 第 3 页：审计目标与准则、现实质检案例、输出与边界三段式。</a:t>
            </a:r>
          </a:p>
          <a:p>
            <a:r>
              <a:t>- 用例 1885118：V6 已确认真实本地图；现有证据仅来自替换前置检查，状态为候选。</a:t>
            </a:r>
          </a:p>
          <a:p>
            <a:r>
              <a:t>- 用例 522806716：E:/TestData/POC_QA/T03_Error/522806716；当前质量审计输入快照已确认，QGIS/PyQGIS 渲染，silent_fix=false。</a:t>
            </a:r>
          </a:p>
          <a:p>
            <a:r>
              <a:t>- 用例 26219553_1026960：E:/Work/RCSD_Topo_Poc/outputs/_work/t12_unexpected_reverse_qgis_audit_20260730/preview_26219553_1026960.png。</a:t>
            </a:r>
          </a:p>
          <a:p>
            <a:r>
              <a:t>- 最新排除结论：E:/Work/RCSD_Topo_Poc/outputs/_work/t12_quality_taxonomy_step2_source_20260801/real_qgis_audit_v10_release/t12_frcsd_quality_candidates.csv；反向道路更属于相邻路段，当前排除。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modules/p04_road_direct_generation/SPEC.md</a:t>
            </a:r>
          </a:p>
          <a:p>
            <a:r>
              <a:t>- modules/p04_road_direct_generation/architecture/05-quality-requirements.md</a:t>
            </a:r>
          </a:p>
          <a:p>
            <a:r>
              <a:t>- docs/doc-governance/module-lifecycle.md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第5页V05图片确认稿——来源与边界</a:t>
            </a:r>
          </a:p>
          <a:p>
            <a:endParaRPr/>
          </a:p>
          <a:p>
            <a:r>
              <a:t>- 接口SHA256：0E54D9DEE375AF73824277D8F754A24E7449D03831A034B9113E54889A018767。</a:t>
            </a:r>
          </a:p>
          <a:p>
            <a:r>
              <a:t>- 源PPT：C:\Users\admin\Downloads\L4上下车点技术方案_6页最终发布版_返璞归真视觉_第1页标题统一.pptx，SHA256=FB85954DBABF629BD36F8B3BC54CF541BDCA3E546FE70A7A6B719B3C692ABC55；已完整核对第1、2页对象文本和整页渲染。</a:t>
            </a:r>
          </a:p>
          <a:p>
            <a:r>
              <a:t>- Excel：C:\Users\admin\Downloads\L4上下车点交通法规_RC与车端分工_完整重生成.xlsx，SHA256=15F23DB957B1D2BCFEAF1ED478D8A2EE74037C9DD18B977DB42F595CB85724F3；只读核对统一业务原则A5:C7。</a:t>
            </a:r>
          </a:p>
          <a:p>
            <a:r>
              <a:t>- 正式V7：E:\Work\RCSD_Topo_Poc__wt_midyear_v4_20260803\docs\presentations\project-report-2026\deck\archive\2026-08-05-midyear-project-summary-v7\RCSD_Topo_Poc-年中阶段性项目技术汇报-v7-20260805.pptx，SHA256=E14CDDEAB8F23E19FB5396DC215893FCB91559B5985C302C770E9869E3F5EC2A。</a:t>
            </a:r>
          </a:p>
          <a:p>
            <a:r>
              <a:t>- 高德点只表达现实需求并触发RCSD候选查询、校验和点位修正；不生成静态规则。</a:t>
            </a:r>
          </a:p>
          <a:p>
            <a:r>
              <a:t>- 附近高德备选点与RCSD同方向同侧候选区间画为两条条件分支，分别回到重新校验。</a:t>
            </a:r>
          </a:p>
          <a:p>
            <a:r>
              <a:t>- 普通道路和交通枢纽各自在本列完成接客；跨列连接线0；不包含送客或下车内容。</a:t>
            </a:r>
          </a:p>
          <a:p>
            <a:r>
              <a:t>- 所有来源与旧稿只读，未修改；未执行Git。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Excel最高优先级事实源：L4上下车点交通法规_RC与车端分工_完整重生成.xlsx；首期RC基础要素A3:D10、法规拆解总表B15:F15/B7:F7/B4:F5/B32:F32、统一业务原则A3:C6。</a:t>
            </a:r>
          </a:p>
          <a:p>
            <a:r>
              <a:t>- PAGE6_IMAGE_INTERFACE.txt（SHA256 8DB4F14480DD23051F56FE8C58AE7E9EF545440F3D1EBFEC37CA3911E1682D34）：页面确认文案、共享道路表达与审计锁定项。</a:t>
            </a:r>
          </a:p>
          <a:p>
            <a:r>
              <a:t>- 正式V7第6页：继承Master、Layout与标题/色彩体系；正文按V05接口原生重建。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
- E:\Work\Off_Road_Map\README.md
- E:\Work\Off_Road_Map\prototype\README.md
- E:\Work\Off_Road_Map\prototype\experiments\p01_amap_live\README.md
- E:\Work\Off_Road_Map\outputs\_work\p01_design_chain_audit_20260804\AUDIT_REPORT.md
- E:\Work\Off_Road_Map\outputs\_work\p01_design_chain_fix_20260804\prototype_audit\design_chain_report.json
- Embedded screenshot: E:\Work\Off_Road_Map\outputs\_work\p01_design_chain_fix_20260804\prototype_audit\design_chain_fixed.png
- Published prototype: https://p01-offroad-map-prototype.vercel.app (HTTP 200 verified 2026-08-06)
- Scope note: the page summarizes prototype iteration and required engineering capabilities; it does not claim that the prototype has completed terminal-product productionization.
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402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D45DFA-56F7-88B4-D8E7-D3609DEB3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DACE-B4BF-4719-90F1-41F7F5954A9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1108D0-03FA-9ABF-A8BA-03DC9FA9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83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01-offroad-map-prototype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age-title">
            <a:extLst>
              <a:ext uri="{FF2B5EF4-FFF2-40B4-BE49-F238E27FC236}">
                <a16:creationId xmlns:a16="http://schemas.microsoft.com/office/drawing/2014/main" id="{277F19B6-4BED-48CA-9BA7-B00CB4D63464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道路业务全貌：从结构认知到四条业务路径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6B2B1350-3A8A-4542-9DC6-89076FBC89D4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先建立稳定的路口—路段认知，再锚定现实证据并形成替换、质检、构建与变更识别闭环</a:t>
            </a:r>
          </a:p>
        </p:txBody>
      </p:sp>
      <p:sp>
        <p:nvSpPr>
          <p:cNvPr id="3" name="title-divider">
            <a:extLst>
              <a:ext uri="{FF2B5EF4-FFF2-40B4-BE49-F238E27FC236}">
                <a16:creationId xmlns:a16="http://schemas.microsoft.com/office/drawing/2014/main" id="{06361FF2-D17F-4FB3-8FF8-E4B4DEA1D135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9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0" name="p1-第一层-accent">
            <a:extLst>
              <a:ext uri="{FF2B5EF4-FFF2-40B4-BE49-F238E27FC236}">
                <a16:creationId xmlns:a16="http://schemas.microsoft.com/office/drawing/2014/main" id="{23A0D839-DFF1-4043-9F79-5A6A101711EB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47625" cy="219075"/>
          </a:xfrm>
          <a:prstGeom prst="rect">
            <a:avLst/>
          </a:prstGeom>
          <a:solidFill>
            <a:srgbClr val="7D2633"/>
          </a:solidFill>
          <a:ln w="0">
            <a:noFill/>
            <a:prstDash val="solid"/>
          </a:ln>
        </p:spPr>
      </p:sp>
      <p:sp>
        <p:nvSpPr>
          <p:cNvPr id="51" name="p1-第一层-index">
            <a:extLst>
              <a:ext uri="{FF2B5EF4-FFF2-40B4-BE49-F238E27FC236}">
                <a16:creationId xmlns:a16="http://schemas.microsoft.com/office/drawing/2014/main" id="{B3079566-79CF-40D0-AF42-7B8DE5B0D090}"/>
              </a:ext>
            </a:extLst>
          </p:cNvPr>
          <p:cNvSpPr>
            <a:spLocks noGrp="1"/>
          </p:cNvSpPr>
          <p:nvPr/>
        </p:nvSpPr>
        <p:spPr>
          <a:xfrm>
            <a:off x="762000" y="1285875"/>
            <a:ext cx="742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第一层</a:t>
            </a:r>
          </a:p>
        </p:txBody>
      </p:sp>
      <p:sp>
        <p:nvSpPr>
          <p:cNvPr id="52" name="p1-第一层-topic">
            <a:extLst>
              <a:ext uri="{FF2B5EF4-FFF2-40B4-BE49-F238E27FC236}">
                <a16:creationId xmlns:a16="http://schemas.microsoft.com/office/drawing/2014/main" id="{97F23B13-7FD1-47D1-B2D9-3C52117B2006}"/>
              </a:ext>
            </a:extLst>
          </p:cNvPr>
          <p:cNvSpPr>
            <a:spLocks noGrp="1"/>
          </p:cNvSpPr>
          <p:nvPr/>
        </p:nvSpPr>
        <p:spPr>
          <a:xfrm>
            <a:off x="1514475" y="1285875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道路结构认知</a:t>
            </a:r>
          </a:p>
        </p:txBody>
      </p:sp>
      <p:sp>
        <p:nvSpPr>
          <p:cNvPr id="53" name="p1-layer1-heading-divider">
            <a:extLst>
              <a:ext uri="{FF2B5EF4-FFF2-40B4-BE49-F238E27FC236}">
                <a16:creationId xmlns:a16="http://schemas.microsoft.com/office/drawing/2014/main" id="{A29215D0-9E39-4CB5-A933-A7C9AF1656CF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4" name="p1-layer1-left-bg">
            <a:extLst>
              <a:ext uri="{FF2B5EF4-FFF2-40B4-BE49-F238E27FC236}">
                <a16:creationId xmlns:a16="http://schemas.microsoft.com/office/drawing/2014/main" id="{F07AAAE9-484F-4EAC-BEE2-4D2C991C307E}"/>
              </a:ext>
            </a:extLst>
          </p:cNvPr>
          <p:cNvSpPr>
            <a:spLocks noGrp="1"/>
          </p:cNvSpPr>
          <p:nvPr/>
        </p:nvSpPr>
        <p:spPr>
          <a:xfrm>
            <a:off x="657225" y="1609725"/>
            <a:ext cx="5867400" cy="1371600"/>
          </a:xfrm>
          <a:prstGeom prst="rect">
            <a:avLst/>
          </a:prstGeom>
          <a:solidFill>
            <a:srgbClr val="FCFBF9"/>
          </a:solidFill>
          <a:ln w="0">
            <a:noFill/>
            <a:prstDash val="solid"/>
          </a:ln>
        </p:spPr>
      </p:sp>
      <p:sp>
        <p:nvSpPr>
          <p:cNvPr id="55" name="p1-layer1-left-accent">
            <a:extLst>
              <a:ext uri="{FF2B5EF4-FFF2-40B4-BE49-F238E27FC236}">
                <a16:creationId xmlns:a16="http://schemas.microsoft.com/office/drawing/2014/main" id="{D89E87D9-03C7-4391-80E4-DA5E022988D5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7625" cy="1371600"/>
          </a:xfrm>
          <a:prstGeom prst="rect">
            <a:avLst/>
          </a:prstGeom>
          <a:solidFill>
            <a:srgbClr val="7D2633"/>
          </a:solidFill>
          <a:ln w="0">
            <a:noFill/>
            <a:prstDash val="solid"/>
          </a:ln>
        </p:spPr>
      </p:sp>
      <p:sp>
        <p:nvSpPr>
          <p:cNvPr id="56" name="p1-layer1-bottom-divider">
            <a:extLst>
              <a:ext uri="{FF2B5EF4-FFF2-40B4-BE49-F238E27FC236}">
                <a16:creationId xmlns:a16="http://schemas.microsoft.com/office/drawing/2014/main" id="{93CF1CF6-5066-41BF-A742-0439A040E352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7" name="p1-layer1-column-divider">
            <a:extLst>
              <a:ext uri="{FF2B5EF4-FFF2-40B4-BE49-F238E27FC236}">
                <a16:creationId xmlns:a16="http://schemas.microsoft.com/office/drawing/2014/main" id="{A3015D2A-CFFF-4869-8A65-441ED1B1A3E9}"/>
              </a:ext>
            </a:extLst>
          </p:cNvPr>
          <p:cNvSpPr>
            <a:spLocks noGrp="1"/>
          </p:cNvSpPr>
          <p:nvPr/>
        </p:nvSpPr>
        <p:spPr>
          <a:xfrm>
            <a:off x="6524625" y="1657350"/>
            <a:ext cx="0" cy="12763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8" name="p1-foundation-label">
            <a:extLst>
              <a:ext uri="{FF2B5EF4-FFF2-40B4-BE49-F238E27FC236}">
                <a16:creationId xmlns:a16="http://schemas.microsoft.com/office/drawing/2014/main" id="{621B571C-C739-4FDD-BD58-F10E23A15E70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rPr>
              <a:t>稳定业务骨架</a:t>
            </a:r>
          </a:p>
        </p:txBody>
      </p:sp>
      <p:sp>
        <p:nvSpPr>
          <p:cNvPr id="59" name="p1-foundation-line-left">
            <a:extLst>
              <a:ext uri="{FF2B5EF4-FFF2-40B4-BE49-F238E27FC236}">
                <a16:creationId xmlns:a16="http://schemas.microsoft.com/office/drawing/2014/main" id="{F8E44481-747F-48CD-AFB8-7A4DB3A63116}"/>
              </a:ext>
            </a:extLst>
          </p:cNvPr>
          <p:cNvSpPr>
            <a:spLocks noGrp="1"/>
          </p:cNvSpPr>
          <p:nvPr/>
        </p:nvSpPr>
        <p:spPr>
          <a:xfrm>
            <a:off x="2028825" y="2190750"/>
            <a:ext cx="102870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60" name="p1-foundation-line-right">
            <a:extLst>
              <a:ext uri="{FF2B5EF4-FFF2-40B4-BE49-F238E27FC236}">
                <a16:creationId xmlns:a16="http://schemas.microsoft.com/office/drawing/2014/main" id="{C3DC4C64-7DC8-44BC-9CCE-99A52E5A15D2}"/>
              </a:ext>
            </a:extLst>
          </p:cNvPr>
          <p:cNvSpPr>
            <a:spLocks noGrp="1"/>
          </p:cNvSpPr>
          <p:nvPr/>
        </p:nvSpPr>
        <p:spPr>
          <a:xfrm>
            <a:off x="4200525" y="2190750"/>
            <a:ext cx="1019175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61" name="p1-junction-left">
            <a:extLst>
              <a:ext uri="{FF2B5EF4-FFF2-40B4-BE49-F238E27FC236}">
                <a16:creationId xmlns:a16="http://schemas.microsoft.com/office/drawing/2014/main" id="{F04CFBBC-CCAC-42B7-9172-1295ECDB6C44}"/>
              </a:ext>
            </a:extLst>
          </p:cNvPr>
          <p:cNvSpPr>
            <a:spLocks noGrp="1"/>
          </p:cNvSpPr>
          <p:nvPr/>
        </p:nvSpPr>
        <p:spPr>
          <a:xfrm>
            <a:off x="1057275" y="1971675"/>
            <a:ext cx="981075" cy="438150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7D2633"/>
            </a:solidFill>
            <a:prstDash val="solid"/>
          </a:ln>
        </p:spPr>
        <p:txBody>
          <a:bodyPr wrap="none" lIns="57150" tIns="0" rIns="5715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62" name="p1-segment">
            <a:extLst>
              <a:ext uri="{FF2B5EF4-FFF2-40B4-BE49-F238E27FC236}">
                <a16:creationId xmlns:a16="http://schemas.microsoft.com/office/drawing/2014/main" id="{62E2E64A-3DBB-45DD-819D-9B7FD66A51EA}"/>
              </a:ext>
            </a:extLst>
          </p:cNvPr>
          <p:cNvSpPr>
            <a:spLocks noGrp="1"/>
          </p:cNvSpPr>
          <p:nvPr/>
        </p:nvSpPr>
        <p:spPr>
          <a:xfrm>
            <a:off x="3057525" y="1971675"/>
            <a:ext cx="1143000" cy="447675"/>
          </a:xfrm>
          <a:prstGeom prst="roundRect">
            <a:avLst>
              <a:gd name="adj" fmla="val 46809"/>
            </a:avLst>
          </a:prstGeom>
          <a:solidFill>
            <a:srgbClr val="7D2633"/>
          </a:solidFill>
          <a:ln w="15240">
            <a:solidFill>
              <a:srgbClr val="7D2633"/>
            </a:solidFill>
            <a:prstDash val="solid"/>
          </a:ln>
        </p:spPr>
        <p:txBody>
          <a:bodyPr wrap="none" lIns="57150" tIns="0" rIns="5715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路段</a:t>
            </a:r>
          </a:p>
        </p:txBody>
      </p:sp>
      <p:sp>
        <p:nvSpPr>
          <p:cNvPr id="63" name="p1-junction-right">
            <a:extLst>
              <a:ext uri="{FF2B5EF4-FFF2-40B4-BE49-F238E27FC236}">
                <a16:creationId xmlns:a16="http://schemas.microsoft.com/office/drawing/2014/main" id="{3C8685CB-76BC-4BB9-85DF-59445B69C5EC}"/>
              </a:ext>
            </a:extLst>
          </p:cNvPr>
          <p:cNvSpPr>
            <a:spLocks noGrp="1"/>
          </p:cNvSpPr>
          <p:nvPr/>
        </p:nvSpPr>
        <p:spPr>
          <a:xfrm>
            <a:off x="5210175" y="1971675"/>
            <a:ext cx="981075" cy="438150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7D2633"/>
            </a:solidFill>
            <a:prstDash val="solid"/>
          </a:ln>
        </p:spPr>
        <p:txBody>
          <a:bodyPr wrap="none" lIns="57150" tIns="0" rIns="5715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64" name="p1-foundation-ontology">
            <a:extLst>
              <a:ext uri="{FF2B5EF4-FFF2-40B4-BE49-F238E27FC236}">
                <a16:creationId xmlns:a16="http://schemas.microsoft.com/office/drawing/2014/main" id="{27C301C9-1B25-4CBB-A90C-B73D82E0C6B6}"/>
              </a:ext>
            </a:extLst>
          </p:cNvPr>
          <p:cNvSpPr>
            <a:spLocks noGrp="1"/>
          </p:cNvSpPr>
          <p:nvPr/>
        </p:nvSpPr>
        <p:spPr>
          <a:xfrm>
            <a:off x="2457450" y="2543175"/>
            <a:ext cx="2095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路口—路段—路口</a:t>
            </a:r>
          </a:p>
        </p:txBody>
      </p:sp>
      <p:sp>
        <p:nvSpPr>
          <p:cNvPr id="65" name="p1-definition-row1-divider">
            <a:extLst>
              <a:ext uri="{FF2B5EF4-FFF2-40B4-BE49-F238E27FC236}">
                <a16:creationId xmlns:a16="http://schemas.microsoft.com/office/drawing/2014/main" id="{E1A7A36F-A770-4CE7-BDED-3FAF87D8A6A5}"/>
              </a:ext>
            </a:extLst>
          </p:cNvPr>
          <p:cNvSpPr>
            <a:spLocks noGrp="1"/>
          </p:cNvSpPr>
          <p:nvPr/>
        </p:nvSpPr>
        <p:spPr>
          <a:xfrm>
            <a:off x="6705600" y="2000250"/>
            <a:ext cx="45720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66" name="p1-definition-row2-divider">
            <a:extLst>
              <a:ext uri="{FF2B5EF4-FFF2-40B4-BE49-F238E27FC236}">
                <a16:creationId xmlns:a16="http://schemas.microsoft.com/office/drawing/2014/main" id="{B1E0516B-E163-453F-9417-FC9734CEC16E}"/>
              </a:ext>
            </a:extLst>
          </p:cNvPr>
          <p:cNvSpPr>
            <a:spLocks noGrp="1"/>
          </p:cNvSpPr>
          <p:nvPr/>
        </p:nvSpPr>
        <p:spPr>
          <a:xfrm>
            <a:off x="6705600" y="2362200"/>
            <a:ext cx="45720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67" name="p1-definition-1-number">
            <a:extLst>
              <a:ext uri="{FF2B5EF4-FFF2-40B4-BE49-F238E27FC236}">
                <a16:creationId xmlns:a16="http://schemas.microsoft.com/office/drawing/2014/main" id="{DABC362E-8DD4-48ED-940E-712E56EFF655}"/>
              </a:ext>
            </a:extLst>
          </p:cNvPr>
          <p:cNvSpPr>
            <a:spLocks noGrp="1"/>
          </p:cNvSpPr>
          <p:nvPr/>
        </p:nvSpPr>
        <p:spPr>
          <a:xfrm>
            <a:off x="6734175" y="1704975"/>
            <a:ext cx="2381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68" name="p1-definition-1-label">
            <a:extLst>
              <a:ext uri="{FF2B5EF4-FFF2-40B4-BE49-F238E27FC236}">
                <a16:creationId xmlns:a16="http://schemas.microsoft.com/office/drawing/2014/main" id="{CC377FC7-21C0-417D-AECC-BA86BE75DC96}"/>
              </a:ext>
            </a:extLst>
          </p:cNvPr>
          <p:cNvSpPr>
            <a:spLocks noGrp="1"/>
          </p:cNvSpPr>
          <p:nvPr/>
        </p:nvSpPr>
        <p:spPr>
          <a:xfrm>
            <a:off x="7010400" y="1704975"/>
            <a:ext cx="590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路口：</a:t>
            </a:r>
          </a:p>
        </p:txBody>
      </p:sp>
      <p:sp>
        <p:nvSpPr>
          <p:cNvPr id="69" name="p1-definition-1-text">
            <a:extLst>
              <a:ext uri="{FF2B5EF4-FFF2-40B4-BE49-F238E27FC236}">
                <a16:creationId xmlns:a16="http://schemas.microsoft.com/office/drawing/2014/main" id="{128F23BF-CC49-450F-A914-6F40A5C92A12}"/>
              </a:ext>
            </a:extLst>
          </p:cNvPr>
          <p:cNvSpPr>
            <a:spLocks noGrp="1"/>
          </p:cNvSpPr>
          <p:nvPr/>
        </p:nvSpPr>
        <p:spPr>
          <a:xfrm>
            <a:off x="7524750" y="1704975"/>
            <a:ext cx="3781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道路汇聚、分流与连接关系发生的空间单元。</a:t>
            </a:r>
          </a:p>
        </p:txBody>
      </p:sp>
      <p:sp>
        <p:nvSpPr>
          <p:cNvPr id="70" name="p1-definition-2-number">
            <a:extLst>
              <a:ext uri="{FF2B5EF4-FFF2-40B4-BE49-F238E27FC236}">
                <a16:creationId xmlns:a16="http://schemas.microsoft.com/office/drawing/2014/main" id="{ADB0FDEA-FFC4-45C8-81D1-B438290118EE}"/>
              </a:ext>
            </a:extLst>
          </p:cNvPr>
          <p:cNvSpPr>
            <a:spLocks noGrp="1"/>
          </p:cNvSpPr>
          <p:nvPr/>
        </p:nvSpPr>
        <p:spPr>
          <a:xfrm>
            <a:off x="6734175" y="2066925"/>
            <a:ext cx="2381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71" name="p1-definition-2-label">
            <a:extLst>
              <a:ext uri="{FF2B5EF4-FFF2-40B4-BE49-F238E27FC236}">
                <a16:creationId xmlns:a16="http://schemas.microsoft.com/office/drawing/2014/main" id="{C245F77F-B0ED-442A-B980-3A099E2C0A10}"/>
              </a:ext>
            </a:extLst>
          </p:cNvPr>
          <p:cNvSpPr>
            <a:spLocks noGrp="1"/>
          </p:cNvSpPr>
          <p:nvPr/>
        </p:nvSpPr>
        <p:spPr>
          <a:xfrm>
            <a:off x="7010400" y="2066925"/>
            <a:ext cx="590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路段：</a:t>
            </a:r>
          </a:p>
        </p:txBody>
      </p:sp>
      <p:sp>
        <p:nvSpPr>
          <p:cNvPr id="72" name="p1-definition-2-text">
            <a:extLst>
              <a:ext uri="{FF2B5EF4-FFF2-40B4-BE49-F238E27FC236}">
                <a16:creationId xmlns:a16="http://schemas.microsoft.com/office/drawing/2014/main" id="{73CA7953-D889-40E3-8D0C-4EF7F957B635}"/>
              </a:ext>
            </a:extLst>
          </p:cNvPr>
          <p:cNvSpPr>
            <a:spLocks noGrp="1"/>
          </p:cNvSpPr>
          <p:nvPr/>
        </p:nvSpPr>
        <p:spPr>
          <a:xfrm>
            <a:off x="7524750" y="2066925"/>
            <a:ext cx="3781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连接相邻路口、承载连续通行的道路单元。</a:t>
            </a:r>
          </a:p>
        </p:txBody>
      </p:sp>
      <p:sp>
        <p:nvSpPr>
          <p:cNvPr id="73" name="p1-definition-3-number">
            <a:extLst>
              <a:ext uri="{FF2B5EF4-FFF2-40B4-BE49-F238E27FC236}">
                <a16:creationId xmlns:a16="http://schemas.microsoft.com/office/drawing/2014/main" id="{88769A1A-17DF-440A-9125-8DE82CF0DE67}"/>
              </a:ext>
            </a:extLst>
          </p:cNvPr>
          <p:cNvSpPr>
            <a:spLocks noGrp="1"/>
          </p:cNvSpPr>
          <p:nvPr/>
        </p:nvSpPr>
        <p:spPr>
          <a:xfrm>
            <a:off x="6734175" y="2428875"/>
            <a:ext cx="23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74" name="p1-definition-3-label">
            <a:extLst>
              <a:ext uri="{FF2B5EF4-FFF2-40B4-BE49-F238E27FC236}">
                <a16:creationId xmlns:a16="http://schemas.microsoft.com/office/drawing/2014/main" id="{BB83882A-1112-4BE0-9BFF-00C004602DA4}"/>
              </a:ext>
            </a:extLst>
          </p:cNvPr>
          <p:cNvSpPr>
            <a:spLocks noGrp="1"/>
          </p:cNvSpPr>
          <p:nvPr/>
        </p:nvSpPr>
        <p:spPr>
          <a:xfrm>
            <a:off x="7010400" y="2428875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价值：</a:t>
            </a:r>
          </a:p>
        </p:txBody>
      </p:sp>
      <p:sp>
        <p:nvSpPr>
          <p:cNvPr id="75" name="p1-definition-3-text">
            <a:extLst>
              <a:ext uri="{FF2B5EF4-FFF2-40B4-BE49-F238E27FC236}">
                <a16:creationId xmlns:a16="http://schemas.microsoft.com/office/drawing/2014/main" id="{F5C02221-C635-4320-AA71-5341F7BD38CF}"/>
              </a:ext>
            </a:extLst>
          </p:cNvPr>
          <p:cNvSpPr>
            <a:spLocks noGrp="1"/>
          </p:cNvSpPr>
          <p:nvPr/>
        </p:nvSpPr>
        <p:spPr>
          <a:xfrm>
            <a:off x="7524750" y="2428875"/>
            <a:ext cx="37814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以稳定业务语义屏蔽节点增减、道路切分和数据来源</a:t>
            </a:r>
          </a:p>
          <a:p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差异。</a:t>
            </a:r>
          </a:p>
        </p:txBody>
      </p:sp>
      <p:sp>
        <p:nvSpPr>
          <p:cNvPr id="76" name="p1-layer1-to-layer2-shaft">
            <a:extLst>
              <a:ext uri="{FF2B5EF4-FFF2-40B4-BE49-F238E27FC236}">
                <a16:creationId xmlns:a16="http://schemas.microsoft.com/office/drawing/2014/main" id="{1C4BC455-1EE0-48EC-AB47-35D7BC79C604}"/>
              </a:ext>
            </a:extLst>
          </p:cNvPr>
          <p:cNvSpPr>
            <a:spLocks noGrp="1"/>
          </p:cNvSpPr>
          <p:nvPr/>
        </p:nvSpPr>
        <p:spPr>
          <a:xfrm>
            <a:off x="6096000" y="3000375"/>
            <a:ext cx="0" cy="66675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77" name="p1-layer1-to-layer2-head-left">
            <a:extLst>
              <a:ext uri="{FF2B5EF4-FFF2-40B4-BE49-F238E27FC236}">
                <a16:creationId xmlns:a16="http://schemas.microsoft.com/office/drawing/2014/main" id="{DBBD3CC3-79EA-4428-AF74-2A6D8B996B68}"/>
              </a:ext>
            </a:extLst>
          </p:cNvPr>
          <p:cNvSpPr>
            <a:spLocks noGrp="1"/>
          </p:cNvSpPr>
          <p:nvPr/>
        </p:nvSpPr>
        <p:spPr>
          <a:xfrm>
            <a:off x="6029325" y="3067050"/>
            <a:ext cx="66675" cy="66675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78" name="p1-layer1-to-layer2-head-right">
            <a:extLst>
              <a:ext uri="{FF2B5EF4-FFF2-40B4-BE49-F238E27FC236}">
                <a16:creationId xmlns:a16="http://schemas.microsoft.com/office/drawing/2014/main" id="{47642ABD-64CA-4D02-B0FD-D5CCEACFB319}"/>
              </a:ext>
            </a:extLst>
          </p:cNvPr>
          <p:cNvSpPr>
            <a:spLocks noGrp="1"/>
          </p:cNvSpPr>
          <p:nvPr/>
        </p:nvSpPr>
        <p:spPr>
          <a:xfrm flipH="1">
            <a:off x="6096000" y="3067050"/>
            <a:ext cx="66675" cy="66675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79" name="p1-第二层-accent">
            <a:extLst>
              <a:ext uri="{FF2B5EF4-FFF2-40B4-BE49-F238E27FC236}">
                <a16:creationId xmlns:a16="http://schemas.microsoft.com/office/drawing/2014/main" id="{C7CE88E0-842A-4BF7-9586-5A85AD2F86F5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47625" cy="219075"/>
          </a:xfrm>
          <a:prstGeom prst="rect">
            <a:avLst/>
          </a:prstGeom>
          <a:solidFill>
            <a:srgbClr val="7D2633"/>
          </a:solidFill>
          <a:ln w="0">
            <a:noFill/>
            <a:prstDash val="solid"/>
          </a:ln>
        </p:spPr>
      </p:sp>
      <p:sp>
        <p:nvSpPr>
          <p:cNvPr id="80" name="p1-第二层-index">
            <a:extLst>
              <a:ext uri="{FF2B5EF4-FFF2-40B4-BE49-F238E27FC236}">
                <a16:creationId xmlns:a16="http://schemas.microsoft.com/office/drawing/2014/main" id="{C4EDEDCB-0FBA-456B-AF7C-BB312EC1257B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742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第二层</a:t>
            </a:r>
          </a:p>
        </p:txBody>
      </p:sp>
      <p:sp>
        <p:nvSpPr>
          <p:cNvPr id="81" name="p1-第二层-topic">
            <a:extLst>
              <a:ext uri="{FF2B5EF4-FFF2-40B4-BE49-F238E27FC236}">
                <a16:creationId xmlns:a16="http://schemas.microsoft.com/office/drawing/2014/main" id="{C304E2A5-24A2-4E58-A06D-89710122EF59}"/>
              </a:ext>
            </a:extLst>
          </p:cNvPr>
          <p:cNvSpPr>
            <a:spLocks noGrp="1"/>
          </p:cNvSpPr>
          <p:nvPr/>
        </p:nvSpPr>
        <p:spPr>
          <a:xfrm>
            <a:off x="1514475" y="31813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82" name="p1-layer2-heading-divider">
            <a:extLst>
              <a:ext uri="{FF2B5EF4-FFF2-40B4-BE49-F238E27FC236}">
                <a16:creationId xmlns:a16="http://schemas.microsoft.com/office/drawing/2014/main" id="{4815EB10-088A-40F8-8E8A-71B365C0BD19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3" name="p1-layer2-bottom-divider">
            <a:extLst>
              <a:ext uri="{FF2B5EF4-FFF2-40B4-BE49-F238E27FC236}">
                <a16:creationId xmlns:a16="http://schemas.microsoft.com/office/drawing/2014/main" id="{4DA4C404-4148-4440-B810-1BF16955501A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4" name="p1-tech-reality">
            <a:extLst>
              <a:ext uri="{FF2B5EF4-FFF2-40B4-BE49-F238E27FC236}">
                <a16:creationId xmlns:a16="http://schemas.microsoft.com/office/drawing/2014/main" id="{CAB3D270-9F68-4AC3-B7CA-884DB4B26B94}"/>
              </a:ext>
            </a:extLst>
          </p:cNvPr>
          <p:cNvSpPr>
            <a:spLocks noGrp="1"/>
          </p:cNvSpPr>
          <p:nvPr/>
        </p:nvSpPr>
        <p:spPr>
          <a:xfrm>
            <a:off x="1171575" y="3933825"/>
            <a:ext cx="1066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rPr>
              <a:t>现实空间证据</a:t>
            </a:r>
          </a:p>
        </p:txBody>
      </p:sp>
      <p:sp>
        <p:nvSpPr>
          <p:cNvPr id="85" name="p1-tech-arrow-1-shaft">
            <a:extLst>
              <a:ext uri="{FF2B5EF4-FFF2-40B4-BE49-F238E27FC236}">
                <a16:creationId xmlns:a16="http://schemas.microsoft.com/office/drawing/2014/main" id="{4B80D816-700C-4C8F-A9BD-8C5D33066400}"/>
              </a:ext>
            </a:extLst>
          </p:cNvPr>
          <p:cNvSpPr>
            <a:spLocks noGrp="1"/>
          </p:cNvSpPr>
          <p:nvPr/>
        </p:nvSpPr>
        <p:spPr>
          <a:xfrm>
            <a:off x="2390775" y="4057650"/>
            <a:ext cx="247650" cy="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86" name="p1-tech-arrow-1-head-top">
            <a:extLst>
              <a:ext uri="{FF2B5EF4-FFF2-40B4-BE49-F238E27FC236}">
                <a16:creationId xmlns:a16="http://schemas.microsoft.com/office/drawing/2014/main" id="{6924D0BB-73CB-49C0-BA64-057615A88BA3}"/>
              </a:ext>
            </a:extLst>
          </p:cNvPr>
          <p:cNvSpPr>
            <a:spLocks noGrp="1"/>
          </p:cNvSpPr>
          <p:nvPr/>
        </p:nvSpPr>
        <p:spPr>
          <a:xfrm>
            <a:off x="2638425" y="39814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87" name="p1-tech-arrow-1-head-bottom">
            <a:extLst>
              <a:ext uri="{FF2B5EF4-FFF2-40B4-BE49-F238E27FC236}">
                <a16:creationId xmlns:a16="http://schemas.microsoft.com/office/drawing/2014/main" id="{B84D5FE1-5201-44A3-82EE-EFC2594EB708}"/>
              </a:ext>
            </a:extLst>
          </p:cNvPr>
          <p:cNvSpPr>
            <a:spLocks noGrp="1"/>
          </p:cNvSpPr>
          <p:nvPr/>
        </p:nvSpPr>
        <p:spPr>
          <a:xfrm flipV="1">
            <a:off x="2638425" y="40576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88" name="p1-tech-anchor">
            <a:extLst>
              <a:ext uri="{FF2B5EF4-FFF2-40B4-BE49-F238E27FC236}">
                <a16:creationId xmlns:a16="http://schemas.microsoft.com/office/drawing/2014/main" id="{554413B1-9566-4F9D-8717-ED760F35B4CC}"/>
              </a:ext>
            </a:extLst>
          </p:cNvPr>
          <p:cNvSpPr>
            <a:spLocks noGrp="1"/>
          </p:cNvSpPr>
          <p:nvPr/>
        </p:nvSpPr>
        <p:spPr>
          <a:xfrm>
            <a:off x="3009900" y="3867150"/>
            <a:ext cx="121920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7D2633"/>
            </a:solidFill>
            <a:prstDash val="solid"/>
          </a:ln>
        </p:spPr>
        <p:txBody>
          <a:bodyPr wrap="none" lIns="57150" tIns="0" rIns="5715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路口锚定</a:t>
            </a:r>
          </a:p>
        </p:txBody>
      </p:sp>
      <p:sp>
        <p:nvSpPr>
          <p:cNvPr id="89" name="p1-tech-arrow-2-shaft">
            <a:extLst>
              <a:ext uri="{FF2B5EF4-FFF2-40B4-BE49-F238E27FC236}">
                <a16:creationId xmlns:a16="http://schemas.microsoft.com/office/drawing/2014/main" id="{F567F706-AA56-47B0-BB6F-5AC4D80B94B5}"/>
              </a:ext>
            </a:extLst>
          </p:cNvPr>
          <p:cNvSpPr>
            <a:spLocks noGrp="1"/>
          </p:cNvSpPr>
          <p:nvPr/>
        </p:nvSpPr>
        <p:spPr>
          <a:xfrm>
            <a:off x="4438650" y="4057650"/>
            <a:ext cx="342900" cy="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0" name="p1-tech-arrow-2-head-top">
            <a:extLst>
              <a:ext uri="{FF2B5EF4-FFF2-40B4-BE49-F238E27FC236}">
                <a16:creationId xmlns:a16="http://schemas.microsoft.com/office/drawing/2014/main" id="{F635A8E3-FFB7-482B-BA2A-D4DB06F56854}"/>
              </a:ext>
            </a:extLst>
          </p:cNvPr>
          <p:cNvSpPr>
            <a:spLocks noGrp="1"/>
          </p:cNvSpPr>
          <p:nvPr/>
        </p:nvSpPr>
        <p:spPr>
          <a:xfrm>
            <a:off x="4781550" y="39814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1" name="p1-tech-arrow-2-head-bottom">
            <a:extLst>
              <a:ext uri="{FF2B5EF4-FFF2-40B4-BE49-F238E27FC236}">
                <a16:creationId xmlns:a16="http://schemas.microsoft.com/office/drawing/2014/main" id="{42182A82-920A-4886-B22B-6ED7F01A3887}"/>
              </a:ext>
            </a:extLst>
          </p:cNvPr>
          <p:cNvSpPr>
            <a:spLocks noGrp="1"/>
          </p:cNvSpPr>
          <p:nvPr/>
        </p:nvSpPr>
        <p:spPr>
          <a:xfrm flipV="1">
            <a:off x="4781550" y="40576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2" name="p1-tech-rcsd">
            <a:extLst>
              <a:ext uri="{FF2B5EF4-FFF2-40B4-BE49-F238E27FC236}">
                <a16:creationId xmlns:a16="http://schemas.microsoft.com/office/drawing/2014/main" id="{71C39404-447B-4853-B09A-06573376E165}"/>
              </a:ext>
            </a:extLst>
          </p:cNvPr>
          <p:cNvSpPr>
            <a:spLocks noGrp="1"/>
          </p:cNvSpPr>
          <p:nvPr/>
        </p:nvSpPr>
        <p:spPr>
          <a:xfrm>
            <a:off x="5076825" y="3876675"/>
            <a:ext cx="1219200" cy="361950"/>
          </a:xfrm>
          <a:prstGeom prst="roundRect">
            <a:avLst>
              <a:gd name="adj" fmla="val 13158"/>
            </a:avLst>
          </a:prstGeom>
          <a:solidFill>
            <a:srgbClr val="F7F5F0"/>
          </a:solidFill>
          <a:ln w="11430">
            <a:solidFill>
              <a:srgbClr val="D5D0C7"/>
            </a:solidFill>
            <a:prstDash val="solid"/>
          </a:ln>
        </p:spPr>
        <p:txBody>
          <a:bodyPr wrap="none" lIns="38100" tIns="0" rIns="38100" bIns="0" anchor="ctr">
            <a:noAutofit/>
          </a:bodyPr>
          <a:lstStyle/>
          <a:p>
            <a:pPr algn="ctr">
              <a:buNone/>
              <a:defRPr sz="13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 对象</a:t>
            </a:r>
          </a:p>
        </p:txBody>
      </p:sp>
      <p:sp>
        <p:nvSpPr>
          <p:cNvPr id="93" name="p1-tech-arrow-3-shaft">
            <a:extLst>
              <a:ext uri="{FF2B5EF4-FFF2-40B4-BE49-F238E27FC236}">
                <a16:creationId xmlns:a16="http://schemas.microsoft.com/office/drawing/2014/main" id="{EBB6F00D-DDA9-4746-882B-E8134E957F90}"/>
              </a:ext>
            </a:extLst>
          </p:cNvPr>
          <p:cNvSpPr>
            <a:spLocks noGrp="1"/>
          </p:cNvSpPr>
          <p:nvPr/>
        </p:nvSpPr>
        <p:spPr>
          <a:xfrm>
            <a:off x="6524625" y="4057650"/>
            <a:ext cx="304800" cy="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4" name="p1-tech-arrow-3-head-top">
            <a:extLst>
              <a:ext uri="{FF2B5EF4-FFF2-40B4-BE49-F238E27FC236}">
                <a16:creationId xmlns:a16="http://schemas.microsoft.com/office/drawing/2014/main" id="{08858A9A-133A-4913-BD7D-E55B6C467FB6}"/>
              </a:ext>
            </a:extLst>
          </p:cNvPr>
          <p:cNvSpPr>
            <a:spLocks noGrp="1"/>
          </p:cNvSpPr>
          <p:nvPr/>
        </p:nvSpPr>
        <p:spPr>
          <a:xfrm>
            <a:off x="6829425" y="39814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5" name="p1-tech-arrow-3-head-bottom">
            <a:extLst>
              <a:ext uri="{FF2B5EF4-FFF2-40B4-BE49-F238E27FC236}">
                <a16:creationId xmlns:a16="http://schemas.microsoft.com/office/drawing/2014/main" id="{F9200F5F-4A3C-4AEC-90DC-854437E06D53}"/>
              </a:ext>
            </a:extLst>
          </p:cNvPr>
          <p:cNvSpPr>
            <a:spLocks noGrp="1"/>
          </p:cNvSpPr>
          <p:nvPr/>
        </p:nvSpPr>
        <p:spPr>
          <a:xfrm flipV="1">
            <a:off x="6829425" y="40576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6" name="p1-tech-segment">
            <a:extLst>
              <a:ext uri="{FF2B5EF4-FFF2-40B4-BE49-F238E27FC236}">
                <a16:creationId xmlns:a16="http://schemas.microsoft.com/office/drawing/2014/main" id="{ABD2A98D-24B1-43CA-8C98-A3F4C60EE50A}"/>
              </a:ext>
            </a:extLst>
          </p:cNvPr>
          <p:cNvSpPr>
            <a:spLocks noGrp="1"/>
          </p:cNvSpPr>
          <p:nvPr/>
        </p:nvSpPr>
        <p:spPr>
          <a:xfrm>
            <a:off x="7153275" y="3867150"/>
            <a:ext cx="121920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7D2633"/>
            </a:solidFill>
            <a:prstDash val="solid"/>
          </a:ln>
        </p:spPr>
        <p:txBody>
          <a:bodyPr wrap="none" lIns="57150" tIns="0" rIns="5715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路段构建</a:t>
            </a:r>
          </a:p>
        </p:txBody>
      </p:sp>
      <p:sp>
        <p:nvSpPr>
          <p:cNvPr id="97" name="p1-tech-arrow-4-shaft">
            <a:extLst>
              <a:ext uri="{FF2B5EF4-FFF2-40B4-BE49-F238E27FC236}">
                <a16:creationId xmlns:a16="http://schemas.microsoft.com/office/drawing/2014/main" id="{9BB3E412-19C9-455A-A66B-0110114ADCA4}"/>
              </a:ext>
            </a:extLst>
          </p:cNvPr>
          <p:cNvSpPr>
            <a:spLocks noGrp="1"/>
          </p:cNvSpPr>
          <p:nvPr/>
        </p:nvSpPr>
        <p:spPr>
          <a:xfrm>
            <a:off x="8591550" y="4057650"/>
            <a:ext cx="304800" cy="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8" name="p1-tech-arrow-4-head-top">
            <a:extLst>
              <a:ext uri="{FF2B5EF4-FFF2-40B4-BE49-F238E27FC236}">
                <a16:creationId xmlns:a16="http://schemas.microsoft.com/office/drawing/2014/main" id="{17A4F9D8-B1CC-43DE-B274-E5F793522983}"/>
              </a:ext>
            </a:extLst>
          </p:cNvPr>
          <p:cNvSpPr>
            <a:spLocks noGrp="1"/>
          </p:cNvSpPr>
          <p:nvPr/>
        </p:nvSpPr>
        <p:spPr>
          <a:xfrm>
            <a:off x="8896350" y="39814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9" name="p1-tech-arrow-4-head-bottom">
            <a:extLst>
              <a:ext uri="{FF2B5EF4-FFF2-40B4-BE49-F238E27FC236}">
                <a16:creationId xmlns:a16="http://schemas.microsoft.com/office/drawing/2014/main" id="{731263C3-0572-4A4D-852B-877076B95A81}"/>
              </a:ext>
            </a:extLst>
          </p:cNvPr>
          <p:cNvSpPr>
            <a:spLocks noGrp="1"/>
          </p:cNvSpPr>
          <p:nvPr/>
        </p:nvSpPr>
        <p:spPr>
          <a:xfrm flipV="1">
            <a:off x="8896350" y="40576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100" name="p1-tech-output">
            <a:extLst>
              <a:ext uri="{FF2B5EF4-FFF2-40B4-BE49-F238E27FC236}">
                <a16:creationId xmlns:a16="http://schemas.microsoft.com/office/drawing/2014/main" id="{1165F880-6429-4BE1-8245-B08AFDDBA2AB}"/>
              </a:ext>
            </a:extLst>
          </p:cNvPr>
          <p:cNvSpPr>
            <a:spLocks noGrp="1"/>
          </p:cNvSpPr>
          <p:nvPr/>
        </p:nvSpPr>
        <p:spPr>
          <a:xfrm>
            <a:off x="9201150" y="38766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形成完整道路 / 节点承载</a:t>
            </a:r>
          </a:p>
        </p:txBody>
      </p:sp>
      <p:sp>
        <p:nvSpPr>
          <p:cNvPr id="101" name="p1-layer2-to-layer3-shaft">
            <a:extLst>
              <a:ext uri="{FF2B5EF4-FFF2-40B4-BE49-F238E27FC236}">
                <a16:creationId xmlns:a16="http://schemas.microsoft.com/office/drawing/2014/main" id="{405ED6C4-11E0-4C0A-8F85-DBDAAF618A1E}"/>
              </a:ext>
            </a:extLst>
          </p:cNvPr>
          <p:cNvSpPr>
            <a:spLocks noGrp="1"/>
          </p:cNvSpPr>
          <p:nvPr/>
        </p:nvSpPr>
        <p:spPr>
          <a:xfrm>
            <a:off x="6096000" y="4657725"/>
            <a:ext cx="0" cy="76200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102" name="p1-layer2-to-layer3-head-left">
            <a:extLst>
              <a:ext uri="{FF2B5EF4-FFF2-40B4-BE49-F238E27FC236}">
                <a16:creationId xmlns:a16="http://schemas.microsoft.com/office/drawing/2014/main" id="{B37C0977-316A-4619-A1DC-95F3B14EEA84}"/>
              </a:ext>
            </a:extLst>
          </p:cNvPr>
          <p:cNvSpPr>
            <a:spLocks noGrp="1"/>
          </p:cNvSpPr>
          <p:nvPr/>
        </p:nvSpPr>
        <p:spPr>
          <a:xfrm>
            <a:off x="6029325" y="4733925"/>
            <a:ext cx="66675" cy="66675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103" name="p1-layer2-to-layer3-head-right">
            <a:extLst>
              <a:ext uri="{FF2B5EF4-FFF2-40B4-BE49-F238E27FC236}">
                <a16:creationId xmlns:a16="http://schemas.microsoft.com/office/drawing/2014/main" id="{002706F0-5DCE-4A83-88C1-E06C7D459728}"/>
              </a:ext>
            </a:extLst>
          </p:cNvPr>
          <p:cNvSpPr>
            <a:spLocks noGrp="1"/>
          </p:cNvSpPr>
          <p:nvPr/>
        </p:nvSpPr>
        <p:spPr>
          <a:xfrm flipH="1">
            <a:off x="6096000" y="4733925"/>
            <a:ext cx="66675" cy="66675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104" name="p1-第三层-accent">
            <a:extLst>
              <a:ext uri="{FF2B5EF4-FFF2-40B4-BE49-F238E27FC236}">
                <a16:creationId xmlns:a16="http://schemas.microsoft.com/office/drawing/2014/main" id="{94E0D73B-64B9-4F39-8471-1BCCE7E62AFE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47625" cy="219075"/>
          </a:xfrm>
          <a:prstGeom prst="rect">
            <a:avLst/>
          </a:prstGeom>
          <a:solidFill>
            <a:srgbClr val="7D2633"/>
          </a:solidFill>
          <a:ln w="0">
            <a:noFill/>
            <a:prstDash val="solid"/>
          </a:ln>
        </p:spPr>
      </p:sp>
      <p:sp>
        <p:nvSpPr>
          <p:cNvPr id="105" name="p1-第三层-index">
            <a:extLst>
              <a:ext uri="{FF2B5EF4-FFF2-40B4-BE49-F238E27FC236}">
                <a16:creationId xmlns:a16="http://schemas.microsoft.com/office/drawing/2014/main" id="{2080CD6B-41D2-46FB-9186-210870672CC5}"/>
              </a:ext>
            </a:extLst>
          </p:cNvPr>
          <p:cNvSpPr>
            <a:spLocks noGrp="1"/>
          </p:cNvSpPr>
          <p:nvPr/>
        </p:nvSpPr>
        <p:spPr>
          <a:xfrm>
            <a:off x="762000" y="4867275"/>
            <a:ext cx="742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第三层</a:t>
            </a:r>
          </a:p>
        </p:txBody>
      </p:sp>
      <p:sp>
        <p:nvSpPr>
          <p:cNvPr id="106" name="p1-第三层-topic">
            <a:extLst>
              <a:ext uri="{FF2B5EF4-FFF2-40B4-BE49-F238E27FC236}">
                <a16:creationId xmlns:a16="http://schemas.microsoft.com/office/drawing/2014/main" id="{23510ABB-07FD-4D1A-B296-E62611580C26}"/>
              </a:ext>
            </a:extLst>
          </p:cNvPr>
          <p:cNvSpPr>
            <a:spLocks noGrp="1"/>
          </p:cNvSpPr>
          <p:nvPr/>
        </p:nvSpPr>
        <p:spPr>
          <a:xfrm>
            <a:off x="1514475" y="4867275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四条业务路径</a:t>
            </a:r>
          </a:p>
        </p:txBody>
      </p:sp>
      <p:sp>
        <p:nvSpPr>
          <p:cNvPr id="107" name="p1-layer3-heading-divider">
            <a:extLst>
              <a:ext uri="{FF2B5EF4-FFF2-40B4-BE49-F238E27FC236}">
                <a16:creationId xmlns:a16="http://schemas.microsoft.com/office/drawing/2014/main" id="{8FC1D71E-8583-4F16-8DDC-0CCD7F26BBD0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08" name="p1-layer3-bottom-divider">
            <a:extLst>
              <a:ext uri="{FF2B5EF4-FFF2-40B4-BE49-F238E27FC236}">
                <a16:creationId xmlns:a16="http://schemas.microsoft.com/office/drawing/2014/main" id="{5961A1B0-71BD-484E-83C8-A974240C308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09" name="p1-path-divider-1">
            <a:extLst>
              <a:ext uri="{FF2B5EF4-FFF2-40B4-BE49-F238E27FC236}">
                <a16:creationId xmlns:a16="http://schemas.microsoft.com/office/drawing/2014/main" id="{958FA70F-37C8-4715-8FAF-281106C843EE}"/>
              </a:ext>
            </a:extLst>
          </p:cNvPr>
          <p:cNvSpPr>
            <a:spLocks noGrp="1"/>
          </p:cNvSpPr>
          <p:nvPr/>
        </p:nvSpPr>
        <p:spPr>
          <a:xfrm>
            <a:off x="3357563" y="5381625"/>
            <a:ext cx="0" cy="923925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110" name="p1-path-divider-2">
            <a:extLst>
              <a:ext uri="{FF2B5EF4-FFF2-40B4-BE49-F238E27FC236}">
                <a16:creationId xmlns:a16="http://schemas.microsoft.com/office/drawing/2014/main" id="{858B4F57-8FC3-4C36-B2E9-A74A73DB30EC}"/>
              </a:ext>
            </a:extLst>
          </p:cNvPr>
          <p:cNvSpPr>
            <a:spLocks noGrp="1"/>
          </p:cNvSpPr>
          <p:nvPr/>
        </p:nvSpPr>
        <p:spPr>
          <a:xfrm>
            <a:off x="6105525" y="5381625"/>
            <a:ext cx="0" cy="923925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111" name="p1-path-timeline">
            <a:extLst>
              <a:ext uri="{FF2B5EF4-FFF2-40B4-BE49-F238E27FC236}">
                <a16:creationId xmlns:a16="http://schemas.microsoft.com/office/drawing/2014/main" id="{C390CA60-59B9-4724-BB8A-F29F0B22F462}"/>
              </a:ext>
            </a:extLst>
          </p:cNvPr>
          <p:cNvSpPr>
            <a:spLocks noGrp="1"/>
          </p:cNvSpPr>
          <p:nvPr/>
        </p:nvSpPr>
        <p:spPr>
          <a:xfrm>
            <a:off x="1285875" y="5629275"/>
            <a:ext cx="9620250" cy="0"/>
          </a:xfrm>
          <a:prstGeom prst="line">
            <a:avLst/>
          </a:prstGeom>
          <a:noFill/>
          <a:ln w="19050">
            <a:solidFill>
              <a:srgbClr val="D5D0C7"/>
            </a:solidFill>
            <a:prstDash val="solid"/>
          </a:ln>
        </p:spPr>
      </p:sp>
      <p:sp>
        <p:nvSpPr>
          <p:cNvPr id="112" name="p1-path-node-1-outer">
            <a:extLst>
              <a:ext uri="{FF2B5EF4-FFF2-40B4-BE49-F238E27FC236}">
                <a16:creationId xmlns:a16="http://schemas.microsoft.com/office/drawing/2014/main" id="{F77CA3F6-A6B2-4717-B393-1E0614741DF3}"/>
              </a:ext>
            </a:extLst>
          </p:cNvPr>
          <p:cNvSpPr>
            <a:spLocks noGrp="1"/>
          </p:cNvSpPr>
          <p:nvPr/>
        </p:nvSpPr>
        <p:spPr>
          <a:xfrm>
            <a:off x="1897856" y="554355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13" name="p1-path-node-1-inner">
            <a:extLst>
              <a:ext uri="{FF2B5EF4-FFF2-40B4-BE49-F238E27FC236}">
                <a16:creationId xmlns:a16="http://schemas.microsoft.com/office/drawing/2014/main" id="{09FAECFA-9F6D-4274-B742-8D1FA96602CF}"/>
              </a:ext>
            </a:extLst>
          </p:cNvPr>
          <p:cNvSpPr>
            <a:spLocks noGrp="1"/>
          </p:cNvSpPr>
          <p:nvPr/>
        </p:nvSpPr>
        <p:spPr>
          <a:xfrm>
            <a:off x="1945481" y="5591175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4" name="p1-path-node-2-outer">
            <a:extLst>
              <a:ext uri="{FF2B5EF4-FFF2-40B4-BE49-F238E27FC236}">
                <a16:creationId xmlns:a16="http://schemas.microsoft.com/office/drawing/2014/main" id="{39775646-84BD-4584-9C45-C76D6EF0E1D3}"/>
              </a:ext>
            </a:extLst>
          </p:cNvPr>
          <p:cNvSpPr>
            <a:spLocks noGrp="1"/>
          </p:cNvSpPr>
          <p:nvPr/>
        </p:nvSpPr>
        <p:spPr>
          <a:xfrm>
            <a:off x="4645819" y="554355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15" name="p1-path-node-2-inner">
            <a:extLst>
              <a:ext uri="{FF2B5EF4-FFF2-40B4-BE49-F238E27FC236}">
                <a16:creationId xmlns:a16="http://schemas.microsoft.com/office/drawing/2014/main" id="{061121BB-DAED-4F5C-B223-B839D6548190}"/>
              </a:ext>
            </a:extLst>
          </p:cNvPr>
          <p:cNvSpPr>
            <a:spLocks noGrp="1"/>
          </p:cNvSpPr>
          <p:nvPr/>
        </p:nvSpPr>
        <p:spPr>
          <a:xfrm>
            <a:off x="4693444" y="5591175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6" name="p1-path-node-3-outer">
            <a:extLst>
              <a:ext uri="{FF2B5EF4-FFF2-40B4-BE49-F238E27FC236}">
                <a16:creationId xmlns:a16="http://schemas.microsoft.com/office/drawing/2014/main" id="{2CD23124-4427-4050-81BD-8A78CCC456C0}"/>
              </a:ext>
            </a:extLst>
          </p:cNvPr>
          <p:cNvSpPr>
            <a:spLocks noGrp="1"/>
          </p:cNvSpPr>
          <p:nvPr/>
        </p:nvSpPr>
        <p:spPr>
          <a:xfrm>
            <a:off x="7393781" y="554355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17" name="p1-path-node-3-inner">
            <a:extLst>
              <a:ext uri="{FF2B5EF4-FFF2-40B4-BE49-F238E27FC236}">
                <a16:creationId xmlns:a16="http://schemas.microsoft.com/office/drawing/2014/main" id="{149B27FD-074A-457E-BB99-65A402E61C9F}"/>
              </a:ext>
            </a:extLst>
          </p:cNvPr>
          <p:cNvSpPr>
            <a:spLocks noGrp="1"/>
          </p:cNvSpPr>
          <p:nvPr/>
        </p:nvSpPr>
        <p:spPr>
          <a:xfrm>
            <a:off x="7441406" y="5591175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8" name="p1-path-safe-replace-title">
            <a:extLst>
              <a:ext uri="{FF2B5EF4-FFF2-40B4-BE49-F238E27FC236}">
                <a16:creationId xmlns:a16="http://schemas.microsoft.com/office/drawing/2014/main" id="{38DB6606-6140-4039-907F-C65353E52936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2747963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安全替换</a:t>
            </a:r>
          </a:p>
        </p:txBody>
      </p:sp>
      <p:sp>
        <p:nvSpPr>
          <p:cNvPr id="119" name="p1-path-safe-replace-desc">
            <a:extLst>
              <a:ext uri="{FF2B5EF4-FFF2-40B4-BE49-F238E27FC236}">
                <a16:creationId xmlns:a16="http://schemas.microsoft.com/office/drawing/2014/main" id="{2531C5BA-D1D1-4017-A42F-C935A4C0DC83}"/>
              </a:ext>
            </a:extLst>
          </p:cNvPr>
          <p:cNvSpPr>
            <a:spLocks noGrp="1"/>
          </p:cNvSpPr>
          <p:nvPr/>
        </p:nvSpPr>
        <p:spPr>
          <a:xfrm>
            <a:off x="666750" y="6048375"/>
            <a:ext cx="2633663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锚定可信 · 关系可审计 ·</a:t>
            </a:r>
          </a:p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替换有边界</a:t>
            </a:r>
          </a:p>
        </p:txBody>
      </p:sp>
      <p:sp>
        <p:nvSpPr>
          <p:cNvPr id="120" name="p1-path-quality-check-title">
            <a:extLst>
              <a:ext uri="{FF2B5EF4-FFF2-40B4-BE49-F238E27FC236}">
                <a16:creationId xmlns:a16="http://schemas.microsoft.com/office/drawing/2014/main" id="{FA068D4A-0702-4A0B-B27A-BBB1CF97E471}"/>
              </a:ext>
            </a:extLst>
          </p:cNvPr>
          <p:cNvSpPr>
            <a:spLocks noGrp="1"/>
          </p:cNvSpPr>
          <p:nvPr/>
        </p:nvSpPr>
        <p:spPr>
          <a:xfrm>
            <a:off x="3357563" y="5753100"/>
            <a:ext cx="2747963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质量检查</a:t>
            </a:r>
          </a:p>
        </p:txBody>
      </p:sp>
      <p:sp>
        <p:nvSpPr>
          <p:cNvPr id="121" name="p1-path-quality-check-desc">
            <a:extLst>
              <a:ext uri="{FF2B5EF4-FFF2-40B4-BE49-F238E27FC236}">
                <a16:creationId xmlns:a16="http://schemas.microsoft.com/office/drawing/2014/main" id="{E15730DA-27D8-4904-8FDC-A97E86F47AB3}"/>
              </a:ext>
            </a:extLst>
          </p:cNvPr>
          <p:cNvSpPr>
            <a:spLocks noGrp="1"/>
          </p:cNvSpPr>
          <p:nvPr/>
        </p:nvSpPr>
        <p:spPr>
          <a:xfrm>
            <a:off x="3414713" y="6048375"/>
            <a:ext cx="2633663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问题可定位 · 证据可追溯 ·</a:t>
            </a:r>
          </a:p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不自动修复</a:t>
            </a:r>
          </a:p>
        </p:txBody>
      </p:sp>
      <p:sp>
        <p:nvSpPr>
          <p:cNvPr id="122" name="p1-path-top-down-build-title">
            <a:extLst>
              <a:ext uri="{FF2B5EF4-FFF2-40B4-BE49-F238E27FC236}">
                <a16:creationId xmlns:a16="http://schemas.microsoft.com/office/drawing/2014/main" id="{757231C5-C8BD-4814-B041-4A36B7E86088}"/>
              </a:ext>
            </a:extLst>
          </p:cNvPr>
          <p:cNvSpPr>
            <a:spLocks noGrp="1"/>
          </p:cNvSpPr>
          <p:nvPr/>
        </p:nvSpPr>
        <p:spPr>
          <a:xfrm>
            <a:off x="6105525" y="5753100"/>
            <a:ext cx="2747963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自上而下构建</a:t>
            </a:r>
          </a:p>
        </p:txBody>
      </p:sp>
      <p:sp>
        <p:nvSpPr>
          <p:cNvPr id="123" name="p1-path-top-down-build-desc">
            <a:extLst>
              <a:ext uri="{FF2B5EF4-FFF2-40B4-BE49-F238E27FC236}">
                <a16:creationId xmlns:a16="http://schemas.microsoft.com/office/drawing/2014/main" id="{7492F0CD-E40E-4CCB-A5FC-CD3328B15290}"/>
              </a:ext>
            </a:extLst>
          </p:cNvPr>
          <p:cNvSpPr>
            <a:spLocks noGrp="1"/>
          </p:cNvSpPr>
          <p:nvPr/>
        </p:nvSpPr>
        <p:spPr>
          <a:xfrm>
            <a:off x="6162675" y="6048375"/>
            <a:ext cx="2633663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现实证据起步 ·</a:t>
            </a:r>
          </a:p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道路与节点完整承载</a:t>
            </a:r>
          </a:p>
        </p:txBody>
      </p:sp>
      <p:sp>
        <p:nvSpPr>
          <p:cNvPr id="124" name="p1-path-divider-3">
            <a:extLst>
              <a:ext uri="{FF2B5EF4-FFF2-40B4-BE49-F238E27FC236}">
                <a16:creationId xmlns:a16="http://schemas.microsoft.com/office/drawing/2014/main" id="{4257D7F4-AEA4-489C-A477-98E71D33AB1B}"/>
              </a:ext>
            </a:extLst>
          </p:cNvPr>
          <p:cNvSpPr>
            <a:spLocks noGrp="1"/>
          </p:cNvSpPr>
          <p:nvPr/>
        </p:nvSpPr>
        <p:spPr>
          <a:xfrm>
            <a:off x="8853488" y="5381625"/>
            <a:ext cx="0" cy="923925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125" name="p1-path-node-4-outer">
            <a:extLst>
              <a:ext uri="{FF2B5EF4-FFF2-40B4-BE49-F238E27FC236}">
                <a16:creationId xmlns:a16="http://schemas.microsoft.com/office/drawing/2014/main" id="{F5117B46-C3E5-4D09-9203-2E8267F6C951}"/>
              </a:ext>
            </a:extLst>
          </p:cNvPr>
          <p:cNvSpPr>
            <a:spLocks noGrp="1"/>
          </p:cNvSpPr>
          <p:nvPr/>
        </p:nvSpPr>
        <p:spPr>
          <a:xfrm>
            <a:off x="10141744" y="554355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26" name="p1-path-node-4-inner">
            <a:extLst>
              <a:ext uri="{FF2B5EF4-FFF2-40B4-BE49-F238E27FC236}">
                <a16:creationId xmlns:a16="http://schemas.microsoft.com/office/drawing/2014/main" id="{F85E9CCF-3FB9-4C3F-8165-3BB6D5787AAF}"/>
              </a:ext>
            </a:extLst>
          </p:cNvPr>
          <p:cNvSpPr>
            <a:spLocks noGrp="1"/>
          </p:cNvSpPr>
          <p:nvPr/>
        </p:nvSpPr>
        <p:spPr>
          <a:xfrm>
            <a:off x="10189369" y="5591175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27" name="p1-path-reality-change-title">
            <a:extLst>
              <a:ext uri="{FF2B5EF4-FFF2-40B4-BE49-F238E27FC236}">
                <a16:creationId xmlns:a16="http://schemas.microsoft.com/office/drawing/2014/main" id="{8553DB0E-3F8E-4FFE-B363-1A9162ADB63D}"/>
              </a:ext>
            </a:extLst>
          </p:cNvPr>
          <p:cNvSpPr>
            <a:spLocks noGrp="1"/>
          </p:cNvSpPr>
          <p:nvPr/>
        </p:nvSpPr>
        <p:spPr>
          <a:xfrm>
            <a:off x="8853488" y="5753100"/>
            <a:ext cx="2747963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现实变更</a:t>
            </a:r>
          </a:p>
        </p:txBody>
      </p:sp>
      <p:sp>
        <p:nvSpPr>
          <p:cNvPr id="128" name="p1-path-reality-change-desc">
            <a:extLst>
              <a:ext uri="{FF2B5EF4-FFF2-40B4-BE49-F238E27FC236}">
                <a16:creationId xmlns:a16="http://schemas.microsoft.com/office/drawing/2014/main" id="{788AF771-665E-4415-8706-3E2915BDA8E1}"/>
              </a:ext>
            </a:extLst>
          </p:cNvPr>
          <p:cNvSpPr>
            <a:spLocks noGrp="1"/>
          </p:cNvSpPr>
          <p:nvPr/>
        </p:nvSpPr>
        <p:spPr>
          <a:xfrm>
            <a:off x="8910638" y="6048375"/>
            <a:ext cx="2633663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路口新增或形态变化 ·</a:t>
            </a:r>
          </a:p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路口间通行关系变化</a:t>
            </a:r>
          </a:p>
        </p:txBody>
      </p:sp>
    </p:spTree>
    <p:extLst>
      <p:ext uri="{BB962C8B-B14F-4D97-AF65-F5344CB8AC3E}">
        <p14:creationId xmlns:p14="http://schemas.microsoft.com/office/powerpoint/2010/main" val="143789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age-title">
            <a:extLst>
              <a:ext uri="{FF2B5EF4-FFF2-40B4-BE49-F238E27FC236}">
                <a16:creationId xmlns:a16="http://schemas.microsoft.com/office/drawing/2014/main" id="{7A22530E-8EF0-4301-A82B-F1870D2CC890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方案一：基于路口锚定的路段安全替换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A13C5BB2-F73C-4870-9847-CD640312C286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以可信路口关系圈定替换范围，只有方向、连通、覆盖与拓扑审计全部通过，才写入融合路网</a:t>
            </a:r>
          </a:p>
        </p:txBody>
      </p:sp>
      <p:sp>
        <p:nvSpPr>
          <p:cNvPr id="3" name="title-divider">
            <a:extLst>
              <a:ext uri="{FF2B5EF4-FFF2-40B4-BE49-F238E27FC236}">
                <a16:creationId xmlns:a16="http://schemas.microsoft.com/office/drawing/2014/main" id="{9A9DCDDB-08C6-4732-A0D9-71455F4EAEEF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9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9" name="p2-scheme-heading-v03">
            <a:extLst>
              <a:ext uri="{FF2B5EF4-FFF2-40B4-BE49-F238E27FC236}">
                <a16:creationId xmlns:a16="http://schemas.microsoft.com/office/drawing/2014/main" id="{FD120FBE-551C-4039-BB8C-9A9E456F173A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替换方案</a:t>
            </a:r>
          </a:p>
        </p:txBody>
      </p:sp>
      <p:sp>
        <p:nvSpPr>
          <p:cNvPr id="90" name="p2-scheme-baseline-v03">
            <a:extLst>
              <a:ext uri="{FF2B5EF4-FFF2-40B4-BE49-F238E27FC236}">
                <a16:creationId xmlns:a16="http://schemas.microsoft.com/office/drawing/2014/main" id="{26396359-16CC-44D9-8671-92B7AAE8D1BB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91" name="p2-anchor-entry-left-v03">
            <a:extLst>
              <a:ext uri="{FF2B5EF4-FFF2-40B4-BE49-F238E27FC236}">
                <a16:creationId xmlns:a16="http://schemas.microsoft.com/office/drawing/2014/main" id="{39177277-7522-4324-906B-6220E86C37CF}"/>
              </a:ext>
            </a:extLst>
          </p:cNvPr>
          <p:cNvSpPr>
            <a:spLocks noGrp="1"/>
          </p:cNvSpPr>
          <p:nvPr/>
        </p:nvSpPr>
        <p:spPr>
          <a:xfrm>
            <a:off x="790575" y="23717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2" name="p2-anchor-entry-right-v03">
            <a:extLst>
              <a:ext uri="{FF2B5EF4-FFF2-40B4-BE49-F238E27FC236}">
                <a16:creationId xmlns:a16="http://schemas.microsoft.com/office/drawing/2014/main" id="{0657E3FD-A1D9-469A-A1CC-36A6090716FF}"/>
              </a:ext>
            </a:extLst>
          </p:cNvPr>
          <p:cNvSpPr>
            <a:spLocks noGrp="1"/>
          </p:cNvSpPr>
          <p:nvPr/>
        </p:nvSpPr>
        <p:spPr>
          <a:xfrm>
            <a:off x="1847850" y="23717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3" name="p2-anchor-entry-out-v03">
            <a:extLst>
              <a:ext uri="{FF2B5EF4-FFF2-40B4-BE49-F238E27FC236}">
                <a16:creationId xmlns:a16="http://schemas.microsoft.com/office/drawing/2014/main" id="{D34C34ED-6046-48D2-B8DD-370C135392AC}"/>
              </a:ext>
            </a:extLst>
          </p:cNvPr>
          <p:cNvSpPr>
            <a:spLocks noGrp="1"/>
          </p:cNvSpPr>
          <p:nvPr/>
        </p:nvSpPr>
        <p:spPr>
          <a:xfrm>
            <a:off x="220980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4" name="p2-anchor-evidence-in-v03">
            <a:extLst>
              <a:ext uri="{FF2B5EF4-FFF2-40B4-BE49-F238E27FC236}">
                <a16:creationId xmlns:a16="http://schemas.microsoft.com/office/drawing/2014/main" id="{711903CB-4BC4-4F30-B030-23C6952F66FC}"/>
              </a:ext>
            </a:extLst>
          </p:cNvPr>
          <p:cNvSpPr>
            <a:spLocks noGrp="1"/>
          </p:cNvSpPr>
          <p:nvPr/>
        </p:nvSpPr>
        <p:spPr>
          <a:xfrm>
            <a:off x="245745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5" name="p2-anchor-evidence-out-v03">
            <a:extLst>
              <a:ext uri="{FF2B5EF4-FFF2-40B4-BE49-F238E27FC236}">
                <a16:creationId xmlns:a16="http://schemas.microsoft.com/office/drawing/2014/main" id="{BDBC63BA-5C1B-4BD4-A719-76035AB739B7}"/>
              </a:ext>
            </a:extLst>
          </p:cNvPr>
          <p:cNvSpPr>
            <a:spLocks noGrp="1"/>
          </p:cNvSpPr>
          <p:nvPr/>
        </p:nvSpPr>
        <p:spPr>
          <a:xfrm>
            <a:off x="619125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6" name="p2-anchor-audit-in-v03">
            <a:extLst>
              <a:ext uri="{FF2B5EF4-FFF2-40B4-BE49-F238E27FC236}">
                <a16:creationId xmlns:a16="http://schemas.microsoft.com/office/drawing/2014/main" id="{8A7AE9FD-44B6-4004-A125-4B818593EAC0}"/>
              </a:ext>
            </a:extLst>
          </p:cNvPr>
          <p:cNvSpPr>
            <a:spLocks noGrp="1"/>
          </p:cNvSpPr>
          <p:nvPr/>
        </p:nvSpPr>
        <p:spPr>
          <a:xfrm>
            <a:off x="643890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7" name="p2-anchor-audit-out-v03">
            <a:extLst>
              <a:ext uri="{FF2B5EF4-FFF2-40B4-BE49-F238E27FC236}">
                <a16:creationId xmlns:a16="http://schemas.microsoft.com/office/drawing/2014/main" id="{D89EEE53-6986-4886-ACB5-F160FE5BFC39}"/>
              </a:ext>
            </a:extLst>
          </p:cNvPr>
          <p:cNvSpPr>
            <a:spLocks noGrp="1"/>
          </p:cNvSpPr>
          <p:nvPr/>
        </p:nvSpPr>
        <p:spPr>
          <a:xfrm>
            <a:off x="876300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8" name="p2-anchor-branch-v03">
            <a:extLst>
              <a:ext uri="{FF2B5EF4-FFF2-40B4-BE49-F238E27FC236}">
                <a16:creationId xmlns:a16="http://schemas.microsoft.com/office/drawing/2014/main" id="{58040C16-39A9-4FB7-B62D-2332C7ADC742}"/>
              </a:ext>
            </a:extLst>
          </p:cNvPr>
          <p:cNvSpPr>
            <a:spLocks noGrp="1"/>
          </p:cNvSpPr>
          <p:nvPr/>
        </p:nvSpPr>
        <p:spPr>
          <a:xfrm>
            <a:off x="912495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9" name="p2-anchor-pass-v03">
            <a:extLst>
              <a:ext uri="{FF2B5EF4-FFF2-40B4-BE49-F238E27FC236}">
                <a16:creationId xmlns:a16="http://schemas.microsoft.com/office/drawing/2014/main" id="{02913051-8FF2-4E66-85A3-E03E385BACCB}"/>
              </a:ext>
            </a:extLst>
          </p:cNvPr>
          <p:cNvSpPr>
            <a:spLocks noGrp="1"/>
          </p:cNvSpPr>
          <p:nvPr/>
        </p:nvSpPr>
        <p:spPr>
          <a:xfrm>
            <a:off x="9591675" y="213360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0" name="p2-anchor-fail-v03">
            <a:extLst>
              <a:ext uri="{FF2B5EF4-FFF2-40B4-BE49-F238E27FC236}">
                <a16:creationId xmlns:a16="http://schemas.microsoft.com/office/drawing/2014/main" id="{ADE48991-7344-4658-9A4D-A15FD90F105D}"/>
              </a:ext>
            </a:extLst>
          </p:cNvPr>
          <p:cNvSpPr>
            <a:spLocks noGrp="1"/>
          </p:cNvSpPr>
          <p:nvPr/>
        </p:nvSpPr>
        <p:spPr>
          <a:xfrm>
            <a:off x="9591675" y="31432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36" name="直接箭头连接符 413"/>
          <p:cNvCxnSpPr>
            <a:stCxn id="91" idx="3"/>
            <a:endCxn id="92" idx="1"/>
          </p:cNvCxnSpPr>
          <p:nvPr/>
        </p:nvCxnSpPr>
        <p:spPr>
          <a:xfrm>
            <a:off x="809625" y="2381250"/>
            <a:ext cx="1038225" cy="0"/>
          </a:xfrm>
          <a:prstGeom prst="straightConnector1">
            <a:avLst/>
          </a:prstGeom>
          <a:ln w="13335">
            <a:solidFill>
              <a:srgbClr val="2D2A26"/>
            </a:solidFill>
            <a:prstDash val="solid"/>
          </a:ln>
        </p:spPr>
      </p:cxnSp>
      <p:cxnSp>
        <p:nvCxnSpPr>
          <p:cNvPr id="437" name="直接箭头连接符 414"/>
          <p:cNvCxnSpPr>
            <a:stCxn id="93" idx="3"/>
            <a:endCxn id="94" idx="1"/>
          </p:cNvCxnSpPr>
          <p:nvPr/>
        </p:nvCxnSpPr>
        <p:spPr>
          <a:xfrm>
            <a:off x="2228850" y="2619375"/>
            <a:ext cx="228600" cy="0"/>
          </a:xfrm>
          <a:prstGeom prst="straightConnector1">
            <a:avLst/>
          </a:prstGeom>
          <a:ln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38" name="直接箭头连接符 415"/>
          <p:cNvCxnSpPr>
            <a:stCxn id="95" idx="3"/>
            <a:endCxn id="96" idx="1"/>
          </p:cNvCxnSpPr>
          <p:nvPr/>
        </p:nvCxnSpPr>
        <p:spPr>
          <a:xfrm>
            <a:off x="6210300" y="2619375"/>
            <a:ext cx="228600" cy="0"/>
          </a:xfrm>
          <a:prstGeom prst="straightConnector1">
            <a:avLst/>
          </a:prstGeom>
          <a:ln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39" name="直接箭头连接符 416"/>
          <p:cNvCxnSpPr>
            <a:stCxn id="97" idx="3"/>
            <a:endCxn id="98" idx="1"/>
          </p:cNvCxnSpPr>
          <p:nvPr/>
        </p:nvCxnSpPr>
        <p:spPr>
          <a:xfrm>
            <a:off x="8782050" y="2619375"/>
            <a:ext cx="342900" cy="0"/>
          </a:xfrm>
          <a:prstGeom prst="straightConnector1">
            <a:avLst/>
          </a:prstGeom>
          <a:ln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40" name="连接符: 肘形 417"/>
          <p:cNvCxnSpPr>
            <a:stCxn id="98" idx="3"/>
            <a:endCxn id="99" idx="1"/>
          </p:cNvCxnSpPr>
          <p:nvPr/>
        </p:nvCxnSpPr>
        <p:spPr>
          <a:xfrm flipV="1">
            <a:off x="9144000" y="2143125"/>
            <a:ext cx="447675" cy="476250"/>
          </a:xfrm>
          <a:prstGeom prst="bentConnector3">
            <a:avLst>
              <a:gd name="adj1" fmla="val 50000"/>
            </a:avLst>
          </a:prstGeom>
          <a:ln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41" name="连接符: 肘形 418"/>
          <p:cNvCxnSpPr>
            <a:stCxn id="98" idx="3"/>
            <a:endCxn id="100" idx="1"/>
          </p:cNvCxnSpPr>
          <p:nvPr/>
        </p:nvCxnSpPr>
        <p:spPr>
          <a:xfrm>
            <a:off x="9144000" y="2619375"/>
            <a:ext cx="447675" cy="533400"/>
          </a:xfrm>
          <a:prstGeom prst="bentConnector3">
            <a:avLst>
              <a:gd name="adj1" fmla="val 50000"/>
            </a:avLst>
          </a:prstGeom>
          <a:ln w="14288">
            <a:solidFill>
              <a:srgbClr val="6E6A64"/>
            </a:solidFill>
            <a:prstDash val="solid"/>
            <a:tailEnd type="arrow" w="med" len="med"/>
          </a:ln>
        </p:spPr>
      </p:cxnSp>
      <p:sp>
        <p:nvSpPr>
          <p:cNvPr id="107" name="p2-audit-axis-v03">
            <a:extLst>
              <a:ext uri="{FF2B5EF4-FFF2-40B4-BE49-F238E27FC236}">
                <a16:creationId xmlns:a16="http://schemas.microsoft.com/office/drawing/2014/main" id="{97CC01B9-8F71-4299-9CD6-98CBDABF53B4}"/>
              </a:ext>
            </a:extLst>
          </p:cNvPr>
          <p:cNvSpPr>
            <a:spLocks noGrp="1"/>
          </p:cNvSpPr>
          <p:nvPr/>
        </p:nvSpPr>
        <p:spPr>
          <a:xfrm>
            <a:off x="6715125" y="2152650"/>
            <a:ext cx="0" cy="1143000"/>
          </a:xfrm>
          <a:prstGeom prst="line">
            <a:avLst/>
          </a:prstGeom>
          <a:noFill/>
          <a:ln w="11430">
            <a:solidFill>
              <a:srgbClr val="D5D0C7"/>
            </a:solidFill>
            <a:prstDash val="solid"/>
          </a:ln>
        </p:spPr>
      </p:sp>
      <p:sp>
        <p:nvSpPr>
          <p:cNvPr id="108" name="p2-entry-accent-v03">
            <a:extLst>
              <a:ext uri="{FF2B5EF4-FFF2-40B4-BE49-F238E27FC236}">
                <a16:creationId xmlns:a16="http://schemas.microsoft.com/office/drawing/2014/main" id="{92E9BCC5-16C1-41FE-96B1-A6E3B3447230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20955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09" name="p2-entry-title-v03">
            <a:extLst>
              <a:ext uri="{FF2B5EF4-FFF2-40B4-BE49-F238E27FC236}">
                <a16:creationId xmlns:a16="http://schemas.microsoft.com/office/drawing/2014/main" id="{87C3E92B-390F-418B-BAF3-1FD793D1C748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可信路口关系</a:t>
            </a:r>
          </a:p>
        </p:txBody>
      </p:sp>
      <p:sp>
        <p:nvSpPr>
          <p:cNvPr id="110" name="p2-entry-left-outer-v03">
            <a:extLst>
              <a:ext uri="{FF2B5EF4-FFF2-40B4-BE49-F238E27FC236}">
                <a16:creationId xmlns:a16="http://schemas.microsoft.com/office/drawing/2014/main" id="{D2574B7A-BE2D-43D0-BB98-770BC8439C64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11" name="p2-entry-left-inner-v03">
            <a:extLst>
              <a:ext uri="{FF2B5EF4-FFF2-40B4-BE49-F238E27FC236}">
                <a16:creationId xmlns:a16="http://schemas.microsoft.com/office/drawing/2014/main" id="{AEF657E0-A0BF-422E-BFB1-099BF19DC4D4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2" name="p2-entry-right-outer-v03">
            <a:extLst>
              <a:ext uri="{FF2B5EF4-FFF2-40B4-BE49-F238E27FC236}">
                <a16:creationId xmlns:a16="http://schemas.microsoft.com/office/drawing/2014/main" id="{F107EFCE-E225-4CF0-9AB2-11AC9E8A11E9}"/>
              </a:ext>
            </a:extLst>
          </p:cNvPr>
          <p:cNvSpPr>
            <a:spLocks noGrp="1"/>
          </p:cNvSpPr>
          <p:nvPr/>
        </p:nvSpPr>
        <p:spPr>
          <a:xfrm>
            <a:off x="1743075" y="2266950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13" name="p2-entry-right-inner-v03">
            <a:extLst>
              <a:ext uri="{FF2B5EF4-FFF2-40B4-BE49-F238E27FC236}">
                <a16:creationId xmlns:a16="http://schemas.microsoft.com/office/drawing/2014/main" id="{650D17DA-B0BD-4B0C-BEFE-0B0128A69671}"/>
              </a:ext>
            </a:extLst>
          </p:cNvPr>
          <p:cNvSpPr>
            <a:spLocks noGrp="1"/>
          </p:cNvSpPr>
          <p:nvPr/>
        </p:nvSpPr>
        <p:spPr>
          <a:xfrm>
            <a:off x="1819275" y="2343150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4" name="p2-entry-copy-v03">
            <a:extLst>
              <a:ext uri="{FF2B5EF4-FFF2-40B4-BE49-F238E27FC236}">
                <a16:creationId xmlns:a16="http://schemas.microsoft.com/office/drawing/2014/main" id="{AE85CFC7-A193-4674-8567-982058B86FF8}"/>
              </a:ext>
            </a:extLst>
          </p:cNvPr>
          <p:cNvSpPr>
            <a:spLocks noGrp="1"/>
          </p:cNvSpPr>
          <p:nvPr/>
        </p:nvSpPr>
        <p:spPr>
          <a:xfrm>
            <a:off x="571500" y="2705100"/>
            <a:ext cx="1657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两端路口均有</a:t>
            </a:r>
          </a:p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唯一、可解释的</a:t>
            </a:r>
          </a:p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RCSD 锚点</a:t>
            </a:r>
          </a:p>
        </p:txBody>
      </p:sp>
      <p:sp>
        <p:nvSpPr>
          <p:cNvPr id="115" name="p2-evidence-stage-accent-v03">
            <a:extLst>
              <a:ext uri="{FF2B5EF4-FFF2-40B4-BE49-F238E27FC236}">
                <a16:creationId xmlns:a16="http://schemas.microsoft.com/office/drawing/2014/main" id="{7B06A1D9-8162-444E-BCBC-0B9B788ECF06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20955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16" name="p2-evidence-stage-title-v03">
            <a:extLst>
              <a:ext uri="{FF2B5EF4-FFF2-40B4-BE49-F238E27FC236}">
                <a16:creationId xmlns:a16="http://schemas.microsoft.com/office/drawing/2014/main" id="{EAECCDE9-5091-4E6F-B75B-6C67C636EAAA}"/>
              </a:ext>
            </a:extLst>
          </p:cNvPr>
          <p:cNvSpPr>
            <a:spLocks noGrp="1"/>
          </p:cNvSpPr>
          <p:nvPr/>
        </p:nvSpPr>
        <p:spPr>
          <a:xfrm>
            <a:off x="2571750" y="17526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候选道路走廊</a:t>
            </a:r>
          </a:p>
        </p:txBody>
      </p:sp>
      <p:sp>
        <p:nvSpPr>
          <p:cNvPr id="117" name="p2-evidence-heading-v03">
            <a:extLst>
              <a:ext uri="{FF2B5EF4-FFF2-40B4-BE49-F238E27FC236}">
                <a16:creationId xmlns:a16="http://schemas.microsoft.com/office/drawing/2014/main" id="{1890703E-7787-41B7-8BF8-96599588EA16}"/>
              </a:ext>
            </a:extLst>
          </p:cNvPr>
          <p:cNvSpPr>
            <a:spLocks noGrp="1"/>
          </p:cNvSpPr>
          <p:nvPr/>
        </p:nvSpPr>
        <p:spPr>
          <a:xfrm>
            <a:off x="4953000" y="17907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真实锚定证据</a:t>
            </a:r>
          </a:p>
        </p:txBody>
      </p:sp>
      <p:sp>
        <p:nvSpPr>
          <p:cNvPr id="118" name="p2-evidence-copy-v03">
            <a:extLst>
              <a:ext uri="{FF2B5EF4-FFF2-40B4-BE49-F238E27FC236}">
                <a16:creationId xmlns:a16="http://schemas.microsoft.com/office/drawing/2014/main" id="{AB9E5904-ECBA-4D52-97A5-06B68DD42B79}"/>
              </a:ext>
            </a:extLst>
          </p:cNvPr>
          <p:cNvSpPr>
            <a:spLocks noGrp="1"/>
          </p:cNvSpPr>
          <p:nvPr/>
        </p:nvSpPr>
        <p:spPr>
          <a:xfrm>
            <a:off x="2571750" y="19812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以路段范围约束候选 RCSD 道路，避免跨范围替换</a:t>
            </a:r>
          </a:p>
        </p:txBody>
      </p:sp>
      <p:sp>
        <p:nvSpPr>
          <p:cNvPr id="119" name="p2-evidence-frame-v03">
            <a:extLst>
              <a:ext uri="{FF2B5EF4-FFF2-40B4-BE49-F238E27FC236}">
                <a16:creationId xmlns:a16="http://schemas.microsoft.com/office/drawing/2014/main" id="{70B7913F-5A1A-45C6-844F-8AA9FCA54BAB}"/>
              </a:ext>
            </a:extLst>
          </p:cNvPr>
          <p:cNvSpPr>
            <a:spLocks noGrp="1"/>
          </p:cNvSpPr>
          <p:nvPr/>
        </p:nvSpPr>
        <p:spPr>
          <a:xfrm>
            <a:off x="2724150" y="2152650"/>
            <a:ext cx="3314700" cy="1543050"/>
          </a:xfrm>
          <a:prstGeom prst="rect">
            <a:avLst/>
          </a:prstGeom>
          <a:solidFill>
            <a:srgbClr val="FFFFFF"/>
          </a:solidFill>
          <a:ln w="7620">
            <a:solidFill>
              <a:srgbClr val="D5D0C7"/>
            </a:solidFill>
            <a:prstDash val="solid"/>
          </a:ln>
        </p:spPr>
      </p:sp>
      <p:sp>
        <p:nvSpPr>
          <p:cNvPr id="120" name="p2-evidence-accent-v03">
            <a:extLst>
              <a:ext uri="{FF2B5EF4-FFF2-40B4-BE49-F238E27FC236}">
                <a16:creationId xmlns:a16="http://schemas.microsoft.com/office/drawing/2014/main" id="{CD907BC7-229E-4D4D-A9DE-7CEF47905EA7}"/>
              </a:ext>
            </a:extLst>
          </p:cNvPr>
          <p:cNvSpPr>
            <a:spLocks noGrp="1"/>
          </p:cNvSpPr>
          <p:nvPr/>
        </p:nvSpPr>
        <p:spPr>
          <a:xfrm>
            <a:off x="2724150" y="2152650"/>
            <a:ext cx="38100" cy="1543050"/>
          </a:xfrm>
          <a:prstGeom prst="rect">
            <a:avLst/>
          </a:prstGeom>
          <a:solidFill>
            <a:srgbClr val="7D2633"/>
          </a:solidFill>
          <a:ln w="1905">
            <a:solidFill>
              <a:srgbClr val="7D2633"/>
            </a:solidFill>
            <a:prstDash val="solid"/>
          </a:ln>
        </p:spPr>
      </p:sp>
      <p:pic>
        <p:nvPicPr>
          <p:cNvPr id="456" name="p2-real-evidence-image-v0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19967" y="2209800"/>
            <a:ext cx="2523067" cy="1419225"/>
          </a:xfrm>
          <a:prstGeom prst="rect">
            <a:avLst/>
          </a:prstGeom>
        </p:spPr>
      </p:pic>
      <p:sp>
        <p:nvSpPr>
          <p:cNvPr id="122" name="p2-evidence-caption-v03">
            <a:extLst>
              <a:ext uri="{FF2B5EF4-FFF2-40B4-BE49-F238E27FC236}">
                <a16:creationId xmlns:a16="http://schemas.microsoft.com/office/drawing/2014/main" id="{D5615987-1082-4559-9639-28D70DA16D6E}"/>
              </a:ext>
            </a:extLst>
          </p:cNvPr>
          <p:cNvSpPr>
            <a:spLocks noGrp="1"/>
          </p:cNvSpPr>
          <p:nvPr/>
        </p:nvSpPr>
        <p:spPr>
          <a:xfrm>
            <a:off x="2571750" y="3686175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以两端路口锚点约束道路走廊，替换范围可解释、可追溯</a:t>
            </a:r>
          </a:p>
        </p:txBody>
      </p:sp>
      <p:sp>
        <p:nvSpPr>
          <p:cNvPr id="123" name="p2-audit-accent-v03">
            <a:extLst>
              <a:ext uri="{FF2B5EF4-FFF2-40B4-BE49-F238E27FC236}">
                <a16:creationId xmlns:a16="http://schemas.microsoft.com/office/drawing/2014/main" id="{90624BAB-7539-45D4-96D0-5824139369EC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20955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24" name="p2-audit-title-v03">
            <a:extLst>
              <a:ext uri="{FF2B5EF4-FFF2-40B4-BE49-F238E27FC236}">
                <a16:creationId xmlns:a16="http://schemas.microsoft.com/office/drawing/2014/main" id="{C5E15039-1FDD-4C02-B760-3844D25A3BEC}"/>
              </a:ext>
            </a:extLst>
          </p:cNvPr>
          <p:cNvSpPr>
            <a:spLocks noGrp="1"/>
          </p:cNvSpPr>
          <p:nvPr/>
        </p:nvSpPr>
        <p:spPr>
          <a:xfrm>
            <a:off x="6572250" y="1752600"/>
            <a:ext cx="207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替换条件审计</a:t>
            </a:r>
          </a:p>
        </p:txBody>
      </p:sp>
      <p:sp>
        <p:nvSpPr>
          <p:cNvPr id="125" name="p2-audit-marker-1-v03">
            <a:extLst>
              <a:ext uri="{FF2B5EF4-FFF2-40B4-BE49-F238E27FC236}">
                <a16:creationId xmlns:a16="http://schemas.microsoft.com/office/drawing/2014/main" id="{5C7B6B84-65F5-4D0B-ADB9-D15C9A20C5D5}"/>
              </a:ext>
            </a:extLst>
          </p:cNvPr>
          <p:cNvSpPr>
            <a:spLocks noGrp="1"/>
          </p:cNvSpPr>
          <p:nvPr/>
        </p:nvSpPr>
        <p:spPr>
          <a:xfrm>
            <a:off x="6657975" y="2114550"/>
            <a:ext cx="114300" cy="1143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D2633"/>
            </a:solidFill>
            <a:prstDash val="solid"/>
          </a:ln>
        </p:spPr>
      </p:sp>
      <p:sp>
        <p:nvSpPr>
          <p:cNvPr id="126" name="p2-audit-row-1-v03">
            <a:extLst>
              <a:ext uri="{FF2B5EF4-FFF2-40B4-BE49-F238E27FC236}">
                <a16:creationId xmlns:a16="http://schemas.microsoft.com/office/drawing/2014/main" id="{EF78D298-C613-4DCF-AF4F-F57A7E0BD403}"/>
              </a:ext>
            </a:extLst>
          </p:cNvPr>
          <p:cNvSpPr>
            <a:spLocks noGrp="1"/>
          </p:cNvSpPr>
          <p:nvPr/>
        </p:nvSpPr>
        <p:spPr>
          <a:xfrm>
            <a:off x="6924675" y="20574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方向一致 ·</a:t>
            </a:r>
          </a:p>
        </p:txBody>
      </p:sp>
      <p:sp>
        <p:nvSpPr>
          <p:cNvPr id="127" name="p2-audit-marker-2-v03">
            <a:extLst>
              <a:ext uri="{FF2B5EF4-FFF2-40B4-BE49-F238E27FC236}">
                <a16:creationId xmlns:a16="http://schemas.microsoft.com/office/drawing/2014/main" id="{CADE0C42-7E7D-43F2-87D2-190223378DE3}"/>
              </a:ext>
            </a:extLst>
          </p:cNvPr>
          <p:cNvSpPr>
            <a:spLocks noGrp="1"/>
          </p:cNvSpPr>
          <p:nvPr/>
        </p:nvSpPr>
        <p:spPr>
          <a:xfrm>
            <a:off x="6657975" y="2495550"/>
            <a:ext cx="114300" cy="1143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D2633"/>
            </a:solidFill>
            <a:prstDash val="solid"/>
          </a:ln>
        </p:spPr>
      </p:sp>
      <p:sp>
        <p:nvSpPr>
          <p:cNvPr id="128" name="p2-audit-row-2-v03">
            <a:extLst>
              <a:ext uri="{FF2B5EF4-FFF2-40B4-BE49-F238E27FC236}">
                <a16:creationId xmlns:a16="http://schemas.microsoft.com/office/drawing/2014/main" id="{4330A2A5-C3B2-4746-ADC9-BF8AD0F62C40}"/>
              </a:ext>
            </a:extLst>
          </p:cNvPr>
          <p:cNvSpPr>
            <a:spLocks noGrp="1"/>
          </p:cNvSpPr>
          <p:nvPr/>
        </p:nvSpPr>
        <p:spPr>
          <a:xfrm>
            <a:off x="6924675" y="24384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路径连通 ·</a:t>
            </a:r>
          </a:p>
        </p:txBody>
      </p:sp>
      <p:sp>
        <p:nvSpPr>
          <p:cNvPr id="129" name="p2-audit-marker-3-v03">
            <a:extLst>
              <a:ext uri="{FF2B5EF4-FFF2-40B4-BE49-F238E27FC236}">
                <a16:creationId xmlns:a16="http://schemas.microsoft.com/office/drawing/2014/main" id="{213013B2-F27D-4A2C-A7D2-3A36176EA01B}"/>
              </a:ext>
            </a:extLst>
          </p:cNvPr>
          <p:cNvSpPr>
            <a:spLocks noGrp="1"/>
          </p:cNvSpPr>
          <p:nvPr/>
        </p:nvSpPr>
        <p:spPr>
          <a:xfrm>
            <a:off x="6657975" y="2876550"/>
            <a:ext cx="114300" cy="1143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D2633"/>
            </a:solidFill>
            <a:prstDash val="solid"/>
          </a:ln>
        </p:spPr>
      </p:sp>
      <p:sp>
        <p:nvSpPr>
          <p:cNvPr id="130" name="p2-audit-row-3-v03">
            <a:extLst>
              <a:ext uri="{FF2B5EF4-FFF2-40B4-BE49-F238E27FC236}">
                <a16:creationId xmlns:a16="http://schemas.microsoft.com/office/drawing/2014/main" id="{25C8F55A-659D-458E-B2AC-4E9C11A67C55}"/>
              </a:ext>
            </a:extLst>
          </p:cNvPr>
          <p:cNvSpPr>
            <a:spLocks noGrp="1"/>
          </p:cNvSpPr>
          <p:nvPr/>
        </p:nvSpPr>
        <p:spPr>
          <a:xfrm>
            <a:off x="6924675" y="28194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几何覆盖 ·</a:t>
            </a:r>
          </a:p>
        </p:txBody>
      </p:sp>
      <p:sp>
        <p:nvSpPr>
          <p:cNvPr id="131" name="p2-audit-marker-4-v03">
            <a:extLst>
              <a:ext uri="{FF2B5EF4-FFF2-40B4-BE49-F238E27FC236}">
                <a16:creationId xmlns:a16="http://schemas.microsoft.com/office/drawing/2014/main" id="{6D4A6A8D-7D1E-4DE8-ABD0-023FB8603726}"/>
              </a:ext>
            </a:extLst>
          </p:cNvPr>
          <p:cNvSpPr>
            <a:spLocks noGrp="1"/>
          </p:cNvSpPr>
          <p:nvPr/>
        </p:nvSpPr>
        <p:spPr>
          <a:xfrm>
            <a:off x="6657975" y="3257550"/>
            <a:ext cx="114300" cy="1143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D2633"/>
            </a:solidFill>
            <a:prstDash val="solid"/>
          </a:ln>
        </p:spPr>
      </p:sp>
      <p:sp>
        <p:nvSpPr>
          <p:cNvPr id="132" name="p2-audit-row-4-v03">
            <a:extLst>
              <a:ext uri="{FF2B5EF4-FFF2-40B4-BE49-F238E27FC236}">
                <a16:creationId xmlns:a16="http://schemas.microsoft.com/office/drawing/2014/main" id="{871073B6-5325-4B9F-97B7-AC3C028C261D}"/>
              </a:ext>
            </a:extLst>
          </p:cNvPr>
          <p:cNvSpPr>
            <a:spLocks noGrp="1"/>
          </p:cNvSpPr>
          <p:nvPr/>
        </p:nvSpPr>
        <p:spPr>
          <a:xfrm>
            <a:off x="6924675" y="32004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拓扑闭合</a:t>
            </a:r>
          </a:p>
        </p:txBody>
      </p:sp>
      <p:sp>
        <p:nvSpPr>
          <p:cNvPr id="133" name="p2-result-accent-v03">
            <a:extLst>
              <a:ext uri="{FF2B5EF4-FFF2-40B4-BE49-F238E27FC236}">
                <a16:creationId xmlns:a16="http://schemas.microsoft.com/office/drawing/2014/main" id="{EDB8AEBD-8EA4-46E8-A60F-5575E42F1002}"/>
              </a:ext>
            </a:extLst>
          </p:cNvPr>
          <p:cNvSpPr>
            <a:spLocks noGrp="1"/>
          </p:cNvSpPr>
          <p:nvPr/>
        </p:nvSpPr>
        <p:spPr>
          <a:xfrm>
            <a:off x="9048750" y="1676400"/>
            <a:ext cx="20955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34" name="p2-result-title-v03">
            <a:extLst>
              <a:ext uri="{FF2B5EF4-FFF2-40B4-BE49-F238E27FC236}">
                <a16:creationId xmlns:a16="http://schemas.microsoft.com/office/drawing/2014/main" id="{BA67383A-58A4-4474-BA26-1B71C3564C50}"/>
              </a:ext>
            </a:extLst>
          </p:cNvPr>
          <p:cNvSpPr>
            <a:spLocks noGrp="1"/>
          </p:cNvSpPr>
          <p:nvPr/>
        </p:nvSpPr>
        <p:spPr>
          <a:xfrm>
            <a:off x="9048750" y="1752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形成替换结果</a:t>
            </a:r>
          </a:p>
        </p:txBody>
      </p:sp>
      <p:sp>
        <p:nvSpPr>
          <p:cNvPr id="135" name="p2-branch-node-v03">
            <a:extLst>
              <a:ext uri="{FF2B5EF4-FFF2-40B4-BE49-F238E27FC236}">
                <a16:creationId xmlns:a16="http://schemas.microsoft.com/office/drawing/2014/main" id="{DFA0B511-4FDD-4603-97AB-BBF156D8EFAA}"/>
              </a:ext>
            </a:extLst>
          </p:cNvPr>
          <p:cNvSpPr>
            <a:spLocks noGrp="1"/>
          </p:cNvSpPr>
          <p:nvPr/>
        </p:nvSpPr>
        <p:spPr>
          <a:xfrm>
            <a:off x="9086850" y="2571750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36" name="p2-pass-node-v03">
            <a:extLst>
              <a:ext uri="{FF2B5EF4-FFF2-40B4-BE49-F238E27FC236}">
                <a16:creationId xmlns:a16="http://schemas.microsoft.com/office/drawing/2014/main" id="{A7F1B3DD-2C25-44FD-87E0-15FDA85CDA64}"/>
              </a:ext>
            </a:extLst>
          </p:cNvPr>
          <p:cNvSpPr>
            <a:spLocks noGrp="1"/>
          </p:cNvSpPr>
          <p:nvPr/>
        </p:nvSpPr>
        <p:spPr>
          <a:xfrm>
            <a:off x="9553575" y="2095500"/>
            <a:ext cx="95250" cy="9525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37" name="p2-pass-text-v03">
            <a:extLst>
              <a:ext uri="{FF2B5EF4-FFF2-40B4-BE49-F238E27FC236}">
                <a16:creationId xmlns:a16="http://schemas.microsoft.com/office/drawing/2014/main" id="{CC17A142-AD2F-4FBF-BE58-06F58F16F80A}"/>
              </a:ext>
            </a:extLst>
          </p:cNvPr>
          <p:cNvSpPr>
            <a:spLocks noGrp="1"/>
          </p:cNvSpPr>
          <p:nvPr/>
        </p:nvSpPr>
        <p:spPr>
          <a:xfrm>
            <a:off x="9753600" y="1971675"/>
            <a:ext cx="167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通过则替换主干</a:t>
            </a:r>
          </a:p>
        </p:txBody>
      </p:sp>
      <p:sp>
        <p:nvSpPr>
          <p:cNvPr id="138" name="p2-fail-node-v03">
            <a:extLst>
              <a:ext uri="{FF2B5EF4-FFF2-40B4-BE49-F238E27FC236}">
                <a16:creationId xmlns:a16="http://schemas.microsoft.com/office/drawing/2014/main" id="{982A3E7E-B902-4C69-BC42-320D7FC3D86B}"/>
              </a:ext>
            </a:extLst>
          </p:cNvPr>
          <p:cNvSpPr>
            <a:spLocks noGrp="1"/>
          </p:cNvSpPr>
          <p:nvPr/>
        </p:nvSpPr>
        <p:spPr>
          <a:xfrm>
            <a:off x="9553575" y="3105150"/>
            <a:ext cx="95250" cy="952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6E6A64"/>
            </a:solidFill>
            <a:prstDash val="solid"/>
          </a:ln>
        </p:spPr>
      </p:sp>
      <p:sp>
        <p:nvSpPr>
          <p:cNvPr id="139" name="p2-fail-text-v03">
            <a:extLst>
              <a:ext uri="{FF2B5EF4-FFF2-40B4-BE49-F238E27FC236}">
                <a16:creationId xmlns:a16="http://schemas.microsoft.com/office/drawing/2014/main" id="{756AD171-054C-47BE-89B4-4666F1185FEE}"/>
              </a:ext>
            </a:extLst>
          </p:cNvPr>
          <p:cNvSpPr>
            <a:spLocks noGrp="1"/>
          </p:cNvSpPr>
          <p:nvPr/>
        </p:nvSpPr>
        <p:spPr>
          <a:xfrm>
            <a:off x="9753600" y="2876550"/>
            <a:ext cx="1676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不能证明则保留 SWSD，</a:t>
            </a:r>
          </a:p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并登记问题证据</a:t>
            </a:r>
          </a:p>
        </p:txBody>
      </p:sp>
      <p:sp>
        <p:nvSpPr>
          <p:cNvPr id="312" name="p2-v03-section-divider">
            <a:extLst>
              <a:ext uri="{FF2B5EF4-FFF2-40B4-BE49-F238E27FC236}">
                <a16:creationId xmlns:a16="http://schemas.microsoft.com/office/drawing/2014/main" id="{4C9056AA-3983-4937-9792-74BF9B4777F0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110490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E9FCD299-12D1-4B61-A28B-6F545F248733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能力结论与替换边界</a:t>
            </a:r>
          </a:p>
        </p:txBody>
      </p:sp>
      <p:sp>
        <p:nvSpPr>
          <p:cNvPr id="314" name="直接连接符 313">
            <a:extLst>
              <a:ext uri="{FF2B5EF4-FFF2-40B4-BE49-F238E27FC236}">
                <a16:creationId xmlns:a16="http://schemas.microsoft.com/office/drawing/2014/main" id="{0F03A586-CB6C-4E82-8551-FD8491033245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110490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15" name="直接连接符 314">
            <a:extLst>
              <a:ext uri="{FF2B5EF4-FFF2-40B4-BE49-F238E27FC236}">
                <a16:creationId xmlns:a16="http://schemas.microsoft.com/office/drawing/2014/main" id="{D95C2F5F-A863-40BF-8B7F-C44D80032B4B}"/>
              </a:ext>
            </a:extLst>
          </p:cNvPr>
          <p:cNvSpPr>
            <a:spLocks noGrp="1"/>
          </p:cNvSpPr>
          <p:nvPr/>
        </p:nvSpPr>
        <p:spPr>
          <a:xfrm>
            <a:off x="4095750" y="4362450"/>
            <a:ext cx="0" cy="8763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16" name="直接连接符 315">
            <a:extLst>
              <a:ext uri="{FF2B5EF4-FFF2-40B4-BE49-F238E27FC236}">
                <a16:creationId xmlns:a16="http://schemas.microsoft.com/office/drawing/2014/main" id="{EE1764F3-DDAD-4B85-A569-D5B94A94544D}"/>
              </a:ext>
            </a:extLst>
          </p:cNvPr>
          <p:cNvSpPr>
            <a:spLocks noGrp="1"/>
          </p:cNvSpPr>
          <p:nvPr/>
        </p:nvSpPr>
        <p:spPr>
          <a:xfrm>
            <a:off x="7858125" y="4362450"/>
            <a:ext cx="0" cy="8763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73045671-C7AC-456A-B8DD-DD6CC3EA6C4E}"/>
              </a:ext>
            </a:extLst>
          </p:cNvPr>
          <p:cNvSpPr>
            <a:spLocks noGrp="1"/>
          </p:cNvSpPr>
          <p:nvPr/>
        </p:nvSpPr>
        <p:spPr>
          <a:xfrm>
            <a:off x="571500" y="43529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95%</a:t>
            </a: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156A6701-037C-46AC-A8F4-2C3F88DB3FE6}"/>
              </a:ext>
            </a:extLst>
          </p:cNvPr>
          <p:cNvSpPr>
            <a:spLocks noGrp="1"/>
          </p:cNvSpPr>
          <p:nvPr/>
        </p:nvSpPr>
        <p:spPr>
          <a:xfrm>
            <a:off x="571500" y="475297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路口自动锚定成功率</a:t>
            </a: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64E25130-8E58-4F7C-A323-AF3FFF685040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业务统计</a:t>
            </a:r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2BBE61A1-67AA-4157-B8BB-21F0709754D6}"/>
              </a:ext>
            </a:extLst>
          </p:cNvPr>
          <p:cNvSpPr>
            <a:spLocks noGrp="1"/>
          </p:cNvSpPr>
          <p:nvPr/>
        </p:nvSpPr>
        <p:spPr>
          <a:xfrm>
            <a:off x="4333875" y="43529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80.3760%</a:t>
            </a:r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09DD9BF3-357C-4389-98F9-DD29B5DAC083}"/>
              </a:ext>
            </a:extLst>
          </p:cNvPr>
          <p:cNvSpPr>
            <a:spLocks noGrp="1"/>
          </p:cNvSpPr>
          <p:nvPr/>
        </p:nvSpPr>
        <p:spPr>
          <a:xfrm>
            <a:off x="4333875" y="475297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当前实测里程替换率</a:t>
            </a:r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04587E50-30E9-47BD-A4FF-3FE5D2548D09}"/>
              </a:ext>
            </a:extLst>
          </p:cNvPr>
          <p:cNvSpPr>
            <a:spLocks noGrp="1"/>
          </p:cNvSpPr>
          <p:nvPr/>
        </p:nvSpPr>
        <p:spPr>
          <a:xfrm>
            <a:off x="4333875" y="50101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108,732 条 RCSD 道路 / 10,386.319 公里</a:t>
            </a: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B4114FCF-E834-4D5B-BDB5-4808972B8C61}"/>
              </a:ext>
            </a:extLst>
          </p:cNvPr>
          <p:cNvSpPr>
            <a:spLocks noGrp="1"/>
          </p:cNvSpPr>
          <p:nvPr/>
        </p:nvSpPr>
        <p:spPr>
          <a:xfrm>
            <a:off x="8096250" y="4352925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85%</a:t>
            </a:r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CEDBAFE3-D00D-4C20-A491-7342BADEF64E}"/>
              </a:ext>
            </a:extLst>
          </p:cNvPr>
          <p:cNvSpPr>
            <a:spLocks noGrp="1"/>
          </p:cNvSpPr>
          <p:nvPr/>
        </p:nvSpPr>
        <p:spPr>
          <a:xfrm>
            <a:off x="8096250" y="475297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全量路口锚定后的预计替换率</a:t>
            </a:r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08276174-761C-47B7-ACD5-83B353418073}"/>
              </a:ext>
            </a:extLst>
          </p:cNvPr>
          <p:cNvSpPr>
            <a:spLocks noGrp="1"/>
          </p:cNvSpPr>
          <p:nvPr/>
        </p:nvSpPr>
        <p:spPr>
          <a:xfrm>
            <a:off x="8096250" y="50101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条件预估</a:t>
            </a:r>
          </a:p>
        </p:txBody>
      </p:sp>
      <p:sp>
        <p:nvSpPr>
          <p:cNvPr id="326" name="直接连接符 325">
            <a:extLst>
              <a:ext uri="{FF2B5EF4-FFF2-40B4-BE49-F238E27FC236}">
                <a16:creationId xmlns:a16="http://schemas.microsoft.com/office/drawing/2014/main" id="{F1639C4D-48FF-408B-A2D8-980E575E1458}"/>
              </a:ext>
            </a:extLst>
          </p:cNvPr>
          <p:cNvSpPr>
            <a:spLocks noGrp="1"/>
          </p:cNvSpPr>
          <p:nvPr/>
        </p:nvSpPr>
        <p:spPr>
          <a:xfrm>
            <a:off x="571500" y="5324475"/>
            <a:ext cx="110490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48871D25-00BA-49E2-8660-785FBB2391E6}"/>
              </a:ext>
            </a:extLst>
          </p:cNvPr>
          <p:cNvSpPr>
            <a:spLocks noGrp="1"/>
          </p:cNvSpPr>
          <p:nvPr/>
        </p:nvSpPr>
        <p:spPr>
          <a:xfrm>
            <a:off x="571500" y="5429250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剩余约 15%</a:t>
            </a:r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124B4421-074E-43D1-960B-B7FF4C70C940}"/>
              </a:ext>
            </a:extLst>
          </p:cNvPr>
          <p:cNvSpPr>
            <a:spLocks noGrp="1"/>
          </p:cNvSpPr>
          <p:nvPr/>
        </p:nvSpPr>
        <p:spPr>
          <a:xfrm>
            <a:off x="2333625" y="5438775"/>
            <a:ext cx="909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受 RCSD 路段级连通性不完整限制，转入 1V1 匹配补充处理。</a:t>
            </a: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CD688306-8633-4592-A477-266CC46BD693}"/>
              </a:ext>
            </a:extLst>
          </p:cNvPr>
          <p:cNvSpPr>
            <a:spLocks noGrp="1"/>
          </p:cNvSpPr>
          <p:nvPr/>
        </p:nvSpPr>
        <p:spPr>
          <a:xfrm>
            <a:off x="2333625" y="5724525"/>
            <a:ext cx="9096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不能暗示剩余部分已经全部可替换。</a:t>
            </a:r>
          </a:p>
        </p:txBody>
      </p:sp>
      <p:sp>
        <p:nvSpPr>
          <p:cNvPr id="330" name="直接连接符 329">
            <a:extLst>
              <a:ext uri="{FF2B5EF4-FFF2-40B4-BE49-F238E27FC236}">
                <a16:creationId xmlns:a16="http://schemas.microsoft.com/office/drawing/2014/main" id="{EEE7E5CF-D728-43DA-98D9-CE3E76A0891E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2667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E9317D5E-63E8-47E6-8D7B-5941C2A6BEF5}"/>
              </a:ext>
            </a:extLst>
          </p:cNvPr>
          <p:cNvSpPr>
            <a:spLocks noGrp="1"/>
          </p:cNvSpPr>
          <p:nvPr/>
        </p:nvSpPr>
        <p:spPr>
          <a:xfrm>
            <a:off x="952500" y="609600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口径结论</a:t>
            </a:r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70CFE243-52E8-4F73-AE6E-6C39C74A48FC}"/>
              </a:ext>
            </a:extLst>
          </p:cNvPr>
          <p:cNvSpPr>
            <a:spLocks noGrp="1"/>
          </p:cNvSpPr>
          <p:nvPr/>
        </p:nvSpPr>
        <p:spPr>
          <a:xfrm>
            <a:off x="1905000" y="60960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80.3760% 为当前实测，85% 为全量路口锚定后的条件预估，两者不可混用。</a:t>
            </a:r>
          </a:p>
        </p:txBody>
      </p:sp>
    </p:spTree>
    <p:extLst>
      <p:ext uri="{BB962C8B-B14F-4D97-AF65-F5344CB8AC3E}">
        <p14:creationId xmlns:p14="http://schemas.microsoft.com/office/powerpoint/2010/main" val="47802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age-title">
            <a:extLst>
              <a:ext uri="{FF2B5EF4-FFF2-40B4-BE49-F238E27FC236}">
                <a16:creationId xmlns:a16="http://schemas.microsoft.com/office/drawing/2014/main" id="{D4658438-C051-4BDF-9B88-8FC17E57B697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方案二：复用认知底座，审计一层与二层路网质量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52C5F64F-592E-4F74-9E2D-F3C30D2232A4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对路口、路段、方向与连通执行只读审计，具备短期上线潜力</a:t>
            </a:r>
          </a:p>
        </p:txBody>
      </p:sp>
      <p:sp>
        <p:nvSpPr>
          <p:cNvPr id="3" name="title-divider">
            <a:extLst>
              <a:ext uri="{FF2B5EF4-FFF2-40B4-BE49-F238E27FC236}">
                <a16:creationId xmlns:a16="http://schemas.microsoft.com/office/drawing/2014/main" id="{583CA74F-DC60-49E7-BD43-876451E86426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9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E2CB746-C45B-4553-A072-4BB20AE50D1B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1085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审计目标与准则</a:t>
            </a:r>
          </a:p>
        </p:txBody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39A10114-452D-4C3A-8464-16D6611D040E}"/>
              </a:ext>
            </a:extLst>
          </p:cNvPr>
          <p:cNvSpPr>
            <a:spLocks noGrp="1"/>
          </p:cNvSpPr>
          <p:nvPr/>
        </p:nvSpPr>
        <p:spPr>
          <a:xfrm>
            <a:off x="571500" y="1543050"/>
            <a:ext cx="108585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BBA923A2-666F-43FB-93DB-7401834B737D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0" cy="6667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69B2A383-9492-42BA-8FC2-581409D41AEC}"/>
              </a:ext>
            </a:extLst>
          </p:cNvPr>
          <p:cNvSpPr>
            <a:spLocks noGrp="1"/>
          </p:cNvSpPr>
          <p:nvPr/>
        </p:nvSpPr>
        <p:spPr>
          <a:xfrm>
            <a:off x="571500" y="1609725"/>
            <a:ext cx="2286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D4CE765-E697-4ECE-B783-FDA1BBA31224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原始 1V1 路网的 RCSD 道路 / 节点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6607301-4A3A-4148-9739-FA6C00E59535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 SWSD 路口—路段语义为基准，逐道路、端点与方向重验。</a:t>
            </a:r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5E21B8A5-4449-4BD1-B3E9-F8DD5B98ADC0}"/>
              </a:ext>
            </a:extLst>
          </p:cNvPr>
          <p:cNvSpPr>
            <a:spLocks noGrp="1"/>
          </p:cNvSpPr>
          <p:nvPr/>
        </p:nvSpPr>
        <p:spPr>
          <a:xfrm>
            <a:off x="6477000" y="1609725"/>
            <a:ext cx="2286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21ED9B-98E6-48C1-A9AE-486A7BCA7687}"/>
              </a:ext>
            </a:extLst>
          </p:cNvPr>
          <p:cNvSpPr>
            <a:spLocks noGrp="1"/>
          </p:cNvSpPr>
          <p:nvPr/>
        </p:nvSpPr>
        <p:spPr>
          <a:xfrm>
            <a:off x="6477000" y="16764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路段级 + 路口级质量识别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CF29217-6D45-42C5-AB61-6038090B8972}"/>
              </a:ext>
            </a:extLst>
          </p:cNvPr>
          <p:cNvSpPr>
            <a:spLocks noGrp="1"/>
          </p:cNvSpPr>
          <p:nvPr/>
        </p:nvSpPr>
        <p:spPr>
          <a:xfrm>
            <a:off x="6477000" y="19335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路段：检查必需方向、连通与非预期反向通行。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196A5A8-FA31-4435-A2A8-E0F94C0B82C2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路口：通行缺失回到原始 1V1 路网重验；最终一对多、多对一锚定失败经一致性核验后直接发布。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77A623B-90C6-44FB-AEF4-CEBB1E620F92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1085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三个真实审计案例</a:t>
            </a:r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56793119-2F15-4539-B216-6DB52B3D19D6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108585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83646B3C-7140-4737-A861-133D26B87E6F}"/>
              </a:ext>
            </a:extLst>
          </p:cNvPr>
          <p:cNvSpPr>
            <a:spLocks noGrp="1"/>
          </p:cNvSpPr>
          <p:nvPr/>
        </p:nvSpPr>
        <p:spPr>
          <a:xfrm>
            <a:off x="4191000" y="2800350"/>
            <a:ext cx="0" cy="21526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028E843F-8BDE-4CAF-BA14-C7E3DE663312}"/>
              </a:ext>
            </a:extLst>
          </p:cNvPr>
          <p:cNvSpPr>
            <a:spLocks noGrp="1"/>
          </p:cNvSpPr>
          <p:nvPr/>
        </p:nvSpPr>
        <p:spPr>
          <a:xfrm>
            <a:off x="8001000" y="2800350"/>
            <a:ext cx="0" cy="21526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22B6B7B-8666-4CF3-907D-547442E72E52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1885118｜</a:t>
            </a:r>
          </a:p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路段连通候选异常</a:t>
            </a: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3"/>
          <a:srcRect t="5556" b="5556"/>
          <a:stretch>
            <a:fillRect/>
          </a:stretch>
        </p:blipFill>
        <p:spPr>
          <a:xfrm>
            <a:off x="666750" y="3209925"/>
            <a:ext cx="3238500" cy="1619250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BB5B0BEC-B3BB-42EC-95ED-9C7205183CCC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3238500" cy="1619250"/>
          </a:xfrm>
          <a:prstGeom prst="rect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AC700F4-9AEA-4D3F-9C96-9E4486C7D2A6}"/>
              </a:ext>
            </a:extLst>
          </p:cNvPr>
          <p:cNvSpPr>
            <a:spLocks noGrp="1"/>
          </p:cNvSpPr>
          <p:nvPr/>
        </p:nvSpPr>
        <p:spPr>
          <a:xfrm>
            <a:off x="571500" y="4867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候选｜待原始 1V1 路网重验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7BC9FE3-2AF8-4515-A20D-D81684119AC9}"/>
              </a:ext>
            </a:extLst>
          </p:cNvPr>
          <p:cNvSpPr>
            <a:spLocks noGrp="1"/>
          </p:cNvSpPr>
          <p:nvPr/>
        </p:nvSpPr>
        <p:spPr>
          <a:xfrm>
            <a:off x="4381500" y="28003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522806716｜</a:t>
            </a:r>
          </a:p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路口必需通行关系缺失</a:t>
            </a: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4"/>
          <a:srcRect t="5556" b="5556"/>
          <a:stretch>
            <a:fillRect/>
          </a:stretch>
        </p:blipFill>
        <p:spPr>
          <a:xfrm>
            <a:off x="4476750" y="3209925"/>
            <a:ext cx="3238500" cy="1619250"/>
          </a:xfrm>
          <a:prstGeom prst="rect">
            <a:avLst/>
          </a:prstGeom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A0801DD3-3A23-4A4C-A259-E4D2299FE03E}"/>
              </a:ext>
            </a:extLst>
          </p:cNvPr>
          <p:cNvSpPr>
            <a:spLocks noGrp="1"/>
          </p:cNvSpPr>
          <p:nvPr/>
        </p:nvSpPr>
        <p:spPr>
          <a:xfrm>
            <a:off x="4476750" y="3209925"/>
            <a:ext cx="3238500" cy="1619250"/>
          </a:xfrm>
          <a:prstGeom prst="rect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30FFF41-0BE1-4D11-A174-59144AC89AC8}"/>
              </a:ext>
            </a:extLst>
          </p:cNvPr>
          <p:cNvSpPr>
            <a:spLocks noGrp="1"/>
          </p:cNvSpPr>
          <p:nvPr/>
        </p:nvSpPr>
        <p:spPr>
          <a:xfrm>
            <a:off x="4381500" y="4867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确认｜当前质量审计输入快照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2A8A05A-B8C8-4062-9D46-EF900DD08B07}"/>
              </a:ext>
            </a:extLst>
          </p:cNvPr>
          <p:cNvSpPr>
            <a:spLocks noGrp="1"/>
          </p:cNvSpPr>
          <p:nvPr/>
        </p:nvSpPr>
        <p:spPr>
          <a:xfrm>
            <a:off x="8191500" y="28003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26219553_1026960｜</a:t>
            </a:r>
          </a:p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单向路段反向载体候选</a:t>
            </a: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5"/>
          <a:srcRect t="12500" b="12500"/>
          <a:stretch>
            <a:fillRect/>
          </a:stretch>
        </p:blipFill>
        <p:spPr>
          <a:xfrm>
            <a:off x="8286750" y="3209925"/>
            <a:ext cx="3238500" cy="1619250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6F68DE99-F0A2-4990-A56D-0493A870994D}"/>
              </a:ext>
            </a:extLst>
          </p:cNvPr>
          <p:cNvSpPr>
            <a:spLocks noGrp="1"/>
          </p:cNvSpPr>
          <p:nvPr/>
        </p:nvSpPr>
        <p:spPr>
          <a:xfrm>
            <a:off x="8286750" y="3209925"/>
            <a:ext cx="3238500" cy="1619250"/>
          </a:xfrm>
          <a:prstGeom prst="rect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7DBE7A4-C975-4AFE-B51D-726EB64131D5}"/>
              </a:ext>
            </a:extLst>
          </p:cNvPr>
          <p:cNvSpPr>
            <a:spLocks noGrp="1"/>
          </p:cNvSpPr>
          <p:nvPr/>
        </p:nvSpPr>
        <p:spPr>
          <a:xfrm>
            <a:off x="8191500" y="4867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排除｜反向道路归属相邻路段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9F036BE-E04F-41AF-8060-389B5A51FD94}"/>
              </a:ext>
            </a:extLst>
          </p:cNvPr>
          <p:cNvSpPr>
            <a:spLocks noGrp="1"/>
          </p:cNvSpPr>
          <p:nvPr/>
        </p:nvSpPr>
        <p:spPr>
          <a:xfrm>
            <a:off x="571500" y="51244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输出与边界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4EF206F-C551-4513-B79B-AD6ADF63539A}"/>
              </a:ext>
            </a:extLst>
          </p:cNvPr>
          <p:cNvSpPr>
            <a:spLocks noGrp="1"/>
          </p:cNvSpPr>
          <p:nvPr/>
        </p:nvSpPr>
        <p:spPr>
          <a:xfrm>
            <a:off x="6667500" y="51244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输出 → 业务处置</a:t>
            </a:r>
          </a:p>
        </p:txBody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6FF6DB55-0440-4BC6-BE5C-0BD7C512230C}"/>
              </a:ext>
            </a:extLst>
          </p:cNvPr>
          <p:cNvSpPr>
            <a:spLocks noGrp="1"/>
          </p:cNvSpPr>
          <p:nvPr/>
        </p:nvSpPr>
        <p:spPr>
          <a:xfrm>
            <a:off x="571500" y="5391150"/>
            <a:ext cx="108585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8618552B-2879-4EA9-AE35-E3CC24EB54DE}"/>
              </a:ext>
            </a:extLst>
          </p:cNvPr>
          <p:cNvSpPr>
            <a:spLocks noGrp="1"/>
          </p:cNvSpPr>
          <p:nvPr/>
        </p:nvSpPr>
        <p:spPr>
          <a:xfrm>
            <a:off x="6096000" y="5438775"/>
            <a:ext cx="0" cy="52387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70E42121-3F43-4C2B-82C3-63468423691A}"/>
              </a:ext>
            </a:extLst>
          </p:cNvPr>
          <p:cNvSpPr>
            <a:spLocks noGrp="1"/>
          </p:cNvSpPr>
          <p:nvPr/>
        </p:nvSpPr>
        <p:spPr>
          <a:xfrm>
            <a:off x="571500" y="5457825"/>
            <a:ext cx="2286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E696DAB-4009-423D-8B81-1BBDB3CA9B8B}"/>
              </a:ext>
            </a:extLst>
          </p:cNvPr>
          <p:cNvSpPr>
            <a:spLocks noGrp="1"/>
          </p:cNvSpPr>
          <p:nvPr/>
        </p:nvSpPr>
        <p:spPr>
          <a:xfrm>
            <a:off x="571500" y="5514975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可追溯问题输出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C124D29-6AC9-43B9-B1A7-7A2A83968C0A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路段与路口独立发布候选、确认、排除结果，并保留几何、方向与根因证据。</a:t>
            </a:r>
          </a:p>
        </p:txBody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540156AF-A5B9-4C8A-AD2F-F2411A548C43}"/>
              </a:ext>
            </a:extLst>
          </p:cNvPr>
          <p:cNvSpPr>
            <a:spLocks noGrp="1"/>
          </p:cNvSpPr>
          <p:nvPr/>
        </p:nvSpPr>
        <p:spPr>
          <a:xfrm>
            <a:off x="6477000" y="5457825"/>
            <a:ext cx="2286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CE85EAC-ED26-4037-8C8C-CFC4BC03B9EF}"/>
              </a:ext>
            </a:extLst>
          </p:cNvPr>
          <p:cNvSpPr>
            <a:spLocks noGrp="1"/>
          </p:cNvSpPr>
          <p:nvPr/>
        </p:nvSpPr>
        <p:spPr>
          <a:xfrm>
            <a:off x="6477000" y="55149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上线判断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74DDA53-C75F-4834-BACE-BA033436B3FF}"/>
              </a:ext>
            </a:extLst>
          </p:cNvPr>
          <p:cNvSpPr>
            <a:spLocks noGrp="1"/>
          </p:cNvSpPr>
          <p:nvPr/>
        </p:nvSpPr>
        <p:spPr>
          <a:xfrm>
            <a:off x="6477000" y="57435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具备短期上线潜力，但当前汇报不宣称已经生产部署。</a:t>
            </a:r>
          </a:p>
        </p:txBody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3BE5EEA2-3E04-477B-9F85-2D72907B1E56}"/>
              </a:ext>
            </a:extLst>
          </p:cNvPr>
          <p:cNvSpPr>
            <a:spLocks noGrp="1"/>
          </p:cNvSpPr>
          <p:nvPr/>
        </p:nvSpPr>
        <p:spPr>
          <a:xfrm>
            <a:off x="571500" y="6257925"/>
            <a:ext cx="2667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39924AF-1405-41A3-AEDC-2F3FF5261606}"/>
              </a:ext>
            </a:extLst>
          </p:cNvPr>
          <p:cNvSpPr>
            <a:spLocks noGrp="1"/>
          </p:cNvSpPr>
          <p:nvPr/>
        </p:nvSpPr>
        <p:spPr>
          <a:xfrm>
            <a:off x="952500" y="61341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只读审计，不修复、不回写；距离或几何现象不能单独形成质量结论。</a:t>
            </a:r>
          </a:p>
        </p:txBody>
      </p:sp>
    </p:spTree>
    <p:extLst>
      <p:ext uri="{BB962C8B-B14F-4D97-AF65-F5344CB8AC3E}">
        <p14:creationId xmlns:p14="http://schemas.microsoft.com/office/powerpoint/2010/main" val="57651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age-title">
            <a:extLst>
              <a:ext uri="{FF2B5EF4-FFF2-40B4-BE49-F238E27FC236}">
                <a16:creationId xmlns:a16="http://schemas.microsoft.com/office/drawing/2014/main" id="{714BF2E4-E8F8-49C5-8059-ADBBDCCDC6C2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方案三：自上而下直建二层道路与节点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7DEFA9B2-D79A-4EB1-9FF8-56E2BFD7C58C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一层路口—路段牵引，分片矢量提供现实证据，面向 RCSD 路网图直建</a:t>
            </a:r>
          </a:p>
        </p:txBody>
      </p:sp>
      <p:sp>
        <p:nvSpPr>
          <p:cNvPr id="3" name="title-divider">
            <a:extLst>
              <a:ext uri="{FF2B5EF4-FFF2-40B4-BE49-F238E27FC236}">
                <a16:creationId xmlns:a16="http://schemas.microsoft.com/office/drawing/2014/main" id="{8FD36043-13A4-424F-9821-C049AEA3B2E7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9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4" name="conclusion-accent">
            <a:extLst>
              <a:ext uri="{FF2B5EF4-FFF2-40B4-BE49-F238E27FC236}">
                <a16:creationId xmlns:a16="http://schemas.microsoft.com/office/drawing/2014/main" id="{489336F1-130E-4956-B69A-23F07D8FF7CB}"/>
              </a:ext>
            </a:extLst>
          </p:cNvPr>
          <p:cNvSpPr>
            <a:spLocks noGrp="1"/>
          </p:cNvSpPr>
          <p:nvPr/>
        </p:nvSpPr>
        <p:spPr>
          <a:xfrm>
            <a:off x="571500" y="5800725"/>
            <a:ext cx="266700" cy="38100"/>
          </a:xfrm>
          <a:prstGeom prst="rect">
            <a:avLst/>
          </a:prstGeom>
          <a:solidFill>
            <a:srgbClr val="7D2633"/>
          </a:solidFill>
          <a:ln w="0">
            <a:noFill/>
            <a:prstDash val="solid"/>
          </a:ln>
        </p:spPr>
      </p:sp>
      <p:sp>
        <p:nvSpPr>
          <p:cNvPr id="35" name="conclusion-label">
            <a:extLst>
              <a:ext uri="{FF2B5EF4-FFF2-40B4-BE49-F238E27FC236}">
                <a16:creationId xmlns:a16="http://schemas.microsoft.com/office/drawing/2014/main" id="{43FEEF74-A421-4826-A99B-0094B6AC478E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85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验证边界</a:t>
            </a:r>
          </a:p>
        </p:txBody>
      </p:sp>
      <p:sp>
        <p:nvSpPr>
          <p:cNvPr id="36" name="conclusion-text">
            <a:extLst>
              <a:ext uri="{FF2B5EF4-FFF2-40B4-BE49-F238E27FC236}">
                <a16:creationId xmlns:a16="http://schemas.microsoft.com/office/drawing/2014/main" id="{34AFF781-9822-45B5-8F4C-CB57F5877B9A}"/>
              </a:ext>
            </a:extLst>
          </p:cNvPr>
          <p:cNvSpPr>
            <a:spLocks noGrp="1"/>
          </p:cNvSpPr>
          <p:nvPr/>
        </p:nvSpPr>
        <p:spPr>
          <a:xfrm>
            <a:off x="1905000" y="5581650"/>
            <a:ext cx="9401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当前仍是局部概念验证，不替代既有正式主链，也不宣称已形成生产级融合路网。</a:t>
            </a:r>
          </a:p>
        </p:txBody>
      </p:sp>
      <p:sp>
        <p:nvSpPr>
          <p:cNvPr id="38" name="p4-chain-label-v04a3">
            <a:extLst>
              <a:ext uri="{FF2B5EF4-FFF2-40B4-BE49-F238E27FC236}">
                <a16:creationId xmlns:a16="http://schemas.microsoft.com/office/drawing/2014/main" id="{C832CED4-E814-4DF4-9826-84F2CA7A5620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自上而下四阶段构建主链</a:t>
            </a:r>
          </a:p>
        </p:txBody>
      </p:sp>
      <p:sp>
        <p:nvSpPr>
          <p:cNvPr id="39" name="p4-chain-baseline-v04a3">
            <a:extLst>
              <a:ext uri="{FF2B5EF4-FFF2-40B4-BE49-F238E27FC236}">
                <a16:creationId xmlns:a16="http://schemas.microsoft.com/office/drawing/2014/main" id="{8696697E-85E2-4B7B-BB84-8B3CFFFBF1A9}"/>
              </a:ext>
            </a:extLst>
          </p:cNvPr>
          <p:cNvSpPr>
            <a:spLocks noGrp="1"/>
          </p:cNvSpPr>
          <p:nvPr/>
        </p:nvSpPr>
        <p:spPr>
          <a:xfrm>
            <a:off x="571500" y="1543050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40" name="p4-01-accent-v04a3">
            <a:extLst>
              <a:ext uri="{FF2B5EF4-FFF2-40B4-BE49-F238E27FC236}">
                <a16:creationId xmlns:a16="http://schemas.microsoft.com/office/drawing/2014/main" id="{C3F178C0-DCB1-400D-9D23-4A6927EAE4DA}"/>
              </a:ext>
            </a:extLst>
          </p:cNvPr>
          <p:cNvSpPr>
            <a:spLocks noGrp="1"/>
          </p:cNvSpPr>
          <p:nvPr/>
        </p:nvSpPr>
        <p:spPr>
          <a:xfrm>
            <a:off x="571500" y="1600200"/>
            <a:ext cx="22860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41" name="p4-01-num-v04a3">
            <a:extLst>
              <a:ext uri="{FF2B5EF4-FFF2-40B4-BE49-F238E27FC236}">
                <a16:creationId xmlns:a16="http://schemas.microsoft.com/office/drawing/2014/main" id="{EB4E0A45-1F47-4B46-96DD-D64899955EF3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2" name="p4-01-title-v04a3">
            <a:extLst>
              <a:ext uri="{FF2B5EF4-FFF2-40B4-BE49-F238E27FC236}">
                <a16:creationId xmlns:a16="http://schemas.microsoft.com/office/drawing/2014/main" id="{382D375B-D738-45CE-BA29-F6E955C7522F}"/>
              </a:ext>
            </a:extLst>
          </p:cNvPr>
          <p:cNvSpPr>
            <a:spLocks noGrp="1"/>
          </p:cNvSpPr>
          <p:nvPr/>
        </p:nvSpPr>
        <p:spPr>
          <a:xfrm>
            <a:off x="1066800" y="16383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一层语义骨架</a:t>
            </a:r>
          </a:p>
        </p:txBody>
      </p:sp>
      <p:sp>
        <p:nvSpPr>
          <p:cNvPr id="43" name="p4-01-body-v04a3">
            <a:extLst>
              <a:ext uri="{FF2B5EF4-FFF2-40B4-BE49-F238E27FC236}">
                <a16:creationId xmlns:a16="http://schemas.microsoft.com/office/drawing/2014/main" id="{05A2E898-AAD6-4AE8-ACA7-936271CD84C3}"/>
              </a:ext>
            </a:extLst>
          </p:cNvPr>
          <p:cNvSpPr>
            <a:spLocks noGrp="1"/>
          </p:cNvSpPr>
          <p:nvPr/>
        </p:nvSpPr>
        <p:spPr>
          <a:xfrm>
            <a:off x="3810000" y="16383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以一层路网中的路口—路段语义骨架为牵引。</a:t>
            </a:r>
          </a:p>
        </p:txBody>
      </p:sp>
      <p:sp>
        <p:nvSpPr>
          <p:cNvPr id="44" name="p4-01-rule-v04a3">
            <a:extLst>
              <a:ext uri="{FF2B5EF4-FFF2-40B4-BE49-F238E27FC236}">
                <a16:creationId xmlns:a16="http://schemas.microsoft.com/office/drawing/2014/main" id="{DCC53ABB-FB6A-4D59-94C8-77FD0D2F214E}"/>
              </a:ext>
            </a:extLst>
          </p:cNvPr>
          <p:cNvSpPr>
            <a:spLocks noGrp="1"/>
          </p:cNvSpPr>
          <p:nvPr/>
        </p:nvSpPr>
        <p:spPr>
          <a:xfrm>
            <a:off x="571500" y="2019300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45" name="p4-down-1-v04a3-from">
            <a:extLst>
              <a:ext uri="{FF2B5EF4-FFF2-40B4-BE49-F238E27FC236}">
                <a16:creationId xmlns:a16="http://schemas.microsoft.com/office/drawing/2014/main" id="{FBA734CB-8B08-4798-95FC-DAE8B0083DA6}"/>
              </a:ext>
            </a:extLst>
          </p:cNvPr>
          <p:cNvSpPr>
            <a:spLocks noGrp="1"/>
          </p:cNvSpPr>
          <p:nvPr/>
        </p:nvSpPr>
        <p:spPr>
          <a:xfrm>
            <a:off x="6086475" y="20288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6" name="p4-down-1-v04a3-to">
            <a:extLst>
              <a:ext uri="{FF2B5EF4-FFF2-40B4-BE49-F238E27FC236}">
                <a16:creationId xmlns:a16="http://schemas.microsoft.com/office/drawing/2014/main" id="{658B465F-9072-4F8A-8CB5-5B691E0C0050}"/>
              </a:ext>
            </a:extLst>
          </p:cNvPr>
          <p:cNvSpPr>
            <a:spLocks noGrp="1"/>
          </p:cNvSpPr>
          <p:nvPr/>
        </p:nvSpPr>
        <p:spPr>
          <a:xfrm>
            <a:off x="6086475" y="21145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5" name="直接箭头连接符 277"/>
          <p:cNvCxnSpPr>
            <a:stCxn id="45" idx="2"/>
            <a:endCxn id="46" idx="0"/>
          </p:cNvCxnSpPr>
          <p:nvPr/>
        </p:nvCxnSpPr>
        <p:spPr>
          <a:xfrm>
            <a:off x="6096000" y="2047875"/>
            <a:ext cx="0" cy="66675"/>
          </a:xfrm>
          <a:prstGeom prst="straightConnector1">
            <a:avLst/>
          </a:prstGeom>
          <a:ln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48" name="p4-02-accent-v04a3">
            <a:extLst>
              <a:ext uri="{FF2B5EF4-FFF2-40B4-BE49-F238E27FC236}">
                <a16:creationId xmlns:a16="http://schemas.microsoft.com/office/drawing/2014/main" id="{F14F23D1-FF63-4CA9-AC7D-DFAAD8FCD418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22860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49" name="p4-02-num-v04a3">
            <a:extLst>
              <a:ext uri="{FF2B5EF4-FFF2-40B4-BE49-F238E27FC236}">
                <a16:creationId xmlns:a16="http://schemas.microsoft.com/office/drawing/2014/main" id="{448FF851-9819-43AF-8C61-4AE14C48646F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p4-02-title-v04a3">
            <a:extLst>
              <a:ext uri="{FF2B5EF4-FFF2-40B4-BE49-F238E27FC236}">
                <a16:creationId xmlns:a16="http://schemas.microsoft.com/office/drawing/2014/main" id="{D65BED95-55EE-4563-930F-B30690AA9F0D}"/>
              </a:ext>
            </a:extLst>
          </p:cNvPr>
          <p:cNvSpPr>
            <a:spLocks noGrp="1"/>
          </p:cNvSpPr>
          <p:nvPr/>
        </p:nvSpPr>
        <p:spPr>
          <a:xfrm>
            <a:off x="1066800" y="21907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分片证据拟合</a:t>
            </a:r>
          </a:p>
        </p:txBody>
      </p:sp>
      <p:sp>
        <p:nvSpPr>
          <p:cNvPr id="51" name="p4-02-body-v04a3">
            <a:extLst>
              <a:ext uri="{FF2B5EF4-FFF2-40B4-BE49-F238E27FC236}">
                <a16:creationId xmlns:a16="http://schemas.microsoft.com/office/drawing/2014/main" id="{B437A1AB-E469-4A0A-A514-990CCD8DEA40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2628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以分片道路、车道、车道拓扑、</a:t>
            </a:r>
          </a:p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边界与道路面拟合现实证据。</a:t>
            </a:r>
          </a:p>
        </p:txBody>
      </p:sp>
      <p:sp>
        <p:nvSpPr>
          <p:cNvPr id="52" name="p4-evidence-frame-v04a3">
            <a:extLst>
              <a:ext uri="{FF2B5EF4-FFF2-40B4-BE49-F238E27FC236}">
                <a16:creationId xmlns:a16="http://schemas.microsoft.com/office/drawing/2014/main" id="{CE65D795-23C4-4869-BFA4-7EDE2A6D387A}"/>
              </a:ext>
            </a:extLst>
          </p:cNvPr>
          <p:cNvSpPr>
            <a:spLocks noGrp="1"/>
          </p:cNvSpPr>
          <p:nvPr/>
        </p:nvSpPr>
        <p:spPr>
          <a:xfrm>
            <a:off x="4000500" y="2152650"/>
            <a:ext cx="3429000" cy="1866900"/>
          </a:xfrm>
          <a:prstGeom prst="rect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pic>
        <p:nvPicPr>
          <p:cNvPr id="321" name="p4-local-experiment-image-v04a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97867" y="2190750"/>
            <a:ext cx="3234267" cy="1819275"/>
          </a:xfrm>
          <a:prstGeom prst="rect">
            <a:avLst/>
          </a:prstGeom>
        </p:spPr>
      </p:pic>
      <p:sp>
        <p:nvSpPr>
          <p:cNvPr id="54" name="p4-evidence-label-v04a3">
            <a:extLst>
              <a:ext uri="{FF2B5EF4-FFF2-40B4-BE49-F238E27FC236}">
                <a16:creationId xmlns:a16="http://schemas.microsoft.com/office/drawing/2014/main" id="{9A7F14AD-F86C-407F-9160-85CA25F7AA47}"/>
              </a:ext>
            </a:extLst>
          </p:cNvPr>
          <p:cNvSpPr>
            <a:spLocks noGrp="1"/>
          </p:cNvSpPr>
          <p:nvPr/>
        </p:nvSpPr>
        <p:spPr>
          <a:xfrm>
            <a:off x="7715250" y="2362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真实局部实验图</a:t>
            </a:r>
          </a:p>
        </p:txBody>
      </p:sp>
      <p:sp>
        <p:nvSpPr>
          <p:cNvPr id="55" name="p4-evidence-caption-v04a3">
            <a:extLst>
              <a:ext uri="{FF2B5EF4-FFF2-40B4-BE49-F238E27FC236}">
                <a16:creationId xmlns:a16="http://schemas.microsoft.com/office/drawing/2014/main" id="{29866005-BF80-4BD1-8B6B-1B6E88DCEF86}"/>
              </a:ext>
            </a:extLst>
          </p:cNvPr>
          <p:cNvSpPr>
            <a:spLocks noGrp="1"/>
          </p:cNvSpPr>
          <p:nvPr/>
        </p:nvSpPr>
        <p:spPr>
          <a:xfrm>
            <a:off x="7715250" y="26670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局部实验完成，证明路段优先的构建路径可行。</a:t>
            </a:r>
          </a:p>
        </p:txBody>
      </p:sp>
      <p:sp>
        <p:nvSpPr>
          <p:cNvPr id="56" name="p4-02-rule-v04a3">
            <a:extLst>
              <a:ext uri="{FF2B5EF4-FFF2-40B4-BE49-F238E27FC236}">
                <a16:creationId xmlns:a16="http://schemas.microsoft.com/office/drawing/2014/main" id="{91E029B2-4505-4CF6-A9A4-DC2676C85170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57" name="p4-down-2-v04a3-from">
            <a:extLst>
              <a:ext uri="{FF2B5EF4-FFF2-40B4-BE49-F238E27FC236}">
                <a16:creationId xmlns:a16="http://schemas.microsoft.com/office/drawing/2014/main" id="{94817DA0-07A3-4106-95AD-9087C8F12463}"/>
              </a:ext>
            </a:extLst>
          </p:cNvPr>
          <p:cNvSpPr>
            <a:spLocks noGrp="1"/>
          </p:cNvSpPr>
          <p:nvPr/>
        </p:nvSpPr>
        <p:spPr>
          <a:xfrm>
            <a:off x="6086475" y="40481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" name="p4-down-2-v04a3-to">
            <a:extLst>
              <a:ext uri="{FF2B5EF4-FFF2-40B4-BE49-F238E27FC236}">
                <a16:creationId xmlns:a16="http://schemas.microsoft.com/office/drawing/2014/main" id="{33FB2A4A-B924-4D2A-BA9F-E41207A9EC64}"/>
              </a:ext>
            </a:extLst>
          </p:cNvPr>
          <p:cNvSpPr>
            <a:spLocks noGrp="1"/>
          </p:cNvSpPr>
          <p:nvPr/>
        </p:nvSpPr>
        <p:spPr>
          <a:xfrm>
            <a:off x="6086475" y="415290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27" name="直接箭头连接符 289"/>
          <p:cNvCxnSpPr>
            <a:stCxn id="57" idx="2"/>
            <a:endCxn id="58" idx="0"/>
          </p:cNvCxnSpPr>
          <p:nvPr/>
        </p:nvCxnSpPr>
        <p:spPr>
          <a:xfrm>
            <a:off x="6096000" y="4067175"/>
            <a:ext cx="0" cy="85725"/>
          </a:xfrm>
          <a:prstGeom prst="straightConnector1">
            <a:avLst/>
          </a:prstGeom>
          <a:ln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60" name="p4-03-accent-v04a3">
            <a:extLst>
              <a:ext uri="{FF2B5EF4-FFF2-40B4-BE49-F238E27FC236}">
                <a16:creationId xmlns:a16="http://schemas.microsoft.com/office/drawing/2014/main" id="{3035946E-8805-4965-A58F-E99810E16073}"/>
              </a:ext>
            </a:extLst>
          </p:cNvPr>
          <p:cNvSpPr>
            <a:spLocks noGrp="1"/>
          </p:cNvSpPr>
          <p:nvPr/>
        </p:nvSpPr>
        <p:spPr>
          <a:xfrm>
            <a:off x="571500" y="4210050"/>
            <a:ext cx="22860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61" name="p4-03-num-v04a3">
            <a:extLst>
              <a:ext uri="{FF2B5EF4-FFF2-40B4-BE49-F238E27FC236}">
                <a16:creationId xmlns:a16="http://schemas.microsoft.com/office/drawing/2014/main" id="{9A4E6820-3242-4473-A9AA-CDD8660BDD1D}"/>
              </a:ext>
            </a:extLst>
          </p:cNvPr>
          <p:cNvSpPr>
            <a:spLocks noGrp="1"/>
          </p:cNvSpPr>
          <p:nvPr/>
        </p:nvSpPr>
        <p:spPr>
          <a:xfrm>
            <a:off x="571500" y="42481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2" name="p4-03-title-v04a3">
            <a:extLst>
              <a:ext uri="{FF2B5EF4-FFF2-40B4-BE49-F238E27FC236}">
                <a16:creationId xmlns:a16="http://schemas.microsoft.com/office/drawing/2014/main" id="{6760E155-B461-4DB8-BE18-B274186904BC}"/>
              </a:ext>
            </a:extLst>
          </p:cNvPr>
          <p:cNvSpPr>
            <a:spLocks noGrp="1"/>
          </p:cNvSpPr>
          <p:nvPr/>
        </p:nvSpPr>
        <p:spPr>
          <a:xfrm>
            <a:off x="1066800" y="42481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高精对象构建</a:t>
            </a:r>
          </a:p>
        </p:txBody>
      </p:sp>
      <p:sp>
        <p:nvSpPr>
          <p:cNvPr id="63" name="p4-03-body-v04a3">
            <a:extLst>
              <a:ext uri="{FF2B5EF4-FFF2-40B4-BE49-F238E27FC236}">
                <a16:creationId xmlns:a16="http://schemas.microsoft.com/office/drawing/2014/main" id="{D491A112-F09C-4C78-BEF4-66EFEC295096}"/>
              </a:ext>
            </a:extLst>
          </p:cNvPr>
          <p:cNvSpPr>
            <a:spLocks noGrp="1"/>
          </p:cNvSpPr>
          <p:nvPr/>
        </p:nvSpPr>
        <p:spPr>
          <a:xfrm>
            <a:off x="3810000" y="424815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构建高精道路、节点与道路衔接关系。</a:t>
            </a:r>
          </a:p>
        </p:txBody>
      </p:sp>
      <p:sp>
        <p:nvSpPr>
          <p:cNvPr id="64" name="p4-03-rule-v04a3">
            <a:extLst>
              <a:ext uri="{FF2B5EF4-FFF2-40B4-BE49-F238E27FC236}">
                <a16:creationId xmlns:a16="http://schemas.microsoft.com/office/drawing/2014/main" id="{6EED5C78-2CD0-4684-8A5D-AEA43B24247C}"/>
              </a:ext>
            </a:extLst>
          </p:cNvPr>
          <p:cNvSpPr>
            <a:spLocks noGrp="1"/>
          </p:cNvSpPr>
          <p:nvPr/>
        </p:nvSpPr>
        <p:spPr>
          <a:xfrm>
            <a:off x="571500" y="4629150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65" name="p4-down-3-v04a3-from">
            <a:extLst>
              <a:ext uri="{FF2B5EF4-FFF2-40B4-BE49-F238E27FC236}">
                <a16:creationId xmlns:a16="http://schemas.microsoft.com/office/drawing/2014/main" id="{DFF21D06-50D4-4CCB-B043-EE0ACC8E8B4D}"/>
              </a:ext>
            </a:extLst>
          </p:cNvPr>
          <p:cNvSpPr>
            <a:spLocks noGrp="1"/>
          </p:cNvSpPr>
          <p:nvPr/>
        </p:nvSpPr>
        <p:spPr>
          <a:xfrm>
            <a:off x="6086475" y="46386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6" name="p4-down-3-v04a3-to">
            <a:extLst>
              <a:ext uri="{FF2B5EF4-FFF2-40B4-BE49-F238E27FC236}">
                <a16:creationId xmlns:a16="http://schemas.microsoft.com/office/drawing/2014/main" id="{0946B7E2-411A-454B-A824-569B217DD649}"/>
              </a:ext>
            </a:extLst>
          </p:cNvPr>
          <p:cNvSpPr>
            <a:spLocks noGrp="1"/>
          </p:cNvSpPr>
          <p:nvPr/>
        </p:nvSpPr>
        <p:spPr>
          <a:xfrm>
            <a:off x="6086475" y="47434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35" name="直接箭头连接符 297"/>
          <p:cNvCxnSpPr>
            <a:stCxn id="65" idx="2"/>
            <a:endCxn id="66" idx="0"/>
          </p:cNvCxnSpPr>
          <p:nvPr/>
        </p:nvCxnSpPr>
        <p:spPr>
          <a:xfrm>
            <a:off x="6096000" y="4657725"/>
            <a:ext cx="0" cy="85725"/>
          </a:xfrm>
          <a:prstGeom prst="straightConnector1">
            <a:avLst/>
          </a:prstGeom>
          <a:ln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68" name="p4-04-accent-v04a3">
            <a:extLst>
              <a:ext uri="{FF2B5EF4-FFF2-40B4-BE49-F238E27FC236}">
                <a16:creationId xmlns:a16="http://schemas.microsoft.com/office/drawing/2014/main" id="{4C06B717-E51E-4312-BEE5-40D966E8EFAF}"/>
              </a:ext>
            </a:extLst>
          </p:cNvPr>
          <p:cNvSpPr>
            <a:spLocks noGrp="1"/>
          </p:cNvSpPr>
          <p:nvPr/>
        </p:nvSpPr>
        <p:spPr>
          <a:xfrm>
            <a:off x="571500" y="4800600"/>
            <a:ext cx="22860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69" name="p4-04-num-v04a3">
            <a:extLst>
              <a:ext uri="{FF2B5EF4-FFF2-40B4-BE49-F238E27FC236}">
                <a16:creationId xmlns:a16="http://schemas.microsoft.com/office/drawing/2014/main" id="{3D8953F2-CCE6-465B-B2C1-1C76BE9C455E}"/>
              </a:ext>
            </a:extLst>
          </p:cNvPr>
          <p:cNvSpPr>
            <a:spLocks noGrp="1"/>
          </p:cNvSpPr>
          <p:nvPr/>
        </p:nvSpPr>
        <p:spPr>
          <a:xfrm>
            <a:off x="571500" y="48387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0" name="p4-04-title-v04a3">
            <a:extLst>
              <a:ext uri="{FF2B5EF4-FFF2-40B4-BE49-F238E27FC236}">
                <a16:creationId xmlns:a16="http://schemas.microsoft.com/office/drawing/2014/main" id="{5A3A0F1F-46BE-40F9-9340-E9EB4B18F6AE}"/>
              </a:ext>
            </a:extLst>
          </p:cNvPr>
          <p:cNvSpPr>
            <a:spLocks noGrp="1"/>
          </p:cNvSpPr>
          <p:nvPr/>
        </p:nvSpPr>
        <p:spPr>
          <a:xfrm>
            <a:off x="1066800" y="48387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目标输出</a:t>
            </a:r>
          </a:p>
        </p:txBody>
      </p:sp>
      <p:sp>
        <p:nvSpPr>
          <p:cNvPr id="71" name="p4-04-body-v04a3">
            <a:extLst>
              <a:ext uri="{FF2B5EF4-FFF2-40B4-BE49-F238E27FC236}">
                <a16:creationId xmlns:a16="http://schemas.microsoft.com/office/drawing/2014/main" id="{4CE72BCE-3FF2-44DF-BE43-37431506D84F}"/>
              </a:ext>
            </a:extLst>
          </p:cNvPr>
          <p:cNvSpPr>
            <a:spLocks noGrp="1"/>
          </p:cNvSpPr>
          <p:nvPr/>
        </p:nvSpPr>
        <p:spPr>
          <a:xfrm>
            <a:off x="3810000" y="48387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并形成 RCSD 路网图候选。</a:t>
            </a:r>
          </a:p>
        </p:txBody>
      </p:sp>
      <p:sp>
        <p:nvSpPr>
          <p:cNvPr id="72" name="p4-04-rule-v04a3">
            <a:extLst>
              <a:ext uri="{FF2B5EF4-FFF2-40B4-BE49-F238E27FC236}">
                <a16:creationId xmlns:a16="http://schemas.microsoft.com/office/drawing/2014/main" id="{969486B2-D260-4392-A56C-08635C610F60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460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age-title">
            <a:extLst>
              <a:ext uri="{FF2B5EF4-FFF2-40B4-BE49-F238E27FC236}">
                <a16:creationId xmlns:a16="http://schemas.microsoft.com/office/drawing/2014/main" id="{054AD369-526F-C05F-AD4A-E5A3DCF84A1F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高德上下车点基于RCSD修正，服务两类接客组织</a:t>
            </a:r>
          </a:p>
        </p:txBody>
      </p:sp>
      <p:sp>
        <p:nvSpPr>
          <p:cNvPr id="44" name="page-subtitle">
            <a:extLst>
              <a:ext uri="{FF2B5EF4-FFF2-40B4-BE49-F238E27FC236}">
                <a16:creationId xmlns:a16="http://schemas.microsoft.com/office/drawing/2014/main" id="{C5EB7030-CAF0-E452-9C5B-3B7088E18915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需求点先完成道路侧、方向和区间校验；不可用时切换附近备选点或同方向同侧候选区间</a:t>
            </a:r>
          </a:p>
        </p:txBody>
      </p:sp>
      <p:sp>
        <p:nvSpPr>
          <p:cNvPr id="45" name="title-divider">
            <a:extLst>
              <a:ext uri="{FF2B5EF4-FFF2-40B4-BE49-F238E27FC236}">
                <a16:creationId xmlns:a16="http://schemas.microsoft.com/office/drawing/2014/main" id="{A56FD4F6-AD4B-40E3-B2B4-584341E080F3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0"/>
          </a:xfrm>
          <a:prstGeom prst="line">
            <a:avLst/>
          </a:prstGeom>
          <a:ln w="952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amap-boundary">
            <a:extLst>
              <a:ext uri="{FF2B5EF4-FFF2-40B4-BE49-F238E27FC236}">
                <a16:creationId xmlns:a16="http://schemas.microsoft.com/office/drawing/2014/main" id="{46C9819A-FED9-B422-BB00-E0AED766E9F0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5334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高德上下车点｜表达现实需求位置，不直接决定静态规则</a:t>
            </a:r>
          </a:p>
        </p:txBody>
      </p:sp>
      <p:sp>
        <p:nvSpPr>
          <p:cNvPr id="47" name="match-boundary">
            <a:extLst>
              <a:ext uri="{FF2B5EF4-FFF2-40B4-BE49-F238E27FC236}">
                <a16:creationId xmlns:a16="http://schemas.microsoft.com/office/drawing/2014/main" id="{FC07DAEB-5E98-FE0A-D1AE-0E29F5591721}"/>
              </a:ext>
            </a:extLst>
          </p:cNvPr>
          <p:cNvSpPr>
            <a:spLocks noGrp="1"/>
          </p:cNvSpPr>
          <p:nvPr/>
        </p:nvSpPr>
        <p:spPr>
          <a:xfrm>
            <a:off x="6096000" y="1243584"/>
            <a:ext cx="5434584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r">
              <a:buNone/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RCSD候选空间匹配｜路口／路段、行驶方向、道路一侧、局部区间</a:t>
            </a:r>
          </a:p>
        </p:txBody>
      </p:sp>
      <p:sp>
        <p:nvSpPr>
          <p:cNvPr id="48" name="road-base">
            <a:extLst>
              <a:ext uri="{FF2B5EF4-FFF2-40B4-BE49-F238E27FC236}">
                <a16:creationId xmlns:a16="http://schemas.microsoft.com/office/drawing/2014/main" id="{EB4503DF-0758-BD67-3E93-16E38137B75E}"/>
              </a:ext>
            </a:extLst>
          </p:cNvPr>
          <p:cNvSpPr>
            <a:spLocks noGrp="1"/>
          </p:cNvSpPr>
          <p:nvPr/>
        </p:nvSpPr>
        <p:spPr>
          <a:xfrm>
            <a:off x="960120" y="1701800"/>
            <a:ext cx="9921240" cy="6096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road-center">
            <a:extLst>
              <a:ext uri="{FF2B5EF4-FFF2-40B4-BE49-F238E27FC236}">
                <a16:creationId xmlns:a16="http://schemas.microsoft.com/office/drawing/2014/main" id="{0C78BA2C-6932-4647-AF01-FEA64423ED90}"/>
              </a:ext>
            </a:extLst>
          </p:cNvPr>
          <p:cNvSpPr>
            <a:spLocks noGrp="1"/>
          </p:cNvSpPr>
          <p:nvPr/>
        </p:nvSpPr>
        <p:spPr>
          <a:xfrm>
            <a:off x="960120" y="2006600"/>
            <a:ext cx="9921240" cy="0"/>
          </a:xfrm>
          <a:prstGeom prst="line">
            <a:avLst/>
          </a:prstGeom>
          <a:ln w="952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left-junction">
            <a:extLst>
              <a:ext uri="{FF2B5EF4-FFF2-40B4-BE49-F238E27FC236}">
                <a16:creationId xmlns:a16="http://schemas.microsoft.com/office/drawing/2014/main" id="{C41CC00B-02DF-B819-305B-BC6F1183A602}"/>
              </a:ext>
            </a:extLst>
          </p:cNvPr>
          <p:cNvSpPr>
            <a:spLocks noGrp="1"/>
          </p:cNvSpPr>
          <p:nvPr/>
        </p:nvSpPr>
        <p:spPr>
          <a:xfrm>
            <a:off x="1447800" y="1524000"/>
            <a:ext cx="406400" cy="9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road-direction-forward">
            <a:extLst>
              <a:ext uri="{FF2B5EF4-FFF2-40B4-BE49-F238E27FC236}">
                <a16:creationId xmlns:a16="http://schemas.microsoft.com/office/drawing/2014/main" id="{CB735F57-EB7D-44A0-9E23-92D38353CB81}"/>
              </a:ext>
            </a:extLst>
          </p:cNvPr>
          <p:cNvSpPr>
            <a:spLocks noGrp="1"/>
          </p:cNvSpPr>
          <p:nvPr/>
        </p:nvSpPr>
        <p:spPr>
          <a:xfrm>
            <a:off x="2057400" y="1917700"/>
            <a:ext cx="8483600" cy="0"/>
          </a:xfrm>
          <a:prstGeom prst="line">
            <a:avLst/>
          </a:prstGeom>
          <a:ln w="15875">
            <a:solidFill>
              <a:srgbClr val="30363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road-direction-reverse">
            <a:extLst>
              <a:ext uri="{FF2B5EF4-FFF2-40B4-BE49-F238E27FC236}">
                <a16:creationId xmlns:a16="http://schemas.microsoft.com/office/drawing/2014/main" id="{456F038C-D92C-4950-96C9-B4AB4C7B5A80}"/>
              </a:ext>
            </a:extLst>
          </p:cNvPr>
          <p:cNvSpPr>
            <a:spLocks noGrp="1"/>
          </p:cNvSpPr>
          <p:nvPr/>
        </p:nvSpPr>
        <p:spPr>
          <a:xfrm flipH="1">
            <a:off x="2159000" y="2209800"/>
            <a:ext cx="8077200" cy="0"/>
          </a:xfrm>
          <a:prstGeom prst="line">
            <a:avLst/>
          </a:prstGeom>
          <a:ln w="15875">
            <a:solidFill>
              <a:srgbClr val="30363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candidate-unavailable">
            <a:extLst>
              <a:ext uri="{FF2B5EF4-FFF2-40B4-BE49-F238E27FC236}">
                <a16:creationId xmlns:a16="http://schemas.microsoft.com/office/drawing/2014/main" id="{F9AF4860-B6AB-54D2-86F9-937CA170A791}"/>
              </a:ext>
            </a:extLst>
          </p:cNvPr>
          <p:cNvSpPr>
            <a:spLocks noGrp="1"/>
          </p:cNvSpPr>
          <p:nvPr/>
        </p:nvSpPr>
        <p:spPr>
          <a:xfrm>
            <a:off x="2603500" y="1739900"/>
            <a:ext cx="609600" cy="165100"/>
          </a:xfrm>
          <a:prstGeom prst="rect">
            <a:avLst/>
          </a:prstGeom>
          <a:solidFill>
            <a:srgbClr val="7D2633"/>
          </a:solidFill>
          <a:ln w="1270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candidate-static">
            <a:extLst>
              <a:ext uri="{FF2B5EF4-FFF2-40B4-BE49-F238E27FC236}">
                <a16:creationId xmlns:a16="http://schemas.microsoft.com/office/drawing/2014/main" id="{15D6975F-47B8-FED5-C264-3699C0F01A1C}"/>
              </a:ext>
            </a:extLst>
          </p:cNvPr>
          <p:cNvSpPr>
            <a:spLocks noGrp="1"/>
          </p:cNvSpPr>
          <p:nvPr/>
        </p:nvSpPr>
        <p:spPr>
          <a:xfrm>
            <a:off x="3213100" y="1739900"/>
            <a:ext cx="5461000" cy="165100"/>
          </a:xfrm>
          <a:prstGeom prst="rect">
            <a:avLst/>
          </a:prstGeom>
          <a:solidFill>
            <a:srgbClr val="FFFFFF"/>
          </a:solidFill>
          <a:ln w="15875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original-point">
            <a:extLst>
              <a:ext uri="{FF2B5EF4-FFF2-40B4-BE49-F238E27FC236}">
                <a16:creationId xmlns:a16="http://schemas.microsoft.com/office/drawing/2014/main" id="{1B350A27-7181-057E-D0AF-6FBE78002F26}"/>
              </a:ext>
            </a:extLst>
          </p:cNvPr>
          <p:cNvSpPr>
            <a:spLocks noGrp="1"/>
          </p:cNvSpPr>
          <p:nvPr/>
        </p:nvSpPr>
        <p:spPr>
          <a:xfrm>
            <a:off x="2679700" y="1422400"/>
            <a:ext cx="254000" cy="2540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original-point-stem">
            <a:extLst>
              <a:ext uri="{FF2B5EF4-FFF2-40B4-BE49-F238E27FC236}">
                <a16:creationId xmlns:a16="http://schemas.microsoft.com/office/drawing/2014/main" id="{6D07FD2D-599D-4374-ADC3-2BF39AC2B2B2}"/>
              </a:ext>
            </a:extLst>
          </p:cNvPr>
          <p:cNvSpPr>
            <a:spLocks noGrp="1"/>
          </p:cNvSpPr>
          <p:nvPr/>
        </p:nvSpPr>
        <p:spPr>
          <a:xfrm>
            <a:off x="2806700" y="1676400"/>
            <a:ext cx="0" cy="63500"/>
          </a:xfrm>
          <a:prstGeom prst="line">
            <a:avLst/>
          </a:prstGeom>
          <a:ln w="17780">
            <a:solidFill>
              <a:srgbClr val="7D263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retained-point">
            <a:extLst>
              <a:ext uri="{FF2B5EF4-FFF2-40B4-BE49-F238E27FC236}">
                <a16:creationId xmlns:a16="http://schemas.microsoft.com/office/drawing/2014/main" id="{A7419D50-9FD6-70B2-42D1-DF9B3E09E68A}"/>
              </a:ext>
            </a:extLst>
          </p:cNvPr>
          <p:cNvSpPr>
            <a:spLocks noGrp="1"/>
          </p:cNvSpPr>
          <p:nvPr/>
        </p:nvSpPr>
        <p:spPr>
          <a:xfrm>
            <a:off x="5118100" y="1460500"/>
            <a:ext cx="177800" cy="1778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retained-point-stem">
            <a:extLst>
              <a:ext uri="{FF2B5EF4-FFF2-40B4-BE49-F238E27FC236}">
                <a16:creationId xmlns:a16="http://schemas.microsoft.com/office/drawing/2014/main" id="{66B2EAE5-5FC6-4F33-AB3E-C4386EB66643}"/>
              </a:ext>
            </a:extLst>
          </p:cNvPr>
          <p:cNvSpPr>
            <a:spLocks noGrp="1"/>
          </p:cNvSpPr>
          <p:nvPr/>
        </p:nvSpPr>
        <p:spPr>
          <a:xfrm>
            <a:off x="5207000" y="1638300"/>
            <a:ext cx="0" cy="101600"/>
          </a:xfrm>
          <a:prstGeom prst="line">
            <a:avLst/>
          </a:prstGeom>
          <a:ln w="15240">
            <a:solidFill>
              <a:srgbClr val="7D263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retained-point-label">
            <a:extLst>
              <a:ext uri="{FF2B5EF4-FFF2-40B4-BE49-F238E27FC236}">
                <a16:creationId xmlns:a16="http://schemas.microsoft.com/office/drawing/2014/main" id="{B6935B75-1F93-CEE7-589C-DA1B0DF953C9}"/>
              </a:ext>
            </a:extLst>
          </p:cNvPr>
          <p:cNvSpPr>
            <a:spLocks noGrp="1"/>
          </p:cNvSpPr>
          <p:nvPr/>
        </p:nvSpPr>
        <p:spPr>
          <a:xfrm>
            <a:off x="4635500" y="1358900"/>
            <a:ext cx="1143000" cy="2032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保留／微调</a:t>
            </a:r>
          </a:p>
        </p:txBody>
      </p:sp>
      <p:sp>
        <p:nvSpPr>
          <p:cNvPr id="60" name="hit-candidate-arrow">
            <a:extLst>
              <a:ext uri="{FF2B5EF4-FFF2-40B4-BE49-F238E27FC236}">
                <a16:creationId xmlns:a16="http://schemas.microsoft.com/office/drawing/2014/main" id="{827C7B93-43D8-49FF-B9A8-1B6AB75422EE}"/>
              </a:ext>
            </a:extLst>
          </p:cNvPr>
          <p:cNvSpPr>
            <a:spLocks noGrp="1"/>
          </p:cNvSpPr>
          <p:nvPr/>
        </p:nvSpPr>
        <p:spPr>
          <a:xfrm>
            <a:off x="2946400" y="1549400"/>
            <a:ext cx="2095500" cy="0"/>
          </a:xfrm>
          <a:prstGeom prst="line">
            <a:avLst/>
          </a:prstGeom>
          <a:ln w="19050">
            <a:solidFill>
              <a:srgbClr val="7D2633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branch-origin">
            <a:extLst>
              <a:ext uri="{FF2B5EF4-FFF2-40B4-BE49-F238E27FC236}">
                <a16:creationId xmlns:a16="http://schemas.microsoft.com/office/drawing/2014/main" id="{D15BF96D-2802-45C6-B532-9B029C176C06}"/>
              </a:ext>
            </a:extLst>
          </p:cNvPr>
          <p:cNvSpPr>
            <a:spLocks noGrp="1"/>
          </p:cNvSpPr>
          <p:nvPr/>
        </p:nvSpPr>
        <p:spPr>
          <a:xfrm>
            <a:off x="2806700" y="2311400"/>
            <a:ext cx="0" cy="596900"/>
          </a:xfrm>
          <a:prstGeom prst="line">
            <a:avLst/>
          </a:prstGeom>
          <a:ln w="1587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branch-nearby-line">
            <a:extLst>
              <a:ext uri="{FF2B5EF4-FFF2-40B4-BE49-F238E27FC236}">
                <a16:creationId xmlns:a16="http://schemas.microsoft.com/office/drawing/2014/main" id="{3303DA39-5223-4B96-A291-074A64B0CD03}"/>
              </a:ext>
            </a:extLst>
          </p:cNvPr>
          <p:cNvSpPr>
            <a:spLocks noGrp="1"/>
          </p:cNvSpPr>
          <p:nvPr/>
        </p:nvSpPr>
        <p:spPr>
          <a:xfrm>
            <a:off x="2806700" y="2565400"/>
            <a:ext cx="5219700" cy="0"/>
          </a:xfrm>
          <a:prstGeom prst="line">
            <a:avLst/>
          </a:prstGeom>
          <a:ln w="15875">
            <a:solidFill>
              <a:srgbClr val="30363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branch-nearby-node">
            <a:extLst>
              <a:ext uri="{FF2B5EF4-FFF2-40B4-BE49-F238E27FC236}">
                <a16:creationId xmlns:a16="http://schemas.microsoft.com/office/drawing/2014/main" id="{3468965A-3E6A-6302-F052-F48CA1FFD98B}"/>
              </a:ext>
            </a:extLst>
          </p:cNvPr>
          <p:cNvSpPr>
            <a:spLocks noGrp="1"/>
          </p:cNvSpPr>
          <p:nvPr/>
        </p:nvSpPr>
        <p:spPr>
          <a:xfrm>
            <a:off x="3632200" y="2514600"/>
            <a:ext cx="101600" cy="101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branch-nearby-text">
            <a:extLst>
              <a:ext uri="{FF2B5EF4-FFF2-40B4-BE49-F238E27FC236}">
                <a16:creationId xmlns:a16="http://schemas.microsoft.com/office/drawing/2014/main" id="{B86B92D3-F2D6-6CAA-5F28-A2130ADD9619}"/>
              </a:ext>
            </a:extLst>
          </p:cNvPr>
          <p:cNvSpPr>
            <a:spLocks noGrp="1"/>
          </p:cNvSpPr>
          <p:nvPr/>
        </p:nvSpPr>
        <p:spPr>
          <a:xfrm>
            <a:off x="3860800" y="2413000"/>
            <a:ext cx="3429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不可用：优先使用附近高德备选点</a:t>
            </a:r>
          </a:p>
        </p:txBody>
      </p:sp>
      <p:sp>
        <p:nvSpPr>
          <p:cNvPr id="65" name="branch-sameside-line">
            <a:extLst>
              <a:ext uri="{FF2B5EF4-FFF2-40B4-BE49-F238E27FC236}">
                <a16:creationId xmlns:a16="http://schemas.microsoft.com/office/drawing/2014/main" id="{764B78CD-F53F-4ED5-B8D9-84975A69BBAE}"/>
              </a:ext>
            </a:extLst>
          </p:cNvPr>
          <p:cNvSpPr>
            <a:spLocks noGrp="1"/>
          </p:cNvSpPr>
          <p:nvPr/>
        </p:nvSpPr>
        <p:spPr>
          <a:xfrm>
            <a:off x="2806700" y="2908300"/>
            <a:ext cx="5219700" cy="0"/>
          </a:xfrm>
          <a:prstGeom prst="line">
            <a:avLst/>
          </a:prstGeom>
          <a:ln w="15875">
            <a:solidFill>
              <a:srgbClr val="7D2633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branch-sameside-node">
            <a:extLst>
              <a:ext uri="{FF2B5EF4-FFF2-40B4-BE49-F238E27FC236}">
                <a16:creationId xmlns:a16="http://schemas.microsoft.com/office/drawing/2014/main" id="{17147947-DFFA-AAB8-68AE-732622E436E9}"/>
              </a:ext>
            </a:extLst>
          </p:cNvPr>
          <p:cNvSpPr>
            <a:spLocks noGrp="1"/>
          </p:cNvSpPr>
          <p:nvPr/>
        </p:nvSpPr>
        <p:spPr>
          <a:xfrm>
            <a:off x="3632200" y="2857500"/>
            <a:ext cx="101600" cy="101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branch-sameside-text">
            <a:extLst>
              <a:ext uri="{FF2B5EF4-FFF2-40B4-BE49-F238E27FC236}">
                <a16:creationId xmlns:a16="http://schemas.microsoft.com/office/drawing/2014/main" id="{657004A7-3167-4452-1835-D79822B6D27A}"/>
              </a:ext>
            </a:extLst>
          </p:cNvPr>
          <p:cNvSpPr>
            <a:spLocks noGrp="1"/>
          </p:cNvSpPr>
          <p:nvPr/>
        </p:nvSpPr>
        <p:spPr>
          <a:xfrm>
            <a:off x="3860800" y="2755900"/>
            <a:ext cx="4191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无附近备选：RCSD返回同方向同侧静态候选区间</a:t>
            </a:r>
          </a:p>
        </p:txBody>
      </p:sp>
      <p:sp>
        <p:nvSpPr>
          <p:cNvPr id="68" name="recheck-trunk">
            <a:extLst>
              <a:ext uri="{FF2B5EF4-FFF2-40B4-BE49-F238E27FC236}">
                <a16:creationId xmlns:a16="http://schemas.microsoft.com/office/drawing/2014/main" id="{FDE8C6A7-1F40-496C-84AE-1AE7BAE64FD3}"/>
              </a:ext>
            </a:extLst>
          </p:cNvPr>
          <p:cNvSpPr>
            <a:spLocks noGrp="1"/>
          </p:cNvSpPr>
          <p:nvPr/>
        </p:nvSpPr>
        <p:spPr>
          <a:xfrm>
            <a:off x="8255000" y="2565400"/>
            <a:ext cx="0" cy="342900"/>
          </a:xfrm>
          <a:prstGeom prst="line">
            <a:avLst/>
          </a:prstGeom>
          <a:ln w="15875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recheck-output-arrow">
            <a:extLst>
              <a:ext uri="{FF2B5EF4-FFF2-40B4-BE49-F238E27FC236}">
                <a16:creationId xmlns:a16="http://schemas.microsoft.com/office/drawing/2014/main" id="{1CF23666-C59C-4D35-B8B6-4683BEF0F7B1}"/>
              </a:ext>
            </a:extLst>
          </p:cNvPr>
          <p:cNvSpPr>
            <a:spLocks noGrp="1"/>
          </p:cNvSpPr>
          <p:nvPr/>
        </p:nvSpPr>
        <p:spPr>
          <a:xfrm>
            <a:off x="8255000" y="2743200"/>
            <a:ext cx="1371600" cy="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recheck-text">
            <a:extLst>
              <a:ext uri="{FF2B5EF4-FFF2-40B4-BE49-F238E27FC236}">
                <a16:creationId xmlns:a16="http://schemas.microsoft.com/office/drawing/2014/main" id="{5A248A9A-9CE0-3AC7-9D62-4DAE8F073E59}"/>
              </a:ext>
            </a:extLst>
          </p:cNvPr>
          <p:cNvSpPr>
            <a:spLocks noGrp="1"/>
          </p:cNvSpPr>
          <p:nvPr/>
        </p:nvSpPr>
        <p:spPr>
          <a:xfrm>
            <a:off x="8280400" y="2362200"/>
            <a:ext cx="2159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重新进行RCSD校验</a:t>
            </a:r>
          </a:p>
        </p:txBody>
      </p:sp>
      <p:sp>
        <p:nvSpPr>
          <p:cNvPr id="71" name="output-pickup">
            <a:extLst>
              <a:ext uri="{FF2B5EF4-FFF2-40B4-BE49-F238E27FC236}">
                <a16:creationId xmlns:a16="http://schemas.microsoft.com/office/drawing/2014/main" id="{534126CD-7E8C-3F93-9917-D8B55D5F109E}"/>
              </a:ext>
            </a:extLst>
          </p:cNvPr>
          <p:cNvSpPr>
            <a:spLocks noGrp="1"/>
          </p:cNvSpPr>
          <p:nvPr/>
        </p:nvSpPr>
        <p:spPr>
          <a:xfrm>
            <a:off x="9626600" y="2514600"/>
            <a:ext cx="1905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r">
              <a:buNone/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修正后的上车点</a:t>
            </a:r>
          </a:p>
        </p:txBody>
      </p:sp>
      <p:sp>
        <p:nvSpPr>
          <p:cNvPr id="72" name="output-waiting">
            <a:extLst>
              <a:ext uri="{FF2B5EF4-FFF2-40B4-BE49-F238E27FC236}">
                <a16:creationId xmlns:a16="http://schemas.microsoft.com/office/drawing/2014/main" id="{33C989D5-C0D7-344B-0FE9-CB561A23738C}"/>
              </a:ext>
            </a:extLst>
          </p:cNvPr>
          <p:cNvSpPr>
            <a:spLocks noGrp="1"/>
          </p:cNvSpPr>
          <p:nvPr/>
        </p:nvSpPr>
        <p:spPr>
          <a:xfrm>
            <a:off x="9626600" y="2819400"/>
            <a:ext cx="1905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r">
              <a:buNone/>
            </a:pPr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候车范围／停车位</a:t>
            </a:r>
          </a:p>
        </p:txBody>
      </p:sp>
      <p:sp>
        <p:nvSpPr>
          <p:cNvPr id="73" name="no-candidate-note">
            <a:extLst>
              <a:ext uri="{FF2B5EF4-FFF2-40B4-BE49-F238E27FC236}">
                <a16:creationId xmlns:a16="http://schemas.microsoft.com/office/drawing/2014/main" id="{640E0F2B-2F00-F0D2-7A00-A5084C56289C}"/>
              </a:ext>
            </a:extLst>
          </p:cNvPr>
          <p:cNvSpPr>
            <a:spLocks noGrp="1"/>
          </p:cNvSpPr>
          <p:nvPr/>
        </p:nvSpPr>
        <p:spPr>
          <a:xfrm>
            <a:off x="658368" y="3162300"/>
            <a:ext cx="5080000" cy="2159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2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仍无合适候选：提示用户重新选点</a:t>
            </a:r>
          </a:p>
        </p:txBody>
      </p:sp>
      <p:sp>
        <p:nvSpPr>
          <p:cNvPr id="74" name="upper-lower-divider">
            <a:extLst>
              <a:ext uri="{FF2B5EF4-FFF2-40B4-BE49-F238E27FC236}">
                <a16:creationId xmlns:a16="http://schemas.microsoft.com/office/drawing/2014/main" id="{DBE796EC-DD31-41F2-9354-D373CC0C087A}"/>
              </a:ext>
            </a:extLst>
          </p:cNvPr>
          <p:cNvSpPr>
            <a:spLocks noGrp="1"/>
          </p:cNvSpPr>
          <p:nvPr/>
        </p:nvSpPr>
        <p:spPr>
          <a:xfrm>
            <a:off x="658368" y="3492500"/>
            <a:ext cx="10872216" cy="0"/>
          </a:xfrm>
          <a:prstGeom prst="line">
            <a:avLst/>
          </a:prstGeom>
          <a:ln w="952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pickup-column-divider">
            <a:extLst>
              <a:ext uri="{FF2B5EF4-FFF2-40B4-BE49-F238E27FC236}">
                <a16:creationId xmlns:a16="http://schemas.microsoft.com/office/drawing/2014/main" id="{82772699-65D6-4E79-890C-020C826AB1C4}"/>
              </a:ext>
            </a:extLst>
          </p:cNvPr>
          <p:cNvSpPr>
            <a:spLocks noGrp="1"/>
          </p:cNvSpPr>
          <p:nvPr/>
        </p:nvSpPr>
        <p:spPr>
          <a:xfrm>
            <a:off x="6096000" y="3670300"/>
            <a:ext cx="0" cy="2146300"/>
          </a:xfrm>
          <a:prstGeom prst="line">
            <a:avLst/>
          </a:prstGeom>
          <a:ln w="952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ordinary-title">
            <a:extLst>
              <a:ext uri="{FF2B5EF4-FFF2-40B4-BE49-F238E27FC236}">
                <a16:creationId xmlns:a16="http://schemas.microsoft.com/office/drawing/2014/main" id="{2A25467B-58E3-B087-C6C5-58A3E79E43D3}"/>
              </a:ext>
            </a:extLst>
          </p:cNvPr>
          <p:cNvSpPr>
            <a:spLocks noGrp="1"/>
          </p:cNvSpPr>
          <p:nvPr/>
        </p:nvSpPr>
        <p:spPr>
          <a:xfrm>
            <a:off x="749808" y="3708400"/>
            <a:ext cx="5189220" cy="3048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普通道路上车</a:t>
            </a:r>
          </a:p>
        </p:txBody>
      </p:sp>
      <p:sp>
        <p:nvSpPr>
          <p:cNvPr id="77" name="ordinary-passenger-role">
            <a:extLst>
              <a:ext uri="{FF2B5EF4-FFF2-40B4-BE49-F238E27FC236}">
                <a16:creationId xmlns:a16="http://schemas.microsoft.com/office/drawing/2014/main" id="{1C5BA6B7-8040-0B77-62FE-AC6A35EFECD3}"/>
              </a:ext>
            </a:extLst>
          </p:cNvPr>
          <p:cNvSpPr>
            <a:spLocks noGrp="1"/>
          </p:cNvSpPr>
          <p:nvPr/>
        </p:nvSpPr>
        <p:spPr>
          <a:xfrm>
            <a:off x="749808" y="4140200"/>
            <a:ext cx="5334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乘客</a:t>
            </a:r>
          </a:p>
        </p:txBody>
      </p:sp>
      <p:sp>
        <p:nvSpPr>
          <p:cNvPr id="78" name="ordinary-passenger-text">
            <a:extLst>
              <a:ext uri="{FF2B5EF4-FFF2-40B4-BE49-F238E27FC236}">
                <a16:creationId xmlns:a16="http://schemas.microsoft.com/office/drawing/2014/main" id="{02F90B8E-D88A-DBB9-5A1D-35E1F695CA33}"/>
              </a:ext>
            </a:extLst>
          </p:cNvPr>
          <p:cNvSpPr>
            <a:spLocks noGrp="1"/>
          </p:cNvSpPr>
          <p:nvPr/>
        </p:nvSpPr>
        <p:spPr>
          <a:xfrm>
            <a:off x="1410208" y="4140200"/>
            <a:ext cx="397002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选择上车点 → 步行到点并等待车辆</a:t>
            </a:r>
          </a:p>
        </p:txBody>
      </p:sp>
      <p:sp>
        <p:nvSpPr>
          <p:cNvPr id="79" name="ordinary-passenger-start">
            <a:extLst>
              <a:ext uri="{FF2B5EF4-FFF2-40B4-BE49-F238E27FC236}">
                <a16:creationId xmlns:a16="http://schemas.microsoft.com/office/drawing/2014/main" id="{FAFD8110-A023-2484-80FB-4009A14181FE}"/>
              </a:ext>
            </a:extLst>
          </p:cNvPr>
          <p:cNvSpPr>
            <a:spLocks noGrp="1"/>
          </p:cNvSpPr>
          <p:nvPr/>
        </p:nvSpPr>
        <p:spPr>
          <a:xfrm>
            <a:off x="1372108" y="44323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" name="ordinary-passenger-track">
            <a:extLst>
              <a:ext uri="{FF2B5EF4-FFF2-40B4-BE49-F238E27FC236}">
                <a16:creationId xmlns:a16="http://schemas.microsoft.com/office/drawing/2014/main" id="{1CCB2AFD-98B5-416A-8150-8399010693C1}"/>
              </a:ext>
            </a:extLst>
          </p:cNvPr>
          <p:cNvSpPr>
            <a:spLocks noGrp="1"/>
          </p:cNvSpPr>
          <p:nvPr/>
        </p:nvSpPr>
        <p:spPr>
          <a:xfrm>
            <a:off x="1448308" y="4470400"/>
            <a:ext cx="4033520" cy="0"/>
          </a:xfrm>
          <a:prstGeom prst="line">
            <a:avLst/>
          </a:prstGeom>
          <a:ln w="19050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ordinary-vehicle-role">
            <a:extLst>
              <a:ext uri="{FF2B5EF4-FFF2-40B4-BE49-F238E27FC236}">
                <a16:creationId xmlns:a16="http://schemas.microsoft.com/office/drawing/2014/main" id="{99823C4D-6DEE-F235-0CDB-3BB1FEDD042F}"/>
              </a:ext>
            </a:extLst>
          </p:cNvPr>
          <p:cNvSpPr>
            <a:spLocks noGrp="1"/>
          </p:cNvSpPr>
          <p:nvPr/>
        </p:nvSpPr>
        <p:spPr>
          <a:xfrm>
            <a:off x="749808" y="4597400"/>
            <a:ext cx="5334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车辆</a:t>
            </a:r>
          </a:p>
        </p:txBody>
      </p:sp>
      <p:sp>
        <p:nvSpPr>
          <p:cNvPr id="82" name="ordinary-vehicle-text">
            <a:extLst>
              <a:ext uri="{FF2B5EF4-FFF2-40B4-BE49-F238E27FC236}">
                <a16:creationId xmlns:a16="http://schemas.microsoft.com/office/drawing/2014/main" id="{A5E60C41-4990-A482-8296-E31CDA72DF13}"/>
              </a:ext>
            </a:extLst>
          </p:cNvPr>
          <p:cNvSpPr>
            <a:spLocks noGrp="1"/>
          </p:cNvSpPr>
          <p:nvPr/>
        </p:nvSpPr>
        <p:spPr>
          <a:xfrm>
            <a:off x="1410208" y="4597400"/>
            <a:ext cx="3970020" cy="431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进入候车范围／等待位置 →
乘客到位后前往上车点</a:t>
            </a:r>
          </a:p>
        </p:txBody>
      </p:sp>
      <p:sp>
        <p:nvSpPr>
          <p:cNvPr id="83" name="ordinary-vehicle-start">
            <a:extLst>
              <a:ext uri="{FF2B5EF4-FFF2-40B4-BE49-F238E27FC236}">
                <a16:creationId xmlns:a16="http://schemas.microsoft.com/office/drawing/2014/main" id="{B04DB784-4F1B-8D70-D34B-F4D9BD8908B2}"/>
              </a:ext>
            </a:extLst>
          </p:cNvPr>
          <p:cNvSpPr>
            <a:spLocks noGrp="1"/>
          </p:cNvSpPr>
          <p:nvPr/>
        </p:nvSpPr>
        <p:spPr>
          <a:xfrm>
            <a:off x="1372108" y="50673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4" name="ordinary-vehicle-track">
            <a:extLst>
              <a:ext uri="{FF2B5EF4-FFF2-40B4-BE49-F238E27FC236}">
                <a16:creationId xmlns:a16="http://schemas.microsoft.com/office/drawing/2014/main" id="{84937349-4722-48C3-8CC6-E2B2941BA0AC}"/>
              </a:ext>
            </a:extLst>
          </p:cNvPr>
          <p:cNvSpPr>
            <a:spLocks noGrp="1"/>
          </p:cNvSpPr>
          <p:nvPr/>
        </p:nvSpPr>
        <p:spPr>
          <a:xfrm>
            <a:off x="1448308" y="5105400"/>
            <a:ext cx="4033520" cy="0"/>
          </a:xfrm>
          <a:prstGeom prst="line">
            <a:avLst/>
          </a:prstGeom>
          <a:ln w="19050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ordinary-merge-top">
            <a:extLst>
              <a:ext uri="{FF2B5EF4-FFF2-40B4-BE49-F238E27FC236}">
                <a16:creationId xmlns:a16="http://schemas.microsoft.com/office/drawing/2014/main" id="{15389012-9FCE-4892-BFDC-FA1315EB426B}"/>
              </a:ext>
            </a:extLst>
          </p:cNvPr>
          <p:cNvSpPr>
            <a:spLocks noGrp="1"/>
          </p:cNvSpPr>
          <p:nvPr/>
        </p:nvSpPr>
        <p:spPr>
          <a:xfrm>
            <a:off x="5481828" y="4470400"/>
            <a:ext cx="0" cy="31750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ordinary-merge-bottom">
            <a:extLst>
              <a:ext uri="{FF2B5EF4-FFF2-40B4-BE49-F238E27FC236}">
                <a16:creationId xmlns:a16="http://schemas.microsoft.com/office/drawing/2014/main" id="{A95D0FB0-A6D9-4BD8-97DC-ACAD87C33609}"/>
              </a:ext>
            </a:extLst>
          </p:cNvPr>
          <p:cNvSpPr>
            <a:spLocks noGrp="1"/>
          </p:cNvSpPr>
          <p:nvPr/>
        </p:nvSpPr>
        <p:spPr>
          <a:xfrm>
            <a:off x="5481828" y="4787900"/>
            <a:ext cx="0" cy="31750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ordinary-merge-link">
            <a:extLst>
              <a:ext uri="{FF2B5EF4-FFF2-40B4-BE49-F238E27FC236}">
                <a16:creationId xmlns:a16="http://schemas.microsoft.com/office/drawing/2014/main" id="{05009C0B-F953-4A49-A745-74FFE15BECC7}"/>
              </a:ext>
            </a:extLst>
          </p:cNvPr>
          <p:cNvSpPr>
            <a:spLocks noGrp="1"/>
          </p:cNvSpPr>
          <p:nvPr/>
        </p:nvSpPr>
        <p:spPr>
          <a:xfrm>
            <a:off x="5481828" y="4787900"/>
            <a:ext cx="152400" cy="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ordinary-pickup-node">
            <a:extLst>
              <a:ext uri="{FF2B5EF4-FFF2-40B4-BE49-F238E27FC236}">
                <a16:creationId xmlns:a16="http://schemas.microsoft.com/office/drawing/2014/main" id="{04B8D7F4-AAA6-396F-C479-84C6284ABFC3}"/>
              </a:ext>
            </a:extLst>
          </p:cNvPr>
          <p:cNvSpPr>
            <a:spLocks noGrp="1"/>
          </p:cNvSpPr>
          <p:nvPr/>
        </p:nvSpPr>
        <p:spPr>
          <a:xfrm>
            <a:off x="5634228" y="4711700"/>
            <a:ext cx="152400" cy="152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9" name="ordinary-pickup-text">
            <a:extLst>
              <a:ext uri="{FF2B5EF4-FFF2-40B4-BE49-F238E27FC236}">
                <a16:creationId xmlns:a16="http://schemas.microsoft.com/office/drawing/2014/main" id="{821CF378-4EE6-AB09-82C1-29668EB53044}"/>
              </a:ext>
            </a:extLst>
          </p:cNvPr>
          <p:cNvSpPr>
            <a:spLocks noGrp="1"/>
          </p:cNvSpPr>
          <p:nvPr/>
        </p:nvSpPr>
        <p:spPr>
          <a:xfrm>
            <a:off x="4313428" y="5207000"/>
            <a:ext cx="1397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r">
              <a:buNone/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接上乘客</a:t>
            </a:r>
          </a:p>
        </p:txBody>
      </p:sp>
      <p:sp>
        <p:nvSpPr>
          <p:cNvPr id="90" name="ordinary-conclusion-accent">
            <a:extLst>
              <a:ext uri="{FF2B5EF4-FFF2-40B4-BE49-F238E27FC236}">
                <a16:creationId xmlns:a16="http://schemas.microsoft.com/office/drawing/2014/main" id="{D554F735-5474-46BD-AC50-4C790002BDFE}"/>
              </a:ext>
            </a:extLst>
          </p:cNvPr>
          <p:cNvSpPr>
            <a:spLocks noGrp="1"/>
          </p:cNvSpPr>
          <p:nvPr/>
        </p:nvSpPr>
        <p:spPr>
          <a:xfrm>
            <a:off x="749808" y="5702300"/>
            <a:ext cx="304800" cy="0"/>
          </a:xfrm>
          <a:prstGeom prst="line">
            <a:avLst/>
          </a:prstGeom>
          <a:ln w="25400">
            <a:solidFill>
              <a:srgbClr val="7D263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ordinary-conclusion">
            <a:extLst>
              <a:ext uri="{FF2B5EF4-FFF2-40B4-BE49-F238E27FC236}">
                <a16:creationId xmlns:a16="http://schemas.microsoft.com/office/drawing/2014/main" id="{6F10DF3A-B2CE-AAFB-8DC2-F9DA7627FBF3}"/>
              </a:ext>
            </a:extLst>
          </p:cNvPr>
          <p:cNvSpPr>
            <a:spLocks noGrp="1"/>
          </p:cNvSpPr>
          <p:nvPr/>
        </p:nvSpPr>
        <p:spPr>
          <a:xfrm>
            <a:off x="1156208" y="5588000"/>
            <a:ext cx="4782820" cy="2286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2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等待与上车位置分离</a:t>
            </a:r>
          </a:p>
        </p:txBody>
      </p:sp>
      <p:sp>
        <p:nvSpPr>
          <p:cNvPr id="92" name="hub-title">
            <a:extLst>
              <a:ext uri="{FF2B5EF4-FFF2-40B4-BE49-F238E27FC236}">
                <a16:creationId xmlns:a16="http://schemas.microsoft.com/office/drawing/2014/main" id="{68255B01-C85D-3BED-5083-EFAEC587D25C}"/>
              </a:ext>
            </a:extLst>
          </p:cNvPr>
          <p:cNvSpPr>
            <a:spLocks noGrp="1"/>
          </p:cNvSpPr>
          <p:nvPr/>
        </p:nvSpPr>
        <p:spPr>
          <a:xfrm>
            <a:off x="6249924" y="3708400"/>
            <a:ext cx="5189220" cy="3048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交通枢纽上车</a:t>
            </a:r>
          </a:p>
        </p:txBody>
      </p:sp>
      <p:sp>
        <p:nvSpPr>
          <p:cNvPr id="93" name="hub-passenger-role">
            <a:extLst>
              <a:ext uri="{FF2B5EF4-FFF2-40B4-BE49-F238E27FC236}">
                <a16:creationId xmlns:a16="http://schemas.microsoft.com/office/drawing/2014/main" id="{E246EF3E-8CB4-CF14-BA9E-FA9EEDF37244}"/>
              </a:ext>
            </a:extLst>
          </p:cNvPr>
          <p:cNvSpPr>
            <a:spLocks noGrp="1"/>
          </p:cNvSpPr>
          <p:nvPr/>
        </p:nvSpPr>
        <p:spPr>
          <a:xfrm>
            <a:off x="6249924" y="4140200"/>
            <a:ext cx="5334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乘客</a:t>
            </a:r>
          </a:p>
        </p:txBody>
      </p:sp>
      <p:sp>
        <p:nvSpPr>
          <p:cNvPr id="94" name="hub-passenger-text">
            <a:extLst>
              <a:ext uri="{FF2B5EF4-FFF2-40B4-BE49-F238E27FC236}">
                <a16:creationId xmlns:a16="http://schemas.microsoft.com/office/drawing/2014/main" id="{17F1B496-0D18-743E-15CF-381FDC3A2D77}"/>
              </a:ext>
            </a:extLst>
          </p:cNvPr>
          <p:cNvSpPr>
            <a:spLocks noGrp="1"/>
          </p:cNvSpPr>
          <p:nvPr/>
        </p:nvSpPr>
        <p:spPr>
          <a:xfrm>
            <a:off x="6910324" y="4140200"/>
            <a:ext cx="397002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到达枢纽集合点 → 在上客区等待／步行找车</a:t>
            </a:r>
          </a:p>
        </p:txBody>
      </p:sp>
      <p:sp>
        <p:nvSpPr>
          <p:cNvPr id="95" name="hub-passenger-start">
            <a:extLst>
              <a:ext uri="{FF2B5EF4-FFF2-40B4-BE49-F238E27FC236}">
                <a16:creationId xmlns:a16="http://schemas.microsoft.com/office/drawing/2014/main" id="{6736FADF-70DC-629F-4EEF-0397D572B9AE}"/>
              </a:ext>
            </a:extLst>
          </p:cNvPr>
          <p:cNvSpPr>
            <a:spLocks noGrp="1"/>
          </p:cNvSpPr>
          <p:nvPr/>
        </p:nvSpPr>
        <p:spPr>
          <a:xfrm>
            <a:off x="6872224" y="44323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6" name="hub-passenger-track">
            <a:extLst>
              <a:ext uri="{FF2B5EF4-FFF2-40B4-BE49-F238E27FC236}">
                <a16:creationId xmlns:a16="http://schemas.microsoft.com/office/drawing/2014/main" id="{42445700-F92C-4B39-B66E-0E0941ACB07B}"/>
              </a:ext>
            </a:extLst>
          </p:cNvPr>
          <p:cNvSpPr>
            <a:spLocks noGrp="1"/>
          </p:cNvSpPr>
          <p:nvPr/>
        </p:nvSpPr>
        <p:spPr>
          <a:xfrm>
            <a:off x="6948424" y="4470400"/>
            <a:ext cx="4033520" cy="0"/>
          </a:xfrm>
          <a:prstGeom prst="line">
            <a:avLst/>
          </a:prstGeom>
          <a:ln w="19050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hub-vehicle-role">
            <a:extLst>
              <a:ext uri="{FF2B5EF4-FFF2-40B4-BE49-F238E27FC236}">
                <a16:creationId xmlns:a16="http://schemas.microsoft.com/office/drawing/2014/main" id="{2A164087-7DBB-1D53-EA4A-82A448565569}"/>
              </a:ext>
            </a:extLst>
          </p:cNvPr>
          <p:cNvSpPr>
            <a:spLocks noGrp="1"/>
          </p:cNvSpPr>
          <p:nvPr/>
        </p:nvSpPr>
        <p:spPr>
          <a:xfrm>
            <a:off x="6249924" y="4597400"/>
            <a:ext cx="5334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车辆</a:t>
            </a:r>
          </a:p>
        </p:txBody>
      </p:sp>
      <p:sp>
        <p:nvSpPr>
          <p:cNvPr id="98" name="hub-vehicle-text">
            <a:extLst>
              <a:ext uri="{FF2B5EF4-FFF2-40B4-BE49-F238E27FC236}">
                <a16:creationId xmlns:a16="http://schemas.microsoft.com/office/drawing/2014/main" id="{FE84888F-5981-3220-E478-07F55514784D}"/>
              </a:ext>
            </a:extLst>
          </p:cNvPr>
          <p:cNvSpPr>
            <a:spLocks noGrp="1"/>
          </p:cNvSpPr>
          <p:nvPr/>
        </p:nvSpPr>
        <p:spPr>
          <a:xfrm>
            <a:off x="6910324" y="4597400"/>
            <a:ext cx="3970020" cy="431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进入停车位／候车区 → 响应召唤，
前往上客区／原地等候</a:t>
            </a:r>
          </a:p>
        </p:txBody>
      </p:sp>
      <p:sp>
        <p:nvSpPr>
          <p:cNvPr id="99" name="hub-vehicle-start">
            <a:extLst>
              <a:ext uri="{FF2B5EF4-FFF2-40B4-BE49-F238E27FC236}">
                <a16:creationId xmlns:a16="http://schemas.microsoft.com/office/drawing/2014/main" id="{98A6C2A8-3891-5A9C-B0CE-90122CABA10F}"/>
              </a:ext>
            </a:extLst>
          </p:cNvPr>
          <p:cNvSpPr>
            <a:spLocks noGrp="1"/>
          </p:cNvSpPr>
          <p:nvPr/>
        </p:nvSpPr>
        <p:spPr>
          <a:xfrm>
            <a:off x="6872224" y="50673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0" name="hub-vehicle-track">
            <a:extLst>
              <a:ext uri="{FF2B5EF4-FFF2-40B4-BE49-F238E27FC236}">
                <a16:creationId xmlns:a16="http://schemas.microsoft.com/office/drawing/2014/main" id="{7850FBA7-3722-4103-A186-8CCAFE51AEF4}"/>
              </a:ext>
            </a:extLst>
          </p:cNvPr>
          <p:cNvSpPr>
            <a:spLocks noGrp="1"/>
          </p:cNvSpPr>
          <p:nvPr/>
        </p:nvSpPr>
        <p:spPr>
          <a:xfrm>
            <a:off x="6948424" y="5105400"/>
            <a:ext cx="4033520" cy="0"/>
          </a:xfrm>
          <a:prstGeom prst="line">
            <a:avLst/>
          </a:prstGeom>
          <a:ln w="19050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hub-merge-top">
            <a:extLst>
              <a:ext uri="{FF2B5EF4-FFF2-40B4-BE49-F238E27FC236}">
                <a16:creationId xmlns:a16="http://schemas.microsoft.com/office/drawing/2014/main" id="{9BBC7934-0350-46B3-B330-C7F5C16E5391}"/>
              </a:ext>
            </a:extLst>
          </p:cNvPr>
          <p:cNvSpPr>
            <a:spLocks noGrp="1"/>
          </p:cNvSpPr>
          <p:nvPr/>
        </p:nvSpPr>
        <p:spPr>
          <a:xfrm>
            <a:off x="10981944" y="4470400"/>
            <a:ext cx="0" cy="31750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hub-merge-bottom">
            <a:extLst>
              <a:ext uri="{FF2B5EF4-FFF2-40B4-BE49-F238E27FC236}">
                <a16:creationId xmlns:a16="http://schemas.microsoft.com/office/drawing/2014/main" id="{0BA250BB-17F5-4884-94E6-748809ECCC67}"/>
              </a:ext>
            </a:extLst>
          </p:cNvPr>
          <p:cNvSpPr>
            <a:spLocks noGrp="1"/>
          </p:cNvSpPr>
          <p:nvPr/>
        </p:nvSpPr>
        <p:spPr>
          <a:xfrm>
            <a:off x="10981944" y="4787900"/>
            <a:ext cx="0" cy="31750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hub-merge-link">
            <a:extLst>
              <a:ext uri="{FF2B5EF4-FFF2-40B4-BE49-F238E27FC236}">
                <a16:creationId xmlns:a16="http://schemas.microsoft.com/office/drawing/2014/main" id="{AE078223-8AAA-4746-8D66-71C3BBA29274}"/>
              </a:ext>
            </a:extLst>
          </p:cNvPr>
          <p:cNvSpPr>
            <a:spLocks noGrp="1"/>
          </p:cNvSpPr>
          <p:nvPr/>
        </p:nvSpPr>
        <p:spPr>
          <a:xfrm>
            <a:off x="10981944" y="4787900"/>
            <a:ext cx="152400" cy="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hub-pickup-node">
            <a:extLst>
              <a:ext uri="{FF2B5EF4-FFF2-40B4-BE49-F238E27FC236}">
                <a16:creationId xmlns:a16="http://schemas.microsoft.com/office/drawing/2014/main" id="{8889FFB1-6EE0-B0C7-ECB6-DB4E6FEB36FD}"/>
              </a:ext>
            </a:extLst>
          </p:cNvPr>
          <p:cNvSpPr>
            <a:spLocks noGrp="1"/>
          </p:cNvSpPr>
          <p:nvPr/>
        </p:nvSpPr>
        <p:spPr>
          <a:xfrm>
            <a:off x="11134344" y="4711700"/>
            <a:ext cx="152400" cy="152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5" name="hub-pickup-text">
            <a:extLst>
              <a:ext uri="{FF2B5EF4-FFF2-40B4-BE49-F238E27FC236}">
                <a16:creationId xmlns:a16="http://schemas.microsoft.com/office/drawing/2014/main" id="{DDF573D2-AE11-66F5-D797-61BDA62DA87A}"/>
              </a:ext>
            </a:extLst>
          </p:cNvPr>
          <p:cNvSpPr>
            <a:spLocks noGrp="1"/>
          </p:cNvSpPr>
          <p:nvPr/>
        </p:nvSpPr>
        <p:spPr>
          <a:xfrm>
            <a:off x="9813544" y="5207000"/>
            <a:ext cx="1397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r">
              <a:buNone/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接上乘客</a:t>
            </a:r>
          </a:p>
        </p:txBody>
      </p:sp>
      <p:sp>
        <p:nvSpPr>
          <p:cNvPr id="106" name="hub-conclusion-accent">
            <a:extLst>
              <a:ext uri="{FF2B5EF4-FFF2-40B4-BE49-F238E27FC236}">
                <a16:creationId xmlns:a16="http://schemas.microsoft.com/office/drawing/2014/main" id="{957EA8C8-D405-4884-923B-4B6A5CB283FD}"/>
              </a:ext>
            </a:extLst>
          </p:cNvPr>
          <p:cNvSpPr>
            <a:spLocks noGrp="1"/>
          </p:cNvSpPr>
          <p:nvPr/>
        </p:nvSpPr>
        <p:spPr>
          <a:xfrm>
            <a:off x="6249924" y="5702300"/>
            <a:ext cx="304800" cy="0"/>
          </a:xfrm>
          <a:prstGeom prst="line">
            <a:avLst/>
          </a:prstGeom>
          <a:ln w="25400">
            <a:solidFill>
              <a:srgbClr val="7D263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hub-conclusion">
            <a:extLst>
              <a:ext uri="{FF2B5EF4-FFF2-40B4-BE49-F238E27FC236}">
                <a16:creationId xmlns:a16="http://schemas.microsoft.com/office/drawing/2014/main" id="{D10C77BC-79DA-B22A-5D15-51D4D7E2D8F5}"/>
              </a:ext>
            </a:extLst>
          </p:cNvPr>
          <p:cNvSpPr>
            <a:spLocks noGrp="1"/>
          </p:cNvSpPr>
          <p:nvPr/>
        </p:nvSpPr>
        <p:spPr>
          <a:xfrm>
            <a:off x="6656324" y="5588000"/>
            <a:ext cx="4782820" cy="2286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2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集合点与停车区域组织汇合</a:t>
            </a:r>
          </a:p>
        </p:txBody>
      </p:sp>
      <p:sp>
        <p:nvSpPr>
          <p:cNvPr id="108" name="responsibility-divider">
            <a:extLst>
              <a:ext uri="{FF2B5EF4-FFF2-40B4-BE49-F238E27FC236}">
                <a16:creationId xmlns:a16="http://schemas.microsoft.com/office/drawing/2014/main" id="{6C7A1349-5A13-4AB3-A979-D778889AD34A}"/>
              </a:ext>
            </a:extLst>
          </p:cNvPr>
          <p:cNvSpPr>
            <a:spLocks noGrp="1"/>
          </p:cNvSpPr>
          <p:nvPr/>
        </p:nvSpPr>
        <p:spPr>
          <a:xfrm>
            <a:off x="658368" y="6181344"/>
            <a:ext cx="10872216" cy="0"/>
          </a:xfrm>
          <a:prstGeom prst="line">
            <a:avLst/>
          </a:prstGeom>
          <a:ln w="952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responsibility-text">
            <a:extLst>
              <a:ext uri="{FF2B5EF4-FFF2-40B4-BE49-F238E27FC236}">
                <a16:creationId xmlns:a16="http://schemas.microsoft.com/office/drawing/2014/main" id="{0B52AF3C-596A-4911-C460-ECBF7FDCC617}"/>
              </a:ext>
            </a:extLst>
          </p:cNvPr>
          <p:cNvSpPr>
            <a:spLocks noGrp="1"/>
          </p:cNvSpPr>
          <p:nvPr/>
        </p:nvSpPr>
        <p:spPr>
          <a:xfrm>
            <a:off x="658368" y="6223000"/>
            <a:ext cx="10872216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高德表达需求位置；RCSD限定静态可用边界；车辆到达现场后确认最终执行</a:t>
            </a:r>
          </a:p>
        </p:txBody>
      </p:sp>
    </p:spTree>
    <p:extLst>
      <p:ext uri="{BB962C8B-B14F-4D97-AF65-F5344CB8AC3E}">
        <p14:creationId xmlns:p14="http://schemas.microsoft.com/office/powerpoint/2010/main" val="3662751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age-title">
            <a:extLst>
              <a:ext uri="{FF2B5EF4-FFF2-40B4-BE49-F238E27FC236}">
                <a16:creationId xmlns:a16="http://schemas.microsoft.com/office/drawing/2014/main" id="{4AD7EA0B-7204-46EF-B4D9-4986FDF0E7DD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2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静态证据形成RCSD候选：路口定义边界，路段生成连续停靠区间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C2F68C9D-0A0C-4869-98A2-AD4381431C3F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法规、标牌、标线和停车设施落到“路口／开口＋路段＋行驶方向”，再按最严格结果合成</a:t>
            </a:r>
          </a:p>
        </p:txBody>
      </p:sp>
      <p:sp>
        <p:nvSpPr>
          <p:cNvPr id="3" name="title-divider">
            <a:extLst>
              <a:ext uri="{FF2B5EF4-FFF2-40B4-BE49-F238E27FC236}">
                <a16:creationId xmlns:a16="http://schemas.microsoft.com/office/drawing/2014/main" id="{7B9BD9D1-8A0C-4402-8016-84C573CAD192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953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4" name="evidence-main-arrow">
            <a:extLst>
              <a:ext uri="{FF2B5EF4-FFF2-40B4-BE49-F238E27FC236}">
                <a16:creationId xmlns:a16="http://schemas.microsoft.com/office/drawing/2014/main" id="{0A812BDC-B169-48C4-A95F-B17C6B681709}"/>
              </a:ext>
            </a:extLst>
          </p:cNvPr>
          <p:cNvSpPr>
            <a:spLocks noGrp="1"/>
          </p:cNvSpPr>
          <p:nvPr/>
        </p:nvSpPr>
        <p:spPr>
          <a:xfrm>
            <a:off x="1524000" y="1743075"/>
            <a:ext cx="714375" cy="133350"/>
          </a:xfrm>
          <a:prstGeom prst="rightArrow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5" name="evidence-accent">
            <a:extLst>
              <a:ext uri="{FF2B5EF4-FFF2-40B4-BE49-F238E27FC236}">
                <a16:creationId xmlns:a16="http://schemas.microsoft.com/office/drawing/2014/main" id="{57C2988D-72C4-4736-9140-F953401006C8}"/>
              </a:ext>
            </a:extLst>
          </p:cNvPr>
          <p:cNvSpPr>
            <a:spLocks noGrp="1"/>
          </p:cNvSpPr>
          <p:nvPr/>
        </p:nvSpPr>
        <p:spPr>
          <a:xfrm>
            <a:off x="657225" y="1304925"/>
            <a:ext cx="285750" cy="953"/>
          </a:xfrm>
          <a:prstGeom prst="line">
            <a:avLst/>
          </a:prstGeom>
          <a:noFill/>
          <a:ln w="28575">
            <a:solidFill>
              <a:srgbClr val="7D2633"/>
            </a:solidFill>
            <a:prstDash val="solid"/>
          </a:ln>
        </p:spPr>
      </p:sp>
      <p:sp>
        <p:nvSpPr>
          <p:cNvPr id="6" name="evidence-title">
            <a:extLst>
              <a:ext uri="{FF2B5EF4-FFF2-40B4-BE49-F238E27FC236}">
                <a16:creationId xmlns:a16="http://schemas.microsoft.com/office/drawing/2014/main" id="{268A3876-214C-4F41-B3C5-ADFDA1282C91}"/>
              </a:ext>
            </a:extLst>
          </p:cNvPr>
          <p:cNvSpPr>
            <a:spLocks noGrp="1"/>
          </p:cNvSpPr>
          <p:nvPr/>
        </p:nvSpPr>
        <p:spPr>
          <a:xfrm>
            <a:off x="657225" y="1362075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静态证据</a:t>
            </a:r>
          </a:p>
        </p:txBody>
      </p:sp>
      <p:sp>
        <p:nvSpPr>
          <p:cNvPr id="7" name="law-icon">
            <a:extLst>
              <a:ext uri="{FF2B5EF4-FFF2-40B4-BE49-F238E27FC236}">
                <a16:creationId xmlns:a16="http://schemas.microsoft.com/office/drawing/2014/main" id="{75C28A36-9606-4687-9026-A8D09D07C65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80975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303634"/>
            </a:solidFill>
            <a:prstDash val="solid"/>
          </a:ln>
        </p:spPr>
      </p:sp>
      <p:sp>
        <p:nvSpPr>
          <p:cNvPr id="8" name="law-icon-line-1">
            <a:extLst>
              <a:ext uri="{FF2B5EF4-FFF2-40B4-BE49-F238E27FC236}">
                <a16:creationId xmlns:a16="http://schemas.microsoft.com/office/drawing/2014/main" id="{A70E9D63-3396-46F3-B0B1-5CB82A4E58D1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104775" cy="953"/>
          </a:xfrm>
          <a:prstGeom prst="line">
            <a:avLst/>
          </a:prstGeom>
          <a:noFill/>
          <a:ln w="9525">
            <a:solidFill>
              <a:srgbClr val="303634"/>
            </a:solidFill>
            <a:prstDash val="solid"/>
          </a:ln>
        </p:spPr>
      </p:sp>
      <p:sp>
        <p:nvSpPr>
          <p:cNvPr id="9" name="law-icon-line-2">
            <a:extLst>
              <a:ext uri="{FF2B5EF4-FFF2-40B4-BE49-F238E27FC236}">
                <a16:creationId xmlns:a16="http://schemas.microsoft.com/office/drawing/2014/main" id="{18B17370-3E54-474E-A68A-774E882F0859}"/>
              </a:ext>
            </a:extLst>
          </p:cNvPr>
          <p:cNvSpPr>
            <a:spLocks noGrp="1"/>
          </p:cNvSpPr>
          <p:nvPr/>
        </p:nvSpPr>
        <p:spPr>
          <a:xfrm>
            <a:off x="723900" y="1819275"/>
            <a:ext cx="104775" cy="953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0" name="law-label">
            <a:extLst>
              <a:ext uri="{FF2B5EF4-FFF2-40B4-BE49-F238E27FC236}">
                <a16:creationId xmlns:a16="http://schemas.microsoft.com/office/drawing/2014/main" id="{FA09B1F2-C64A-4EDB-BF1A-0FC0CE71954F}"/>
              </a:ext>
            </a:extLst>
          </p:cNvPr>
          <p:cNvSpPr>
            <a:spLocks noGrp="1"/>
          </p:cNvSpPr>
          <p:nvPr/>
        </p:nvSpPr>
        <p:spPr>
          <a:xfrm>
            <a:off x="1000125" y="1676400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法规</a:t>
            </a:r>
          </a:p>
        </p:txBody>
      </p:sp>
      <p:sp>
        <p:nvSpPr>
          <p:cNvPr id="11" name="ban-sign">
            <a:extLst>
              <a:ext uri="{FF2B5EF4-FFF2-40B4-BE49-F238E27FC236}">
                <a16:creationId xmlns:a16="http://schemas.microsoft.com/office/drawing/2014/main" id="{2A7DBC93-F4FE-4C00-837E-0C29063B0382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2633"/>
            </a:solidFill>
            <a:prstDash val="solid"/>
          </a:ln>
        </p:spPr>
      </p:sp>
      <p:sp>
        <p:nvSpPr>
          <p:cNvPr id="12" name="ban-sign-slash">
            <a:extLst>
              <a:ext uri="{FF2B5EF4-FFF2-40B4-BE49-F238E27FC236}">
                <a16:creationId xmlns:a16="http://schemas.microsoft.com/office/drawing/2014/main" id="{112B3BEA-FF85-42F6-9989-D3F2870A2630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152400" cy="15240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3" name="ban-label">
            <a:extLst>
              <a:ext uri="{FF2B5EF4-FFF2-40B4-BE49-F238E27FC236}">
                <a16:creationId xmlns:a16="http://schemas.microsoft.com/office/drawing/2014/main" id="{71FA3BE2-A0DE-4BB9-B02B-F4C5D5A78393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禁停标牌／标线</a:t>
            </a:r>
          </a:p>
        </p:txBody>
      </p:sp>
      <p:sp>
        <p:nvSpPr>
          <p:cNvPr id="14" name="parking-icon">
            <a:extLst>
              <a:ext uri="{FF2B5EF4-FFF2-40B4-BE49-F238E27FC236}">
                <a16:creationId xmlns:a16="http://schemas.microsoft.com/office/drawing/2014/main" id="{A454624D-70D4-4DD5-BC19-1C919687690D}"/>
              </a:ext>
            </a:extLst>
          </p:cNvPr>
          <p:cNvSpPr>
            <a:spLocks noGrp="1"/>
          </p:cNvSpPr>
          <p:nvPr/>
        </p:nvSpPr>
        <p:spPr>
          <a:xfrm>
            <a:off x="657225" y="2524125"/>
            <a:ext cx="266700" cy="190500"/>
          </a:xfrm>
          <a:prstGeom prst="rect">
            <a:avLst/>
          </a:prstGeom>
          <a:solidFill>
            <a:srgbClr val="FFFFFF"/>
          </a:solidFill>
          <a:ln w="11430">
            <a:solidFill>
              <a:srgbClr val="303634"/>
            </a:solidFill>
            <a:prstDash val="solid"/>
          </a:ln>
        </p:spPr>
      </p:sp>
      <p:sp>
        <p:nvSpPr>
          <p:cNvPr id="15" name="parking-bay-1">
            <a:extLst>
              <a:ext uri="{FF2B5EF4-FFF2-40B4-BE49-F238E27FC236}">
                <a16:creationId xmlns:a16="http://schemas.microsoft.com/office/drawing/2014/main" id="{17D6C7DA-046B-4823-B41C-4975A478FBC8}"/>
              </a:ext>
            </a:extLst>
          </p:cNvPr>
          <p:cNvSpPr>
            <a:spLocks noGrp="1"/>
          </p:cNvSpPr>
          <p:nvPr/>
        </p:nvSpPr>
        <p:spPr>
          <a:xfrm>
            <a:off x="742950" y="2524125"/>
            <a:ext cx="953" cy="1905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6" name="parking-bay-2">
            <a:extLst>
              <a:ext uri="{FF2B5EF4-FFF2-40B4-BE49-F238E27FC236}">
                <a16:creationId xmlns:a16="http://schemas.microsoft.com/office/drawing/2014/main" id="{59F848EE-61E2-4178-8FA1-F853CDD74D1B}"/>
              </a:ext>
            </a:extLst>
          </p:cNvPr>
          <p:cNvSpPr>
            <a:spLocks noGrp="1"/>
          </p:cNvSpPr>
          <p:nvPr/>
        </p:nvSpPr>
        <p:spPr>
          <a:xfrm>
            <a:off x="838200" y="2524125"/>
            <a:ext cx="953" cy="1905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7" name="parking-label">
            <a:extLst>
              <a:ext uri="{FF2B5EF4-FFF2-40B4-BE49-F238E27FC236}">
                <a16:creationId xmlns:a16="http://schemas.microsoft.com/office/drawing/2014/main" id="{54297A41-8319-4135-B7A8-5D5ABC3A6F1F}"/>
              </a:ext>
            </a:extLst>
          </p:cNvPr>
          <p:cNvSpPr>
            <a:spLocks noGrp="1"/>
          </p:cNvSpPr>
          <p:nvPr/>
        </p:nvSpPr>
        <p:spPr>
          <a:xfrm>
            <a:off x="904875" y="2466975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停车位／上下客区</a:t>
            </a:r>
          </a:p>
        </p:txBody>
      </p:sp>
      <p:sp>
        <p:nvSpPr>
          <p:cNvPr id="18" name="left-junction-title">
            <a:extLst>
              <a:ext uri="{FF2B5EF4-FFF2-40B4-BE49-F238E27FC236}">
                <a16:creationId xmlns:a16="http://schemas.microsoft.com/office/drawing/2014/main" id="{7512A30B-C93D-4E8F-9354-1259EE2F0944}"/>
              </a:ext>
            </a:extLst>
          </p:cNvPr>
          <p:cNvSpPr>
            <a:spLocks noGrp="1"/>
          </p:cNvSpPr>
          <p:nvPr/>
        </p:nvSpPr>
        <p:spPr>
          <a:xfrm>
            <a:off x="2190750" y="1323975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路口｜定义规则边界</a:t>
            </a:r>
          </a:p>
        </p:txBody>
      </p:sp>
      <p:sp>
        <p:nvSpPr>
          <p:cNvPr id="19" name="segment-title">
            <a:extLst>
              <a:ext uri="{FF2B5EF4-FFF2-40B4-BE49-F238E27FC236}">
                <a16:creationId xmlns:a16="http://schemas.microsoft.com/office/drawing/2014/main" id="{37A8D4DF-EFB4-4820-84C9-DC7C7A46AFA2}"/>
              </a:ext>
            </a:extLst>
          </p:cNvPr>
          <p:cNvSpPr>
            <a:spLocks noGrp="1"/>
          </p:cNvSpPr>
          <p:nvPr/>
        </p:nvSpPr>
        <p:spPr>
          <a:xfrm>
            <a:off x="4429125" y="12954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路段｜承载连续停靠属性</a:t>
            </a:r>
          </a:p>
        </p:txBody>
      </p:sp>
      <p:sp>
        <p:nvSpPr>
          <p:cNvPr id="20" name="right-junction-title">
            <a:extLst>
              <a:ext uri="{FF2B5EF4-FFF2-40B4-BE49-F238E27FC236}">
                <a16:creationId xmlns:a16="http://schemas.microsoft.com/office/drawing/2014/main" id="{409D3523-389F-4353-B732-08A55E020FC5}"/>
              </a:ext>
            </a:extLst>
          </p:cNvPr>
          <p:cNvSpPr>
            <a:spLocks noGrp="1"/>
          </p:cNvSpPr>
          <p:nvPr/>
        </p:nvSpPr>
        <p:spPr>
          <a:xfrm>
            <a:off x="7667625" y="1323975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路口｜定义规则边界</a:t>
            </a:r>
          </a:p>
        </p:txBody>
      </p:sp>
      <p:sp>
        <p:nvSpPr>
          <p:cNvPr id="21" name="left-cross-road-surface">
            <a:extLst>
              <a:ext uri="{FF2B5EF4-FFF2-40B4-BE49-F238E27FC236}">
                <a16:creationId xmlns:a16="http://schemas.microsoft.com/office/drawing/2014/main" id="{77D17E4F-EDC4-4B6B-B47B-28E2C0E45E3C}"/>
              </a:ext>
            </a:extLst>
          </p:cNvPr>
          <p:cNvSpPr>
            <a:spLocks noGrp="1"/>
          </p:cNvSpPr>
          <p:nvPr/>
        </p:nvSpPr>
        <p:spPr>
          <a:xfrm>
            <a:off x="2419350" y="1581150"/>
            <a:ext cx="533400" cy="1076325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  <a:prstDash val="solid"/>
          </a:ln>
        </p:spPr>
      </p:sp>
      <p:sp>
        <p:nvSpPr>
          <p:cNvPr id="22" name="right-cross-road-surface">
            <a:extLst>
              <a:ext uri="{FF2B5EF4-FFF2-40B4-BE49-F238E27FC236}">
                <a16:creationId xmlns:a16="http://schemas.microsoft.com/office/drawing/2014/main" id="{682251A7-787A-4FAE-A670-D28F05624AE3}"/>
              </a:ext>
            </a:extLst>
          </p:cNvPr>
          <p:cNvSpPr>
            <a:spLocks noGrp="1"/>
          </p:cNvSpPr>
          <p:nvPr/>
        </p:nvSpPr>
        <p:spPr>
          <a:xfrm>
            <a:off x="8591550" y="1581150"/>
            <a:ext cx="533400" cy="1076325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  <a:prstDash val="solid"/>
          </a:ln>
        </p:spPr>
      </p:sp>
      <p:sp>
        <p:nvSpPr>
          <p:cNvPr id="23" name="main-road-surface">
            <a:extLst>
              <a:ext uri="{FF2B5EF4-FFF2-40B4-BE49-F238E27FC236}">
                <a16:creationId xmlns:a16="http://schemas.microsoft.com/office/drawing/2014/main" id="{A0E7FFA5-6C69-4F29-BA90-247048D731AC}"/>
              </a:ext>
            </a:extLst>
          </p:cNvPr>
          <p:cNvSpPr>
            <a:spLocks noGrp="1"/>
          </p:cNvSpPr>
          <p:nvPr/>
        </p:nvSpPr>
        <p:spPr>
          <a:xfrm>
            <a:off x="2190750" y="1809750"/>
            <a:ext cx="7286625" cy="55245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  <a:prstDash val="solid"/>
          </a:ln>
        </p:spPr>
      </p:sp>
      <p:sp>
        <p:nvSpPr>
          <p:cNvPr id="24" name="left-junction-range">
            <a:extLst>
              <a:ext uri="{FF2B5EF4-FFF2-40B4-BE49-F238E27FC236}">
                <a16:creationId xmlns:a16="http://schemas.microsoft.com/office/drawing/2014/main" id="{EC48DB33-2235-4DCD-A2F1-97F0FF0CC2E8}"/>
              </a:ext>
            </a:extLst>
          </p:cNvPr>
          <p:cNvSpPr>
            <a:spLocks noGrp="1"/>
          </p:cNvSpPr>
          <p:nvPr/>
        </p:nvSpPr>
        <p:spPr>
          <a:xfrm>
            <a:off x="2419350" y="1809750"/>
            <a:ext cx="533400" cy="552450"/>
          </a:xfrm>
          <a:prstGeom prst="rect">
            <a:avLst/>
          </a:prstGeom>
          <a:solidFill>
            <a:srgbClr val="EFEBE4"/>
          </a:solidFill>
          <a:ln w="11906">
            <a:solidFill>
              <a:srgbClr val="7D2633"/>
            </a:solidFill>
            <a:prstDash val="solid"/>
          </a:ln>
        </p:spPr>
      </p:sp>
      <p:sp>
        <p:nvSpPr>
          <p:cNvPr id="25" name="right-junction-range">
            <a:extLst>
              <a:ext uri="{FF2B5EF4-FFF2-40B4-BE49-F238E27FC236}">
                <a16:creationId xmlns:a16="http://schemas.microsoft.com/office/drawing/2014/main" id="{FA1FCAB9-384E-4DA4-81A5-0EA485BB407F}"/>
              </a:ext>
            </a:extLst>
          </p:cNvPr>
          <p:cNvSpPr>
            <a:spLocks noGrp="1"/>
          </p:cNvSpPr>
          <p:nvPr/>
        </p:nvSpPr>
        <p:spPr>
          <a:xfrm>
            <a:off x="8591550" y="1809750"/>
            <a:ext cx="533400" cy="552450"/>
          </a:xfrm>
          <a:prstGeom prst="rect">
            <a:avLst/>
          </a:prstGeom>
          <a:solidFill>
            <a:srgbClr val="EFEBE4"/>
          </a:solidFill>
          <a:ln w="11906">
            <a:solidFill>
              <a:srgbClr val="7D2633"/>
            </a:solidFill>
            <a:prstDash val="solid"/>
          </a:ln>
        </p:spPr>
      </p:sp>
      <p:sp>
        <p:nvSpPr>
          <p:cNvPr id="26" name="main-road-center-dash-1">
            <a:extLst>
              <a:ext uri="{FF2B5EF4-FFF2-40B4-BE49-F238E27FC236}">
                <a16:creationId xmlns:a16="http://schemas.microsoft.com/office/drawing/2014/main" id="{95BEB48A-B018-401D-BFCA-24E048716D67}"/>
              </a:ext>
            </a:extLst>
          </p:cNvPr>
          <p:cNvSpPr>
            <a:spLocks noGrp="1"/>
          </p:cNvSpPr>
          <p:nvPr/>
        </p:nvSpPr>
        <p:spPr>
          <a:xfrm>
            <a:off x="23050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27" name="main-road-center-dash-2">
            <a:extLst>
              <a:ext uri="{FF2B5EF4-FFF2-40B4-BE49-F238E27FC236}">
                <a16:creationId xmlns:a16="http://schemas.microsoft.com/office/drawing/2014/main" id="{922B3D12-3703-4778-AEC1-ECA7F7173C8E}"/>
              </a:ext>
            </a:extLst>
          </p:cNvPr>
          <p:cNvSpPr>
            <a:spLocks noGrp="1"/>
          </p:cNvSpPr>
          <p:nvPr/>
        </p:nvSpPr>
        <p:spPr>
          <a:xfrm>
            <a:off x="26098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28" name="main-road-center-dash-3">
            <a:extLst>
              <a:ext uri="{FF2B5EF4-FFF2-40B4-BE49-F238E27FC236}">
                <a16:creationId xmlns:a16="http://schemas.microsoft.com/office/drawing/2014/main" id="{BFD6EEF3-C242-4C53-964F-4B4138D16916}"/>
              </a:ext>
            </a:extLst>
          </p:cNvPr>
          <p:cNvSpPr>
            <a:spLocks noGrp="1"/>
          </p:cNvSpPr>
          <p:nvPr/>
        </p:nvSpPr>
        <p:spPr>
          <a:xfrm>
            <a:off x="29146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29" name="main-road-center-dash-4">
            <a:extLst>
              <a:ext uri="{FF2B5EF4-FFF2-40B4-BE49-F238E27FC236}">
                <a16:creationId xmlns:a16="http://schemas.microsoft.com/office/drawing/2014/main" id="{F5EA1031-FD9F-43E9-8D77-4A34BA07B998}"/>
              </a:ext>
            </a:extLst>
          </p:cNvPr>
          <p:cNvSpPr>
            <a:spLocks noGrp="1"/>
          </p:cNvSpPr>
          <p:nvPr/>
        </p:nvSpPr>
        <p:spPr>
          <a:xfrm>
            <a:off x="32194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0" name="main-road-center-dash-5">
            <a:extLst>
              <a:ext uri="{FF2B5EF4-FFF2-40B4-BE49-F238E27FC236}">
                <a16:creationId xmlns:a16="http://schemas.microsoft.com/office/drawing/2014/main" id="{83325826-9580-4723-9B8D-A220B83784D7}"/>
              </a:ext>
            </a:extLst>
          </p:cNvPr>
          <p:cNvSpPr>
            <a:spLocks noGrp="1"/>
          </p:cNvSpPr>
          <p:nvPr/>
        </p:nvSpPr>
        <p:spPr>
          <a:xfrm>
            <a:off x="35242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1" name="main-road-center-dash-6">
            <a:extLst>
              <a:ext uri="{FF2B5EF4-FFF2-40B4-BE49-F238E27FC236}">
                <a16:creationId xmlns:a16="http://schemas.microsoft.com/office/drawing/2014/main" id="{4AA63F36-EC02-42FE-9880-4DBD676CE1E3}"/>
              </a:ext>
            </a:extLst>
          </p:cNvPr>
          <p:cNvSpPr>
            <a:spLocks noGrp="1"/>
          </p:cNvSpPr>
          <p:nvPr/>
        </p:nvSpPr>
        <p:spPr>
          <a:xfrm>
            <a:off x="38290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2" name="main-road-center-dash-7">
            <a:extLst>
              <a:ext uri="{FF2B5EF4-FFF2-40B4-BE49-F238E27FC236}">
                <a16:creationId xmlns:a16="http://schemas.microsoft.com/office/drawing/2014/main" id="{B7E72100-2A00-4882-9141-ABA9D61044A9}"/>
              </a:ext>
            </a:extLst>
          </p:cNvPr>
          <p:cNvSpPr>
            <a:spLocks noGrp="1"/>
          </p:cNvSpPr>
          <p:nvPr/>
        </p:nvSpPr>
        <p:spPr>
          <a:xfrm>
            <a:off x="41338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3" name="main-road-center-dash-8">
            <a:extLst>
              <a:ext uri="{FF2B5EF4-FFF2-40B4-BE49-F238E27FC236}">
                <a16:creationId xmlns:a16="http://schemas.microsoft.com/office/drawing/2014/main" id="{FBDF2685-60C2-4687-A5ED-0FA636CE79C3}"/>
              </a:ext>
            </a:extLst>
          </p:cNvPr>
          <p:cNvSpPr>
            <a:spLocks noGrp="1"/>
          </p:cNvSpPr>
          <p:nvPr/>
        </p:nvSpPr>
        <p:spPr>
          <a:xfrm>
            <a:off x="44386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4" name="main-road-center-dash-9">
            <a:extLst>
              <a:ext uri="{FF2B5EF4-FFF2-40B4-BE49-F238E27FC236}">
                <a16:creationId xmlns:a16="http://schemas.microsoft.com/office/drawing/2014/main" id="{5061CA0F-1318-4518-86EA-4DA8A62EE01C}"/>
              </a:ext>
            </a:extLst>
          </p:cNvPr>
          <p:cNvSpPr>
            <a:spLocks noGrp="1"/>
          </p:cNvSpPr>
          <p:nvPr/>
        </p:nvSpPr>
        <p:spPr>
          <a:xfrm>
            <a:off x="47434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5" name="main-road-center-dash-10">
            <a:extLst>
              <a:ext uri="{FF2B5EF4-FFF2-40B4-BE49-F238E27FC236}">
                <a16:creationId xmlns:a16="http://schemas.microsoft.com/office/drawing/2014/main" id="{C0142417-B610-41BC-B0E6-426F3D36CC42}"/>
              </a:ext>
            </a:extLst>
          </p:cNvPr>
          <p:cNvSpPr>
            <a:spLocks noGrp="1"/>
          </p:cNvSpPr>
          <p:nvPr/>
        </p:nvSpPr>
        <p:spPr>
          <a:xfrm>
            <a:off x="50482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6" name="main-road-center-dash-11">
            <a:extLst>
              <a:ext uri="{FF2B5EF4-FFF2-40B4-BE49-F238E27FC236}">
                <a16:creationId xmlns:a16="http://schemas.microsoft.com/office/drawing/2014/main" id="{B98FC8B8-9959-4B85-9E27-7F79B01EFE73}"/>
              </a:ext>
            </a:extLst>
          </p:cNvPr>
          <p:cNvSpPr>
            <a:spLocks noGrp="1"/>
          </p:cNvSpPr>
          <p:nvPr/>
        </p:nvSpPr>
        <p:spPr>
          <a:xfrm>
            <a:off x="53530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7" name="main-road-center-dash-12">
            <a:extLst>
              <a:ext uri="{FF2B5EF4-FFF2-40B4-BE49-F238E27FC236}">
                <a16:creationId xmlns:a16="http://schemas.microsoft.com/office/drawing/2014/main" id="{65D6C3A2-97FD-4C31-9BE1-31B53E6D2D63}"/>
              </a:ext>
            </a:extLst>
          </p:cNvPr>
          <p:cNvSpPr>
            <a:spLocks noGrp="1"/>
          </p:cNvSpPr>
          <p:nvPr/>
        </p:nvSpPr>
        <p:spPr>
          <a:xfrm>
            <a:off x="56578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8" name="main-road-center-dash-13">
            <a:extLst>
              <a:ext uri="{FF2B5EF4-FFF2-40B4-BE49-F238E27FC236}">
                <a16:creationId xmlns:a16="http://schemas.microsoft.com/office/drawing/2014/main" id="{113F8636-4978-4EC5-AAD5-1A7A203E53DF}"/>
              </a:ext>
            </a:extLst>
          </p:cNvPr>
          <p:cNvSpPr>
            <a:spLocks noGrp="1"/>
          </p:cNvSpPr>
          <p:nvPr/>
        </p:nvSpPr>
        <p:spPr>
          <a:xfrm>
            <a:off x="59626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9" name="main-road-center-dash-14">
            <a:extLst>
              <a:ext uri="{FF2B5EF4-FFF2-40B4-BE49-F238E27FC236}">
                <a16:creationId xmlns:a16="http://schemas.microsoft.com/office/drawing/2014/main" id="{D2E3314E-6225-4ABD-AEE2-D3B2EFDB2889}"/>
              </a:ext>
            </a:extLst>
          </p:cNvPr>
          <p:cNvSpPr>
            <a:spLocks noGrp="1"/>
          </p:cNvSpPr>
          <p:nvPr/>
        </p:nvSpPr>
        <p:spPr>
          <a:xfrm>
            <a:off x="62674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0" name="main-road-center-dash-15">
            <a:extLst>
              <a:ext uri="{FF2B5EF4-FFF2-40B4-BE49-F238E27FC236}">
                <a16:creationId xmlns:a16="http://schemas.microsoft.com/office/drawing/2014/main" id="{78520F95-6E70-451C-A023-D9BC716F3427}"/>
              </a:ext>
            </a:extLst>
          </p:cNvPr>
          <p:cNvSpPr>
            <a:spLocks noGrp="1"/>
          </p:cNvSpPr>
          <p:nvPr/>
        </p:nvSpPr>
        <p:spPr>
          <a:xfrm>
            <a:off x="65722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1" name="main-road-center-dash-16">
            <a:extLst>
              <a:ext uri="{FF2B5EF4-FFF2-40B4-BE49-F238E27FC236}">
                <a16:creationId xmlns:a16="http://schemas.microsoft.com/office/drawing/2014/main" id="{F35E3573-4CE4-4729-8143-472B0A48DB60}"/>
              </a:ext>
            </a:extLst>
          </p:cNvPr>
          <p:cNvSpPr>
            <a:spLocks noGrp="1"/>
          </p:cNvSpPr>
          <p:nvPr/>
        </p:nvSpPr>
        <p:spPr>
          <a:xfrm>
            <a:off x="68770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2" name="main-road-center-dash-17">
            <a:extLst>
              <a:ext uri="{FF2B5EF4-FFF2-40B4-BE49-F238E27FC236}">
                <a16:creationId xmlns:a16="http://schemas.microsoft.com/office/drawing/2014/main" id="{8BEECE89-AFCA-4005-981B-4D35632AF2F4}"/>
              </a:ext>
            </a:extLst>
          </p:cNvPr>
          <p:cNvSpPr>
            <a:spLocks noGrp="1"/>
          </p:cNvSpPr>
          <p:nvPr/>
        </p:nvSpPr>
        <p:spPr>
          <a:xfrm>
            <a:off x="71818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3" name="main-road-center-dash-18">
            <a:extLst>
              <a:ext uri="{FF2B5EF4-FFF2-40B4-BE49-F238E27FC236}">
                <a16:creationId xmlns:a16="http://schemas.microsoft.com/office/drawing/2014/main" id="{DF887BD4-7898-4352-B5A7-B89FFEC7FF86}"/>
              </a:ext>
            </a:extLst>
          </p:cNvPr>
          <p:cNvSpPr>
            <a:spLocks noGrp="1"/>
          </p:cNvSpPr>
          <p:nvPr/>
        </p:nvSpPr>
        <p:spPr>
          <a:xfrm>
            <a:off x="74866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4" name="main-road-center-dash-19">
            <a:extLst>
              <a:ext uri="{FF2B5EF4-FFF2-40B4-BE49-F238E27FC236}">
                <a16:creationId xmlns:a16="http://schemas.microsoft.com/office/drawing/2014/main" id="{3C62E467-D09F-4D3B-ADBD-E60D4EEDC6A7}"/>
              </a:ext>
            </a:extLst>
          </p:cNvPr>
          <p:cNvSpPr>
            <a:spLocks noGrp="1"/>
          </p:cNvSpPr>
          <p:nvPr/>
        </p:nvSpPr>
        <p:spPr>
          <a:xfrm>
            <a:off x="77914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5" name="main-road-center-dash-20">
            <a:extLst>
              <a:ext uri="{FF2B5EF4-FFF2-40B4-BE49-F238E27FC236}">
                <a16:creationId xmlns:a16="http://schemas.microsoft.com/office/drawing/2014/main" id="{2669816F-96FF-4848-B4FE-806E9A7C1382}"/>
              </a:ext>
            </a:extLst>
          </p:cNvPr>
          <p:cNvSpPr>
            <a:spLocks noGrp="1"/>
          </p:cNvSpPr>
          <p:nvPr/>
        </p:nvSpPr>
        <p:spPr>
          <a:xfrm>
            <a:off x="80962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6" name="main-road-center-dash-21">
            <a:extLst>
              <a:ext uri="{FF2B5EF4-FFF2-40B4-BE49-F238E27FC236}">
                <a16:creationId xmlns:a16="http://schemas.microsoft.com/office/drawing/2014/main" id="{9C2BDE70-798C-466D-BF3D-B8E1561F81D3}"/>
              </a:ext>
            </a:extLst>
          </p:cNvPr>
          <p:cNvSpPr>
            <a:spLocks noGrp="1"/>
          </p:cNvSpPr>
          <p:nvPr/>
        </p:nvSpPr>
        <p:spPr>
          <a:xfrm>
            <a:off x="84010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7" name="main-road-center-dash-22">
            <a:extLst>
              <a:ext uri="{FF2B5EF4-FFF2-40B4-BE49-F238E27FC236}">
                <a16:creationId xmlns:a16="http://schemas.microsoft.com/office/drawing/2014/main" id="{8310DAFD-D815-4A8E-A09E-37EE6CDB97B2}"/>
              </a:ext>
            </a:extLst>
          </p:cNvPr>
          <p:cNvSpPr>
            <a:spLocks noGrp="1"/>
          </p:cNvSpPr>
          <p:nvPr/>
        </p:nvSpPr>
        <p:spPr>
          <a:xfrm>
            <a:off x="87058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8" name="main-road-center-dash-23">
            <a:extLst>
              <a:ext uri="{FF2B5EF4-FFF2-40B4-BE49-F238E27FC236}">
                <a16:creationId xmlns:a16="http://schemas.microsoft.com/office/drawing/2014/main" id="{C769A254-A216-4DF8-8E08-673B868BA354}"/>
              </a:ext>
            </a:extLst>
          </p:cNvPr>
          <p:cNvSpPr>
            <a:spLocks noGrp="1"/>
          </p:cNvSpPr>
          <p:nvPr/>
        </p:nvSpPr>
        <p:spPr>
          <a:xfrm>
            <a:off x="90106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9" name="main-road-center-dash-24">
            <a:extLst>
              <a:ext uri="{FF2B5EF4-FFF2-40B4-BE49-F238E27FC236}">
                <a16:creationId xmlns:a16="http://schemas.microsoft.com/office/drawing/2014/main" id="{A98DFF45-FB01-4E6D-916E-459376588780}"/>
              </a:ext>
            </a:extLst>
          </p:cNvPr>
          <p:cNvSpPr>
            <a:spLocks noGrp="1"/>
          </p:cNvSpPr>
          <p:nvPr/>
        </p:nvSpPr>
        <p:spPr>
          <a:xfrm>
            <a:off x="9315450" y="2076450"/>
            <a:ext cx="857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50" name="main-road-direction">
            <a:extLst>
              <a:ext uri="{FF2B5EF4-FFF2-40B4-BE49-F238E27FC236}">
                <a16:creationId xmlns:a16="http://schemas.microsoft.com/office/drawing/2014/main" id="{08E176E4-0EE3-4C8F-9CF5-BD3D4F671C8A}"/>
              </a:ext>
            </a:extLst>
          </p:cNvPr>
          <p:cNvSpPr>
            <a:spLocks noGrp="1"/>
          </p:cNvSpPr>
          <p:nvPr/>
        </p:nvSpPr>
        <p:spPr>
          <a:xfrm>
            <a:off x="5476875" y="2000250"/>
            <a:ext cx="619125" cy="161925"/>
          </a:xfrm>
          <a:prstGeom prst="rightArrow">
            <a:avLst/>
          </a:prstGeom>
          <a:solidFill>
            <a:srgbClr val="303634"/>
          </a:solidFill>
          <a:ln w="4763">
            <a:solidFill>
              <a:srgbClr val="303634"/>
            </a:solidFill>
            <a:prstDash val="solid"/>
          </a:ln>
        </p:spPr>
      </p:sp>
      <p:sp>
        <p:nvSpPr>
          <p:cNvPr id="51" name="junction-internal-no-parking">
            <a:extLst>
              <a:ext uri="{FF2B5EF4-FFF2-40B4-BE49-F238E27FC236}">
                <a16:creationId xmlns:a16="http://schemas.microsoft.com/office/drawing/2014/main" id="{99482B92-4BBF-41C7-BDA3-B72540AD6429}"/>
              </a:ext>
            </a:extLst>
          </p:cNvPr>
          <p:cNvSpPr>
            <a:spLocks noGrp="1"/>
          </p:cNvSpPr>
          <p:nvPr/>
        </p:nvSpPr>
        <p:spPr>
          <a:xfrm>
            <a:off x="2428875" y="2324100"/>
            <a:ext cx="600075" cy="953"/>
          </a:xfrm>
          <a:prstGeom prst="line">
            <a:avLst/>
          </a:prstGeom>
          <a:noFill/>
          <a:ln w="47625">
            <a:solidFill>
              <a:srgbClr val="7D2633"/>
            </a:solidFill>
            <a:prstDash val="solid"/>
          </a:ln>
        </p:spPr>
      </p:sp>
      <p:sp>
        <p:nvSpPr>
          <p:cNvPr id="52" name="mapped-ban-sign">
            <a:extLst>
              <a:ext uri="{FF2B5EF4-FFF2-40B4-BE49-F238E27FC236}">
                <a16:creationId xmlns:a16="http://schemas.microsoft.com/office/drawing/2014/main" id="{CE258463-529D-4C2F-BD98-73B5F4CC25EE}"/>
              </a:ext>
            </a:extLst>
          </p:cNvPr>
          <p:cNvSpPr>
            <a:spLocks noGrp="1"/>
          </p:cNvSpPr>
          <p:nvPr/>
        </p:nvSpPr>
        <p:spPr>
          <a:xfrm>
            <a:off x="5705475" y="1666875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2633"/>
            </a:solidFill>
            <a:prstDash val="solid"/>
          </a:ln>
        </p:spPr>
      </p:sp>
      <p:sp>
        <p:nvSpPr>
          <p:cNvPr id="53" name="mapped-ban-slash">
            <a:extLst>
              <a:ext uri="{FF2B5EF4-FFF2-40B4-BE49-F238E27FC236}">
                <a16:creationId xmlns:a16="http://schemas.microsoft.com/office/drawing/2014/main" id="{F908B437-AB99-41BF-91F0-51AF9B9BE10F}"/>
              </a:ext>
            </a:extLst>
          </p:cNvPr>
          <p:cNvSpPr>
            <a:spLocks noGrp="1"/>
          </p:cNvSpPr>
          <p:nvPr/>
        </p:nvSpPr>
        <p:spPr>
          <a:xfrm>
            <a:off x="5743575" y="1704975"/>
            <a:ext cx="133350" cy="13335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54" name="mapped-ban-stem">
            <a:extLst>
              <a:ext uri="{FF2B5EF4-FFF2-40B4-BE49-F238E27FC236}">
                <a16:creationId xmlns:a16="http://schemas.microsoft.com/office/drawing/2014/main" id="{D0B40FB7-FBF4-46EC-8E4C-60C1E910AE9E}"/>
              </a:ext>
            </a:extLst>
          </p:cNvPr>
          <p:cNvSpPr>
            <a:spLocks noGrp="1"/>
          </p:cNvSpPr>
          <p:nvPr/>
        </p:nvSpPr>
        <p:spPr>
          <a:xfrm>
            <a:off x="5810250" y="1876425"/>
            <a:ext cx="953" cy="104775"/>
          </a:xfrm>
          <a:prstGeom prst="line">
            <a:avLst/>
          </a:prstGeom>
          <a:noFill/>
          <a:ln w="14288">
            <a:solidFill>
              <a:srgbClr val="7D2633"/>
            </a:solidFill>
            <a:prstDash val="solid"/>
          </a:ln>
        </p:spPr>
      </p:sp>
      <p:sp>
        <p:nvSpPr>
          <p:cNvPr id="55" name="mapped-parking-bay-1">
            <a:extLst>
              <a:ext uri="{FF2B5EF4-FFF2-40B4-BE49-F238E27FC236}">
                <a16:creationId xmlns:a16="http://schemas.microsoft.com/office/drawing/2014/main" id="{AD1CD7A5-FF70-4684-B815-BC19DEA2CEB3}"/>
              </a:ext>
            </a:extLst>
          </p:cNvPr>
          <p:cNvSpPr>
            <a:spLocks noGrp="1"/>
          </p:cNvSpPr>
          <p:nvPr/>
        </p:nvSpPr>
        <p:spPr>
          <a:xfrm>
            <a:off x="7124700" y="2209800"/>
            <a:ext cx="266700" cy="152400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56" name="mapped-parking-bay-2">
            <a:extLst>
              <a:ext uri="{FF2B5EF4-FFF2-40B4-BE49-F238E27FC236}">
                <a16:creationId xmlns:a16="http://schemas.microsoft.com/office/drawing/2014/main" id="{B417092E-B389-4C5E-B172-4B6724BEE1BB}"/>
              </a:ext>
            </a:extLst>
          </p:cNvPr>
          <p:cNvSpPr>
            <a:spLocks noGrp="1"/>
          </p:cNvSpPr>
          <p:nvPr/>
        </p:nvSpPr>
        <p:spPr>
          <a:xfrm>
            <a:off x="7448550" y="2209800"/>
            <a:ext cx="266700" cy="152400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57" name="mapped-parking-bay-3">
            <a:extLst>
              <a:ext uri="{FF2B5EF4-FFF2-40B4-BE49-F238E27FC236}">
                <a16:creationId xmlns:a16="http://schemas.microsoft.com/office/drawing/2014/main" id="{3D785D4F-EFE5-4E44-8F72-8BE9C32C5EC8}"/>
              </a:ext>
            </a:extLst>
          </p:cNvPr>
          <p:cNvSpPr>
            <a:spLocks noGrp="1"/>
          </p:cNvSpPr>
          <p:nvPr/>
        </p:nvSpPr>
        <p:spPr>
          <a:xfrm>
            <a:off x="7772400" y="2209800"/>
            <a:ext cx="266700" cy="152400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58" name="main-profile-no-parking">
            <a:extLst>
              <a:ext uri="{FF2B5EF4-FFF2-40B4-BE49-F238E27FC236}">
                <a16:creationId xmlns:a16="http://schemas.microsoft.com/office/drawing/2014/main" id="{58055386-C15C-4633-86C3-E98B41F3B5D0}"/>
              </a:ext>
            </a:extLst>
          </p:cNvPr>
          <p:cNvSpPr>
            <a:spLocks noGrp="1"/>
          </p:cNvSpPr>
          <p:nvPr/>
        </p:nvSpPr>
        <p:spPr>
          <a:xfrm>
            <a:off x="3048000" y="2343150"/>
            <a:ext cx="1857375" cy="953"/>
          </a:xfrm>
          <a:prstGeom prst="line">
            <a:avLst/>
          </a:prstGeom>
          <a:noFill/>
          <a:ln w="47625">
            <a:solidFill>
              <a:srgbClr val="7D2633"/>
            </a:solidFill>
            <a:prstDash val="solid"/>
          </a:ln>
        </p:spPr>
      </p:sp>
      <p:sp>
        <p:nvSpPr>
          <p:cNvPr id="59" name="main-profile-quick-stop">
            <a:extLst>
              <a:ext uri="{FF2B5EF4-FFF2-40B4-BE49-F238E27FC236}">
                <a16:creationId xmlns:a16="http://schemas.microsoft.com/office/drawing/2014/main" id="{FF30B2CE-BA6E-46A1-9543-8EC020B5DBD6}"/>
              </a:ext>
            </a:extLst>
          </p:cNvPr>
          <p:cNvSpPr>
            <a:spLocks noGrp="1"/>
          </p:cNvSpPr>
          <p:nvPr/>
        </p:nvSpPr>
        <p:spPr>
          <a:xfrm>
            <a:off x="4905375" y="2343150"/>
            <a:ext cx="1666875" cy="953"/>
          </a:xfrm>
          <a:prstGeom prst="line">
            <a:avLst/>
          </a:prstGeom>
          <a:noFill/>
          <a:ln w="47625">
            <a:solidFill>
              <a:srgbClr val="303634"/>
            </a:solidFill>
            <a:prstDash val="solid"/>
          </a:ln>
        </p:spPr>
      </p:sp>
      <p:sp>
        <p:nvSpPr>
          <p:cNvPr id="60" name="main-profile-temporary">
            <a:extLst>
              <a:ext uri="{FF2B5EF4-FFF2-40B4-BE49-F238E27FC236}">
                <a16:creationId xmlns:a16="http://schemas.microsoft.com/office/drawing/2014/main" id="{CAD2B007-FAE4-4648-A706-1F9BFABCB1B4}"/>
              </a:ext>
            </a:extLst>
          </p:cNvPr>
          <p:cNvSpPr>
            <a:spLocks noGrp="1"/>
          </p:cNvSpPr>
          <p:nvPr/>
        </p:nvSpPr>
        <p:spPr>
          <a:xfrm>
            <a:off x="6572250" y="2314575"/>
            <a:ext cx="1762125" cy="66675"/>
          </a:xfrm>
          <a:prstGeom prst="rect">
            <a:avLst/>
          </a:prstGeom>
          <a:solidFill>
            <a:srgbClr val="FFFFFF"/>
          </a:solidFill>
          <a:ln w="11906">
            <a:solidFill>
              <a:srgbClr val="D5D0C7"/>
            </a:solidFill>
            <a:prstDash val="solid"/>
          </a:ln>
        </p:spPr>
      </p:sp>
      <p:sp>
        <p:nvSpPr>
          <p:cNvPr id="61" name="main-profile-label-no-parking">
            <a:extLst>
              <a:ext uri="{FF2B5EF4-FFF2-40B4-BE49-F238E27FC236}">
                <a16:creationId xmlns:a16="http://schemas.microsoft.com/office/drawing/2014/main" id="{7848F613-18E6-4E2D-B69D-2509B685CC29}"/>
              </a:ext>
            </a:extLst>
          </p:cNvPr>
          <p:cNvSpPr>
            <a:spLocks noGrp="1"/>
          </p:cNvSpPr>
          <p:nvPr/>
        </p:nvSpPr>
        <p:spPr>
          <a:xfrm>
            <a:off x="3048000" y="2381250"/>
            <a:ext cx="1857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禁止停车</a:t>
            </a:r>
          </a:p>
        </p:txBody>
      </p:sp>
      <p:sp>
        <p:nvSpPr>
          <p:cNvPr id="62" name="main-profile-label-quick-stop">
            <a:extLst>
              <a:ext uri="{FF2B5EF4-FFF2-40B4-BE49-F238E27FC236}">
                <a16:creationId xmlns:a16="http://schemas.microsoft.com/office/drawing/2014/main" id="{A02EA187-303E-42B1-9B40-630F8C160133}"/>
              </a:ext>
            </a:extLst>
          </p:cNvPr>
          <p:cNvSpPr>
            <a:spLocks noGrp="1"/>
          </p:cNvSpPr>
          <p:nvPr/>
        </p:nvSpPr>
        <p:spPr>
          <a:xfrm>
            <a:off x="4905375" y="2381250"/>
            <a:ext cx="1666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即停即走</a:t>
            </a:r>
          </a:p>
        </p:txBody>
      </p:sp>
      <p:sp>
        <p:nvSpPr>
          <p:cNvPr id="63" name="main-profile-label-temporary">
            <a:extLst>
              <a:ext uri="{FF2B5EF4-FFF2-40B4-BE49-F238E27FC236}">
                <a16:creationId xmlns:a16="http://schemas.microsoft.com/office/drawing/2014/main" id="{D2C4C612-EAEA-48AD-B5EA-20D7AF0D82EF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临时停靠</a:t>
            </a:r>
          </a:p>
        </p:txBody>
      </p:sp>
      <p:sp>
        <p:nvSpPr>
          <p:cNvPr id="64" name="junction-details">
            <a:extLst>
              <a:ext uri="{FF2B5EF4-FFF2-40B4-BE49-F238E27FC236}">
                <a16:creationId xmlns:a16="http://schemas.microsoft.com/office/drawing/2014/main" id="{43D1B4E5-5A3C-4E8E-B9C1-C57E5EA7F466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路口范围、内部道路</a:t>
            </a:r>
          </a:p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路口端、进出方向</a:t>
            </a:r>
          </a:p>
        </p:txBody>
      </p:sp>
      <p:sp>
        <p:nvSpPr>
          <p:cNvPr id="65" name="segment-details">
            <a:extLst>
              <a:ext uri="{FF2B5EF4-FFF2-40B4-BE49-F238E27FC236}">
                <a16:creationId xmlns:a16="http://schemas.microsoft.com/office/drawing/2014/main" id="{E51BB7D2-E4D0-4369-96BB-B811029C14B2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行驶方向、道路一侧</a:t>
            </a:r>
          </a:p>
          <a:p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作用区间、停靠属性、来源证据</a:t>
            </a:r>
          </a:p>
        </p:txBody>
      </p:sp>
      <p:sp>
        <p:nvSpPr>
          <p:cNvPr id="66" name="right-junction-details">
            <a:extLst>
              <a:ext uri="{FF2B5EF4-FFF2-40B4-BE49-F238E27FC236}">
                <a16:creationId xmlns:a16="http://schemas.microsoft.com/office/drawing/2014/main" id="{69B0E2B7-6979-4A72-8579-46719A76AD0D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路口范围、内部道路</a:t>
            </a:r>
          </a:p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路口端、进出方向</a:t>
            </a:r>
          </a:p>
        </p:txBody>
      </p:sp>
      <p:sp>
        <p:nvSpPr>
          <p:cNvPr id="67" name="minimum-unit">
            <a:extLst>
              <a:ext uri="{FF2B5EF4-FFF2-40B4-BE49-F238E27FC236}">
                <a16:creationId xmlns:a16="http://schemas.microsoft.com/office/drawing/2014/main" id="{12638273-770C-4C0F-93E8-224727E0742C}"/>
              </a:ext>
            </a:extLst>
          </p:cNvPr>
          <p:cNvSpPr>
            <a:spLocks noGrp="1"/>
          </p:cNvSpPr>
          <p:nvPr/>
        </p:nvSpPr>
        <p:spPr>
          <a:xfrm>
            <a:off x="3381375" y="3028950"/>
            <a:ext cx="500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最小编制单元：路口／开口＋路段＋行驶方向</a:t>
            </a:r>
          </a:p>
        </p:txBody>
      </p:sp>
      <p:sp>
        <p:nvSpPr>
          <p:cNvPr id="68" name="result-accent">
            <a:extLst>
              <a:ext uri="{FF2B5EF4-FFF2-40B4-BE49-F238E27FC236}">
                <a16:creationId xmlns:a16="http://schemas.microsoft.com/office/drawing/2014/main" id="{F578B230-10A9-43B7-8319-B6510F2B2D52}"/>
              </a:ext>
            </a:extLst>
          </p:cNvPr>
          <p:cNvSpPr>
            <a:spLocks noGrp="1"/>
          </p:cNvSpPr>
          <p:nvPr/>
        </p:nvSpPr>
        <p:spPr>
          <a:xfrm>
            <a:off x="9620250" y="1304925"/>
            <a:ext cx="285750" cy="953"/>
          </a:xfrm>
          <a:prstGeom prst="line">
            <a:avLst/>
          </a:prstGeom>
          <a:noFill/>
          <a:ln w="28575">
            <a:solidFill>
              <a:srgbClr val="7D2633"/>
            </a:solidFill>
            <a:prstDash val="solid"/>
          </a:ln>
        </p:spPr>
      </p:sp>
      <p:sp>
        <p:nvSpPr>
          <p:cNvPr id="69" name="result-title">
            <a:extLst>
              <a:ext uri="{FF2B5EF4-FFF2-40B4-BE49-F238E27FC236}">
                <a16:creationId xmlns:a16="http://schemas.microsoft.com/office/drawing/2014/main" id="{CC54E75B-7C36-47D7-A300-126D8A9C697B}"/>
              </a:ext>
            </a:extLst>
          </p:cNvPr>
          <p:cNvSpPr>
            <a:spLocks noGrp="1"/>
          </p:cNvSpPr>
          <p:nvPr/>
        </p:nvSpPr>
        <p:spPr>
          <a:xfrm>
            <a:off x="9620250" y="1362075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RCSD静态停靠剖面</a:t>
            </a:r>
          </a:p>
        </p:txBody>
      </p:sp>
      <p:sp>
        <p:nvSpPr>
          <p:cNvPr id="70" name="result-profile-no-parking">
            <a:extLst>
              <a:ext uri="{FF2B5EF4-FFF2-40B4-BE49-F238E27FC236}">
                <a16:creationId xmlns:a16="http://schemas.microsoft.com/office/drawing/2014/main" id="{58EC3C68-8FE2-4E4A-8E6E-DDE811B8D2E8}"/>
              </a:ext>
            </a:extLst>
          </p:cNvPr>
          <p:cNvSpPr>
            <a:spLocks noGrp="1"/>
          </p:cNvSpPr>
          <p:nvPr/>
        </p:nvSpPr>
        <p:spPr>
          <a:xfrm>
            <a:off x="9667875" y="1809750"/>
            <a:ext cx="742950" cy="953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71" name="result-label-no-parking">
            <a:extLst>
              <a:ext uri="{FF2B5EF4-FFF2-40B4-BE49-F238E27FC236}">
                <a16:creationId xmlns:a16="http://schemas.microsoft.com/office/drawing/2014/main" id="{66ED13A4-4578-44DE-8127-8B653C0FF19C}"/>
              </a:ext>
            </a:extLst>
          </p:cNvPr>
          <p:cNvSpPr>
            <a:spLocks noGrp="1"/>
          </p:cNvSpPr>
          <p:nvPr/>
        </p:nvSpPr>
        <p:spPr>
          <a:xfrm>
            <a:off x="10525125" y="170497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禁止停车</a:t>
            </a:r>
          </a:p>
        </p:txBody>
      </p:sp>
      <p:sp>
        <p:nvSpPr>
          <p:cNvPr id="72" name="result-profile-quick-stop">
            <a:extLst>
              <a:ext uri="{FF2B5EF4-FFF2-40B4-BE49-F238E27FC236}">
                <a16:creationId xmlns:a16="http://schemas.microsoft.com/office/drawing/2014/main" id="{1D657F6C-C007-4F6A-BA30-D01A8A306035}"/>
              </a:ext>
            </a:extLst>
          </p:cNvPr>
          <p:cNvSpPr>
            <a:spLocks noGrp="1"/>
          </p:cNvSpPr>
          <p:nvPr/>
        </p:nvSpPr>
        <p:spPr>
          <a:xfrm>
            <a:off x="9667875" y="2114550"/>
            <a:ext cx="742950" cy="953"/>
          </a:xfrm>
          <a:prstGeom prst="line">
            <a:avLst/>
          </a:prstGeom>
          <a:noFill/>
          <a:ln w="38100">
            <a:solidFill>
              <a:srgbClr val="303634"/>
            </a:solidFill>
            <a:prstDash val="solid"/>
          </a:ln>
        </p:spPr>
      </p:sp>
      <p:sp>
        <p:nvSpPr>
          <p:cNvPr id="73" name="result-label-quick-stop">
            <a:extLst>
              <a:ext uri="{FF2B5EF4-FFF2-40B4-BE49-F238E27FC236}">
                <a16:creationId xmlns:a16="http://schemas.microsoft.com/office/drawing/2014/main" id="{5BCB414C-CBEF-4DE9-B32C-455074849590}"/>
              </a:ext>
            </a:extLst>
          </p:cNvPr>
          <p:cNvSpPr>
            <a:spLocks noGrp="1"/>
          </p:cNvSpPr>
          <p:nvPr/>
        </p:nvSpPr>
        <p:spPr>
          <a:xfrm>
            <a:off x="10525125" y="200977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即停即走</a:t>
            </a:r>
          </a:p>
        </p:txBody>
      </p:sp>
      <p:sp>
        <p:nvSpPr>
          <p:cNvPr id="74" name="result-profile-temporary">
            <a:extLst>
              <a:ext uri="{FF2B5EF4-FFF2-40B4-BE49-F238E27FC236}">
                <a16:creationId xmlns:a16="http://schemas.microsoft.com/office/drawing/2014/main" id="{C07516D0-B647-4816-B477-DE79DE2C3284}"/>
              </a:ext>
            </a:extLst>
          </p:cNvPr>
          <p:cNvSpPr>
            <a:spLocks noGrp="1"/>
          </p:cNvSpPr>
          <p:nvPr/>
        </p:nvSpPr>
        <p:spPr>
          <a:xfrm>
            <a:off x="9667875" y="2390775"/>
            <a:ext cx="742950" cy="66675"/>
          </a:xfrm>
          <a:prstGeom prst="rect">
            <a:avLst/>
          </a:prstGeom>
          <a:solidFill>
            <a:srgbClr val="FFFFFF"/>
          </a:solidFill>
          <a:ln w="11430">
            <a:solidFill>
              <a:srgbClr val="D5D0C7"/>
            </a:solidFill>
            <a:prstDash val="solid"/>
          </a:ln>
        </p:spPr>
      </p:sp>
      <p:sp>
        <p:nvSpPr>
          <p:cNvPr id="75" name="result-label-temporary">
            <a:extLst>
              <a:ext uri="{FF2B5EF4-FFF2-40B4-BE49-F238E27FC236}">
                <a16:creationId xmlns:a16="http://schemas.microsoft.com/office/drawing/2014/main" id="{78E664D9-D6F2-4906-B5C6-7DFA6B7607C8}"/>
              </a:ext>
            </a:extLst>
          </p:cNvPr>
          <p:cNvSpPr>
            <a:spLocks noGrp="1"/>
          </p:cNvSpPr>
          <p:nvPr/>
        </p:nvSpPr>
        <p:spPr>
          <a:xfrm>
            <a:off x="10525125" y="23050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临时停靠</a:t>
            </a:r>
          </a:p>
        </p:txBody>
      </p:sp>
      <p:sp>
        <p:nvSpPr>
          <p:cNvPr id="76" name="result-to-candidate-arrow">
            <a:extLst>
              <a:ext uri="{FF2B5EF4-FFF2-40B4-BE49-F238E27FC236}">
                <a16:creationId xmlns:a16="http://schemas.microsoft.com/office/drawing/2014/main" id="{30A71883-8C34-4E37-9645-0DCC850F4306}"/>
              </a:ext>
            </a:extLst>
          </p:cNvPr>
          <p:cNvSpPr>
            <a:spLocks noGrp="1"/>
          </p:cNvSpPr>
          <p:nvPr/>
        </p:nvSpPr>
        <p:spPr>
          <a:xfrm>
            <a:off x="9791700" y="2743200"/>
            <a:ext cx="285750" cy="123825"/>
          </a:xfrm>
          <a:prstGeom prst="rightArrow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77" name="boarding-candidate">
            <a:extLst>
              <a:ext uri="{FF2B5EF4-FFF2-40B4-BE49-F238E27FC236}">
                <a16:creationId xmlns:a16="http://schemas.microsoft.com/office/drawing/2014/main" id="{822DA1B2-6FC6-4586-8CB6-AA2835184A73}"/>
              </a:ext>
            </a:extLst>
          </p:cNvPr>
          <p:cNvSpPr>
            <a:spLocks noGrp="1"/>
          </p:cNvSpPr>
          <p:nvPr/>
        </p:nvSpPr>
        <p:spPr>
          <a:xfrm>
            <a:off x="10191750" y="2600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上下客候选</a:t>
            </a:r>
          </a:p>
        </p:txBody>
      </p:sp>
      <p:sp>
        <p:nvSpPr>
          <p:cNvPr id="78" name="waiting-candidate">
            <a:extLst>
              <a:ext uri="{FF2B5EF4-FFF2-40B4-BE49-F238E27FC236}">
                <a16:creationId xmlns:a16="http://schemas.microsoft.com/office/drawing/2014/main" id="{3B677A68-6A4B-4C16-A201-01EDE67357D8}"/>
              </a:ext>
            </a:extLst>
          </p:cNvPr>
          <p:cNvSpPr>
            <a:spLocks noGrp="1"/>
          </p:cNvSpPr>
          <p:nvPr/>
        </p:nvSpPr>
        <p:spPr>
          <a:xfrm>
            <a:off x="10191750" y="288607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候客候选</a:t>
            </a:r>
          </a:p>
        </p:txBody>
      </p:sp>
      <p:sp>
        <p:nvSpPr>
          <p:cNvPr id="79" name="projection-guide-1">
            <a:extLst>
              <a:ext uri="{FF2B5EF4-FFF2-40B4-BE49-F238E27FC236}">
                <a16:creationId xmlns:a16="http://schemas.microsoft.com/office/drawing/2014/main" id="{FE9DBFD4-3D18-4C11-9F7E-C5FE3D917E75}"/>
              </a:ext>
            </a:extLst>
          </p:cNvPr>
          <p:cNvSpPr>
            <a:spLocks noGrp="1"/>
          </p:cNvSpPr>
          <p:nvPr/>
        </p:nvSpPr>
        <p:spPr>
          <a:xfrm>
            <a:off x="2686050" y="3286125"/>
            <a:ext cx="953" cy="4191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0" name="projection-guide-2">
            <a:extLst>
              <a:ext uri="{FF2B5EF4-FFF2-40B4-BE49-F238E27FC236}">
                <a16:creationId xmlns:a16="http://schemas.microsoft.com/office/drawing/2014/main" id="{7C3637AF-8F29-4C32-BF37-1279F939563B}"/>
              </a:ext>
            </a:extLst>
          </p:cNvPr>
          <p:cNvSpPr>
            <a:spLocks noGrp="1"/>
          </p:cNvSpPr>
          <p:nvPr/>
        </p:nvSpPr>
        <p:spPr>
          <a:xfrm>
            <a:off x="5810250" y="3286125"/>
            <a:ext cx="953" cy="4191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1" name="projection-guide-3">
            <a:extLst>
              <a:ext uri="{FF2B5EF4-FFF2-40B4-BE49-F238E27FC236}">
                <a16:creationId xmlns:a16="http://schemas.microsoft.com/office/drawing/2014/main" id="{C9CF57B1-373F-4061-A567-26130F71E9CA}"/>
              </a:ext>
            </a:extLst>
          </p:cNvPr>
          <p:cNvSpPr>
            <a:spLocks noGrp="1"/>
          </p:cNvSpPr>
          <p:nvPr/>
        </p:nvSpPr>
        <p:spPr>
          <a:xfrm>
            <a:off x="7524750" y="3286125"/>
            <a:ext cx="953" cy="4191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2" name="local-separator-1">
            <a:extLst>
              <a:ext uri="{FF2B5EF4-FFF2-40B4-BE49-F238E27FC236}">
                <a16:creationId xmlns:a16="http://schemas.microsoft.com/office/drawing/2014/main" id="{C3303882-D277-4D86-902D-77905CB273D5}"/>
              </a:ext>
            </a:extLst>
          </p:cNvPr>
          <p:cNvSpPr>
            <a:spLocks noGrp="1"/>
          </p:cNvSpPr>
          <p:nvPr/>
        </p:nvSpPr>
        <p:spPr>
          <a:xfrm>
            <a:off x="5810250" y="3705225"/>
            <a:ext cx="953" cy="1914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3" name="local-separator-2">
            <a:extLst>
              <a:ext uri="{FF2B5EF4-FFF2-40B4-BE49-F238E27FC236}">
                <a16:creationId xmlns:a16="http://schemas.microsoft.com/office/drawing/2014/main" id="{C55BEC42-F8DE-4599-B4A4-BAD9976839F0}"/>
              </a:ext>
            </a:extLst>
          </p:cNvPr>
          <p:cNvSpPr>
            <a:spLocks noGrp="1"/>
          </p:cNvSpPr>
          <p:nvPr/>
        </p:nvSpPr>
        <p:spPr>
          <a:xfrm>
            <a:off x="8810625" y="3705225"/>
            <a:ext cx="953" cy="1914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4" name="junction-grade-title">
            <a:extLst>
              <a:ext uri="{FF2B5EF4-FFF2-40B4-BE49-F238E27FC236}">
                <a16:creationId xmlns:a16="http://schemas.microsoft.com/office/drawing/2014/main" id="{D7C25B96-F83A-4CAE-A41F-F4AD53C24579}"/>
              </a:ext>
            </a:extLst>
          </p:cNvPr>
          <p:cNvSpPr>
            <a:spLocks noGrp="1"/>
          </p:cNvSpPr>
          <p:nvPr/>
        </p:nvSpPr>
        <p:spPr>
          <a:xfrm>
            <a:off x="657225" y="374332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路口分级</a:t>
            </a:r>
          </a:p>
        </p:txBody>
      </p:sp>
      <p:sp>
        <p:nvSpPr>
          <p:cNvPr id="85" name="junction-internal-label">
            <a:extLst>
              <a:ext uri="{FF2B5EF4-FFF2-40B4-BE49-F238E27FC236}">
                <a16:creationId xmlns:a16="http://schemas.microsoft.com/office/drawing/2014/main" id="{BC1CF63E-5824-40BB-A39A-D89665C0C4E0}"/>
              </a:ext>
            </a:extLst>
          </p:cNvPr>
          <p:cNvSpPr>
            <a:spLocks noGrp="1"/>
          </p:cNvSpPr>
          <p:nvPr/>
        </p:nvSpPr>
        <p:spPr>
          <a:xfrm>
            <a:off x="657225" y="40100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路口内部：禁止停车</a:t>
            </a:r>
          </a:p>
        </p:txBody>
      </p:sp>
      <p:sp>
        <p:nvSpPr>
          <p:cNvPr id="86" name="grade-baseline">
            <a:extLst>
              <a:ext uri="{FF2B5EF4-FFF2-40B4-BE49-F238E27FC236}">
                <a16:creationId xmlns:a16="http://schemas.microsoft.com/office/drawing/2014/main" id="{4FA0682C-3CD3-4053-BB59-8395C992E97D}"/>
              </a:ext>
            </a:extLst>
          </p:cNvPr>
          <p:cNvSpPr>
            <a:spLocks noGrp="1"/>
          </p:cNvSpPr>
          <p:nvPr/>
        </p:nvSpPr>
        <p:spPr>
          <a:xfrm>
            <a:off x="2952750" y="4286250"/>
            <a:ext cx="2524125" cy="953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7" name="grade-tick-0">
            <a:extLst>
              <a:ext uri="{FF2B5EF4-FFF2-40B4-BE49-F238E27FC236}">
                <a16:creationId xmlns:a16="http://schemas.microsoft.com/office/drawing/2014/main" id="{2172528D-D419-4E66-A667-5EFA328C52F0}"/>
              </a:ext>
            </a:extLst>
          </p:cNvPr>
          <p:cNvSpPr>
            <a:spLocks noGrp="1"/>
          </p:cNvSpPr>
          <p:nvPr/>
        </p:nvSpPr>
        <p:spPr>
          <a:xfrm>
            <a:off x="2952750" y="4229100"/>
            <a:ext cx="953" cy="13144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8" name="grade-tick-label-0">
            <a:extLst>
              <a:ext uri="{FF2B5EF4-FFF2-40B4-BE49-F238E27FC236}">
                <a16:creationId xmlns:a16="http://schemas.microsoft.com/office/drawing/2014/main" id="{AAC19C63-2C1E-46A4-B060-CF55D82CBFA9}"/>
              </a:ext>
            </a:extLst>
          </p:cNvPr>
          <p:cNvSpPr>
            <a:spLocks noGrp="1"/>
          </p:cNvSpPr>
          <p:nvPr/>
        </p:nvSpPr>
        <p:spPr>
          <a:xfrm>
            <a:off x="2743200" y="410527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9" name="grade-tick-10">
            <a:extLst>
              <a:ext uri="{FF2B5EF4-FFF2-40B4-BE49-F238E27FC236}">
                <a16:creationId xmlns:a16="http://schemas.microsoft.com/office/drawing/2014/main" id="{4112D359-2E51-4692-9FF6-E0A5987A6F1B}"/>
              </a:ext>
            </a:extLst>
          </p:cNvPr>
          <p:cNvSpPr>
            <a:spLocks noGrp="1"/>
          </p:cNvSpPr>
          <p:nvPr/>
        </p:nvSpPr>
        <p:spPr>
          <a:xfrm>
            <a:off x="3476625" y="4229100"/>
            <a:ext cx="953" cy="13144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90" name="grade-tick-label-10">
            <a:extLst>
              <a:ext uri="{FF2B5EF4-FFF2-40B4-BE49-F238E27FC236}">
                <a16:creationId xmlns:a16="http://schemas.microsoft.com/office/drawing/2014/main" id="{80FDB844-9042-4E97-9EED-AB338A5FFECA}"/>
              </a:ext>
            </a:extLst>
          </p:cNvPr>
          <p:cNvSpPr>
            <a:spLocks noGrp="1"/>
          </p:cNvSpPr>
          <p:nvPr/>
        </p:nvSpPr>
        <p:spPr>
          <a:xfrm>
            <a:off x="3267075" y="410527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1" name="grade-tick-50">
            <a:extLst>
              <a:ext uri="{FF2B5EF4-FFF2-40B4-BE49-F238E27FC236}">
                <a16:creationId xmlns:a16="http://schemas.microsoft.com/office/drawing/2014/main" id="{820963CA-0348-4599-9758-3DE2936370E7}"/>
              </a:ext>
            </a:extLst>
          </p:cNvPr>
          <p:cNvSpPr>
            <a:spLocks noGrp="1"/>
          </p:cNvSpPr>
          <p:nvPr/>
        </p:nvSpPr>
        <p:spPr>
          <a:xfrm>
            <a:off x="5476875" y="4229100"/>
            <a:ext cx="953" cy="13144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92" name="grade-tick-label-50">
            <a:extLst>
              <a:ext uri="{FF2B5EF4-FFF2-40B4-BE49-F238E27FC236}">
                <a16:creationId xmlns:a16="http://schemas.microsoft.com/office/drawing/2014/main" id="{705BF66D-32C5-4114-9736-A3094786294B}"/>
              </a:ext>
            </a:extLst>
          </p:cNvPr>
          <p:cNvSpPr>
            <a:spLocks noGrp="1"/>
          </p:cNvSpPr>
          <p:nvPr/>
        </p:nvSpPr>
        <p:spPr>
          <a:xfrm>
            <a:off x="5267325" y="410527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50米</a:t>
            </a:r>
          </a:p>
        </p:txBody>
      </p:sp>
      <p:sp>
        <p:nvSpPr>
          <p:cNvPr id="93" name="grade-row-1-text">
            <a:extLst>
              <a:ext uri="{FF2B5EF4-FFF2-40B4-BE49-F238E27FC236}">
                <a16:creationId xmlns:a16="http://schemas.microsoft.com/office/drawing/2014/main" id="{461EF868-D2FE-42CF-A2AD-96609FD9AAB0}"/>
              </a:ext>
            </a:extLst>
          </p:cNvPr>
          <p:cNvSpPr>
            <a:spLocks noGrp="1"/>
          </p:cNvSpPr>
          <p:nvPr/>
        </p:nvSpPr>
        <p:spPr>
          <a:xfrm>
            <a:off x="657225" y="43338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一级｜0—50米 禁止停车</a:t>
            </a:r>
          </a:p>
        </p:txBody>
      </p:sp>
      <p:sp>
        <p:nvSpPr>
          <p:cNvPr id="94" name="grade-row-1-no-parking">
            <a:extLst>
              <a:ext uri="{FF2B5EF4-FFF2-40B4-BE49-F238E27FC236}">
                <a16:creationId xmlns:a16="http://schemas.microsoft.com/office/drawing/2014/main" id="{A2CC6A20-0446-4CBC-849F-BD443624BC5D}"/>
              </a:ext>
            </a:extLst>
          </p:cNvPr>
          <p:cNvSpPr>
            <a:spLocks noGrp="1"/>
          </p:cNvSpPr>
          <p:nvPr/>
        </p:nvSpPr>
        <p:spPr>
          <a:xfrm>
            <a:off x="2952750" y="4438650"/>
            <a:ext cx="2524125" cy="95250"/>
          </a:xfrm>
          <a:prstGeom prst="rect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95" name="grade-row-2-text">
            <a:extLst>
              <a:ext uri="{FF2B5EF4-FFF2-40B4-BE49-F238E27FC236}">
                <a16:creationId xmlns:a16="http://schemas.microsoft.com/office/drawing/2014/main" id="{ADCBF831-E24A-4C9D-87F9-3DF8ED653327}"/>
              </a:ext>
            </a:extLst>
          </p:cNvPr>
          <p:cNvSpPr>
            <a:spLocks noGrp="1"/>
          </p:cNvSpPr>
          <p:nvPr/>
        </p:nvSpPr>
        <p:spPr>
          <a:xfrm>
            <a:off x="657225" y="47053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二级｜0—10米 禁止停车；</a:t>
            </a:r>
          </a:p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10—50米 即停即走</a:t>
            </a:r>
          </a:p>
        </p:txBody>
      </p:sp>
      <p:sp>
        <p:nvSpPr>
          <p:cNvPr id="96" name="grade-row-2-no-parking">
            <a:extLst>
              <a:ext uri="{FF2B5EF4-FFF2-40B4-BE49-F238E27FC236}">
                <a16:creationId xmlns:a16="http://schemas.microsoft.com/office/drawing/2014/main" id="{195EB931-B8CD-43A4-8E20-7163BACCCEC1}"/>
              </a:ext>
            </a:extLst>
          </p:cNvPr>
          <p:cNvSpPr>
            <a:spLocks noGrp="1"/>
          </p:cNvSpPr>
          <p:nvPr/>
        </p:nvSpPr>
        <p:spPr>
          <a:xfrm>
            <a:off x="2952750" y="4857750"/>
            <a:ext cx="523875" cy="95250"/>
          </a:xfrm>
          <a:prstGeom prst="rect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97" name="grade-row-2-quick-stop">
            <a:extLst>
              <a:ext uri="{FF2B5EF4-FFF2-40B4-BE49-F238E27FC236}">
                <a16:creationId xmlns:a16="http://schemas.microsoft.com/office/drawing/2014/main" id="{22124DF6-7C44-470D-8BB2-5DD5378C6E09}"/>
              </a:ext>
            </a:extLst>
          </p:cNvPr>
          <p:cNvSpPr>
            <a:spLocks noGrp="1"/>
          </p:cNvSpPr>
          <p:nvPr/>
        </p:nvSpPr>
        <p:spPr>
          <a:xfrm>
            <a:off x="3476625" y="4857750"/>
            <a:ext cx="2000250" cy="95250"/>
          </a:xfrm>
          <a:prstGeom prst="rect">
            <a:avLst/>
          </a:prstGeom>
          <a:solidFill>
            <a:srgbClr val="FFFFFF"/>
          </a:solidFill>
          <a:ln w="11430">
            <a:solidFill>
              <a:srgbClr val="303634"/>
            </a:solidFill>
            <a:prstDash val="solid"/>
          </a:ln>
        </p:spPr>
      </p:sp>
      <p:sp>
        <p:nvSpPr>
          <p:cNvPr id="98" name="grade-row-3-text">
            <a:extLst>
              <a:ext uri="{FF2B5EF4-FFF2-40B4-BE49-F238E27FC236}">
                <a16:creationId xmlns:a16="http://schemas.microsoft.com/office/drawing/2014/main" id="{6295E86A-FE19-444A-A033-642C1500759D}"/>
              </a:ext>
            </a:extLst>
          </p:cNvPr>
          <p:cNvSpPr>
            <a:spLocks noGrp="1"/>
          </p:cNvSpPr>
          <p:nvPr/>
        </p:nvSpPr>
        <p:spPr>
          <a:xfrm>
            <a:off x="657225" y="51625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三级｜0—10米 禁止停车；</a:t>
            </a:r>
          </a:p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10米外 恢复路段基础属性</a:t>
            </a:r>
          </a:p>
        </p:txBody>
      </p:sp>
      <p:sp>
        <p:nvSpPr>
          <p:cNvPr id="99" name="grade-row-3-no-parking">
            <a:extLst>
              <a:ext uri="{FF2B5EF4-FFF2-40B4-BE49-F238E27FC236}">
                <a16:creationId xmlns:a16="http://schemas.microsoft.com/office/drawing/2014/main" id="{D9269ECF-C47C-4D63-B197-85E4C507993A}"/>
              </a:ext>
            </a:extLst>
          </p:cNvPr>
          <p:cNvSpPr>
            <a:spLocks noGrp="1"/>
          </p:cNvSpPr>
          <p:nvPr/>
        </p:nvSpPr>
        <p:spPr>
          <a:xfrm>
            <a:off x="2952750" y="5314950"/>
            <a:ext cx="523875" cy="95250"/>
          </a:xfrm>
          <a:prstGeom prst="rect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00" name="grade-row-3-base">
            <a:extLst>
              <a:ext uri="{FF2B5EF4-FFF2-40B4-BE49-F238E27FC236}">
                <a16:creationId xmlns:a16="http://schemas.microsoft.com/office/drawing/2014/main" id="{9913F7C6-675F-42EA-BCEE-23AF0A72F22C}"/>
              </a:ext>
            </a:extLst>
          </p:cNvPr>
          <p:cNvSpPr>
            <a:spLocks noGrp="1"/>
          </p:cNvSpPr>
          <p:nvPr/>
        </p:nvSpPr>
        <p:spPr>
          <a:xfrm>
            <a:off x="3476625" y="5314950"/>
            <a:ext cx="2000250" cy="95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0C7"/>
            </a:solidFill>
            <a:prstDash val="solid"/>
          </a:ln>
        </p:spPr>
      </p:sp>
      <p:sp>
        <p:nvSpPr>
          <p:cNvPr id="101" name="ban-local-title">
            <a:extLst>
              <a:ext uri="{FF2B5EF4-FFF2-40B4-BE49-F238E27FC236}">
                <a16:creationId xmlns:a16="http://schemas.microsoft.com/office/drawing/2014/main" id="{EBBD021B-7ED6-4AFC-BEF0-9C8DBE04F5DA}"/>
              </a:ext>
            </a:extLst>
          </p:cNvPr>
          <p:cNvSpPr>
            <a:spLocks noGrp="1"/>
          </p:cNvSpPr>
          <p:nvPr/>
        </p:nvSpPr>
        <p:spPr>
          <a:xfrm>
            <a:off x="6000750" y="374332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禁停标牌</a:t>
            </a:r>
          </a:p>
        </p:txBody>
      </p:sp>
      <p:sp>
        <p:nvSpPr>
          <p:cNvPr id="102" name="ban-local-road">
            <a:extLst>
              <a:ext uri="{FF2B5EF4-FFF2-40B4-BE49-F238E27FC236}">
                <a16:creationId xmlns:a16="http://schemas.microsoft.com/office/drawing/2014/main" id="{F6E2E505-79C7-4456-A1C8-4649B667DC21}"/>
              </a:ext>
            </a:extLst>
          </p:cNvPr>
          <p:cNvSpPr>
            <a:spLocks noGrp="1"/>
          </p:cNvSpPr>
          <p:nvPr/>
        </p:nvSpPr>
        <p:spPr>
          <a:xfrm>
            <a:off x="6000750" y="4171950"/>
            <a:ext cx="2619375" cy="4572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  <a:prstDash val="solid"/>
          </a:ln>
        </p:spPr>
      </p:sp>
      <p:sp>
        <p:nvSpPr>
          <p:cNvPr id="103" name="ban-local-lane-divider">
            <a:extLst>
              <a:ext uri="{FF2B5EF4-FFF2-40B4-BE49-F238E27FC236}">
                <a16:creationId xmlns:a16="http://schemas.microsoft.com/office/drawing/2014/main" id="{137518B6-7696-4593-B1A2-5BE0A82DDF6F}"/>
              </a:ext>
            </a:extLst>
          </p:cNvPr>
          <p:cNvSpPr>
            <a:spLocks noGrp="1"/>
          </p:cNvSpPr>
          <p:nvPr/>
        </p:nvSpPr>
        <p:spPr>
          <a:xfrm>
            <a:off x="6000750" y="4400550"/>
            <a:ext cx="2619375" cy="953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04" name="ban-local-next-junction">
            <a:extLst>
              <a:ext uri="{FF2B5EF4-FFF2-40B4-BE49-F238E27FC236}">
                <a16:creationId xmlns:a16="http://schemas.microsoft.com/office/drawing/2014/main" id="{D7D383D0-034B-4856-9FDA-D2DBF49152E4}"/>
              </a:ext>
            </a:extLst>
          </p:cNvPr>
          <p:cNvSpPr>
            <a:spLocks noGrp="1"/>
          </p:cNvSpPr>
          <p:nvPr/>
        </p:nvSpPr>
        <p:spPr>
          <a:xfrm>
            <a:off x="7981950" y="4057650"/>
            <a:ext cx="26670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0C7"/>
            </a:solidFill>
            <a:prstDash val="solid"/>
          </a:ln>
        </p:spPr>
      </p:sp>
      <p:sp>
        <p:nvSpPr>
          <p:cNvPr id="105" name="ban-local-current-side">
            <a:extLst>
              <a:ext uri="{FF2B5EF4-FFF2-40B4-BE49-F238E27FC236}">
                <a16:creationId xmlns:a16="http://schemas.microsoft.com/office/drawing/2014/main" id="{AAF38D2F-7CC2-4BC0-A83E-C70FE599A661}"/>
              </a:ext>
            </a:extLst>
          </p:cNvPr>
          <p:cNvSpPr>
            <a:spLocks noGrp="1"/>
          </p:cNvSpPr>
          <p:nvPr/>
        </p:nvSpPr>
        <p:spPr>
          <a:xfrm>
            <a:off x="6172200" y="4286250"/>
            <a:ext cx="1752600" cy="953"/>
          </a:xfrm>
          <a:prstGeom prst="line">
            <a:avLst/>
          </a:prstGeom>
          <a:noFill/>
          <a:ln w="66675">
            <a:solidFill>
              <a:srgbClr val="7D2633"/>
            </a:solidFill>
            <a:prstDash val="solid"/>
          </a:ln>
        </p:spPr>
      </p:sp>
      <p:sp>
        <p:nvSpPr>
          <p:cNvPr id="106" name="ban-local-current-direction">
            <a:extLst>
              <a:ext uri="{FF2B5EF4-FFF2-40B4-BE49-F238E27FC236}">
                <a16:creationId xmlns:a16="http://schemas.microsoft.com/office/drawing/2014/main" id="{1F026C34-D1A3-41B3-B983-872F3E255FCE}"/>
              </a:ext>
            </a:extLst>
          </p:cNvPr>
          <p:cNvSpPr>
            <a:spLocks noGrp="1"/>
          </p:cNvSpPr>
          <p:nvPr/>
        </p:nvSpPr>
        <p:spPr>
          <a:xfrm>
            <a:off x="6619875" y="4210050"/>
            <a:ext cx="742950" cy="123825"/>
          </a:xfrm>
          <a:prstGeom prst="rightArrow">
            <a:avLst/>
          </a:prstGeom>
          <a:solidFill>
            <a:srgbClr val="303634"/>
          </a:solidFill>
          <a:ln w="4763">
            <a:solidFill>
              <a:srgbClr val="303634"/>
            </a:solidFill>
            <a:prstDash val="solid"/>
          </a:ln>
        </p:spPr>
      </p:sp>
      <p:sp>
        <p:nvSpPr>
          <p:cNvPr id="107" name="ban-local-opposite-direction">
            <a:extLst>
              <a:ext uri="{FF2B5EF4-FFF2-40B4-BE49-F238E27FC236}">
                <a16:creationId xmlns:a16="http://schemas.microsoft.com/office/drawing/2014/main" id="{C6E0A1B4-5353-435D-A55B-BF82040E578F}"/>
              </a:ext>
            </a:extLst>
          </p:cNvPr>
          <p:cNvSpPr>
            <a:spLocks noGrp="1"/>
          </p:cNvSpPr>
          <p:nvPr/>
        </p:nvSpPr>
        <p:spPr>
          <a:xfrm>
            <a:off x="6696075" y="4467225"/>
            <a:ext cx="742950" cy="123825"/>
          </a:xfrm>
          <a:prstGeom prst="rightArrow">
            <a:avLst/>
          </a:prstGeom>
          <a:solidFill>
            <a:srgbClr val="303634"/>
          </a:solidFill>
          <a:ln w="4763">
            <a:solidFill>
              <a:srgbClr val="303634"/>
            </a:solidFill>
            <a:prstDash val="solid"/>
          </a:ln>
        </p:spPr>
      </p:sp>
      <p:sp>
        <p:nvSpPr>
          <p:cNvPr id="108" name="ban-local-sign">
            <a:extLst>
              <a:ext uri="{FF2B5EF4-FFF2-40B4-BE49-F238E27FC236}">
                <a16:creationId xmlns:a16="http://schemas.microsoft.com/office/drawing/2014/main" id="{E6FC5F6B-1AB1-4155-BD34-D46622052D32}"/>
              </a:ext>
            </a:extLst>
          </p:cNvPr>
          <p:cNvSpPr>
            <a:spLocks noGrp="1"/>
          </p:cNvSpPr>
          <p:nvPr/>
        </p:nvSpPr>
        <p:spPr>
          <a:xfrm>
            <a:off x="6819900" y="3962400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2633"/>
            </a:solidFill>
            <a:prstDash val="solid"/>
          </a:ln>
        </p:spPr>
      </p:sp>
      <p:sp>
        <p:nvSpPr>
          <p:cNvPr id="109" name="ban-local-sign-slash">
            <a:extLst>
              <a:ext uri="{FF2B5EF4-FFF2-40B4-BE49-F238E27FC236}">
                <a16:creationId xmlns:a16="http://schemas.microsoft.com/office/drawing/2014/main" id="{654D5B9E-7FDF-4EAC-85B4-7736962D734C}"/>
              </a:ext>
            </a:extLst>
          </p:cNvPr>
          <p:cNvSpPr>
            <a:spLocks noGrp="1"/>
          </p:cNvSpPr>
          <p:nvPr/>
        </p:nvSpPr>
        <p:spPr>
          <a:xfrm>
            <a:off x="6858000" y="4000500"/>
            <a:ext cx="133350" cy="13335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10" name="ban-local-rule">
            <a:extLst>
              <a:ext uri="{FF2B5EF4-FFF2-40B4-BE49-F238E27FC236}">
                <a16:creationId xmlns:a16="http://schemas.microsoft.com/office/drawing/2014/main" id="{2DA7919A-F358-42F0-B4D3-C7393770B286}"/>
              </a:ext>
            </a:extLst>
          </p:cNvPr>
          <p:cNvSpPr>
            <a:spLocks noGrp="1"/>
          </p:cNvSpPr>
          <p:nvPr/>
        </p:nvSpPr>
        <p:spPr>
          <a:xfrm>
            <a:off x="6000750" y="47720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当前路段＋标牌所在侧行驶方向</a:t>
            </a:r>
          </a:p>
        </p:txBody>
      </p:sp>
      <p:sp>
        <p:nvSpPr>
          <p:cNvPr id="111" name="ban-local-boundary">
            <a:extLst>
              <a:ext uri="{FF2B5EF4-FFF2-40B4-BE49-F238E27FC236}">
                <a16:creationId xmlns:a16="http://schemas.microsoft.com/office/drawing/2014/main" id="{7C837C95-4D80-47F6-AA0C-74CD9352CE06}"/>
              </a:ext>
            </a:extLst>
          </p:cNvPr>
          <p:cNvSpPr>
            <a:spLocks noGrp="1"/>
          </p:cNvSpPr>
          <p:nvPr/>
        </p:nvSpPr>
        <p:spPr>
          <a:xfrm>
            <a:off x="6000750" y="511492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不跨越路口，也不向后续路段</a:t>
            </a:r>
          </a:p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无限传播</a:t>
            </a:r>
          </a:p>
        </p:txBody>
      </p:sp>
      <p:sp>
        <p:nvSpPr>
          <p:cNvPr id="112" name="parking-local-title">
            <a:extLst>
              <a:ext uri="{FF2B5EF4-FFF2-40B4-BE49-F238E27FC236}">
                <a16:creationId xmlns:a16="http://schemas.microsoft.com/office/drawing/2014/main" id="{B8BC5727-9475-42BF-979F-E03EC6B7D1C4}"/>
              </a:ext>
            </a:extLst>
          </p:cNvPr>
          <p:cNvSpPr>
            <a:spLocks noGrp="1"/>
          </p:cNvSpPr>
          <p:nvPr/>
        </p:nvSpPr>
        <p:spPr>
          <a:xfrm>
            <a:off x="9001125" y="374332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明确停车位</a:t>
            </a:r>
          </a:p>
        </p:txBody>
      </p:sp>
      <p:sp>
        <p:nvSpPr>
          <p:cNvPr id="113" name="parking-local-road">
            <a:extLst>
              <a:ext uri="{FF2B5EF4-FFF2-40B4-BE49-F238E27FC236}">
                <a16:creationId xmlns:a16="http://schemas.microsoft.com/office/drawing/2014/main" id="{E068E2C8-9412-431C-88BB-F07581E6421E}"/>
              </a:ext>
            </a:extLst>
          </p:cNvPr>
          <p:cNvSpPr>
            <a:spLocks noGrp="1"/>
          </p:cNvSpPr>
          <p:nvPr/>
        </p:nvSpPr>
        <p:spPr>
          <a:xfrm>
            <a:off x="9001125" y="4286250"/>
            <a:ext cx="2619375" cy="409575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  <a:prstDash val="solid"/>
          </a:ln>
        </p:spPr>
      </p:sp>
      <p:sp>
        <p:nvSpPr>
          <p:cNvPr id="114" name="parking-local-bay-1">
            <a:extLst>
              <a:ext uri="{FF2B5EF4-FFF2-40B4-BE49-F238E27FC236}">
                <a16:creationId xmlns:a16="http://schemas.microsoft.com/office/drawing/2014/main" id="{629E50BA-2EE6-429D-83BF-978D3B045D7F}"/>
              </a:ext>
            </a:extLst>
          </p:cNvPr>
          <p:cNvSpPr>
            <a:spLocks noGrp="1"/>
          </p:cNvSpPr>
          <p:nvPr/>
        </p:nvSpPr>
        <p:spPr>
          <a:xfrm>
            <a:off x="9525000" y="4057650"/>
            <a:ext cx="361950" cy="219075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115" name="parking-local-bay-2">
            <a:extLst>
              <a:ext uri="{FF2B5EF4-FFF2-40B4-BE49-F238E27FC236}">
                <a16:creationId xmlns:a16="http://schemas.microsoft.com/office/drawing/2014/main" id="{F505EE70-D707-4952-B9B4-3F602DDFFF9C}"/>
              </a:ext>
            </a:extLst>
          </p:cNvPr>
          <p:cNvSpPr>
            <a:spLocks noGrp="1"/>
          </p:cNvSpPr>
          <p:nvPr/>
        </p:nvSpPr>
        <p:spPr>
          <a:xfrm>
            <a:off x="9982200" y="4057650"/>
            <a:ext cx="361950" cy="219075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116" name="parking-local-bay-3">
            <a:extLst>
              <a:ext uri="{FF2B5EF4-FFF2-40B4-BE49-F238E27FC236}">
                <a16:creationId xmlns:a16="http://schemas.microsoft.com/office/drawing/2014/main" id="{66CF2C9A-9174-47CF-BB88-47E4C0D97430}"/>
              </a:ext>
            </a:extLst>
          </p:cNvPr>
          <p:cNvSpPr>
            <a:spLocks noGrp="1"/>
          </p:cNvSpPr>
          <p:nvPr/>
        </p:nvSpPr>
        <p:spPr>
          <a:xfrm>
            <a:off x="10439400" y="4057650"/>
            <a:ext cx="361950" cy="219075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117" name="parking-local-allowed">
            <a:extLst>
              <a:ext uri="{FF2B5EF4-FFF2-40B4-BE49-F238E27FC236}">
                <a16:creationId xmlns:a16="http://schemas.microsoft.com/office/drawing/2014/main" id="{996D6100-9154-4555-BA63-F9EB72791496}"/>
              </a:ext>
            </a:extLst>
          </p:cNvPr>
          <p:cNvSpPr>
            <a:spLocks noGrp="1"/>
          </p:cNvSpPr>
          <p:nvPr/>
        </p:nvSpPr>
        <p:spPr>
          <a:xfrm>
            <a:off x="9334500" y="4400550"/>
            <a:ext cx="1952625" cy="95250"/>
          </a:xfrm>
          <a:prstGeom prst="rect">
            <a:avLst/>
          </a:prstGeom>
          <a:solidFill>
            <a:srgbClr val="FFFFFF"/>
          </a:solidFill>
          <a:ln w="11430">
            <a:solidFill>
              <a:srgbClr val="303634"/>
            </a:solidFill>
            <a:prstDash val="solid"/>
          </a:ln>
        </p:spPr>
      </p:sp>
      <p:sp>
        <p:nvSpPr>
          <p:cNvPr id="118" name="parking-local-stricter">
            <a:extLst>
              <a:ext uri="{FF2B5EF4-FFF2-40B4-BE49-F238E27FC236}">
                <a16:creationId xmlns:a16="http://schemas.microsoft.com/office/drawing/2014/main" id="{72923916-5707-40F0-8C93-B4FD3F2C8223}"/>
              </a:ext>
            </a:extLst>
          </p:cNvPr>
          <p:cNvSpPr>
            <a:spLocks noGrp="1"/>
          </p:cNvSpPr>
          <p:nvPr/>
        </p:nvSpPr>
        <p:spPr>
          <a:xfrm>
            <a:off x="9144000" y="4381500"/>
            <a:ext cx="714375" cy="133350"/>
          </a:xfrm>
          <a:prstGeom prst="rect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9" name="parking-local-direction">
            <a:extLst>
              <a:ext uri="{FF2B5EF4-FFF2-40B4-BE49-F238E27FC236}">
                <a16:creationId xmlns:a16="http://schemas.microsoft.com/office/drawing/2014/main" id="{A9BE5F39-4D2B-4F83-836A-510170ABA603}"/>
              </a:ext>
            </a:extLst>
          </p:cNvPr>
          <p:cNvSpPr>
            <a:spLocks noGrp="1"/>
          </p:cNvSpPr>
          <p:nvPr/>
        </p:nvSpPr>
        <p:spPr>
          <a:xfrm>
            <a:off x="9953625" y="4381500"/>
            <a:ext cx="647700" cy="123825"/>
          </a:xfrm>
          <a:prstGeom prst="rightArrow">
            <a:avLst/>
          </a:prstGeom>
          <a:solidFill>
            <a:srgbClr val="303634"/>
          </a:solidFill>
          <a:ln w="4763">
            <a:solidFill>
              <a:srgbClr val="303634"/>
            </a:solidFill>
            <a:prstDash val="solid"/>
          </a:ln>
        </p:spPr>
      </p:sp>
      <p:sp>
        <p:nvSpPr>
          <p:cNvPr id="120" name="parking-local-rule">
            <a:extLst>
              <a:ext uri="{FF2B5EF4-FFF2-40B4-BE49-F238E27FC236}">
                <a16:creationId xmlns:a16="http://schemas.microsoft.com/office/drawing/2014/main" id="{C7ECA606-0CCF-463D-BEE6-3663FDF16292}"/>
              </a:ext>
            </a:extLst>
          </p:cNvPr>
          <p:cNvSpPr>
            <a:spLocks noGrp="1"/>
          </p:cNvSpPr>
          <p:nvPr/>
        </p:nvSpPr>
        <p:spPr>
          <a:xfrm>
            <a:off x="9001125" y="4772025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明确几何是允许证据</a:t>
            </a:r>
          </a:p>
        </p:txBody>
      </p:sp>
      <p:sp>
        <p:nvSpPr>
          <p:cNvPr id="121" name="parking-local-boundary">
            <a:extLst>
              <a:ext uri="{FF2B5EF4-FFF2-40B4-BE49-F238E27FC236}">
                <a16:creationId xmlns:a16="http://schemas.microsoft.com/office/drawing/2014/main" id="{34480DF7-9705-4A0C-B132-7E70319A8DD3}"/>
              </a:ext>
            </a:extLst>
          </p:cNvPr>
          <p:cNvSpPr>
            <a:spLocks noGrp="1"/>
          </p:cNvSpPr>
          <p:nvPr/>
        </p:nvSpPr>
        <p:spPr>
          <a:xfrm>
            <a:off x="9001125" y="5114925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关联路段＋行驶方向；</a:t>
            </a:r>
          </a:p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不覆盖更严格规则</a:t>
            </a:r>
          </a:p>
        </p:txBody>
      </p:sp>
      <p:sp>
        <p:nvSpPr>
          <p:cNvPr id="122" name="synthesis-divider">
            <a:extLst>
              <a:ext uri="{FF2B5EF4-FFF2-40B4-BE49-F238E27FC236}">
                <a16:creationId xmlns:a16="http://schemas.microsoft.com/office/drawing/2014/main" id="{1079454F-7EA4-4C27-B243-05BDFF8EA0EE}"/>
              </a:ext>
            </a:extLst>
          </p:cNvPr>
          <p:cNvSpPr>
            <a:spLocks noGrp="1"/>
          </p:cNvSpPr>
          <p:nvPr/>
        </p:nvSpPr>
        <p:spPr>
          <a:xfrm>
            <a:off x="566928" y="5810250"/>
            <a:ext cx="11055096" cy="953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23" name="synthesis-left">
            <a:extLst>
              <a:ext uri="{FF2B5EF4-FFF2-40B4-BE49-F238E27FC236}">
                <a16:creationId xmlns:a16="http://schemas.microsoft.com/office/drawing/2014/main" id="{27D8D24E-4F0C-486E-AD5E-8E18B2D685E4}"/>
              </a:ext>
            </a:extLst>
          </p:cNvPr>
          <p:cNvSpPr>
            <a:spLocks noGrp="1"/>
          </p:cNvSpPr>
          <p:nvPr/>
        </p:nvSpPr>
        <p:spPr>
          <a:xfrm>
            <a:off x="657225" y="59436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同一区间命中多条规则，取最严格结果</a:t>
            </a:r>
          </a:p>
        </p:txBody>
      </p:sp>
      <p:sp>
        <p:nvSpPr>
          <p:cNvPr id="124" name="synthesis-priority">
            <a:extLst>
              <a:ext uri="{FF2B5EF4-FFF2-40B4-BE49-F238E27FC236}">
                <a16:creationId xmlns:a16="http://schemas.microsoft.com/office/drawing/2014/main" id="{C8C5E28D-ECF6-47E8-A65D-64017FDE26E8}"/>
              </a:ext>
            </a:extLst>
          </p:cNvPr>
          <p:cNvSpPr>
            <a:spLocks noGrp="1"/>
          </p:cNvSpPr>
          <p:nvPr/>
        </p:nvSpPr>
        <p:spPr>
          <a:xfrm>
            <a:off x="4191000" y="591502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禁止停车 ＞ 即停即走 ＞ 临时停靠</a:t>
            </a:r>
          </a:p>
        </p:txBody>
      </p:sp>
      <p:sp>
        <p:nvSpPr>
          <p:cNvPr id="125" name="synthesis-vehicle">
            <a:extLst>
              <a:ext uri="{FF2B5EF4-FFF2-40B4-BE49-F238E27FC236}">
                <a16:creationId xmlns:a16="http://schemas.microsoft.com/office/drawing/2014/main" id="{D2CAEC8F-1E2F-4758-A40C-ECBD362920A9}"/>
              </a:ext>
            </a:extLst>
          </p:cNvPr>
          <p:cNvSpPr>
            <a:spLocks noGrp="1"/>
          </p:cNvSpPr>
          <p:nvPr/>
        </p:nvSpPr>
        <p:spPr>
          <a:xfrm>
            <a:off x="9001125" y="5876925"/>
            <a:ext cx="2619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车辆只能收紧，</a:t>
            </a:r>
          </a:p>
          <a:p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不能推翻RCSD硬禁停</a:t>
            </a:r>
          </a:p>
        </p:txBody>
      </p:sp>
      <p:sp>
        <p:nvSpPr>
          <p:cNvPr id="126" name="synthesis-rail">
            <a:extLst>
              <a:ext uri="{FF2B5EF4-FFF2-40B4-BE49-F238E27FC236}">
                <a16:creationId xmlns:a16="http://schemas.microsoft.com/office/drawing/2014/main" id="{CC252908-397C-45C2-B319-0386C440AB4A}"/>
              </a:ext>
            </a:extLst>
          </p:cNvPr>
          <p:cNvSpPr>
            <a:spLocks noGrp="1"/>
          </p:cNvSpPr>
          <p:nvPr/>
        </p:nvSpPr>
        <p:spPr>
          <a:xfrm>
            <a:off x="1143000" y="6515100"/>
            <a:ext cx="9906000" cy="953"/>
          </a:xfrm>
          <a:prstGeom prst="line">
            <a:avLst/>
          </a:prstGeom>
          <a:noFill/>
          <a:ln w="11430">
            <a:solidFill>
              <a:srgbClr val="D5D0C7"/>
            </a:solidFill>
            <a:prstDash val="solid"/>
          </a:ln>
        </p:spPr>
      </p:sp>
      <p:sp>
        <p:nvSpPr>
          <p:cNvPr id="127" name="synthesis-node-left">
            <a:extLst>
              <a:ext uri="{FF2B5EF4-FFF2-40B4-BE49-F238E27FC236}">
                <a16:creationId xmlns:a16="http://schemas.microsoft.com/office/drawing/2014/main" id="{6E2F6076-738A-49AB-AC49-D05E3B28A680}"/>
              </a:ext>
            </a:extLst>
          </p:cNvPr>
          <p:cNvSpPr>
            <a:spLocks noGrp="1"/>
          </p:cNvSpPr>
          <p:nvPr/>
        </p:nvSpPr>
        <p:spPr>
          <a:xfrm>
            <a:off x="2619375" y="646747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7D2633"/>
            </a:solidFill>
            <a:prstDash val="solid"/>
          </a:ln>
        </p:spPr>
      </p:sp>
      <p:sp>
        <p:nvSpPr>
          <p:cNvPr id="128" name="synthesis-node-center">
            <a:extLst>
              <a:ext uri="{FF2B5EF4-FFF2-40B4-BE49-F238E27FC236}">
                <a16:creationId xmlns:a16="http://schemas.microsoft.com/office/drawing/2014/main" id="{739F623B-481E-4448-8B07-649A8860A2E5}"/>
              </a:ext>
            </a:extLst>
          </p:cNvPr>
          <p:cNvSpPr>
            <a:spLocks noGrp="1"/>
          </p:cNvSpPr>
          <p:nvPr/>
        </p:nvSpPr>
        <p:spPr>
          <a:xfrm>
            <a:off x="6334125" y="646747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03634"/>
            </a:solidFill>
            <a:prstDash val="solid"/>
          </a:ln>
        </p:spPr>
      </p:sp>
      <p:sp>
        <p:nvSpPr>
          <p:cNvPr id="129" name="synthesis-node-right">
            <a:extLst>
              <a:ext uri="{FF2B5EF4-FFF2-40B4-BE49-F238E27FC236}">
                <a16:creationId xmlns:a16="http://schemas.microsoft.com/office/drawing/2014/main" id="{FC06A3DE-F714-4056-86DF-8ABB685D25FD}"/>
              </a:ext>
            </a:extLst>
          </p:cNvPr>
          <p:cNvSpPr>
            <a:spLocks noGrp="1"/>
          </p:cNvSpPr>
          <p:nvPr/>
        </p:nvSpPr>
        <p:spPr>
          <a:xfrm>
            <a:off x="10239375" y="646747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0363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599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">
            <a:extLst>
              <a:ext uri="{FF2B5EF4-FFF2-40B4-BE49-F238E27FC236}">
                <a16:creationId xmlns:a16="http://schemas.microsoft.com/office/drawing/2014/main" id="{DE5A8A6C-A88E-4630-D551-7741041B586C}"/>
              </a:ext>
            </a:extLst>
          </p:cNvPr>
          <p:cNvSpPr txBox="1"/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2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越野地图：大模型加速需求</a:t>
            </a:r>
            <a:r>
              <a:rPr lang="en-US" altLang="zh-CN" sz="2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2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原型迭代，工程体系支撑产品上线</a:t>
            </a:r>
          </a:p>
        </p:txBody>
      </p:sp>
      <p:sp>
        <p:nvSpPr>
          <p:cNvPr id="3" name="page-subtitle">
            <a:extLst>
              <a:ext uri="{FF2B5EF4-FFF2-40B4-BE49-F238E27FC236}">
                <a16:creationId xmlns:a16="http://schemas.microsoft.com/office/drawing/2014/main" id="{FD9549B2-C469-5254-55E8-43B817192F18}"/>
              </a:ext>
            </a:extLst>
          </p:cNvPr>
          <p:cNvSpPr txBox="1"/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4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真实需求进入可运行原型，通过链路审计持续差缺补漏；从原型走向终端，需要研发与测试能力补齐</a:t>
            </a:r>
          </a:p>
        </p:txBody>
      </p:sp>
      <p:cxnSp>
        <p:nvCxnSpPr>
          <p:cNvPr id="4" name="title-divider">
            <a:extLst>
              <a:ext uri="{FF2B5EF4-FFF2-40B4-BE49-F238E27FC236}">
                <a16:creationId xmlns:a16="http://schemas.microsoft.com/office/drawing/2014/main" id="{74BC45BB-4453-81E3-AE11-06DBBEBD21C3}"/>
              </a:ext>
            </a:extLst>
          </p:cNvPr>
          <p:cNvCxnSpPr/>
          <p:nvPr/>
        </p:nvCxnSpPr>
        <p:spPr>
          <a:xfrm>
            <a:off x="566928" y="1097280"/>
            <a:ext cx="11055096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art1-title">
            <a:extLst>
              <a:ext uri="{FF2B5EF4-FFF2-40B4-BE49-F238E27FC236}">
                <a16:creationId xmlns:a16="http://schemas.microsoft.com/office/drawing/2014/main" id="{2C5C8238-FD94-E74B-6806-26B408D093D8}"/>
              </a:ext>
            </a:extLst>
          </p:cNvPr>
          <p:cNvSpPr txBox="1"/>
          <p:nvPr/>
        </p:nvSpPr>
        <p:spPr>
          <a:xfrm>
            <a:off x="658368" y="1231900"/>
            <a:ext cx="7048500" cy="2921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第一部分｜大模型驱动“需求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原型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补漏”闭环</a:t>
            </a:r>
          </a:p>
        </p:txBody>
      </p:sp>
      <p:sp>
        <p:nvSpPr>
          <p:cNvPr id="6" name="prototype-label">
            <a:extLst>
              <a:ext uri="{FF2B5EF4-FFF2-40B4-BE49-F238E27FC236}">
                <a16:creationId xmlns:a16="http://schemas.microsoft.com/office/drawing/2014/main" id="{90466498-6B7A-A6A9-EB2D-95E70766FDF7}"/>
              </a:ext>
            </a:extLst>
          </p:cNvPr>
          <p:cNvSpPr txBox="1"/>
          <p:nvPr/>
        </p:nvSpPr>
        <p:spPr>
          <a:xfrm>
            <a:off x="7886700" y="1244600"/>
            <a:ext cx="3644900" cy="2667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运行中的产品原型｜越野地图</a:t>
            </a:r>
          </a:p>
        </p:txBody>
      </p:sp>
      <p:sp>
        <p:nvSpPr>
          <p:cNvPr id="7" name="flow-node-1">
            <a:extLst>
              <a:ext uri="{FF2B5EF4-FFF2-40B4-BE49-F238E27FC236}">
                <a16:creationId xmlns:a16="http://schemas.microsoft.com/office/drawing/2014/main" id="{6BD99C74-D8B8-CA29-BAA5-4CD9DCC3ED45}"/>
              </a:ext>
            </a:extLst>
          </p:cNvPr>
          <p:cNvSpPr/>
          <p:nvPr/>
        </p:nvSpPr>
        <p:spPr>
          <a:xfrm>
            <a:off x="658368" y="1714500"/>
            <a:ext cx="1193800" cy="10160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-index-1">
            <a:extLst>
              <a:ext uri="{FF2B5EF4-FFF2-40B4-BE49-F238E27FC236}">
                <a16:creationId xmlns:a16="http://schemas.microsoft.com/office/drawing/2014/main" id="{A41CF596-D886-58F8-A4CE-77D56D52F53E}"/>
              </a:ext>
            </a:extLst>
          </p:cNvPr>
          <p:cNvSpPr txBox="1"/>
          <p:nvPr/>
        </p:nvSpPr>
        <p:spPr>
          <a:xfrm>
            <a:off x="734568" y="1790700"/>
            <a:ext cx="228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flow-title-1">
            <a:extLst>
              <a:ext uri="{FF2B5EF4-FFF2-40B4-BE49-F238E27FC236}">
                <a16:creationId xmlns:a16="http://schemas.microsoft.com/office/drawing/2014/main" id="{9290EC07-8D24-A539-7993-9694C5F999B7}"/>
              </a:ext>
            </a:extLst>
          </p:cNvPr>
          <p:cNvSpPr txBox="1"/>
          <p:nvPr/>
        </p:nvSpPr>
        <p:spPr>
          <a:xfrm>
            <a:off x="975868" y="1765300"/>
            <a:ext cx="81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真实需求和素材</a:t>
            </a:r>
          </a:p>
        </p:txBody>
      </p:sp>
      <p:sp>
        <p:nvSpPr>
          <p:cNvPr id="10" name="flow-body-1">
            <a:extLst>
              <a:ext uri="{FF2B5EF4-FFF2-40B4-BE49-F238E27FC236}">
                <a16:creationId xmlns:a16="http://schemas.microsoft.com/office/drawing/2014/main" id="{389E4E21-D3E1-DA7D-A2C4-BAD3E0B03A14}"/>
              </a:ext>
            </a:extLst>
          </p:cNvPr>
          <p:cNvSpPr txBox="1"/>
          <p:nvPr/>
        </p:nvSpPr>
        <p:spPr>
          <a:xfrm>
            <a:off x="759968" y="2146300"/>
            <a:ext cx="990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用户场景／轨迹／
边界／风险点</a:t>
            </a:r>
          </a:p>
        </p:txBody>
      </p:sp>
      <p:sp>
        <p:nvSpPr>
          <p:cNvPr id="11" name="flow-node-2">
            <a:extLst>
              <a:ext uri="{FF2B5EF4-FFF2-40B4-BE49-F238E27FC236}">
                <a16:creationId xmlns:a16="http://schemas.microsoft.com/office/drawing/2014/main" id="{2421330C-013B-9CD4-CD54-2731E25BDCE6}"/>
              </a:ext>
            </a:extLst>
          </p:cNvPr>
          <p:cNvSpPr/>
          <p:nvPr/>
        </p:nvSpPr>
        <p:spPr>
          <a:xfrm>
            <a:off x="2042668" y="1714500"/>
            <a:ext cx="1193800" cy="10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low-index-2">
            <a:extLst>
              <a:ext uri="{FF2B5EF4-FFF2-40B4-BE49-F238E27FC236}">
                <a16:creationId xmlns:a16="http://schemas.microsoft.com/office/drawing/2014/main" id="{4F5F88BE-1404-36D7-BB3A-3B377E444BB0}"/>
              </a:ext>
            </a:extLst>
          </p:cNvPr>
          <p:cNvSpPr txBox="1"/>
          <p:nvPr/>
        </p:nvSpPr>
        <p:spPr>
          <a:xfrm>
            <a:off x="2118868" y="1790700"/>
            <a:ext cx="228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flow-title-2">
            <a:extLst>
              <a:ext uri="{FF2B5EF4-FFF2-40B4-BE49-F238E27FC236}">
                <a16:creationId xmlns:a16="http://schemas.microsoft.com/office/drawing/2014/main" id="{5AD20957-2F01-B2BA-C00E-B8AEF71E56A9}"/>
              </a:ext>
            </a:extLst>
          </p:cNvPr>
          <p:cNvSpPr txBox="1"/>
          <p:nvPr/>
        </p:nvSpPr>
        <p:spPr>
          <a:xfrm>
            <a:off x="2360168" y="1765300"/>
            <a:ext cx="81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多角色澄清</a:t>
            </a:r>
          </a:p>
        </p:txBody>
      </p:sp>
      <p:sp>
        <p:nvSpPr>
          <p:cNvPr id="14" name="flow-body-2">
            <a:extLst>
              <a:ext uri="{FF2B5EF4-FFF2-40B4-BE49-F238E27FC236}">
                <a16:creationId xmlns:a16="http://schemas.microsoft.com/office/drawing/2014/main" id="{6D8C319E-6E3F-A0B5-8CB1-F076F7E7985B}"/>
              </a:ext>
            </a:extLst>
          </p:cNvPr>
          <p:cNvSpPr txBox="1"/>
          <p:nvPr/>
        </p:nvSpPr>
        <p:spPr>
          <a:xfrm>
            <a:off x="2144268" y="2146300"/>
            <a:ext cx="990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产品定义／系统边界／
体验路径</a:t>
            </a:r>
          </a:p>
        </p:txBody>
      </p:sp>
      <p:sp>
        <p:nvSpPr>
          <p:cNvPr id="15" name="flow-node-3">
            <a:extLst>
              <a:ext uri="{FF2B5EF4-FFF2-40B4-BE49-F238E27FC236}">
                <a16:creationId xmlns:a16="http://schemas.microsoft.com/office/drawing/2014/main" id="{80DD0FFD-CC25-179B-75D1-DF89A08E08E0}"/>
              </a:ext>
            </a:extLst>
          </p:cNvPr>
          <p:cNvSpPr/>
          <p:nvPr/>
        </p:nvSpPr>
        <p:spPr>
          <a:xfrm>
            <a:off x="3426968" y="1714500"/>
            <a:ext cx="1193800" cy="10160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low-index-3">
            <a:extLst>
              <a:ext uri="{FF2B5EF4-FFF2-40B4-BE49-F238E27FC236}">
                <a16:creationId xmlns:a16="http://schemas.microsoft.com/office/drawing/2014/main" id="{4061F493-82E7-94DC-0DD5-77323787BB96}"/>
              </a:ext>
            </a:extLst>
          </p:cNvPr>
          <p:cNvSpPr txBox="1"/>
          <p:nvPr/>
        </p:nvSpPr>
        <p:spPr>
          <a:xfrm>
            <a:off x="3503168" y="1790700"/>
            <a:ext cx="228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flow-title-3">
            <a:extLst>
              <a:ext uri="{FF2B5EF4-FFF2-40B4-BE49-F238E27FC236}">
                <a16:creationId xmlns:a16="http://schemas.microsoft.com/office/drawing/2014/main" id="{D0001F43-B5C4-28D4-8297-EA8246D745D9}"/>
              </a:ext>
            </a:extLst>
          </p:cNvPr>
          <p:cNvSpPr txBox="1"/>
          <p:nvPr/>
        </p:nvSpPr>
        <p:spPr>
          <a:xfrm>
            <a:off x="3744468" y="1765300"/>
            <a:ext cx="81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可运行产品原型</a:t>
            </a:r>
          </a:p>
        </p:txBody>
      </p:sp>
      <p:sp>
        <p:nvSpPr>
          <p:cNvPr id="18" name="flow-body-3">
            <a:extLst>
              <a:ext uri="{FF2B5EF4-FFF2-40B4-BE49-F238E27FC236}">
                <a16:creationId xmlns:a16="http://schemas.microsoft.com/office/drawing/2014/main" id="{D032D913-CAB7-FA0A-2E30-A3768C5521FF}"/>
              </a:ext>
            </a:extLst>
          </p:cNvPr>
          <p:cNvSpPr txBox="1"/>
          <p:nvPr/>
        </p:nvSpPr>
        <p:spPr>
          <a:xfrm>
            <a:off x="3528568" y="2146300"/>
            <a:ext cx="990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地图／数据选择／
导航／风险上报</a:t>
            </a:r>
          </a:p>
        </p:txBody>
      </p:sp>
      <p:sp>
        <p:nvSpPr>
          <p:cNvPr id="19" name="flow-node-4">
            <a:extLst>
              <a:ext uri="{FF2B5EF4-FFF2-40B4-BE49-F238E27FC236}">
                <a16:creationId xmlns:a16="http://schemas.microsoft.com/office/drawing/2014/main" id="{A4BF06C8-999C-0D3C-065E-396330130108}"/>
              </a:ext>
            </a:extLst>
          </p:cNvPr>
          <p:cNvSpPr/>
          <p:nvPr/>
        </p:nvSpPr>
        <p:spPr>
          <a:xfrm>
            <a:off x="4811268" y="1714500"/>
            <a:ext cx="1193800" cy="10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low-index-4">
            <a:extLst>
              <a:ext uri="{FF2B5EF4-FFF2-40B4-BE49-F238E27FC236}">
                <a16:creationId xmlns:a16="http://schemas.microsoft.com/office/drawing/2014/main" id="{960749D4-84F9-51AE-26AA-823369DC8E73}"/>
              </a:ext>
            </a:extLst>
          </p:cNvPr>
          <p:cNvSpPr txBox="1"/>
          <p:nvPr/>
        </p:nvSpPr>
        <p:spPr>
          <a:xfrm>
            <a:off x="4887468" y="1790700"/>
            <a:ext cx="228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flow-title-4">
            <a:extLst>
              <a:ext uri="{FF2B5EF4-FFF2-40B4-BE49-F238E27FC236}">
                <a16:creationId xmlns:a16="http://schemas.microsoft.com/office/drawing/2014/main" id="{35D65B38-6B75-2C00-805A-FC463C0D9FBA}"/>
              </a:ext>
            </a:extLst>
          </p:cNvPr>
          <p:cNvSpPr txBox="1"/>
          <p:nvPr/>
        </p:nvSpPr>
        <p:spPr>
          <a:xfrm>
            <a:off x="5128768" y="1765300"/>
            <a:ext cx="81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真实链路验证</a:t>
            </a:r>
          </a:p>
        </p:txBody>
      </p:sp>
      <p:sp>
        <p:nvSpPr>
          <p:cNvPr id="22" name="flow-body-4">
            <a:extLst>
              <a:ext uri="{FF2B5EF4-FFF2-40B4-BE49-F238E27FC236}">
                <a16:creationId xmlns:a16="http://schemas.microsoft.com/office/drawing/2014/main" id="{98228BE3-E681-B586-3C88-B55ED0C3A73A}"/>
              </a:ext>
            </a:extLst>
          </p:cNvPr>
          <p:cNvSpPr txBox="1"/>
          <p:nvPr/>
        </p:nvSpPr>
        <p:spPr>
          <a:xfrm>
            <a:off x="4912868" y="2146300"/>
            <a:ext cx="990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公开版本／演示脚本／
截图审计</a:t>
            </a:r>
          </a:p>
        </p:txBody>
      </p:sp>
      <p:sp>
        <p:nvSpPr>
          <p:cNvPr id="23" name="flow-node-5">
            <a:extLst>
              <a:ext uri="{FF2B5EF4-FFF2-40B4-BE49-F238E27FC236}">
                <a16:creationId xmlns:a16="http://schemas.microsoft.com/office/drawing/2014/main" id="{91E9A145-FB4F-8DB2-A9A4-1D6254D08E9D}"/>
              </a:ext>
            </a:extLst>
          </p:cNvPr>
          <p:cNvSpPr/>
          <p:nvPr/>
        </p:nvSpPr>
        <p:spPr>
          <a:xfrm>
            <a:off x="6195568" y="1714500"/>
            <a:ext cx="1193800" cy="10160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flow-index-5">
            <a:extLst>
              <a:ext uri="{FF2B5EF4-FFF2-40B4-BE49-F238E27FC236}">
                <a16:creationId xmlns:a16="http://schemas.microsoft.com/office/drawing/2014/main" id="{7964D997-A4C9-E8F9-4D45-D963F8ED8ADE}"/>
              </a:ext>
            </a:extLst>
          </p:cNvPr>
          <p:cNvSpPr txBox="1"/>
          <p:nvPr/>
        </p:nvSpPr>
        <p:spPr>
          <a:xfrm>
            <a:off x="6271768" y="1790700"/>
            <a:ext cx="228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flow-title-5">
            <a:extLst>
              <a:ext uri="{FF2B5EF4-FFF2-40B4-BE49-F238E27FC236}">
                <a16:creationId xmlns:a16="http://schemas.microsoft.com/office/drawing/2014/main" id="{88277E56-EF60-B742-EB63-2998AFE92D2C}"/>
              </a:ext>
            </a:extLst>
          </p:cNvPr>
          <p:cNvSpPr txBox="1"/>
          <p:nvPr/>
        </p:nvSpPr>
        <p:spPr>
          <a:xfrm>
            <a:off x="6513068" y="1765300"/>
            <a:ext cx="81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差缺补漏</a:t>
            </a:r>
          </a:p>
        </p:txBody>
      </p:sp>
      <p:sp>
        <p:nvSpPr>
          <p:cNvPr id="26" name="flow-body-5">
            <a:extLst>
              <a:ext uri="{FF2B5EF4-FFF2-40B4-BE49-F238E27FC236}">
                <a16:creationId xmlns:a16="http://schemas.microsoft.com/office/drawing/2014/main" id="{E32D898D-F912-F003-575E-9BB650E92AFB}"/>
              </a:ext>
            </a:extLst>
          </p:cNvPr>
          <p:cNvSpPr txBox="1"/>
          <p:nvPr/>
        </p:nvSpPr>
        <p:spPr>
          <a:xfrm>
            <a:off x="6297168" y="2146300"/>
            <a:ext cx="990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补状态／补交互／
补边界／补回归</a:t>
            </a:r>
          </a:p>
        </p:txBody>
      </p:sp>
      <p:cxnSp>
        <p:nvCxnSpPr>
          <p:cNvPr id="27" name="flow-arrow-1">
            <a:extLst>
              <a:ext uri="{FF2B5EF4-FFF2-40B4-BE49-F238E27FC236}">
                <a16:creationId xmlns:a16="http://schemas.microsoft.com/office/drawing/2014/main" id="{17FA8352-B76D-EB69-7CC9-403F0F803B6D}"/>
              </a:ext>
            </a:extLst>
          </p:cNvPr>
          <p:cNvCxnSpPr/>
          <p:nvPr/>
        </p:nvCxnSpPr>
        <p:spPr>
          <a:xfrm>
            <a:off x="1890268" y="2222500"/>
            <a:ext cx="1016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arrow-2">
            <a:extLst>
              <a:ext uri="{FF2B5EF4-FFF2-40B4-BE49-F238E27FC236}">
                <a16:creationId xmlns:a16="http://schemas.microsoft.com/office/drawing/2014/main" id="{434417EB-B1A2-0F85-451B-FA5DBC24B6A8}"/>
              </a:ext>
            </a:extLst>
          </p:cNvPr>
          <p:cNvCxnSpPr/>
          <p:nvPr/>
        </p:nvCxnSpPr>
        <p:spPr>
          <a:xfrm>
            <a:off x="3274568" y="2222500"/>
            <a:ext cx="1016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arrow-3">
            <a:extLst>
              <a:ext uri="{FF2B5EF4-FFF2-40B4-BE49-F238E27FC236}">
                <a16:creationId xmlns:a16="http://schemas.microsoft.com/office/drawing/2014/main" id="{2E5BEDF3-6E94-8D7A-4CEB-1562D4DFE9BC}"/>
              </a:ext>
            </a:extLst>
          </p:cNvPr>
          <p:cNvCxnSpPr/>
          <p:nvPr/>
        </p:nvCxnSpPr>
        <p:spPr>
          <a:xfrm>
            <a:off x="4658868" y="2222500"/>
            <a:ext cx="1016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arrow-4">
            <a:extLst>
              <a:ext uri="{FF2B5EF4-FFF2-40B4-BE49-F238E27FC236}">
                <a16:creationId xmlns:a16="http://schemas.microsoft.com/office/drawing/2014/main" id="{98590CB8-0A75-07AD-C787-E869E1386B02}"/>
              </a:ext>
            </a:extLst>
          </p:cNvPr>
          <p:cNvCxnSpPr/>
          <p:nvPr/>
        </p:nvCxnSpPr>
        <p:spPr>
          <a:xfrm>
            <a:off x="6043168" y="2222500"/>
            <a:ext cx="1016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op-down">
            <a:extLst>
              <a:ext uri="{FF2B5EF4-FFF2-40B4-BE49-F238E27FC236}">
                <a16:creationId xmlns:a16="http://schemas.microsoft.com/office/drawing/2014/main" id="{720AA174-A78D-8F3E-13D2-80D279FBB123}"/>
              </a:ext>
            </a:extLst>
          </p:cNvPr>
          <p:cNvCxnSpPr/>
          <p:nvPr/>
        </p:nvCxnSpPr>
        <p:spPr>
          <a:xfrm>
            <a:off x="7325868" y="2730500"/>
            <a:ext cx="0" cy="165100"/>
          </a:xfrm>
          <a:prstGeom prst="line">
            <a:avLst/>
          </a:prstGeom>
          <a:ln w="15875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oop-back-left">
            <a:extLst>
              <a:ext uri="{FF2B5EF4-FFF2-40B4-BE49-F238E27FC236}">
                <a16:creationId xmlns:a16="http://schemas.microsoft.com/office/drawing/2014/main" id="{D1A2F51D-F3BC-F168-8C17-25EC2EE8BC76}"/>
              </a:ext>
            </a:extLst>
          </p:cNvPr>
          <p:cNvCxnSpPr/>
          <p:nvPr/>
        </p:nvCxnSpPr>
        <p:spPr>
          <a:xfrm>
            <a:off x="2639568" y="2895600"/>
            <a:ext cx="1246632" cy="0"/>
          </a:xfrm>
          <a:prstGeom prst="line">
            <a:avLst/>
          </a:prstGeom>
          <a:ln w="15875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op-back-right">
            <a:extLst>
              <a:ext uri="{FF2B5EF4-FFF2-40B4-BE49-F238E27FC236}">
                <a16:creationId xmlns:a16="http://schemas.microsoft.com/office/drawing/2014/main" id="{E9EAB422-AFB5-C77C-B5D9-98C69C20991B}"/>
              </a:ext>
            </a:extLst>
          </p:cNvPr>
          <p:cNvCxnSpPr/>
          <p:nvPr/>
        </p:nvCxnSpPr>
        <p:spPr>
          <a:xfrm>
            <a:off x="5854700" y="2895600"/>
            <a:ext cx="1471168" cy="0"/>
          </a:xfrm>
          <a:prstGeom prst="line">
            <a:avLst/>
          </a:prstGeom>
          <a:ln w="15875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op-up">
            <a:extLst>
              <a:ext uri="{FF2B5EF4-FFF2-40B4-BE49-F238E27FC236}">
                <a16:creationId xmlns:a16="http://schemas.microsoft.com/office/drawing/2014/main" id="{F4797822-A4C2-8084-02AE-5C282AF4A3B2}"/>
              </a:ext>
            </a:extLst>
          </p:cNvPr>
          <p:cNvCxnSpPr/>
          <p:nvPr/>
        </p:nvCxnSpPr>
        <p:spPr>
          <a:xfrm flipV="1">
            <a:off x="2639568" y="2743200"/>
            <a:ext cx="0" cy="152400"/>
          </a:xfrm>
          <a:prstGeom prst="line">
            <a:avLst/>
          </a:prstGeom>
          <a:ln w="15875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op-label">
            <a:extLst>
              <a:ext uri="{FF2B5EF4-FFF2-40B4-BE49-F238E27FC236}">
                <a16:creationId xmlns:a16="http://schemas.microsoft.com/office/drawing/2014/main" id="{9F1A86EC-5D07-4478-AE23-FF458FDB2341}"/>
              </a:ext>
            </a:extLst>
          </p:cNvPr>
          <p:cNvSpPr txBox="1"/>
          <p:nvPr/>
        </p:nvSpPr>
        <p:spPr>
          <a:xfrm>
            <a:off x="4013200" y="2743200"/>
            <a:ext cx="1714500" cy="2032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回到澄清／原型</a:t>
            </a:r>
          </a:p>
        </p:txBody>
      </p:sp>
      <p:sp>
        <p:nvSpPr>
          <p:cNvPr id="36" name="audit-metric">
            <a:extLst>
              <a:ext uri="{FF2B5EF4-FFF2-40B4-BE49-F238E27FC236}">
                <a16:creationId xmlns:a16="http://schemas.microsoft.com/office/drawing/2014/main" id="{D50E4029-F0E4-3897-E7F3-B47D3C45BE1F}"/>
              </a:ext>
            </a:extLst>
          </p:cNvPr>
          <p:cNvSpPr txBox="1"/>
          <p:nvPr/>
        </p:nvSpPr>
        <p:spPr>
          <a:xfrm>
            <a:off x="658368" y="3035300"/>
            <a:ext cx="70485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初审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项｜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项不符合 → 修复并扩展回归｜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67/67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项通过</a:t>
            </a:r>
          </a:p>
        </p:txBody>
      </p:sp>
      <p:cxnSp>
        <p:nvCxnSpPr>
          <p:cNvPr id="37" name="part1-conclusion-accent">
            <a:extLst>
              <a:ext uri="{FF2B5EF4-FFF2-40B4-BE49-F238E27FC236}">
                <a16:creationId xmlns:a16="http://schemas.microsoft.com/office/drawing/2014/main" id="{D8FE97C7-0B59-02EA-D7A6-C1A2E3728912}"/>
              </a:ext>
            </a:extLst>
          </p:cNvPr>
          <p:cNvCxnSpPr/>
          <p:nvPr/>
        </p:nvCxnSpPr>
        <p:spPr>
          <a:xfrm>
            <a:off x="658368" y="3505200"/>
            <a:ext cx="304800" cy="0"/>
          </a:xfrm>
          <a:prstGeom prst="line">
            <a:avLst/>
          </a:prstGeom>
          <a:ln w="28575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art1-conclusion">
            <a:extLst>
              <a:ext uri="{FF2B5EF4-FFF2-40B4-BE49-F238E27FC236}">
                <a16:creationId xmlns:a16="http://schemas.microsoft.com/office/drawing/2014/main" id="{8F2D1E6F-5B13-8E0A-02D9-8A92E3D9E698}"/>
              </a:ext>
            </a:extLst>
          </p:cNvPr>
          <p:cNvSpPr txBox="1"/>
          <p:nvPr/>
        </p:nvSpPr>
        <p:spPr>
          <a:xfrm>
            <a:off x="1064768" y="3365500"/>
            <a:ext cx="66421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大模型把文字需求快速变成可点击的共同语言，让评审围绕真实状态与交互链路发生</a:t>
            </a:r>
          </a:p>
        </p:txBody>
      </p:sp>
      <p:sp>
        <p:nvSpPr>
          <p:cNvPr id="39" name="prototype-frame">
            <a:extLst>
              <a:ext uri="{FF2B5EF4-FFF2-40B4-BE49-F238E27FC236}">
                <a16:creationId xmlns:a16="http://schemas.microsoft.com/office/drawing/2014/main" id="{30AD3574-C5A4-6954-402B-CC13991F8A4B}"/>
              </a:ext>
            </a:extLst>
          </p:cNvPr>
          <p:cNvSpPr/>
          <p:nvPr/>
        </p:nvSpPr>
        <p:spPr>
          <a:xfrm>
            <a:off x="7886700" y="1422400"/>
            <a:ext cx="3644900" cy="218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prototype-screenshot">
            <a:extLst>
              <a:ext uri="{FF2B5EF4-FFF2-40B4-BE49-F238E27FC236}">
                <a16:creationId xmlns:a16="http://schemas.microsoft.com/office/drawing/2014/main" id="{5F076642-686F-44DD-AB95-A6E1EF0B6E5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400" y="1435100"/>
            <a:ext cx="3619500" cy="2146300"/>
          </a:xfrm>
          <a:prstGeom prst="rect">
            <a:avLst/>
          </a:prstGeom>
        </p:spPr>
      </p:pic>
      <p:sp>
        <p:nvSpPr>
          <p:cNvPr id="42" name="release-url">
            <a:hlinkClick r:id="rId4"/>
            <a:extLst>
              <a:ext uri="{FF2B5EF4-FFF2-40B4-BE49-F238E27FC236}">
                <a16:creationId xmlns:a16="http://schemas.microsoft.com/office/drawing/2014/main" id="{46B8FC95-0F9A-FDC2-9D78-DD8738694FF9}"/>
              </a:ext>
            </a:extLst>
          </p:cNvPr>
          <p:cNvSpPr txBox="1"/>
          <p:nvPr/>
        </p:nvSpPr>
        <p:spPr>
          <a:xfrm>
            <a:off x="7886700" y="3657600"/>
            <a:ext cx="3644900" cy="152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https://p01-offroad-map-prototype.vercel.app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3" name="part-divider">
            <a:extLst>
              <a:ext uri="{FF2B5EF4-FFF2-40B4-BE49-F238E27FC236}">
                <a16:creationId xmlns:a16="http://schemas.microsoft.com/office/drawing/2014/main" id="{95109212-4AC0-395F-335E-04638A18E3CE}"/>
              </a:ext>
            </a:extLst>
          </p:cNvPr>
          <p:cNvCxnSpPr/>
          <p:nvPr/>
        </p:nvCxnSpPr>
        <p:spPr>
          <a:xfrm>
            <a:off x="658368" y="3873500"/>
            <a:ext cx="10875264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art2-title">
            <a:extLst>
              <a:ext uri="{FF2B5EF4-FFF2-40B4-BE49-F238E27FC236}">
                <a16:creationId xmlns:a16="http://schemas.microsoft.com/office/drawing/2014/main" id="{BDEDD648-6FE8-2B8F-9717-D57B58171E36}"/>
              </a:ext>
            </a:extLst>
          </p:cNvPr>
          <p:cNvSpPr txBox="1"/>
          <p:nvPr/>
        </p:nvSpPr>
        <p:spPr>
          <a:xfrm>
            <a:off x="658368" y="3949700"/>
            <a:ext cx="10875264" cy="2921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第二部分｜从需求到上线的两阶段关键能力</a:t>
            </a:r>
          </a:p>
        </p:txBody>
      </p:sp>
      <p:sp>
        <p:nvSpPr>
          <p:cNvPr id="45" name="stage1-band">
            <a:extLst>
              <a:ext uri="{FF2B5EF4-FFF2-40B4-BE49-F238E27FC236}">
                <a16:creationId xmlns:a16="http://schemas.microsoft.com/office/drawing/2014/main" id="{3A3F2E03-5CCE-57E8-18A2-34CE305A73CA}"/>
              </a:ext>
            </a:extLst>
          </p:cNvPr>
          <p:cNvSpPr/>
          <p:nvPr/>
        </p:nvSpPr>
        <p:spPr>
          <a:xfrm>
            <a:off x="658368" y="4292600"/>
            <a:ext cx="4864100" cy="17145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stage1-accent">
            <a:extLst>
              <a:ext uri="{FF2B5EF4-FFF2-40B4-BE49-F238E27FC236}">
                <a16:creationId xmlns:a16="http://schemas.microsoft.com/office/drawing/2014/main" id="{C340C26D-4274-6A9C-64FF-9DADBE85BB37}"/>
              </a:ext>
            </a:extLst>
          </p:cNvPr>
          <p:cNvCxnSpPr/>
          <p:nvPr/>
        </p:nvCxnSpPr>
        <p:spPr>
          <a:xfrm>
            <a:off x="658368" y="4292600"/>
            <a:ext cx="0" cy="1714500"/>
          </a:xfrm>
          <a:prstGeom prst="line">
            <a:avLst/>
          </a:prstGeom>
          <a:ln w="25400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tage1-title">
            <a:extLst>
              <a:ext uri="{FF2B5EF4-FFF2-40B4-BE49-F238E27FC236}">
                <a16:creationId xmlns:a16="http://schemas.microsoft.com/office/drawing/2014/main" id="{5223088B-DF68-60AD-7AE3-C3399753507F}"/>
              </a:ext>
            </a:extLst>
          </p:cNvPr>
          <p:cNvSpPr txBox="1"/>
          <p:nvPr/>
        </p:nvSpPr>
        <p:spPr>
          <a:xfrm>
            <a:off x="825500" y="4368800"/>
            <a:ext cx="4572000" cy="25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阶段一｜用户原始需求 → 产品设计原型</a:t>
            </a:r>
          </a:p>
        </p:txBody>
      </p:sp>
      <p:sp>
        <p:nvSpPr>
          <p:cNvPr id="48" name="stage1-role">
            <a:extLst>
              <a:ext uri="{FF2B5EF4-FFF2-40B4-BE49-F238E27FC236}">
                <a16:creationId xmlns:a16="http://schemas.microsoft.com/office/drawing/2014/main" id="{B2A7F3D6-EEB0-4046-F02D-460E2CC1B97D}"/>
              </a:ext>
            </a:extLst>
          </p:cNvPr>
          <p:cNvSpPr txBox="1"/>
          <p:nvPr/>
        </p:nvSpPr>
        <p:spPr>
          <a:xfrm>
            <a:off x="825500" y="4660900"/>
            <a:ext cx="45720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角色｜产品／系统工程／用户体验</a:t>
            </a:r>
          </a:p>
        </p:txBody>
      </p:sp>
      <p:sp>
        <p:nvSpPr>
          <p:cNvPr id="49" name="stage1-capability">
            <a:extLst>
              <a:ext uri="{FF2B5EF4-FFF2-40B4-BE49-F238E27FC236}">
                <a16:creationId xmlns:a16="http://schemas.microsoft.com/office/drawing/2014/main" id="{2FC8B5C6-13B4-09C7-64FC-0B188BCCF079}"/>
              </a:ext>
            </a:extLst>
          </p:cNvPr>
          <p:cNvSpPr txBox="1"/>
          <p:nvPr/>
        </p:nvSpPr>
        <p:spPr>
          <a:xfrm>
            <a:off x="825500" y="4902200"/>
            <a:ext cx="457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关键能力｜用户场景澄清；需求结构化与边界冻结
用户体验标准：信息架构、交互规范、可用性验证；原型构建与迭代</a:t>
            </a:r>
          </a:p>
        </p:txBody>
      </p:sp>
      <p:sp>
        <p:nvSpPr>
          <p:cNvPr id="50" name="stage1-result">
            <a:extLst>
              <a:ext uri="{FF2B5EF4-FFF2-40B4-BE49-F238E27FC236}">
                <a16:creationId xmlns:a16="http://schemas.microsoft.com/office/drawing/2014/main" id="{91F45767-E8BA-2431-0070-D629846637E5}"/>
              </a:ext>
            </a:extLst>
          </p:cNvPr>
          <p:cNvSpPr txBox="1"/>
          <p:nvPr/>
        </p:nvSpPr>
        <p:spPr>
          <a:xfrm>
            <a:off x="825500" y="5448300"/>
            <a:ext cx="45720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结果｜可演示、可评审、可迭代的产品设计原型</a:t>
            </a:r>
          </a:p>
        </p:txBody>
      </p:sp>
      <p:sp>
        <p:nvSpPr>
          <p:cNvPr id="51" name="stage1-status">
            <a:extLst>
              <a:ext uri="{FF2B5EF4-FFF2-40B4-BE49-F238E27FC236}">
                <a16:creationId xmlns:a16="http://schemas.microsoft.com/office/drawing/2014/main" id="{9BBD18B8-7137-C1F9-E1A7-836C5E6287CE}"/>
              </a:ext>
            </a:extLst>
          </p:cNvPr>
          <p:cNvSpPr txBox="1"/>
          <p:nvPr/>
        </p:nvSpPr>
        <p:spPr>
          <a:xfrm>
            <a:off x="825500" y="5727700"/>
            <a:ext cx="45720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状态｜大模型已显著提速</a:t>
            </a:r>
          </a:p>
        </p:txBody>
      </p:sp>
      <p:sp>
        <p:nvSpPr>
          <p:cNvPr id="52" name="stage-arrow-label">
            <a:extLst>
              <a:ext uri="{FF2B5EF4-FFF2-40B4-BE49-F238E27FC236}">
                <a16:creationId xmlns:a16="http://schemas.microsoft.com/office/drawing/2014/main" id="{C67182BC-B36F-6020-E2A0-A84F2B989BA5}"/>
              </a:ext>
            </a:extLst>
          </p:cNvPr>
          <p:cNvSpPr txBox="1"/>
          <p:nvPr/>
        </p:nvSpPr>
        <p:spPr>
          <a:xfrm>
            <a:off x="5588000" y="4406900"/>
            <a:ext cx="622300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000" b="1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能力扩展</a:t>
            </a:r>
          </a:p>
        </p:txBody>
      </p:sp>
      <p:cxnSp>
        <p:nvCxnSpPr>
          <p:cNvPr id="53" name="stage-arrow">
            <a:extLst>
              <a:ext uri="{FF2B5EF4-FFF2-40B4-BE49-F238E27FC236}">
                <a16:creationId xmlns:a16="http://schemas.microsoft.com/office/drawing/2014/main" id="{90B17BBF-620C-FDC3-5A5A-84EDE871F3D9}"/>
              </a:ext>
            </a:extLst>
          </p:cNvPr>
          <p:cNvCxnSpPr/>
          <p:nvPr/>
        </p:nvCxnSpPr>
        <p:spPr>
          <a:xfrm>
            <a:off x="5626100" y="4749800"/>
            <a:ext cx="533400" cy="0"/>
          </a:xfrm>
          <a:prstGeom prst="line">
            <a:avLst/>
          </a:prstGeom>
          <a:ln w="22225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stage2-band">
            <a:extLst>
              <a:ext uri="{FF2B5EF4-FFF2-40B4-BE49-F238E27FC236}">
                <a16:creationId xmlns:a16="http://schemas.microsoft.com/office/drawing/2014/main" id="{6B812613-E69F-3892-9B3D-88105D87F396}"/>
              </a:ext>
            </a:extLst>
          </p:cNvPr>
          <p:cNvSpPr/>
          <p:nvPr/>
        </p:nvSpPr>
        <p:spPr>
          <a:xfrm>
            <a:off x="6261100" y="4292600"/>
            <a:ext cx="5272532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stage2-accent">
            <a:extLst>
              <a:ext uri="{FF2B5EF4-FFF2-40B4-BE49-F238E27FC236}">
                <a16:creationId xmlns:a16="http://schemas.microsoft.com/office/drawing/2014/main" id="{D9F77850-2963-6560-9685-12E55DC15971}"/>
              </a:ext>
            </a:extLst>
          </p:cNvPr>
          <p:cNvCxnSpPr/>
          <p:nvPr/>
        </p:nvCxnSpPr>
        <p:spPr>
          <a:xfrm>
            <a:off x="6261100" y="4292600"/>
            <a:ext cx="0" cy="1714500"/>
          </a:xfrm>
          <a:prstGeom prst="line">
            <a:avLst/>
          </a:prstGeom>
          <a:ln w="25400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stage2-title">
            <a:extLst>
              <a:ext uri="{FF2B5EF4-FFF2-40B4-BE49-F238E27FC236}">
                <a16:creationId xmlns:a16="http://schemas.microsoft.com/office/drawing/2014/main" id="{A848B749-DCCA-DB7F-E15B-2C952121424F}"/>
              </a:ext>
            </a:extLst>
          </p:cNvPr>
          <p:cNvSpPr txBox="1"/>
          <p:nvPr/>
        </p:nvSpPr>
        <p:spPr>
          <a:xfrm>
            <a:off x="6362700" y="4368800"/>
            <a:ext cx="4978400" cy="25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阶段二｜产品设计原型 → 终端产品上线</a:t>
            </a:r>
          </a:p>
        </p:txBody>
      </p:sp>
      <p:sp>
        <p:nvSpPr>
          <p:cNvPr id="57" name="stage2-role">
            <a:extLst>
              <a:ext uri="{FF2B5EF4-FFF2-40B4-BE49-F238E27FC236}">
                <a16:creationId xmlns:a16="http://schemas.microsoft.com/office/drawing/2014/main" id="{59ABDDE8-17B7-F906-337D-BB85C45173C1}"/>
              </a:ext>
            </a:extLst>
          </p:cNvPr>
          <p:cNvSpPr txBox="1"/>
          <p:nvPr/>
        </p:nvSpPr>
        <p:spPr>
          <a:xfrm>
            <a:off x="6362700" y="4660900"/>
            <a:ext cx="49784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角色｜产品／系统工程＋研发／测试／质量保证／发布运维</a:t>
            </a:r>
          </a:p>
        </p:txBody>
      </p:sp>
      <p:sp>
        <p:nvSpPr>
          <p:cNvPr id="58" name="stage2-standard">
            <a:extLst>
              <a:ext uri="{FF2B5EF4-FFF2-40B4-BE49-F238E27FC236}">
                <a16:creationId xmlns:a16="http://schemas.microsoft.com/office/drawing/2014/main" id="{1044A317-1325-78C4-D32E-0CD3D237FB8E}"/>
              </a:ext>
            </a:extLst>
          </p:cNvPr>
          <p:cNvSpPr txBox="1"/>
          <p:nvPr/>
        </p:nvSpPr>
        <p:spPr>
          <a:xfrm>
            <a:off x="6362700" y="4876800"/>
            <a:ext cx="4978400" cy="1905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关键能力｜借鉴华为研发体系，建立开发、测试与发布标准</a:t>
            </a:r>
          </a:p>
        </p:txBody>
      </p:sp>
      <p:sp>
        <p:nvSpPr>
          <p:cNvPr id="59" name="stage2-capability">
            <a:extLst>
              <a:ext uri="{FF2B5EF4-FFF2-40B4-BE49-F238E27FC236}">
                <a16:creationId xmlns:a16="http://schemas.microsoft.com/office/drawing/2014/main" id="{4D63D64A-6DD0-D4B1-A7C2-EF3DB91AD097}"/>
              </a:ext>
            </a:extLst>
          </p:cNvPr>
          <p:cNvSpPr txBox="1"/>
          <p:nvPr/>
        </p:nvSpPr>
        <p:spPr>
          <a:xfrm>
            <a:off x="6362700" y="5092700"/>
            <a:ext cx="4978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架构与接口、开发规范、单元／集成／系统／回归测试；
质量门禁、发布与运行保障</a:t>
            </a:r>
          </a:p>
        </p:txBody>
      </p:sp>
      <p:sp>
        <p:nvSpPr>
          <p:cNvPr id="60" name="stage2-result">
            <a:extLst>
              <a:ext uri="{FF2B5EF4-FFF2-40B4-BE49-F238E27FC236}">
                <a16:creationId xmlns:a16="http://schemas.microsoft.com/office/drawing/2014/main" id="{7680BC5A-04CC-996C-85B6-CF0DB858D34E}"/>
              </a:ext>
            </a:extLst>
          </p:cNvPr>
          <p:cNvSpPr txBox="1"/>
          <p:nvPr/>
        </p:nvSpPr>
        <p:spPr>
          <a:xfrm>
            <a:off x="6362700" y="5473700"/>
            <a:ext cx="49784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目标｜终端产品稳定上线</a:t>
            </a:r>
          </a:p>
        </p:txBody>
      </p:sp>
      <p:sp>
        <p:nvSpPr>
          <p:cNvPr id="61" name="stage2-status">
            <a:extLst>
              <a:ext uri="{FF2B5EF4-FFF2-40B4-BE49-F238E27FC236}">
                <a16:creationId xmlns:a16="http://schemas.microsoft.com/office/drawing/2014/main" id="{66217E43-C188-F607-2703-9B6858D5358C}"/>
              </a:ext>
            </a:extLst>
          </p:cNvPr>
          <p:cNvSpPr txBox="1"/>
          <p:nvPr/>
        </p:nvSpPr>
        <p:spPr>
          <a:xfrm>
            <a:off x="6362700" y="5702300"/>
            <a:ext cx="4978400" cy="1651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当前实测难点｜仅靠产品与系统工程角色，难以独立保障工程质量与发布闭环</a:t>
            </a:r>
          </a:p>
        </p:txBody>
      </p:sp>
      <p:cxnSp>
        <p:nvCxnSpPr>
          <p:cNvPr id="62" name="footer-divider">
            <a:extLst>
              <a:ext uri="{FF2B5EF4-FFF2-40B4-BE49-F238E27FC236}">
                <a16:creationId xmlns:a16="http://schemas.microsoft.com/office/drawing/2014/main" id="{9806A0CB-25ED-08B8-13BC-D808EFFAD070}"/>
              </a:ext>
            </a:extLst>
          </p:cNvPr>
          <p:cNvCxnSpPr/>
          <p:nvPr/>
        </p:nvCxnSpPr>
        <p:spPr>
          <a:xfrm>
            <a:off x="658368" y="6146800"/>
            <a:ext cx="10875264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ooter-conclusion">
            <a:extLst>
              <a:ext uri="{FF2B5EF4-FFF2-40B4-BE49-F238E27FC236}">
                <a16:creationId xmlns:a16="http://schemas.microsoft.com/office/drawing/2014/main" id="{A6C35D70-A664-4155-C268-74469F74AE13}"/>
              </a:ext>
            </a:extLst>
          </p:cNvPr>
          <p:cNvSpPr txBox="1"/>
          <p:nvPr/>
        </p:nvSpPr>
        <p:spPr>
          <a:xfrm>
            <a:off x="658368" y="6235700"/>
            <a:ext cx="10875264" cy="25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阶段一解决做对什么；阶段二保障把它稳定做成并上线</a:t>
            </a:r>
          </a:p>
        </p:txBody>
      </p:sp>
    </p:spTree>
    <p:extLst>
      <p:ext uri="{BB962C8B-B14F-4D97-AF65-F5344CB8AC3E}">
        <p14:creationId xmlns:p14="http://schemas.microsoft.com/office/powerpoint/2010/main" val="34055093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2000</Words>
  <Application>Microsoft Office PowerPoint</Application>
  <DocSecurity>0</DocSecurity>
  <PresentationFormat>宽屏</PresentationFormat>
  <Paragraphs>275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 XiaoDi</cp:lastModifiedBy>
  <cp:revision>2</cp:revision>
  <dcterms:created xsi:type="dcterms:W3CDTF">2026-08-05T12:48:12Z</dcterms:created>
  <dcterms:modified xsi:type="dcterms:W3CDTF">2026-08-06T00:02:59Z</dcterms:modified>
</cp:coreProperties>
</file>