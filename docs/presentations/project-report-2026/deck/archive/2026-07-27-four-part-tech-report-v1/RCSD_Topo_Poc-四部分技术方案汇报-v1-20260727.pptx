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7e859f418e4ad0" /><Relationship Type="http://schemas.openxmlformats.org/officeDocument/2006/relationships/extended-properties" Target="/docProps/app.xml" Id="R2a6be7c330764eaf" /><Relationship Type="http://schemas.openxmlformats.org/officeDocument/2006/relationships/officeDocument" Target="/ppt/presentation.xml" Id="Rc98e8a6cdbc0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ec232810e24665"/>
  </p:sldMasterIdLst>
  <p:notesMasterIdLst>
    <p:notesMasterId xmlns:r="http://schemas.openxmlformats.org/officeDocument/2006/relationships" r:id="R1d9a2ddb43b944ba"/>
  </p:notesMasterIdLst>
  <p:sldIdLst>
    <p:sldId xmlns:r="http://schemas.openxmlformats.org/officeDocument/2006/relationships" id="256" r:id="R96569cb9e17e4484"/>
    <p:sldId xmlns:r="http://schemas.openxmlformats.org/officeDocument/2006/relationships" id="257" r:id="R83dbd71256d34c04"/>
    <p:sldId xmlns:r="http://schemas.openxmlformats.org/officeDocument/2006/relationships" id="258" r:id="Rb79539806ec84624"/>
    <p:sldId xmlns:r="http://schemas.openxmlformats.org/officeDocument/2006/relationships" id="259" r:id="R7a5b646534a24dce"/>
    <p:sldId xmlns:r="http://schemas.openxmlformats.org/officeDocument/2006/relationships" id="260" r:id="R466858984b1a4207"/>
    <p:sldId xmlns:r="http://schemas.openxmlformats.org/officeDocument/2006/relationships" id="261" r:id="Re1d22250e21f4537"/>
    <p:sldId xmlns:r="http://schemas.openxmlformats.org/officeDocument/2006/relationships" id="262" r:id="Raef9973b2a2b4a2f"/>
    <p:sldId xmlns:r="http://schemas.openxmlformats.org/officeDocument/2006/relationships" id="263" r:id="R0d174d694adf4a9a"/>
    <p:sldId xmlns:r="http://schemas.openxmlformats.org/officeDocument/2006/relationships" id="264" r:id="R4ba5b357a5bf49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e564cc8d904c96" /><Relationship Type="http://schemas.openxmlformats.org/officeDocument/2006/relationships/slideMaster" Target="/ppt/slideMasters/slideMaster1.xml" Id="R03ec232810e24665" /><Relationship Type="http://schemas.openxmlformats.org/officeDocument/2006/relationships/notesMaster" Target="/ppt/notesMasters/notesMaster1.xml" Id="R1d9a2ddb43b944ba" /><Relationship Type="http://schemas.openxmlformats.org/officeDocument/2006/relationships/presProps" Target="/ppt/presProps.xml" Id="R9374420addf44284" /><Relationship Type="http://schemas.openxmlformats.org/officeDocument/2006/relationships/tableStyles" Target="/ppt/tableStyles.xml" Id="Rbf0568ae29ce4c6b" /><Relationship Type="http://schemas.openxmlformats.org/officeDocument/2006/relationships/slide" Target="/ppt/slides/slide1.xml" Id="R96569cb9e17e4484" /><Relationship Type="http://schemas.openxmlformats.org/officeDocument/2006/relationships/slide" Target="/ppt/slides/slide2.xml" Id="R83dbd71256d34c04" /><Relationship Type="http://schemas.openxmlformats.org/officeDocument/2006/relationships/slide" Target="/ppt/slides/slide3.xml" Id="Rb79539806ec84624" /><Relationship Type="http://schemas.openxmlformats.org/officeDocument/2006/relationships/slide" Target="/ppt/slides/slide4.xml" Id="R7a5b646534a24dce" /><Relationship Type="http://schemas.openxmlformats.org/officeDocument/2006/relationships/slide" Target="/ppt/slides/slide5.xml" Id="R466858984b1a4207" /><Relationship Type="http://schemas.openxmlformats.org/officeDocument/2006/relationships/slide" Target="/ppt/slides/slide6.xml" Id="Re1d22250e21f4537" /><Relationship Type="http://schemas.openxmlformats.org/officeDocument/2006/relationships/slide" Target="/ppt/slides/slide7.xml" Id="Raef9973b2a2b4a2f" /><Relationship Type="http://schemas.openxmlformats.org/officeDocument/2006/relationships/slide" Target="/ppt/slides/slide8.xml" Id="R0d174d694adf4a9a" /><Relationship Type="http://schemas.openxmlformats.org/officeDocument/2006/relationships/slide" Target="/ppt/slides/slide9.xml" Id="R4ba5b357a5bf49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9eb2a4e8d7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d4aa5d1cb24696" /><Relationship Type="http://schemas.openxmlformats.org/officeDocument/2006/relationships/notesMaster" Target="/ppt/notesMasters/notesMaster1.xml" Id="R0718a54cbe914d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17280ce70441b2" /><Relationship Type="http://schemas.openxmlformats.org/officeDocument/2006/relationships/notesMaster" Target="/ppt/notesMasters/notesMaster1.xml" Id="R1adc47d807104a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8af89f950f4df1" /><Relationship Type="http://schemas.openxmlformats.org/officeDocument/2006/relationships/notesMaster" Target="/ppt/notesMasters/notesMaster1.xml" Id="Rc74f982845ea42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f034db9dce4065" /><Relationship Type="http://schemas.openxmlformats.org/officeDocument/2006/relationships/notesMaster" Target="/ppt/notesMasters/notesMaster1.xml" Id="Raa9b2f573a0942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c699811a2f4337" /><Relationship Type="http://schemas.openxmlformats.org/officeDocument/2006/relationships/notesMaster" Target="/ppt/notesMasters/notesMaster1.xml" Id="R00c8090097b74d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322aea2d5243ac" /><Relationship Type="http://schemas.openxmlformats.org/officeDocument/2006/relationships/notesMaster" Target="/ppt/notesMasters/notesMaster1.xml" Id="R822b85205db3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85c692605b48be" /><Relationship Type="http://schemas.openxmlformats.org/officeDocument/2006/relationships/notesMaster" Target="/ppt/notesMasters/notesMaster1.xml" Id="Rc7ff72c093b349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e090ab839345e1" /><Relationship Type="http://schemas.openxmlformats.org/officeDocument/2006/relationships/notesMaster" Target="/ppt/notesMasters/notesMaster1.xml" Id="Rb96131cc627549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b4474a8cbd4e5a" /><Relationship Type="http://schemas.openxmlformats.org/officeDocument/2006/relationships/notesMaster" Target="/ppt/notesMasters/notesMaster1.xml" Id="R9d4e2ea94dae46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docs/presentations/project-report-2026/deck/RCSD_Topo_Poc-项目技术汇报-正式版-18页.pptx</a:t>
            </a:r>
          </a:p>
          <a:p xmlns:a="http://schemas.openxmlformats.org/drawingml/2006/main">
            <a:r>
              <a:t>- 用户确认：道路数据基础架构采用路口—路段—道路三级表达。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docs/presentations/project-report-2026/image-drafts/scheme-3-forward-build-v1-20260727/page01-v1-attempt02/real-case-1885118-reference.png</a:t>
            </a:r>
          </a:p>
          <a:p xmlns:a="http://schemas.openxmlformats.org/drawingml/2006/main">
            <a:r>
              <a:t>- 用户确认：第一步道路面证据判断，第二步RCSD路口面锚定。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用户确认的方案一业务逻辑：路口锚定、候选构建、规则质量门、替换与反馈闭环。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用户确认的方案一质量门：两端接入、路径连通、方向、几何覆盖、拓扑完整性。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用户确认的方案一现状指标：约80%主方案、约10%一对一融合补充、约5%原始RCSD质量错误、约5%策略质量问题。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docs/presentations/project-report-2026/image-drafts/scheme-2-quality-audit-v2-20260727/page01-real-case-reference-attempt02/case-1885118-segment-1885140_1888173-reference.png</a:t>
            </a:r>
          </a:p>
          <a:p xmlns:a="http://schemas.openxmlformats.org/drawingml/2006/main">
            <a:r>
              <a:t>- 真实测试用例1885118，路段1885140_1888173。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用户确认：本页仅保留一行指标说明与四个空位，实际验证数据后续补齐。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docs/presentations/project-report-2026/image-drafts/scheme-3-forward-build-v1-20260727/page01-v1-attempt02/page01-imagegen-base.png</a:t>
            </a:r>
          </a:p>
          <a:p xmlns:a="http://schemas.openxmlformats.org/drawingml/2006/main">
            <a:r>
              <a:t>- 用户确认的方案三表达：以SWSD路口—路段骨架和原始图幅高精证据正向构建。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docs/presentations/project-report-2026/image-drafts/scheme-3-forward-build-v1-20260727/page02-v1-attempt02/real-case-12588988_523629862-reference.png</a:t>
            </a:r>
          </a:p>
          <a:p xmlns:a="http://schemas.openxmlformats.org/drawingml/2006/main">
            <a:r>
              <a:t>- outputs/_work/p04_road_direct_generation/1885118/p04_v75_user_road_audit_20260726/audit_road_7119471088743157.png</a:t>
            </a:r>
          </a:p>
          <a:p xmlns:a="http://schemas.openxmlformats.org/drawingml/2006/main">
            <a:r>
              <a:t>- 用户确认的真实路段12588988_523629862与阶段性结果86/96。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30412e7bd49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9df9348ab49f1" /><Relationship Type="http://schemas.openxmlformats.org/officeDocument/2006/relationships/slideLayout" Target="/ppt/slideLayouts/slideLayout1.xml" Id="R5471b84dfc1146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71b84dfc1146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64d85654143bd" /><Relationship Type="http://schemas.openxmlformats.org/officeDocument/2006/relationships/notesSlide" Target="/ppt/notesSlides/notesSlide1.xml" Id="Redb46f0ac04e4b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2b0cf842b4388" /><Relationship Type="http://schemas.openxmlformats.org/officeDocument/2006/relationships/image" Target="/ppt/media/image.png" Id="R51398f20c2894743" /><Relationship Type="http://schemas.openxmlformats.org/officeDocument/2006/relationships/notesSlide" Target="/ppt/notesSlides/notesSlide2.xml" Id="Rb3f60dd3d6204f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5c1bb432b4c4c" /><Relationship Type="http://schemas.openxmlformats.org/officeDocument/2006/relationships/notesSlide" Target="/ppt/notesSlides/notesSlide3.xml" Id="R69adae91594c46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bbb7a3ae342b6" /><Relationship Type="http://schemas.openxmlformats.org/officeDocument/2006/relationships/notesSlide" Target="/ppt/notesSlides/notesSlide4.xml" Id="Rde08d52e91df4b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477a93a974f2c" /><Relationship Type="http://schemas.openxmlformats.org/officeDocument/2006/relationships/notesSlide" Target="/ppt/notesSlides/notesSlide5.xml" Id="Rc653989ee3bb46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e1c3ec7ab480d" /><Relationship Type="http://schemas.openxmlformats.org/officeDocument/2006/relationships/image" Target="/ppt/media/image2.png" Id="R2cd7d5825a6f474d" /><Relationship Type="http://schemas.openxmlformats.org/officeDocument/2006/relationships/notesSlide" Target="/ppt/notesSlides/notesSlide6.xml" Id="R94323d3bb19248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e1eaf92eb456f" /><Relationship Type="http://schemas.openxmlformats.org/officeDocument/2006/relationships/notesSlide" Target="/ppt/notesSlides/notesSlide7.xml" Id="R17294d8021f54b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b6c72b7cf4842" /><Relationship Type="http://schemas.openxmlformats.org/officeDocument/2006/relationships/image" Target="/ppt/media/image3.png" Id="Rce49997fa9314a8b" /><Relationship Type="http://schemas.openxmlformats.org/officeDocument/2006/relationships/notesSlide" Target="/ppt/notesSlides/notesSlide8.xml" Id="R84a38a21a4334e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c6f7c7b914081" /><Relationship Type="http://schemas.openxmlformats.org/officeDocument/2006/relationships/image" Target="/ppt/media/image4.png" Id="R544a433968c847f0" /><Relationship Type="http://schemas.openxmlformats.org/officeDocument/2006/relationships/image" Target="/ppt/media/image5.png" Id="Rc2875ab1fd6f403e" /><Relationship Type="http://schemas.openxmlformats.org/officeDocument/2006/relationships/notesSlide" Target="/ppt/notesSlides/notesSlide9.xml" Id="R54873e59bd2043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4FBF96-6EAE-4D52-8E9C-CAF2913F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第一部分｜道路数据基础架构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3C105-1089-400C-95FC-2669C96B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道路基础架构：以路口与路段组织道路结构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9F335-8B37-4AB9-9051-6F4C1682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路口定义连接边界，路段承载连续道路结构；二者共同构成跨数据源融合的业务底座。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8D16D-5013-44DF-AE6F-53ADE144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3968A-75CB-4D53-A707-D6D4A8BC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29167-7359-4670-B846-8E5A6392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业务骨架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CDD60-2A1E-41DE-BCE6-2FFBEF1B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1219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EDBF6-CAC4-4140-93F3-56BEAA0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15CD3-620C-4469-BFB4-EB18B792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43125"/>
            <a:ext cx="447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BE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43FBB-0650-4C22-92B5-7701F6AF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32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6B528-CBD5-481B-AE30-0507D4C5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43125"/>
            <a:ext cx="1219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EF97C-50E5-4751-92AC-86ACBD6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4312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79221-7009-4D4C-8763-51438773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907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8254F-92FF-402E-AEA2-3F72370B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907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E7798-9D6A-4775-B6C9-58DA4E0D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52750"/>
            <a:ext cx="4057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56CE3-C216-4BA7-BAC7-218F428F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766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036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97EE2-00DA-4926-840B-4153184E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004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036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5C948-F6A0-4211-B3A1-29CC0334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AF8B3-1923-45FB-9F50-E4274947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FF14E-74D6-4629-BDD8-61F8ACC9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2BFDA-4375-41B4-9756-3A8C945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31C2F-F9D0-4949-807E-AC910D2F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31301-9DCD-49CE-B23E-2D342249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2D4DA-3F19-4BD0-A7BB-038D1B72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76F72-6EB0-46B0-821E-1804C79F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FBC46-C139-467F-9ADA-37DBB2E1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29075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道路：路段内部的实际道路承载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3DBD7D-CA34-46D4-BEE1-E517B3FB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85925"/>
            <a:ext cx="1962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0EC44-C150-47C5-87AF-F4D337C2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811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05D37-FF6E-44DA-8A14-A56E9ADB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977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道路连接与通行关系的边界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DE855-6134-4801-B6E9-90D41D9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76525"/>
            <a:ext cx="1962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923B1D-5BB9-466C-A5BB-66F5FBE6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717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88D599-3E34-4DF5-8E64-58BFE0BE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037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连接两个路口的连续业务单元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FBB7A8-ECE2-46A4-8EF5-070A7FFF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67125"/>
            <a:ext cx="1962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6761DE-EB0B-4711-ADFC-BFF395E1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62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道路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52509C-CF97-45D3-A89F-F4988D6C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9097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路段内部的实际道路承载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850040-A0B0-4D98-8FCB-53924B9B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866775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FEBE4"/>
          </a:solidFill>
          <a:ln xmlns:a="http://schemas.openxmlformats.org/drawingml/2006/main" w="9525">
            <a:solidFill>
              <a:srgbClr val="EFEB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E4BA17-055E-42C1-9A1B-5F37D4BF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跨数据源表达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F022CD-F615-4E4A-88C2-773756F2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同一个SWSD路段，可以由多条RCSD道路共同承载；不同数据源的切分和标识可以不同，但必须落在同一套路口—路段业务骨架中。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EA8B87-E442-465C-8F6F-703D2A2B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B7678E-4ABC-4687-ABCC-49A7D1F4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0CB67E-47D1-4BFA-99B5-16A8EF19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跨数据源处理的第一步不是比较道路，而是先建立稳定、可复用的路口—路段结构。</a:t>
            </a:r>
          </a:p>
        </p:txBody>
      </p:sp>
    </p:spTree>
    <p:extLst>
      <p:ext uri="{BB962C8B-B14F-4D97-AF65-F5344CB8AC3E}">
        <p14:creationId xmlns:p14="http://schemas.microsoft.com/office/powerpoint/2010/main" val="7691111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F995F-454E-4A07-9F39-ADB4ACF1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第一部分｜道路数据基础架构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1A55D-155C-4386-BD7E-94C9F57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路口锚定：以真实道路证据连接SWSD与RCSD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73C0C-64AB-4CD0-B67D-ABA8EC9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两步方案是技术实现权衡，底层逻辑始终是以道路真值建立跨数据源锚定。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C87E4-3A7D-419C-B7DD-8B190C77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02B01-AF5B-42DD-8BB8-EBE03B14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118F5-2C97-4291-9BD5-BCADBA1F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505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717AD-27E4-4F21-939E-5276DA0C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SWSD语义路口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8FEEF-C203-4872-A1D5-4F404E86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668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AC486-E22C-43F3-AF02-3494DD42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66850"/>
            <a:ext cx="3505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873EA-0CC9-4E00-876A-0ABC0961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真实道路面与路口面证据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2C526-B92D-466B-AEF8-D300A7EC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668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9F0CB-0CB0-4A64-B591-3C847712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66850"/>
            <a:ext cx="3505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9357B-1BC2-418C-915F-8D32C103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RCSD路口面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9D6AF-DEEA-468E-B356-29F723DA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2390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98f20c2894743"/>
          <a:srcRect xmlns:a="http://schemas.openxmlformats.org/drawingml/2006/main" l="0" t="8184" r="0" b="81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66950"/>
            <a:ext cx="7086600" cy="3333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B7256-6521-4CFA-B192-046F4FEE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429D6-52AD-4502-8E49-20A803F9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真实测试用例 1885118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DD20D-8004-43E5-9300-2303104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6725C-370B-48B8-8570-B3D1764A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92763-A3ED-47DC-8FC7-CEA7E271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以道路面证据判断真实道路范围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BDB40-C866-4573-9650-870F996A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F2C05-37CF-4DAB-8245-417D9968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从道路面、导流带和车道边界等几何证据中，确认路口的真实空间边界。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A244C-C737-49D0-B2F6-718D583C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47C56-9B65-4808-8565-3492C77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E8BED-18D9-4863-9865-7A3808B8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以RCSD路口面完成既有路口面锚定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43D62-6E72-415F-B562-5A23EE54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6730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F2237-F7DF-4FDC-8D17-645D7965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816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将既有路口面作为可消费对象，形成SWSD语义路口到RCSD路口面的稳定关系。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7F57D-64DD-4909-84B2-253E665F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2FE8F-B7F9-4288-B6B0-B89DE9DE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6815A-0952-411C-9B42-7525D44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实现路径可以调整，真实道路证据作为锚定基准的底层逻辑不变。</a:t>
            </a:r>
          </a:p>
        </p:txBody>
      </p:sp>
    </p:spTree>
    <p:extLst>
      <p:ext uri="{BB962C8B-B14F-4D97-AF65-F5344CB8AC3E}">
        <p14:creationId xmlns:p14="http://schemas.microsoft.com/office/powerpoint/2010/main" val="1900900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71C551-8566-4FD1-953A-99E2C807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第二部分｜替换融合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9925B-6DF9-4940-8C95-3BDB19E7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方案一：以SWSD结构牵引RCSD替换融合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2C53B-90CE-4BD7-9F77-7DDBF817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先完成路口锚定，再按路段构建RCSD候选，通过规则质量门执行替换并保留完整审计。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BD038-7177-4BF2-B182-60F1C15F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3B004-B259-42CF-B528-5BCEA4C3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D018B-65AD-4DB8-B646-9B02E8F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主处理链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E6015-5993-42F3-A1D8-A32B3343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638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145A1-D6DE-487E-9824-28CF4DDD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SWSD道路结构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F5B32-1A20-4FDD-B5BE-0841615E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09750"/>
            <a:ext cx="22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E8639-B8B5-4A60-BB8A-7E440B7F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1638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7AF53-EB60-4628-9743-03A7435B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097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真实证据锚定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DDE14-201C-4FA6-AD6F-FAAD107F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22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8A809-3F22-4C1A-8C14-2E0BB54B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1638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B935A-E6D5-4566-BE86-9A11BB67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RCSD候选构建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1E5C6-6B57-496A-A5FF-96306AD4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22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7C2CD-8805-4D7A-829A-1516615A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1638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A1D79-9C34-47FB-B517-FAE7584B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规则质量审查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AF48C-68EE-4729-A164-4E114AC9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22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7B4F4-D6E5-4EF4-A988-849EC745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1638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6AEB7-81F6-4E61-A5E0-0FA9F06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替换执行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CF48A-E44F-42FC-A089-DF32FCD7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22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B1D13-53D2-4F3C-8518-9CCEFD90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09750"/>
            <a:ext cx="1638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ED44B-C69B-480A-92EF-26039B9B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097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质量反馈与标注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31F99-1BC7-4EEF-9B3B-7CAE3840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73096-1F69-494C-8EC1-9DB2167A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关系锚定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6A3E3-F629-43B7-9E5C-C9E3FBBC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990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以两侧路口为边界，确认SWSD路段与</a:t>
            </a:r>
          </a:p>
          <a:p xmlns:a="http://schemas.openxmlformats.org/drawingml/2006/main">
            <a:pPr algn="l">
              <a:defRPr sz="1275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RCSD道路候选属于同一真实道路结构。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F95420-C0A6-4DD1-AE9A-519B48AF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9908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6245BB-88EF-4CFC-BAEE-7BBF7BDF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路口关系审查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0F451-AFE7-4B1C-B53B-BB1008C6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57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5D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5D0C7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C0AC74-062E-48B0-8145-F64A9079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路段替换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02C8C-943A-46FB-918D-BAE148A5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2990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在锚定关系成立后，对连续路径、方向、几何和拓扑进行联合质量审查。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064A0F-AC18-4FA9-A009-6FDB121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29908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FEBE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B93B33-A6C9-4B56-9EF2-9A496F89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148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路段替换审查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2363C4-13B7-4369-882C-CE294EA5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57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59043-984E-4DBE-8344-5FA81E62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可审计结果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1D6B90-A627-4E57-8CAF-D408514D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2552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通过则执行受控替换；不通过则保留原表达，并输出原因、证据与待处理类型。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DFE21C-3745-4586-89CF-420386A9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14850"/>
            <a:ext cx="25527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1A641A-3C49-4F94-BEAD-F64D0729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14850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替换 / 保留 / 标注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268351-251F-4756-9BD9-8B940E44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DB1D98-8510-4C81-98DF-9A90B08B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FB5F97-93B8-4214-A01E-E3491EA5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关系锚定是替换前提；路段连续性、方向、几何和拓扑共同决定是否执行替换。</a:t>
            </a:r>
          </a:p>
        </p:txBody>
      </p:sp>
    </p:spTree>
    <p:extLst>
      <p:ext uri="{BB962C8B-B14F-4D97-AF65-F5344CB8AC3E}">
        <p14:creationId xmlns:p14="http://schemas.microsoft.com/office/powerpoint/2010/main" val="1232120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7B63A5-0A59-4EBE-A270-63AEA224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第二部分｜替换融合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18E64-258F-4BE0-9E59-7D479640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方案一：锚定成功不等于可以安全替换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64F5F-5658-4DEA-8F50-831DA9DB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候选道路必须同时通过两端接入、连续路径、方向一致、几何覆盖和拓扑完整性审查。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28B88-ACFC-4A24-8F13-EF117BB3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6F340-C0E1-4FF5-BA52-A8616277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A31DC-6AB0-4C22-B706-482B92D2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4485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A64FF-20A2-4BAD-895C-CE1BC4B4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两端锚定边界内的候选道路图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7FBDA-A239-47F2-A099-0D165268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D8D8"/>
          </a:solidFill>
          <a:ln xmlns:a="http://schemas.openxmlformats.org/drawingml/2006/main" w="28575">
            <a:solidFill>
              <a:srgbClr val="7D26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0244C-FA6A-412E-8986-E58A683D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D8D8"/>
          </a:solidFill>
          <a:ln xmlns:a="http://schemas.openxmlformats.org/drawingml/2006/main" w="28575">
            <a:solidFill>
              <a:srgbClr val="7D26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C600C-C6EF-4223-9EED-5FF42734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左侧路口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74E31-6473-40AF-BB12-EBC066C1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右侧路口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E348B-CB64-44F3-9814-81AF158E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036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ACDCB-AA02-4E1C-9CE5-CB89821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036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84E84-DAEA-4CC6-8320-0D3B8C25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89957-7E20-44C3-82FC-73FCC790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B2A85-0FE6-4A8D-BA3E-3F483A10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05467-3CA1-4C77-84D2-06DE2A92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8E3B2-6E1D-41CB-B766-2C9CA442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100D1-CCB3-4320-8667-957C10FC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93FCE-BABF-4661-A3C6-EA63C306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99D55-5C51-4772-ACFC-455B0EEC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EF438D-C7A3-4B38-B468-7D4A3FA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47900"/>
            <a:ext cx="2800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3DF"/>
          </a:solidFill>
          <a:ln xmlns:a="http://schemas.openxmlformats.org/drawingml/2006/main" w="9525">
            <a:solidFill>
              <a:srgbClr val="7180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9064F-147C-4438-9C74-B8D0C91B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479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满足条件：连续且方向一致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DCC9C-474F-4FCD-98C0-11C21DBE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81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D2633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3AAEA-A5EF-468E-BE78-CEB53B2E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D2633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ACA66-8021-4BBF-98E4-EE60C647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57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DEF1E-1785-4F00-B353-003F4AA6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181475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BD59D-1F64-46AF-BB48-3F63D5AF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62500"/>
            <a:ext cx="2800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3F8755-7890-43BE-AC16-744728A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拒绝替换：必要路径中断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F58311-ACCC-47CA-AF3C-29C25B81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24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替换质量门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4C3CC-6A43-4AB6-8920-3CCCA831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314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F980E9-6AAD-4547-9401-4F2366AA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64104A-3BE3-41E4-BAA1-E8E07627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574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D33457-6017-4FC5-AD02-E13ECDE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两端接入明确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9AC593-DF14-46D5-92FF-9A77B77A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14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70DEB7-EEEA-45E3-AF8A-22C0452A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34AE1B-35C7-4183-AF20-E1CDA993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432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CFF15B-777B-403A-AE6D-96FCFCCD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必要节点连通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D90878-5BCB-4532-8750-7116DEA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314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204B5A-1BAF-47AC-9ADD-8DB69C3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76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4B428E-626A-4CEB-89D0-E594A8D3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290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C4916B-FBD5-4632-A8DC-C2DC34A2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方向与道路一致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9C5CCB-B3A1-4327-BF2D-D8514BFD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314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B892EE-BE70-4B84-9D5E-035E96E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62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A4A4C9-34FB-4261-B44A-DD4CAA74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148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9E60CB-A1F4-4AE2-A4F2-C1862CF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95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几何覆盖合理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C78862-69C5-4DFB-A0C8-FE93C7C1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05350"/>
            <a:ext cx="314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0D68DF-F4CB-4C5D-898A-F5EA8C50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48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CB38A9-EACE-4E19-B1D7-FBA8637D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006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E340DC-012B-40B6-89A3-1F750759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053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拓扑关系完整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1F8235-7BC1-44AF-8101-E8F23AB7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6896F1-01AA-4023-A20F-28013B41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D4FACE-9090-4024-80FD-18970F9D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任何一项硬条件不成立，均保留原有表达并输出可追溯原因。</a:t>
            </a:r>
          </a:p>
        </p:txBody>
      </p:sp>
    </p:spTree>
    <p:extLst>
      <p:ext uri="{BB962C8B-B14F-4D97-AF65-F5344CB8AC3E}">
        <p14:creationId xmlns:p14="http://schemas.microsoft.com/office/powerpoint/2010/main" val="1282055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B02CA8-2F03-4CFD-BFEF-EFD00602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第二部分｜替换融合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73480-6BAF-40B1-A63B-6579903C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方案一：主体能力已成立，剩余问题需要分层处理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21B53-43A6-433C-A7FA-C7B72A49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现有判断显示，主体范围可由方案一完成，其余场景分别需要补充融合、原始数据修复和策略完善。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C434A-A098-4CCF-BB06-F4E0E72F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2BA7F-1CA4-447B-94E3-E2072F9B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57E10-BC68-4A86-A813-92FA5015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结果分层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E57E5-6110-44F1-8070-8D1EE8BA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87782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EE1DB-B8C7-4F15-A1BC-1825C6BB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87020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约80%  主方案完成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2FF41-78E2-4496-A4DB-C8B7264F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943100"/>
            <a:ext cx="1097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8A7FB-ACD1-40BA-B657-954DA29F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1943100"/>
            <a:ext cx="10210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D4CCA-5C0A-4E0F-9EA1-564E2CEB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120" y="1943100"/>
            <a:ext cx="5486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787E"/>
          </a:solidFill>
          <a:ln xmlns:a="http://schemas.openxmlformats.org/drawingml/2006/main" w="9525">
            <a:solidFill>
              <a:srgbClr val="A9787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35536-7E8D-492D-832C-A8FDB58A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220" y="1943100"/>
            <a:ext cx="4724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AC0B2-9667-4ABA-898E-83531FD6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760" y="1943100"/>
            <a:ext cx="5486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9AC"/>
          </a:solidFill>
          <a:ln xmlns:a="http://schemas.openxmlformats.org/drawingml/2006/main" w="9525">
            <a:solidFill>
              <a:srgbClr val="C7A9A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C06BA-A4C6-4402-A045-F699928D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860" y="1943100"/>
            <a:ext cx="4724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约5%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F793A-9CDF-42DE-BCC0-3041D773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533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A4606-5091-4FF6-A31E-D69D3FF7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27F52-38EC-4A4C-AA5B-CA614872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约80%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DF72D-5BF1-488D-8F46-47D4F91D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主方案完成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15683-F2C8-4206-8614-56EF8108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2533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5E215-46FE-447A-B592-05E4F8FB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D8051-648F-4737-BA20-D61A509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241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约10%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432B2-B6C1-41A1-B091-12B959CD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需要一对一融合补充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C709B-C742-478E-82C4-1B8FCE15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533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CAF44B-72EC-46A7-BAC9-28DAAA25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7E"/>
          </a:solidFill>
          <a:ln xmlns:a="http://schemas.openxmlformats.org/drawingml/2006/main" w="9525">
            <a:solidFill>
              <a:srgbClr val="A978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9F8EA-98D1-42BB-9533-1232CA48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241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78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9787E"/>
                </a:solidFill>
                <a:latin typeface="Microsoft YaHei"/>
                <a:ea typeface="Microsoft YaHei"/>
                <a:cs typeface="Microsoft YaHei"/>
              </a:rPr>
              <a:t>约5%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66473-4D2B-4559-B683-B0EF1CB1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原始RCSD质量错误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FD5552-840D-439A-9BFC-5707FA4F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2533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3F097C-8357-4407-9E28-E15BCC62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9AC"/>
          </a:solidFill>
          <a:ln xmlns:a="http://schemas.openxmlformats.org/drawingml/2006/main" w="9525">
            <a:solidFill>
              <a:srgbClr val="C7A9A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2D2B7-01DF-4C26-9AD5-FE43EB56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241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A9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A9AC"/>
                </a:solidFill>
                <a:latin typeface="Microsoft YaHei"/>
                <a:ea typeface="Microsoft YaHei"/>
                <a:cs typeface="Microsoft YaHei"/>
              </a:rPr>
              <a:t>约5%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2140DB-05F6-4760-B0DD-A4A3219E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路口锚定与路段替换策略问题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07428-C464-470C-8848-D689A2C1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长期演进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69D61A-D397-44CA-9222-B8CB5C17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01168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1BD6E5-C584-4FE5-A2A9-5B9402DD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85928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规则策略形成真值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AD0015-A057-47FA-ADAD-53979B3F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4362450"/>
            <a:ext cx="22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366665-C560-4140-8205-2082F286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4362450"/>
            <a:ext cx="201168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13E2DE-1988-4554-A8D7-9E30E7D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362450"/>
            <a:ext cx="185928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人工补标与数据修复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683BA5-2A8B-4739-918A-2EE62AAE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4362450"/>
            <a:ext cx="22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1443F4-FDB3-41A0-A502-6E870DE6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4362450"/>
            <a:ext cx="201168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DAA96F-973D-4791-99C8-40FB0D29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362450"/>
            <a:ext cx="185928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模型辅助候选与异常识别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DFD2FD-ECCD-4F35-820F-224430D3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40" y="4362450"/>
            <a:ext cx="22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2F5A05-00D1-4F35-9A5A-E952DCAC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4362450"/>
            <a:ext cx="201168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353744-166B-43F6-B089-EDFE4A8B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362450"/>
            <a:ext cx="185928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规则质检与应用反馈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8FB20C-8420-484A-839C-FFD1C0AD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4362450"/>
            <a:ext cx="22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6B718A-FB9E-4E2D-88B9-036BC7DB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4362450"/>
            <a:ext cx="201168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D9F61B-6826-4B71-A7EA-0B9BCF24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362450"/>
            <a:ext cx="185928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迭代训练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C28348-9274-447D-A708-41578AA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DBC508-C56F-42B0-96B5-3FC10FC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6C6BCA-CA7D-47FB-B254-C68FDD5D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短期以补充方案和数据修复收敛质量；长期通过标注—训练—质检闭环降低规则膨胀风险。</a:t>
            </a:r>
          </a:p>
        </p:txBody>
      </p:sp>
    </p:spTree>
    <p:extLst>
      <p:ext uri="{BB962C8B-B14F-4D97-AF65-F5344CB8AC3E}">
        <p14:creationId xmlns:p14="http://schemas.microsoft.com/office/powerpoint/2010/main" val="194006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18CC07-B586-4B43-8D3F-42455B49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第三部分｜质量审计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4C334-6484-4AA6-932F-048C38B6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方案二：以两侧锚定为边界，审计RCSD通行路径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AEC1B-4B07-4B71-903D-9D31467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真实用例1885118 / 路段1885140_1888173：两端锚定成功，但候选道路无法形成满足要求的双向通行路径。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4FF8C-5080-46C4-BE6F-9E5A87E5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256C0-4AC2-4C02-8EB8-069E3ACF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61B1E-FC7F-4777-9CA4-93376778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01168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5B591-16F1-4B73-91D5-C6190F1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85928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左右路口锚定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F6999-7CE6-47BD-A32A-351B5EA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1428750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C0C6D-15F1-4936-86AA-C5A8BBF1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1428750"/>
            <a:ext cx="201168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998CD-D7D7-47DD-AE67-55A6DD22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428750"/>
            <a:ext cx="185928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构建候选道路图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9D855-66F6-41A6-9780-549953C4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1428750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1686E-7DBA-4366-B325-BE60BF4A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1428750"/>
            <a:ext cx="201168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F21B2-E806-405C-B448-C8CE7A7D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428750"/>
            <a:ext cx="185928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双向通行路径搜索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A0AB4-8DDB-420D-8291-266D956B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40" y="1428750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4A1AB-FE32-459E-81BA-3532B317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1428750"/>
            <a:ext cx="201168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ED559-DF31-41D5-8A5E-9728ADF7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28750"/>
            <a:ext cx="185928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连通与方向审计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DE152-1046-4AF1-9BA3-6099BBC1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1428750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0ED52-0A1F-4173-A4D5-B92605A7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1428750"/>
            <a:ext cx="201168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32549-5EDB-4E03-BFA1-9FCE1DCC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428750"/>
            <a:ext cx="185928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结果：无法安全替换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F2CCF-A709-48A5-B24C-B0001F4D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7d5825a6f474d"/>
          <a:srcRect xmlns:a="http://schemas.openxmlformats.org/drawingml/2006/main" l="0" t="21831" r="0" b="21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10820400" cy="3429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DBD03-0E59-44E8-BCF1-0DA2D7DA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5D66D-67CA-48CB-A7AB-3911D2D5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两侧锚定成功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1E243E-6A6D-4672-BA0E-8585CE1F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669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544AD-8601-46D9-ABC3-5F0CE375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必要路径中断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199E6-27A8-48C8-8317-2FE575A8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DDC83-F22E-488C-9669-CEDA5138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669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不执行替换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4E893-E378-45CB-9877-CF8618D8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FD921E-F4A6-4832-8923-B480859E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78ED98-4E9E-4936-AAB3-ADD62EF5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两端关系均可消费，但候选道路图的必要节点不连通，无法形成满足要求的双向通行路径，因此不执行替换。</a:t>
            </a:r>
          </a:p>
        </p:txBody>
      </p:sp>
    </p:spTree>
    <p:extLst>
      <p:ext uri="{BB962C8B-B14F-4D97-AF65-F5344CB8AC3E}">
        <p14:creationId xmlns:p14="http://schemas.microsoft.com/office/powerpoint/2010/main" val="948066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6CDD9-A48D-4AC0-B3F6-A610643D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第三部分｜质量审计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AA855-856B-450C-841F-C65A9C52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方案二：质检指标验证情况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97280-F56C-4BAF-B38C-9A6C57D9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当前已完成两轮质检验证，问题规模、修复效果、准确率与召回率待实际验证数据补齐后形成正式结论。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6441A-20A6-48E8-B2BB-0FE8AF6E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5C652-46B9-40F6-8774-D9C8C102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5AB1C-7878-4C97-B445-1411AACC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3911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F7026-3B6A-43DA-BE66-1FF7654D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076AF-63CA-4942-B9BF-1C17F53F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398FE-7537-4E94-A39A-0FFC60DC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3911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C58D4-1E61-43B5-B8F6-E89C9459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716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E8A35-3F4B-44CE-8EDE-DCBD2CF6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86F3D-2A0F-4533-88C5-65F21CEA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3911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10DE9-F28F-4E3C-A4DE-5CD54BE2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AA97-BD72-45B7-A4E4-136FE4CF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F1FEC-7EED-4278-B194-FFDB6C16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3911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A03A6-CE84-4F83-B0CC-5C12933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4E385-BD8D-494D-A03E-E76CECF1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4041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A6D363-FE40-4008-85B3-7A732DA3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第四部分｜正向构建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63B16-AD4B-4A24-A29E-B7B9EB0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方案三：以SWSD道路结构为骨架，正向生产RCSD道路网络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99609-E3E1-4424-8603-7130DD76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不以既有RCSD道路形态作为生成模板，保留SWSD路口—路段业务结构，利用原始图幅高精证据重新生成道路、节点和道路连接关系。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BBD99-9500-440F-AFDA-3C32D46E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E5885-D3A6-4225-8655-A55F606E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28426-DAB3-4EA1-AFA8-319076AE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3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0E93A-2A31-41A3-B1AD-00E25CE0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SWSD路口—路段骨架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3341C-F844-4F82-8628-74D373D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42875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564F2-10C2-45B1-B8BD-C92DDED5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28750"/>
            <a:ext cx="163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EBEA3-8374-4C25-BAD6-670C9037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287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已确认路口面与</a:t>
            </a:r>
          </a:p>
          <a:p xmlns:a="http://schemas.openxmlformats.org/drawingml/2006/main">
            <a:pPr algn="ctr">
              <a:def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原始高精证据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5350B-09DB-4D09-AB0D-20E77C66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2875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EF4EA-092C-474F-9168-7AE09D8A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63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92413-AF46-4E66-8476-27A3E8BF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287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按路段聚合跨图幅证据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944CC-09DA-4E85-B0CB-D5C596B3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B20CB-74C5-41C4-831A-3AC437E8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163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69FDF-C3D8-46AE-836F-58BD304C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规划完整道路承载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177EB-95FD-4A36-B316-71F5A730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1ECB0-F233-4132-A4AC-C860EB68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163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971EF-1454-4773-B857-3E84CF08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生成道路、节点与连接关系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B15E5-9BB9-4F3A-921F-9630FE16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2875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DB70C-476B-49DA-958E-6B5F966F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428750"/>
            <a:ext cx="163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F1D90-F98D-4378-8005-3DED5543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4287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RCSD候选道路网络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CFBFB-5A75-498C-BC88-3A9B8812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239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9997fa9314a8b"/>
          <a:srcRect xmlns:a="http://schemas.openxmlformats.org/drawingml/2006/main" l="0" t="7729" r="0" b="7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28850"/>
            <a:ext cx="7086600" cy="33718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C154C-5934-4628-B08E-640FA49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577E25-CE45-4FAE-BEEF-5108023A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真实用例 1885118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A70FC1-F876-4D1C-8E3A-84798E08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95C1BC-7710-4763-B8BB-21858724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735F2-0E37-4CEE-8409-D77F72A7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764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路段是业务构建单元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76957-C375-4269-AAB9-C2309368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38475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84C285-8D3B-4682-9E8B-26294E7A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718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175959-B7EE-4525-B85E-06D70640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SWSD提供业务语义，不直接提供高精道路几何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D8F821-3816-4504-96E8-99C71BE7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66B714-1D6E-4157-92AD-945B446A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04F350-F2B4-49B1-9927-C1E07F53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338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道路端点真实进入已确认路口面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DBDDD0-F0D9-4073-B2EC-80C62EC8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95825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6AEE7A-5F08-4D3B-8783-28929BC9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29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6EB381-25D7-4828-A353-ACDA7F24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625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冲突时按路段保留并输出审计原因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9653D3-03D8-45B9-ADAB-FFE9C9FF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1740EE-A15A-4421-B4D8-116CA914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7D082B-FECF-4F15-B196-9FEC963E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方案一、二围绕既有RCSD进行替换与质检；方案三从原始高精证据重新生产RCSD。</a:t>
            </a:r>
          </a:p>
        </p:txBody>
      </p:sp>
    </p:spTree>
    <p:extLst>
      <p:ext uri="{BB962C8B-B14F-4D97-AF65-F5344CB8AC3E}">
        <p14:creationId xmlns:p14="http://schemas.microsoft.com/office/powerpoint/2010/main" val="1441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FD361-8FD6-45B7-8549-C76901CA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第四部分｜正向构建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9EBFF-2269-4B84-ACEF-78AA55B1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用例1885118：一个SWSD路段如何形成完整RCSD道路链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77CF4-C3BB-49C3-8FAA-DE805930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同一业务路段可按方向、物理节点和内部路口细分为多条道路，但仍共同实现一个SWSD路段。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764BE-FBAC-47C1-B393-8000459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DEA04-FE3B-4F50-AE10-1C9CAEDA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AD960-4141-4351-A198-71DE699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101C3-1310-4AC9-88E1-3380348F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1个SWSD业务路段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ED7A0-7A01-4D95-B961-EC3DFE99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28750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D0D28-F408-46F4-A9CB-6AF6D91E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B5BE7-72EA-4A4F-A432-BCE26543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287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2条方向主干链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469A0-81D1-4C75-89E7-256436AA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40BB3-269F-44FC-8EC8-5DA35F68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D8D8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1D433-7867-4669-B2B3-69E239D5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6条RCSD道路组成完整承载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37935-EBDB-4F2B-913B-70AC8FBA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67715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a433968c847f0"/>
          <a:srcRect xmlns:a="http://schemas.openxmlformats.org/drawingml/2006/main" l="0" t="10844" r="0" b="108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7524750" cy="3314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F2B48-0CAF-4E5E-A3A6-2FAE5146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33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FFFE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BBD07-C644-43A9-AAF1-107F5486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FFFE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A5054-5122-4A4A-82C8-457D39EB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3DF"/>
          </a:solidFill>
          <a:ln xmlns:a="http://schemas.openxmlformats.org/drawingml/2006/main" w="9525">
            <a:solidFill>
              <a:srgbClr val="7180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118E3-481A-4BAD-B81D-E0FBDE4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高精完整构建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8E3E8-978A-437D-98A3-12BB7D0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3086100" cy="3467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75ab1fd6f403e"/>
          <a:srcRect xmlns:a="http://schemas.openxmlformats.org/drawingml/2006/main" l="177" t="0" r="1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171700"/>
            <a:ext cx="2933700" cy="21145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95C55-553A-4E7A-A42A-9E889327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005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当前算法边界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4B318-5FB0-46A8-8B27-762098E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863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不同局部分支仍可能被错误融合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379D6-B8B5-4D80-861A-8EDD04FD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718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真实路段12588988_523629862｜高精完整构建｜保留道路0条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30E46-A885-413A-A028-49DBEF51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94274-F581-4B50-9DDE-9C2545BB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9525">
            <a:solidFill>
              <a:srgbClr val="7D26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04A9D3-5AAC-41DD-9895-9216428D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当前已完成真实范围内的完整构图和审计链路验证；高精直出硬目标完成86/96，剩余10个特殊场景仍需算法完善和扩大验证。</a:t>
            </a:r>
          </a:p>
        </p:txBody>
      </p:sp>
    </p:spTree>
    <p:extLst>
      <p:ext uri="{BB962C8B-B14F-4D97-AF65-F5344CB8AC3E}">
        <p14:creationId xmlns:p14="http://schemas.microsoft.com/office/powerpoint/2010/main" val="480055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2026-07-27T10:28:53.9660000Z</dcterms:created>
  <dcterms:modified xsi:type="dcterms:W3CDTF">2026-07-27T10:28:53.9660000Z</dcterms:modified>
</coreProperties>
</file>