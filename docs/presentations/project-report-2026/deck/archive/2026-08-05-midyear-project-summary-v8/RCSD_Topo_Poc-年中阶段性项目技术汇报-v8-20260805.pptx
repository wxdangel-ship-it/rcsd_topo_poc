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23a78b362f40e6" /><Relationship Type="http://schemas.openxmlformats.org/officeDocument/2006/relationships/extended-properties" Target="/docProps/app.xml" Id="R80b2a69933d34276" /><Relationship Type="http://schemas.openxmlformats.org/officeDocument/2006/relationships/officeDocument" Target="/ppt/presentation.xml" Id="Rca68975a30794f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08f6d581384286"/>
  </p:sldMasterIdLst>
  <p:notesMasterIdLst>
    <p:notesMasterId xmlns:r="http://schemas.openxmlformats.org/officeDocument/2006/relationships" r:id="R23c1f9bd595d4be9"/>
  </p:notesMasterIdLst>
  <p:sldIdLst>
    <p:sldId xmlns:r="http://schemas.openxmlformats.org/officeDocument/2006/relationships" id="256" r:id="R819a72f73a074b95"/>
    <p:sldId xmlns:r="http://schemas.openxmlformats.org/officeDocument/2006/relationships" id="257" r:id="R8206499bf57b44bb"/>
    <p:sldId xmlns:r="http://schemas.openxmlformats.org/officeDocument/2006/relationships" id="258" r:id="R4a3329ce596d4c74"/>
    <p:sldId xmlns:r="http://schemas.openxmlformats.org/officeDocument/2006/relationships" id="259" r:id="R321152a0425a4af1"/>
    <p:sldId xmlns:r="http://schemas.openxmlformats.org/officeDocument/2006/relationships" id="260" r:id="R5ad835c463ab471f"/>
    <p:sldId xmlns:r="http://schemas.openxmlformats.org/officeDocument/2006/relationships" id="261" r:id="R6b83ba6fbc8e4179"/>
    <p:sldId xmlns:r="http://schemas.openxmlformats.org/officeDocument/2006/relationships" id="262" r:id="Rdc9e421cb73247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4cecd38c94bc5" /><Relationship Type="http://schemas.openxmlformats.org/officeDocument/2006/relationships/slideMaster" Target="/ppt/slideMasters/slideMaster1.xml" Id="R3508f6d581384286" /><Relationship Type="http://schemas.openxmlformats.org/officeDocument/2006/relationships/notesMaster" Target="/ppt/notesMasters/notesMaster1.xml" Id="R23c1f9bd595d4be9" /><Relationship Type="http://schemas.openxmlformats.org/officeDocument/2006/relationships/presProps" Target="/ppt/presProps.xml" Id="Rbe02810ef3ee4cb6" /><Relationship Type="http://schemas.openxmlformats.org/officeDocument/2006/relationships/viewProps" Target="/ppt/viewProps.xml" Id="R12951a0b39f8407b" /><Relationship Type="http://schemas.openxmlformats.org/officeDocument/2006/relationships/tableStyles" Target="/ppt/tableStyles.xml" Id="Rf410ddfdf2f74ea0" /><Relationship Type="http://schemas.openxmlformats.org/officeDocument/2006/relationships/slide" Target="/ppt/slides/slide1.xml" Id="R819a72f73a074b95" /><Relationship Type="http://schemas.openxmlformats.org/officeDocument/2006/relationships/slide" Target="/ppt/slides/slide2.xml" Id="R8206499bf57b44bb" /><Relationship Type="http://schemas.openxmlformats.org/officeDocument/2006/relationships/slide" Target="/ppt/slides/slide3.xml" Id="R4a3329ce596d4c74" /><Relationship Type="http://schemas.openxmlformats.org/officeDocument/2006/relationships/slide" Target="/ppt/slides/slide4.xml" Id="R321152a0425a4af1" /><Relationship Type="http://schemas.openxmlformats.org/officeDocument/2006/relationships/slide" Target="/ppt/slides/slide5.xml" Id="R5ad835c463ab471f" /><Relationship Type="http://schemas.openxmlformats.org/officeDocument/2006/relationships/slide" Target="/ppt/slides/slide6.xml" Id="R6b83ba6fbc8e4179" /><Relationship Type="http://schemas.openxmlformats.org/officeDocument/2006/relationships/slide" Target="/ppt/slides/slide7.xml" Id="Rdc9e421cb73247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206b7a62284f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64bba633b14593" /><Relationship Type="http://schemas.openxmlformats.org/officeDocument/2006/relationships/notesMaster" Target="/ppt/notesMasters/notesMaster1.xml" Id="R143275523ba243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24db1ca85b4427" /><Relationship Type="http://schemas.openxmlformats.org/officeDocument/2006/relationships/notesMaster" Target="/ppt/notesMasters/notesMaster1.xml" Id="Rb6ec7d4c6001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4e60b81c3b4e60" /><Relationship Type="http://schemas.openxmlformats.org/officeDocument/2006/relationships/notesMaster" Target="/ppt/notesMasters/notesMaster1.xml" Id="R79e45a807ca64b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dced55d2fe42b0" /><Relationship Type="http://schemas.openxmlformats.org/officeDocument/2006/relationships/notesMaster" Target="/ppt/notesMasters/notesMaster1.xml" Id="Rf5d97ba07e2b48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9409b8c51641b7" /><Relationship Type="http://schemas.openxmlformats.org/officeDocument/2006/relationships/notesMaster" Target="/ppt/notesMasters/notesMaster1.xml" Id="Rbf5228a308af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68ff544bf04d73" /><Relationship Type="http://schemas.openxmlformats.org/officeDocument/2006/relationships/notesMaster" Target="/ppt/notesMasters/notesMaster1.xml" Id="Rdd4db4bbf4b947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6c73595d7746c3" /><Relationship Type="http://schemas.openxmlformats.org/officeDocument/2006/relationships/notesMaster" Target="/ppt/notesMasters/notesMaster1.xml" Id="R4a6335c7a0cd43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docs/PROJECT_REQUIREMENTS.md</a:t>
            </a:r>
          </a:p>
          <a:p xmlns:a="http://schemas.openxmlformats.org/drawingml/2006/main">
            <a:r>
              <a:t>- docs/doc-governance/module-lifecycle.md</a:t>
            </a:r>
          </a:p>
          <a:p xmlns:a="http://schemas.openxmlformats.org/drawingml/2006/main">
            <a:r>
              <a:t>- modules/t01_data_preprocess/SPEC.md</a:t>
            </a:r>
          </a:p>
          <a:p xmlns:a="http://schemas.openxmlformats.org/drawingml/2006/main">
            <a:r>
              <a:t>- modules/t07_semantic_junction_anchor/SPEC.md</a:t>
            </a:r>
          </a:p>
          <a:p xmlns:a="http://schemas.openxmlformats.org/drawingml/2006/main">
            <a:r>
              <a:t>- modules/t03_virtual_junction_anchor/SPEC.md</a:t>
            </a:r>
          </a:p>
          <a:p xmlns:a="http://schemas.openxmlformats.org/drawingml/2006/main">
            <a:r>
              <a:t>- modules/t04_divmerge_virtual_polygon/SPEC.md</a:t>
            </a:r>
          </a:p>
          <a:p xmlns:a="http://schemas.openxmlformats.org/drawingml/2006/main">
            <a:r>
              <a:t>- modules/t05_junction_surface_fusion/SPEC.md</a:t>
            </a:r>
          </a:p>
          <a:p xmlns:a="http://schemas.openxmlformats.org/drawingml/2006/main">
            <a:r>
              <a:t>- modules/t06_segment_fusion_precheck/INTERFACE_CONTRACT.md</a:t>
            </a:r>
          </a:p>
          <a:p xmlns:a="http://schemas.openxmlformats.org/drawingml/2006/main">
            <a:r>
              <a:t>- modules/t12_frcsd_quality_audit/INTERFACE_CONTRACT.md</a:t>
            </a:r>
          </a:p>
          <a:p xmlns:a="http://schemas.openxmlformats.org/drawingml/2006/main">
            <a:r>
              <a:t>- modules/p04_road_direct_generation/INTERFACE_CONTRACT.md</a:t>
            </a:r>
          </a:p>
          <a:p xmlns:a="http://schemas.openxmlformats.org/drawingml/2006/main">
            <a:r>
              <a:t>- modules/p05_neural_road_generation/INTERFACE_CONTRACT.md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V6 第 2 页：完整替换方案主体、真实锚定证据图及空间关系。</a:t>
            </a:r>
          </a:p>
          <a:p xmlns:a="http://schemas.openxmlformats.org/drawingml/2006/main">
            <a:r>
              <a:t>- 用户提供：95% 为路口自动锚定成功率业务统计。</a:t>
            </a:r>
          </a:p>
          <a:p xmlns:a="http://schemas.openxmlformats.org/drawingml/2006/main">
            <a:r>
              <a:t>- V6 正式内网实测：80.3760%、108,732 条 RCSD 道路、10,386.319 公里。</a:t>
            </a:r>
          </a:p>
          <a:p xmlns:a="http://schemas.openxmlformats.org/drawingml/2006/main">
            <a:r>
              <a:t>- 用户提供：85% 为全量路口锚定后的条件预估；剩余约 15% 转入 1V1 匹配补充处理。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V6 第 3 页：审计目标与准则、现实质检案例、输出与边界三段式。</a:t>
            </a:r>
          </a:p>
          <a:p xmlns:a="http://schemas.openxmlformats.org/drawingml/2006/main">
            <a:r>
              <a:t>- 用例 1885118：V6 已确认真实本地图；现有证据仅来自替换前置检查，状态为候选。</a:t>
            </a:r>
          </a:p>
          <a:p xmlns:a="http://schemas.openxmlformats.org/drawingml/2006/main">
            <a:r>
              <a:t>- 用例 522806716：E:/TestData/POC_QA/T03_Error/522806716；当前质量审计输入快照已确认，QGIS/PyQGIS 渲染，silent_fix=false。</a:t>
            </a:r>
          </a:p>
          <a:p xmlns:a="http://schemas.openxmlformats.org/drawingml/2006/main">
            <a:r>
              <a:t>- 用例 26219553_1026960：E:/Work/RCSD_Topo_Poc/outputs/_work/t12_unexpected_reverse_qgis_audit_20260730/preview_26219553_1026960.png。</a:t>
            </a:r>
          </a:p>
          <a:p xmlns:a="http://schemas.openxmlformats.org/drawingml/2006/main">
            <a:r>
              <a:t>- 最新排除结论：E:/Work/RCSD_Topo_Poc/outputs/_work/t12_quality_taxonomy_step2_source_20260801/real_qgis_audit_v10_release/t12_frcsd_quality_candidates.csv；反向道路更属于相邻路段，当前排除。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modules/p04_road_direct_generation/SPEC.md</a:t>
            </a:r>
          </a:p>
          <a:p xmlns:a="http://schemas.openxmlformats.org/drawingml/2006/main">
            <a:r>
              <a:t>- modules/p04_road_direct_generation/architecture/05-quality-requirements.md</a:t>
            </a:r>
          </a:p>
          <a:p xmlns:a="http://schemas.openxmlformats.org/drawingml/2006/main">
            <a:r>
              <a:t>- docs/doc-governance/module-lifecycle.md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第5页V05图片确认稿——来源与边界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接口SHA256：0E54D9DEE375AF73824277D8F754A24E7449D03831A034B9113E54889A018767。</a:t>
            </a:r>
          </a:p>
          <a:p xmlns:a="http://schemas.openxmlformats.org/drawingml/2006/main">
            <a:r>
              <a:t>- 源PPT：C:\Users\admin\Downloads\L4上下车点技术方案_6页最终发布版_返璞归真视觉_第1页标题统一.pptx，SHA256=FB85954DBABF629BD36F8B3BC54CF541BDCA3E546FE70A7A6B719B3C692ABC55；已完整核对第1、2页对象文本和整页渲染。</a:t>
            </a:r>
          </a:p>
          <a:p xmlns:a="http://schemas.openxmlformats.org/drawingml/2006/main">
            <a:r>
              <a:t>- Excel：C:\Users\admin\Downloads\L4上下车点交通法规_RC与车端分工_完整重生成.xlsx，SHA256=15F23DB957B1D2BCFEAF1ED478D8A2EE74037C9DD18B977DB42F595CB85724F3；只读核对统一业务原则A5:C7。</a:t>
            </a:r>
          </a:p>
          <a:p xmlns:a="http://schemas.openxmlformats.org/drawingml/2006/main">
            <a:r>
              <a:t>- 正式V7：E:\Work\RCSD_Topo_Poc__wt_midyear_v4_20260803\docs\presentations\project-report-2026\deck\archive\2026-08-05-midyear-project-summary-v7\RCSD_Topo_Poc-年中阶段性项目技术汇报-v7-20260805.pptx，SHA256=E14CDDEAB8F23E19FB5396DC215893FCB91559B5985C302C770E9869E3F5EC2A。</a:t>
            </a:r>
          </a:p>
          <a:p xmlns:a="http://schemas.openxmlformats.org/drawingml/2006/main">
            <a:r>
              <a:t>- 高德点只表达现实需求并触发RCSD候选查询、校验和点位修正；不生成静态规则。</a:t>
            </a:r>
          </a:p>
          <a:p xmlns:a="http://schemas.openxmlformats.org/drawingml/2006/main">
            <a:r>
              <a:t>- 附近高德备选点与RCSD同方向同侧候选区间画为两条条件分支，分别回到重新校验。</a:t>
            </a:r>
          </a:p>
          <a:p xmlns:a="http://schemas.openxmlformats.org/drawingml/2006/main">
            <a:r>
              <a:t>- 普通道路和交通枢纽各自在本列完成接客；跨列连接线0；不包含送客或下车内容。</a:t>
            </a:r>
          </a:p>
          <a:p xmlns:a="http://schemas.openxmlformats.org/drawingml/2006/main">
            <a:r>
              <a:t>- 所有来源与旧稿只读，未修改；未执行Git。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Excel最高优先级事实源：L4上下车点交通法规_RC与车端分工_完整重生成.xlsx；首期RC基础要素A3:D10、法规拆解总表B15:F15/B7:F7/B4:F5/B32:F32、统一业务原则A3:C6。</a:t>
            </a:r>
          </a:p>
          <a:p xmlns:a="http://schemas.openxmlformats.org/drawingml/2006/main">
            <a:r>
              <a:t>- PAGE6_IMAGE_INTERFACE.txt（SHA256 8DB4F14480DD23051F56FE8C58AE7E9EF545440F3D1EBFEC37CA3911E1682D34）：页面确认文案、共享道路表达与审计锁定项。</a:t>
            </a:r>
          </a:p>
          <a:p xmlns:a="http://schemas.openxmlformats.org/drawingml/2006/main">
            <a:r>
              <a:t>- 正式V7第6页：继承Master、Layout与标题/色彩体系；正文按V05接口原生重建。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E:\Work\Off_Road_Map\modules\p01_phase2_map_prototype\MAP_DATA_STRUCTURE.md</a:t>
            </a:r>
          </a:p>
          <a:p xmlns:a="http://schemas.openxmlformats.org/drawingml/2006/main">
            <a:r>
              <a:t>- E:\Work\Off_Road_Map\docs\reviews\20260801_p01_m9_vehicle_ui_alignment_archive.md</a:t>
            </a:r>
          </a:p>
          <a:p xmlns:a="http://schemas.openxmlformats.org/drawingml/2006/main">
            <a:r>
              <a:t>- E:\Work\Off_Road_Map\docs\reviews\20260801_p01_m9_vehicle_ui_alignment_publish.md</a:t>
            </a:r>
          </a:p>
          <a:p xmlns:a="http://schemas.openxmlformats.org/drawingml/2006/main">
            <a:r>
              <a:t>- Embedded screenshot is frozen prototype evidence; public POIs and route descriptions remain candidate context, not navigation-grade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2b3d78cb54b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bcd523409e44b0" /><Relationship Type="http://schemas.openxmlformats.org/officeDocument/2006/relationships/slideLayout" Target="/ppt/slideLayouts/slideLayout1.xml" Id="R42ad20c55d5b47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ad20c55d5b47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ef4e53f7f48b3" /><Relationship Type="http://schemas.openxmlformats.org/officeDocument/2006/relationships/notesSlide" Target="/ppt/notesSlides/notesSlide1.xml" Id="Rd5bd28314e9242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26e6f3fe4437c" /><Relationship Type="http://schemas.openxmlformats.org/officeDocument/2006/relationships/image" Target="/ppt/media/image.png" Id="R6c985bb7bddb458e" /><Relationship Type="http://schemas.openxmlformats.org/officeDocument/2006/relationships/notesSlide" Target="/ppt/notesSlides/notesSlide2.xml" Id="Rf6407dd9d39a41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db43f989d419a" /><Relationship Type="http://schemas.openxmlformats.org/officeDocument/2006/relationships/image" Target="/ppt/media/image2.png" Id="R4c8ee58d9b0645fa" /><Relationship Type="http://schemas.openxmlformats.org/officeDocument/2006/relationships/image" Target="/ppt/media/image3.png" Id="Rcc193f30fc224f44" /><Relationship Type="http://schemas.openxmlformats.org/officeDocument/2006/relationships/image" Target="/ppt/media/image4.png" Id="R938e3b1cc23f4baf" /><Relationship Type="http://schemas.openxmlformats.org/officeDocument/2006/relationships/notesSlide" Target="/ppt/notesSlides/notesSlide3.xml" Id="R06a4bd61d88243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7cf47d50f452d" /><Relationship Type="http://schemas.openxmlformats.org/officeDocument/2006/relationships/image" Target="/ppt/media/image5.png" Id="Rc958b4984c6d4e7e" /><Relationship Type="http://schemas.openxmlformats.org/officeDocument/2006/relationships/notesSlide" Target="/ppt/notesSlides/notesSlide4.xml" Id="R220a7b995be14a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2a79f537e4bc6" /><Relationship Type="http://schemas.openxmlformats.org/officeDocument/2006/relationships/notesSlide" Target="/ppt/notesSlides/notesSlide5.xml" Id="Rc93a99618e1946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bdf1fcaf640da" /><Relationship Type="http://schemas.openxmlformats.org/officeDocument/2006/relationships/notesSlide" Target="/ppt/notesSlides/notesSlide6.xml" Id="R0fca7fd7fdcd48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8d69d74ac4bf0" /><Relationship Type="http://schemas.openxmlformats.org/officeDocument/2006/relationships/image" Target="/ppt/media/image6.png" Id="Re9f3c02ecb0e4524" /><Relationship Type="http://schemas.openxmlformats.org/officeDocument/2006/relationships/notesSlide" Target="/ppt/notesSlides/notesSlide7.xml" Id="R95a03d62d7e14a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age-title">
            <a:extLst xmlns:a="http://schemas.openxmlformats.org/drawingml/2006/main">
              <a:ext uri="{FF2B5EF4-FFF2-40B4-BE49-F238E27FC236}">
                <a16:creationId xmlns:a16="http://schemas.microsoft.com/office/drawing/2014/main" id="{277F19B6-4BED-48CA-9BA7-B00CB4D6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道路业务全貌：从结构认知到四条业务路径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B2B1350-3A8A-4542-9DC6-89076FB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先建立稳定的路口—路段认知，再锚定现实证据并形成替换、质检、构建与变更识别闭环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6361FF2-D17F-4FB3-8FF8-E4B4DEA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0" name="p1-第一层-accent">
            <a:extLst xmlns:a="http://schemas.openxmlformats.org/drawingml/2006/main">
              <a:ext uri="{FF2B5EF4-FFF2-40B4-BE49-F238E27FC236}">
                <a16:creationId xmlns:a16="http://schemas.microsoft.com/office/drawing/2014/main" id="{23A0D839-DFF1-4043-9F79-5A6A1017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1-第一层-index">
            <a:extLst xmlns:a="http://schemas.openxmlformats.org/drawingml/2006/main">
              <a:ext uri="{FF2B5EF4-FFF2-40B4-BE49-F238E27FC236}">
                <a16:creationId xmlns:a16="http://schemas.microsoft.com/office/drawing/2014/main" id="{B3079566-79CF-40D0-AF42-7B8DE5B0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第一层</a:t>
            </a:r>
          </a:p>
        </p:txBody>
      </p:sp>
      <p:sp>
        <p:nvSpPr>
          <p:cNvPr id="52" name="p1-第一层-topic">
            <a:extLst xmlns:a="http://schemas.openxmlformats.org/drawingml/2006/main">
              <a:ext uri="{FF2B5EF4-FFF2-40B4-BE49-F238E27FC236}">
                <a16:creationId xmlns:a16="http://schemas.microsoft.com/office/drawing/2014/main" id="{97F23B13-7FD1-47D1-B2D9-3C52117B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28587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道路结构认知</a:t>
            </a:r>
          </a:p>
        </p:txBody>
      </p:sp>
      <p:sp>
        <p:nvSpPr>
          <p:cNvPr id="53" name="p1-layer1-heading-divider">
            <a:extLst xmlns:a="http://schemas.openxmlformats.org/drawingml/2006/main">
              <a:ext uri="{FF2B5EF4-FFF2-40B4-BE49-F238E27FC236}">
                <a16:creationId xmlns:a16="http://schemas.microsoft.com/office/drawing/2014/main" id="{A29215D0-9E39-4CB5-A933-A7C9AF16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4" name="p1-layer1-left-bg">
            <a:extLst xmlns:a="http://schemas.openxmlformats.org/drawingml/2006/main">
              <a:ext uri="{FF2B5EF4-FFF2-40B4-BE49-F238E27FC236}">
                <a16:creationId xmlns:a16="http://schemas.microsoft.com/office/drawing/2014/main" id="{F07AAAE9-484F-4EAC-BEE2-4D2C991C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09725"/>
            <a:ext cx="5867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1-layer1-left-accent">
            <a:extLst xmlns:a="http://schemas.openxmlformats.org/drawingml/2006/main">
              <a:ext uri="{FF2B5EF4-FFF2-40B4-BE49-F238E27FC236}">
                <a16:creationId xmlns:a16="http://schemas.microsoft.com/office/drawing/2014/main" id="{D89E87D9-03C7-4391-80E4-DA5E0229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1-layer1-bottom-divider">
            <a:extLst xmlns:a="http://schemas.openxmlformats.org/drawingml/2006/main">
              <a:ext uri="{FF2B5EF4-FFF2-40B4-BE49-F238E27FC236}">
                <a16:creationId xmlns:a16="http://schemas.microsoft.com/office/drawing/2014/main" id="{93CF1CF6-5066-41BF-A742-0439A040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7" name="p1-layer1-column-divider">
            <a:extLst xmlns:a="http://schemas.openxmlformats.org/drawingml/2006/main">
              <a:ext uri="{FF2B5EF4-FFF2-40B4-BE49-F238E27FC236}">
                <a16:creationId xmlns:a16="http://schemas.microsoft.com/office/drawing/2014/main" id="{A3015D2A-CFFF-4869-8A65-441ED1B1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57350"/>
            <a:ext cx="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8" name="p1-foundation-label">
            <a:extLst xmlns:a="http://schemas.openxmlformats.org/drawingml/2006/main">
              <a:ext uri="{FF2B5EF4-FFF2-40B4-BE49-F238E27FC236}">
                <a16:creationId xmlns:a16="http://schemas.microsoft.com/office/drawing/2014/main" id="{621B571C-C739-4FDD-BD58-F10E23A1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rPr>
              <a:t>稳定业务骨架</a:t>
            </a:r>
          </a:p>
        </p:txBody>
      </p:sp>
      <p:sp>
        <p:nvSpPr>
          <p:cNvPr id="59" name="p1-foundation-line-left">
            <a:extLst xmlns:a="http://schemas.openxmlformats.org/drawingml/2006/main">
              <a:ext uri="{FF2B5EF4-FFF2-40B4-BE49-F238E27FC236}">
                <a16:creationId xmlns:a16="http://schemas.microsoft.com/office/drawing/2014/main" id="{F8E44481-747F-48CD-AFB8-7A4DB3A6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1907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60" name="p1-foundation-line-right">
            <a:extLst xmlns:a="http://schemas.openxmlformats.org/drawingml/2006/main">
              <a:ext uri="{FF2B5EF4-FFF2-40B4-BE49-F238E27FC236}">
                <a16:creationId xmlns:a16="http://schemas.microsoft.com/office/drawing/2014/main" id="{C3DC4C64-7DC8-44BC-9CCE-99A52E5A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90750"/>
            <a:ext cx="1019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61" name="p1-junction-left">
            <a:extLst xmlns:a="http://schemas.openxmlformats.org/drawingml/2006/main">
              <a:ext uri="{FF2B5EF4-FFF2-40B4-BE49-F238E27FC236}">
                <a16:creationId xmlns:a16="http://schemas.microsoft.com/office/drawing/2014/main" id="{F04CFBBC-CCAC-42B7-9172-1295ECDB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71675"/>
            <a:ext cx="981075" cy="438150"/>
          </a:xfrm>
          <a:prstGeom xmlns:a="http://schemas.openxmlformats.org/drawingml/2006/main" prst="roundRect">
            <a:avLst>
              <a:gd name="adj" fmla="val 4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D2633"/>
            </a:solidFill>
            <a:prstDash val="solid"/>
          </a:ln>
        </p:spPr>
        <p:txBody>
          <a:bodyPr xmlns:a="http://schemas.openxmlformats.org/drawingml/2006/main" wrap="non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62" name="p1-segment">
            <a:extLst xmlns:a="http://schemas.openxmlformats.org/drawingml/2006/main">
              <a:ext uri="{FF2B5EF4-FFF2-40B4-BE49-F238E27FC236}">
                <a16:creationId xmlns:a16="http://schemas.microsoft.com/office/drawing/2014/main" id="{62E2E64A-3DBB-45DD-819D-9B7FD66A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71675"/>
            <a:ext cx="1143000" cy="447675"/>
          </a:xfrm>
          <a:prstGeom xmlns:a="http://schemas.openxmlformats.org/drawingml/2006/main" prst="roundRect">
            <a:avLst>
              <a:gd name="adj" fmla="val 46809"/>
            </a:avLst>
          </a:prstGeom>
          <a:solidFill xmlns:a="http://schemas.openxmlformats.org/drawingml/2006/main">
            <a:srgbClr val="7D2633"/>
          </a:solidFill>
          <a:ln xmlns:a="http://schemas.openxmlformats.org/drawingml/2006/main" w="15240">
            <a:solidFill>
              <a:srgbClr val="7D2633"/>
            </a:solidFill>
            <a:prstDash val="solid"/>
          </a:ln>
        </p:spPr>
        <p:txBody>
          <a:bodyPr xmlns:a="http://schemas.openxmlformats.org/drawingml/2006/main" wrap="non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路段</a:t>
            </a:r>
          </a:p>
        </p:txBody>
      </p:sp>
      <p:sp>
        <p:nvSpPr>
          <p:cNvPr id="63" name="p1-junction-right">
            <a:extLst xmlns:a="http://schemas.openxmlformats.org/drawingml/2006/main">
              <a:ext uri="{FF2B5EF4-FFF2-40B4-BE49-F238E27FC236}">
                <a16:creationId xmlns:a16="http://schemas.microsoft.com/office/drawing/2014/main" id="{3C8685CB-76BC-4BB9-85DF-59445B69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971675"/>
            <a:ext cx="981075" cy="438150"/>
          </a:xfrm>
          <a:prstGeom xmlns:a="http://schemas.openxmlformats.org/drawingml/2006/main" prst="roundRect">
            <a:avLst>
              <a:gd name="adj" fmla="val 4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D2633"/>
            </a:solidFill>
            <a:prstDash val="solid"/>
          </a:ln>
        </p:spPr>
        <p:txBody>
          <a:bodyPr xmlns:a="http://schemas.openxmlformats.org/drawingml/2006/main" wrap="non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64" name="p1-foundation-ontology">
            <a:extLst xmlns:a="http://schemas.openxmlformats.org/drawingml/2006/main">
              <a:ext uri="{FF2B5EF4-FFF2-40B4-BE49-F238E27FC236}">
                <a16:creationId xmlns:a16="http://schemas.microsoft.com/office/drawing/2014/main" id="{27C301C9-1B25-4CBB-A90C-B73D82E0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43175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路口—路段—路口</a:t>
            </a:r>
          </a:p>
        </p:txBody>
      </p:sp>
      <p:sp>
        <p:nvSpPr>
          <p:cNvPr id="65" name="p1-definition-row1-divider">
            <a:extLst xmlns:a="http://schemas.openxmlformats.org/drawingml/2006/main">
              <a:ext uri="{FF2B5EF4-FFF2-40B4-BE49-F238E27FC236}">
                <a16:creationId xmlns:a16="http://schemas.microsoft.com/office/drawing/2014/main" id="{E1A7A36F-A770-4CE7-BDED-3FAF87D8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66" name="p1-definition-row2-divider">
            <a:extLst xmlns:a="http://schemas.openxmlformats.org/drawingml/2006/main">
              <a:ext uri="{FF2B5EF4-FFF2-40B4-BE49-F238E27FC236}">
                <a16:creationId xmlns:a16="http://schemas.microsoft.com/office/drawing/2014/main" id="{B1E0516B-E163-453F-9417-FC9734CE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67" name="p1-definition-1-number">
            <a:extLst xmlns:a="http://schemas.openxmlformats.org/drawingml/2006/main">
              <a:ext uri="{FF2B5EF4-FFF2-40B4-BE49-F238E27FC236}">
                <a16:creationId xmlns:a16="http://schemas.microsoft.com/office/drawing/2014/main" id="{DABC362E-8DD4-48ED-940E-712E56E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704975"/>
            <a:ext cx="238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68" name="p1-definition-1-label">
            <a:extLst xmlns:a="http://schemas.openxmlformats.org/drawingml/2006/main">
              <a:ext uri="{FF2B5EF4-FFF2-40B4-BE49-F238E27FC236}">
                <a16:creationId xmlns:a16="http://schemas.microsoft.com/office/drawing/2014/main" id="{CC377FC7-21C0-417D-AECC-BA86BE75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04975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路口：</a:t>
            </a:r>
          </a:p>
        </p:txBody>
      </p:sp>
      <p:sp>
        <p:nvSpPr>
          <p:cNvPr id="69" name="p1-definition-1-text">
            <a:extLst xmlns:a="http://schemas.openxmlformats.org/drawingml/2006/main">
              <a:ext uri="{FF2B5EF4-FFF2-40B4-BE49-F238E27FC236}">
                <a16:creationId xmlns:a16="http://schemas.microsoft.com/office/drawing/2014/main" id="{128F23BF-CC49-450F-A914-6F40A5C9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04975"/>
            <a:ext cx="3781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道路汇聚、分流与连接关系发生的空间单元。</a:t>
            </a:r>
          </a:p>
        </p:txBody>
      </p:sp>
      <p:sp>
        <p:nvSpPr>
          <p:cNvPr id="70" name="p1-definition-2-number">
            <a:extLst xmlns:a="http://schemas.openxmlformats.org/drawingml/2006/main">
              <a:ext uri="{FF2B5EF4-FFF2-40B4-BE49-F238E27FC236}">
                <a16:creationId xmlns:a16="http://schemas.microsoft.com/office/drawing/2014/main" id="{ADB0FDEA-FFC4-45C8-81D1-B4382901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66925"/>
            <a:ext cx="238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71" name="p1-definition-2-label">
            <a:extLst xmlns:a="http://schemas.openxmlformats.org/drawingml/2006/main">
              <a:ext uri="{FF2B5EF4-FFF2-40B4-BE49-F238E27FC236}">
                <a16:creationId xmlns:a16="http://schemas.microsoft.com/office/drawing/2014/main" id="{C245F77F-B0ED-442A-B980-3A099E2C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66925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路段：</a:t>
            </a:r>
          </a:p>
        </p:txBody>
      </p:sp>
      <p:sp>
        <p:nvSpPr>
          <p:cNvPr id="72" name="p1-definition-2-text">
            <a:extLst xmlns:a="http://schemas.openxmlformats.org/drawingml/2006/main">
              <a:ext uri="{FF2B5EF4-FFF2-40B4-BE49-F238E27FC236}">
                <a16:creationId xmlns:a16="http://schemas.microsoft.com/office/drawing/2014/main" id="{73CA7953-D889-40E3-8D0C-4EF7F957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66925"/>
            <a:ext cx="3781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连接相邻路口、承载连续通行的道路单元。</a:t>
            </a:r>
          </a:p>
        </p:txBody>
      </p:sp>
      <p:sp>
        <p:nvSpPr>
          <p:cNvPr id="73" name="p1-definition-3-number">
            <a:extLst xmlns:a="http://schemas.openxmlformats.org/drawingml/2006/main">
              <a:ext uri="{FF2B5EF4-FFF2-40B4-BE49-F238E27FC236}">
                <a16:creationId xmlns:a16="http://schemas.microsoft.com/office/drawing/2014/main" id="{88769A1A-17DF-440A-9125-8DE82CF0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288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74" name="p1-definition-3-label">
            <a:extLst xmlns:a="http://schemas.openxmlformats.org/drawingml/2006/main">
              <a:ext uri="{FF2B5EF4-FFF2-40B4-BE49-F238E27FC236}">
                <a16:creationId xmlns:a16="http://schemas.microsoft.com/office/drawing/2014/main" id="{BB83882A-1112-4BE0-9BFF-00C00460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28875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价值：</a:t>
            </a:r>
          </a:p>
        </p:txBody>
      </p:sp>
      <p:sp>
        <p:nvSpPr>
          <p:cNvPr id="75" name="p1-definition-3-text">
            <a:extLst xmlns:a="http://schemas.openxmlformats.org/drawingml/2006/main">
              <a:ext uri="{FF2B5EF4-FFF2-40B4-BE49-F238E27FC236}">
                <a16:creationId xmlns:a16="http://schemas.microsoft.com/office/drawing/2014/main" id="{F5C02221-C635-4320-AA71-5341F7BD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3781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以稳定业务语义屏蔽节点增减、道路切分和数据来源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差异。</a:t>
            </a:r>
          </a:p>
        </p:txBody>
      </p:sp>
      <p:sp>
        <p:nvSpPr>
          <p:cNvPr id="76" name="p1-layer1-to-layer2-shaft">
            <a:extLst xmlns:a="http://schemas.openxmlformats.org/drawingml/2006/main">
              <a:ext uri="{FF2B5EF4-FFF2-40B4-BE49-F238E27FC236}">
                <a16:creationId xmlns:a16="http://schemas.microsoft.com/office/drawing/2014/main" id="{1C4BC455-1EE0-48EC-AB47-35D7BC79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77" name="p1-layer1-to-layer2-head-left">
            <a:extLst xmlns:a="http://schemas.openxmlformats.org/drawingml/2006/main">
              <a:ext uri="{FF2B5EF4-FFF2-40B4-BE49-F238E27FC236}">
                <a16:creationId xmlns:a16="http://schemas.microsoft.com/office/drawing/2014/main" id="{DBBD3CC3-79EA-4428-AF74-2A6D8B9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67050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78" name="p1-layer1-to-layer2-head-right">
            <a:extLst xmlns:a="http://schemas.openxmlformats.org/drawingml/2006/main">
              <a:ext uri="{FF2B5EF4-FFF2-40B4-BE49-F238E27FC236}">
                <a16:creationId xmlns:a16="http://schemas.microsoft.com/office/drawing/2014/main" id="{47642ABD-64CA-4D02-B0FD-D5CCEACF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6000" y="3067050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79" name="p1-第二层-accent">
            <a:extLst xmlns:a="http://schemas.openxmlformats.org/drawingml/2006/main">
              <a:ext uri="{FF2B5EF4-FFF2-40B4-BE49-F238E27FC236}">
                <a16:creationId xmlns:a16="http://schemas.microsoft.com/office/drawing/2014/main" id="{C7CE88E0-842A-4BF7-9586-5A85AD2F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1-第二层-index">
            <a:extLst xmlns:a="http://schemas.openxmlformats.org/drawingml/2006/main">
              <a:ext uri="{FF2B5EF4-FFF2-40B4-BE49-F238E27FC236}">
                <a16:creationId xmlns:a16="http://schemas.microsoft.com/office/drawing/2014/main" id="{C4EDEDCB-0FBA-456B-AF7C-BB312EC1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第二层</a:t>
            </a:r>
          </a:p>
        </p:txBody>
      </p:sp>
      <p:sp>
        <p:nvSpPr>
          <p:cNvPr id="81" name="p1-第二层-topic">
            <a:extLst xmlns:a="http://schemas.openxmlformats.org/drawingml/2006/main">
              <a:ext uri="{FF2B5EF4-FFF2-40B4-BE49-F238E27FC236}">
                <a16:creationId xmlns:a16="http://schemas.microsoft.com/office/drawing/2014/main" id="{C304E2A5-24A2-4E58-A06D-89710122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8135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82" name="p1-layer2-heading-divider">
            <a:extLst xmlns:a="http://schemas.openxmlformats.org/drawingml/2006/main">
              <a:ext uri="{FF2B5EF4-FFF2-40B4-BE49-F238E27FC236}">
                <a16:creationId xmlns:a16="http://schemas.microsoft.com/office/drawing/2014/main" id="{4815EB10-088A-40F8-8E8A-71B365C0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3" name="p1-layer2-bottom-divider">
            <a:extLst xmlns:a="http://schemas.openxmlformats.org/drawingml/2006/main">
              <a:ext uri="{FF2B5EF4-FFF2-40B4-BE49-F238E27FC236}">
                <a16:creationId xmlns:a16="http://schemas.microsoft.com/office/drawing/2014/main" id="{4DA4C404-4148-4440-B810-1BF16955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4" name="p1-tech-reality">
            <a:extLst xmlns:a="http://schemas.openxmlformats.org/drawingml/2006/main">
              <a:ext uri="{FF2B5EF4-FFF2-40B4-BE49-F238E27FC236}">
                <a16:creationId xmlns:a16="http://schemas.microsoft.com/office/drawing/2014/main" id="{CAB3D270-9F68-4AC3-B7CA-884DB4B2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933825"/>
            <a:ext cx="1066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B625A"/>
                </a:solidFill>
                <a:latin typeface="Microsoft YaHei"/>
                <a:ea typeface="Microsoft YaHei"/>
                <a:cs typeface="Microsoft YaHei"/>
              </a:rPr>
              <a:t>现实空间证据</a:t>
            </a:r>
          </a:p>
        </p:txBody>
      </p:sp>
      <p:sp>
        <p:nvSpPr>
          <p:cNvPr id="85" name="p1-tech-arrow-1-shaft">
            <a:extLst xmlns:a="http://schemas.openxmlformats.org/drawingml/2006/main">
              <a:ext uri="{FF2B5EF4-FFF2-40B4-BE49-F238E27FC236}">
                <a16:creationId xmlns:a16="http://schemas.microsoft.com/office/drawing/2014/main" id="{4B80D816-700C-4C8F-A9BD-8C5D3306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0576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86" name="p1-tech-arrow-1-head-top">
            <a:extLst xmlns:a="http://schemas.openxmlformats.org/drawingml/2006/main">
              <a:ext uri="{FF2B5EF4-FFF2-40B4-BE49-F238E27FC236}">
                <a16:creationId xmlns:a16="http://schemas.microsoft.com/office/drawing/2014/main" id="{6924D0BB-73CB-49C0-BA64-057615A8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9814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87" name="p1-tech-arrow-1-head-bottom">
            <a:extLst xmlns:a="http://schemas.openxmlformats.org/drawingml/2006/main">
              <a:ext uri="{FF2B5EF4-FFF2-40B4-BE49-F238E27FC236}">
                <a16:creationId xmlns:a16="http://schemas.microsoft.com/office/drawing/2014/main" id="{B84D5FE1-5201-44A3-82EE-EFC2594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38425" y="40576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88" name="p1-tech-anchor">
            <a:extLst xmlns:a="http://schemas.openxmlformats.org/drawingml/2006/main">
              <a:ext uri="{FF2B5EF4-FFF2-40B4-BE49-F238E27FC236}">
                <a16:creationId xmlns:a16="http://schemas.microsoft.com/office/drawing/2014/main" id="{554413B1-9566-4F9D-8717-ED760F35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67150"/>
            <a:ext cx="1219200" cy="371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D2633"/>
            </a:solidFill>
            <a:prstDash val="solid"/>
          </a:ln>
        </p:spPr>
        <p:txBody>
          <a:bodyPr xmlns:a="http://schemas.openxmlformats.org/drawingml/2006/main" wrap="non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路口锚定</a:t>
            </a:r>
          </a:p>
        </p:txBody>
      </p:sp>
      <p:sp>
        <p:nvSpPr>
          <p:cNvPr id="89" name="p1-tech-arrow-2-shaft">
            <a:extLst xmlns:a="http://schemas.openxmlformats.org/drawingml/2006/main">
              <a:ext uri="{FF2B5EF4-FFF2-40B4-BE49-F238E27FC236}">
                <a16:creationId xmlns:a16="http://schemas.microsoft.com/office/drawing/2014/main" id="{F567F706-AA56-47B0-BB6F-5AC4D80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76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0" name="p1-tech-arrow-2-head-top">
            <a:extLst xmlns:a="http://schemas.openxmlformats.org/drawingml/2006/main">
              <a:ext uri="{FF2B5EF4-FFF2-40B4-BE49-F238E27FC236}">
                <a16:creationId xmlns:a16="http://schemas.microsoft.com/office/drawing/2014/main" id="{F635A8E3-FFB7-482B-BA2A-D4DB06F5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1" name="p1-tech-arrow-2-head-bottom">
            <a:extLst xmlns:a="http://schemas.openxmlformats.org/drawingml/2006/main">
              <a:ext uri="{FF2B5EF4-FFF2-40B4-BE49-F238E27FC236}">
                <a16:creationId xmlns:a16="http://schemas.microsoft.com/office/drawing/2014/main" id="{42182A82-920A-4886-B22B-6ED7F01A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81550" y="40576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2" name="p1-tech-rcsd">
            <a:extLst xmlns:a="http://schemas.openxmlformats.org/drawingml/2006/main">
              <a:ext uri="{FF2B5EF4-FFF2-40B4-BE49-F238E27FC236}">
                <a16:creationId xmlns:a16="http://schemas.microsoft.com/office/drawing/2014/main" id="{71C39404-447B-4853-B09A-06573376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76675"/>
            <a:ext cx="12192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11430">
            <a:solidFill>
              <a:srgbClr val="D5D0C7"/>
            </a:solidFill>
            <a:prstDash val="solid"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 对象</a:t>
            </a:r>
          </a:p>
        </p:txBody>
      </p:sp>
      <p:sp>
        <p:nvSpPr>
          <p:cNvPr id="93" name="p1-tech-arrow-3-shaft">
            <a:extLst xmlns:a="http://schemas.openxmlformats.org/drawingml/2006/main">
              <a:ext uri="{FF2B5EF4-FFF2-40B4-BE49-F238E27FC236}">
                <a16:creationId xmlns:a16="http://schemas.microsoft.com/office/drawing/2014/main" id="{EBB6F00D-DDA9-4746-882B-E8134E95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576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4" name="p1-tech-arrow-3-head-top">
            <a:extLst xmlns:a="http://schemas.openxmlformats.org/drawingml/2006/main">
              <a:ext uri="{FF2B5EF4-FFF2-40B4-BE49-F238E27FC236}">
                <a16:creationId xmlns:a16="http://schemas.microsoft.com/office/drawing/2014/main" id="{08858A9A-133A-4913-BD7D-E55B6C46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814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5" name="p1-tech-arrow-3-head-bottom">
            <a:extLst xmlns:a="http://schemas.openxmlformats.org/drawingml/2006/main">
              <a:ext uri="{FF2B5EF4-FFF2-40B4-BE49-F238E27FC236}">
                <a16:creationId xmlns:a16="http://schemas.microsoft.com/office/drawing/2014/main" id="{F9200F5F-4A3C-4AEC-90DC-854437E0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29425" y="40576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6" name="p1-tech-segment">
            <a:extLst xmlns:a="http://schemas.openxmlformats.org/drawingml/2006/main">
              <a:ext uri="{FF2B5EF4-FFF2-40B4-BE49-F238E27FC236}">
                <a16:creationId xmlns:a16="http://schemas.microsoft.com/office/drawing/2014/main" id="{ABD2A98D-24B1-43CA-8C98-A3F4C60E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67150"/>
            <a:ext cx="1219200" cy="371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D2633"/>
            </a:solidFill>
            <a:prstDash val="solid"/>
          </a:ln>
        </p:spPr>
        <p:txBody>
          <a:bodyPr xmlns:a="http://schemas.openxmlformats.org/drawingml/2006/main" wrap="non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路段构建</a:t>
            </a:r>
          </a:p>
        </p:txBody>
      </p:sp>
      <p:sp>
        <p:nvSpPr>
          <p:cNvPr id="97" name="p1-tech-arrow-4-shaft">
            <a:extLst xmlns:a="http://schemas.openxmlformats.org/drawingml/2006/main">
              <a:ext uri="{FF2B5EF4-FFF2-40B4-BE49-F238E27FC236}">
                <a16:creationId xmlns:a16="http://schemas.microsoft.com/office/drawing/2014/main" id="{9BB3E412-19C9-455A-A66B-0110114A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576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8" name="p1-tech-arrow-4-head-top">
            <a:extLst xmlns:a="http://schemas.openxmlformats.org/drawingml/2006/main">
              <a:ext uri="{FF2B5EF4-FFF2-40B4-BE49-F238E27FC236}">
                <a16:creationId xmlns:a16="http://schemas.microsoft.com/office/drawing/2014/main" id="{17A4F9D8-B1CC-43DE-B274-E5F79352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99" name="p1-tech-arrow-4-head-bottom">
            <a:extLst xmlns:a="http://schemas.openxmlformats.org/drawingml/2006/main">
              <a:ext uri="{FF2B5EF4-FFF2-40B4-BE49-F238E27FC236}">
                <a16:creationId xmlns:a16="http://schemas.microsoft.com/office/drawing/2014/main" id="{731263C3-0572-4A4D-852B-877076B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96350" y="4057650"/>
            <a:ext cx="9525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7D2633"/>
            </a:solidFill>
            <a:prstDash val="solid"/>
          </a:ln>
        </p:spPr>
      </p:sp>
      <p:sp>
        <p:nvSpPr>
          <p:cNvPr id="100" name="p1-tech-output">
            <a:extLst xmlns:a="http://schemas.openxmlformats.org/drawingml/2006/main">
              <a:ext uri="{FF2B5EF4-FFF2-40B4-BE49-F238E27FC236}">
                <a16:creationId xmlns:a16="http://schemas.microsoft.com/office/drawing/2014/main" id="{1165F880-6429-4BE1-8245-B08AFDDB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76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形成完整道路 / 节点承载</a:t>
            </a:r>
          </a:p>
        </p:txBody>
      </p:sp>
      <p:sp>
        <p:nvSpPr>
          <p:cNvPr id="101" name="p1-layer2-to-layer3-shaft">
            <a:extLst xmlns:a="http://schemas.openxmlformats.org/drawingml/2006/main">
              <a:ext uri="{FF2B5EF4-FFF2-40B4-BE49-F238E27FC236}">
                <a16:creationId xmlns:a16="http://schemas.microsoft.com/office/drawing/2014/main" id="{405ED6C4-11E0-4C0A-8F85-DBDAAF61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57725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102" name="p1-layer2-to-layer3-head-left">
            <a:extLst xmlns:a="http://schemas.openxmlformats.org/drawingml/2006/main">
              <a:ext uri="{FF2B5EF4-FFF2-40B4-BE49-F238E27FC236}">
                <a16:creationId xmlns:a16="http://schemas.microsoft.com/office/drawing/2014/main" id="{B37C0977-316A-4619-A1DC-95F3B14E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733925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103" name="p1-layer2-to-layer3-head-right">
            <a:extLst xmlns:a="http://schemas.openxmlformats.org/drawingml/2006/main">
              <a:ext uri="{FF2B5EF4-FFF2-40B4-BE49-F238E27FC236}">
                <a16:creationId xmlns:a16="http://schemas.microsoft.com/office/drawing/2014/main" id="{002706F0-5DCE-4A83-88C1-E06C7D45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6000" y="4733925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104" name="p1-第三层-accent">
            <a:extLst xmlns:a="http://schemas.openxmlformats.org/drawingml/2006/main">
              <a:ext uri="{FF2B5EF4-FFF2-40B4-BE49-F238E27FC236}">
                <a16:creationId xmlns:a16="http://schemas.microsoft.com/office/drawing/2014/main" id="{94E0D73B-64B9-4F39-8471-1BCCE7E6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47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1-第三层-index">
            <a:extLst xmlns:a="http://schemas.openxmlformats.org/drawingml/2006/main">
              <a:ext uri="{FF2B5EF4-FFF2-40B4-BE49-F238E27FC236}">
                <a16:creationId xmlns:a16="http://schemas.microsoft.com/office/drawing/2014/main" id="{2080CD6B-41D2-46FB-9186-21087067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第三层</a:t>
            </a:r>
          </a:p>
        </p:txBody>
      </p:sp>
      <p:sp>
        <p:nvSpPr>
          <p:cNvPr id="106" name="p1-第三层-topic">
            <a:extLst xmlns:a="http://schemas.openxmlformats.org/drawingml/2006/main">
              <a:ext uri="{FF2B5EF4-FFF2-40B4-BE49-F238E27FC236}">
                <a16:creationId xmlns:a16="http://schemas.microsoft.com/office/drawing/2014/main" id="{23510ABB-07FD-4D1A-B296-E6261158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6727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四条业务路径</a:t>
            </a:r>
          </a:p>
        </p:txBody>
      </p:sp>
      <p:sp>
        <p:nvSpPr>
          <p:cNvPr id="107" name="p1-layer3-heading-divider">
            <a:extLst xmlns:a="http://schemas.openxmlformats.org/drawingml/2006/main">
              <a:ext uri="{FF2B5EF4-FFF2-40B4-BE49-F238E27FC236}">
                <a16:creationId xmlns:a16="http://schemas.microsoft.com/office/drawing/2014/main" id="{8FC1D71E-8583-4F16-8DDC-0CCD7F26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8" name="p1-layer3-bottom-divider">
            <a:extLst xmlns:a="http://schemas.openxmlformats.org/drawingml/2006/main">
              <a:ext uri="{FF2B5EF4-FFF2-40B4-BE49-F238E27FC236}">
                <a16:creationId xmlns:a16="http://schemas.microsoft.com/office/drawing/2014/main" id="{5961A1B0-71BD-484E-83C8-A974240C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9" name="p1-path-divider-1">
            <a:extLst xmlns:a="http://schemas.openxmlformats.org/drawingml/2006/main">
              <a:ext uri="{FF2B5EF4-FFF2-40B4-BE49-F238E27FC236}">
                <a16:creationId xmlns:a16="http://schemas.microsoft.com/office/drawing/2014/main" id="{958FA70F-37C8-4715-8FAF-281106C8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5381625"/>
            <a:ext cx="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110" name="p1-path-divider-2">
            <a:extLst xmlns:a="http://schemas.openxmlformats.org/drawingml/2006/main">
              <a:ext uri="{FF2B5EF4-FFF2-40B4-BE49-F238E27FC236}">
                <a16:creationId xmlns:a16="http://schemas.microsoft.com/office/drawing/2014/main" id="{858B4F57-8FC3-4C36-B2E9-A74A73DB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381625"/>
            <a:ext cx="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111" name="p1-path-timeline">
            <a:extLst xmlns:a="http://schemas.openxmlformats.org/drawingml/2006/main">
              <a:ext uri="{FF2B5EF4-FFF2-40B4-BE49-F238E27FC236}">
                <a16:creationId xmlns:a16="http://schemas.microsoft.com/office/drawing/2014/main" id="{C390CA60-59B9-4724-BB8A-F29F0B22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292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0C7"/>
            </a:solidFill>
            <a:prstDash val="solid"/>
          </a:ln>
        </p:spPr>
      </p:sp>
      <p:sp>
        <p:nvSpPr>
          <p:cNvPr id="112" name="p1-path-node-1-outer">
            <a:extLst xmlns:a="http://schemas.openxmlformats.org/drawingml/2006/main">
              <a:ext uri="{FF2B5EF4-FFF2-40B4-BE49-F238E27FC236}">
                <a16:creationId xmlns:a16="http://schemas.microsoft.com/office/drawing/2014/main" id="{F77CA3F6-A6B2-4717-B393-1E061474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856" y="5543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13" name="p1-path-node-1-inner">
            <a:extLst xmlns:a="http://schemas.openxmlformats.org/drawingml/2006/main">
              <a:ext uri="{FF2B5EF4-FFF2-40B4-BE49-F238E27FC236}">
                <a16:creationId xmlns:a16="http://schemas.microsoft.com/office/drawing/2014/main" id="{09FAECFA-9F6D-4274-B742-8D1FA966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481" y="559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14" name="p1-path-node-2-outer">
            <a:extLst xmlns:a="http://schemas.openxmlformats.org/drawingml/2006/main">
              <a:ext uri="{FF2B5EF4-FFF2-40B4-BE49-F238E27FC236}">
                <a16:creationId xmlns:a16="http://schemas.microsoft.com/office/drawing/2014/main" id="{39775646-84BD-4584-9C45-C76D6EF0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819" y="5543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15" name="p1-path-node-2-inner">
            <a:extLst xmlns:a="http://schemas.openxmlformats.org/drawingml/2006/main">
              <a:ext uri="{FF2B5EF4-FFF2-40B4-BE49-F238E27FC236}">
                <a16:creationId xmlns:a16="http://schemas.microsoft.com/office/drawing/2014/main" id="{061121BB-DAED-4F5C-B223-B839D654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444" y="559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16" name="p1-path-node-3-outer">
            <a:extLst xmlns:a="http://schemas.openxmlformats.org/drawingml/2006/main">
              <a:ext uri="{FF2B5EF4-FFF2-40B4-BE49-F238E27FC236}">
                <a16:creationId xmlns:a16="http://schemas.microsoft.com/office/drawing/2014/main" id="{2CD23124-4427-4050-81BD-8A78CCC4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81" y="5543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17" name="p1-path-node-3-inner">
            <a:extLst xmlns:a="http://schemas.openxmlformats.org/drawingml/2006/main">
              <a:ext uri="{FF2B5EF4-FFF2-40B4-BE49-F238E27FC236}">
                <a16:creationId xmlns:a16="http://schemas.microsoft.com/office/drawing/2014/main" id="{149B27FD-074A-457E-BB99-65A402E6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406" y="559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18" name="p1-path-safe-replace-title">
            <a:extLst xmlns:a="http://schemas.openxmlformats.org/drawingml/2006/main">
              <a:ext uri="{FF2B5EF4-FFF2-40B4-BE49-F238E27FC236}">
                <a16:creationId xmlns:a16="http://schemas.microsoft.com/office/drawing/2014/main" id="{38DB6606-6140-4039-907F-C65353E5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274796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安全替换</a:t>
            </a:r>
          </a:p>
        </p:txBody>
      </p:sp>
      <p:sp>
        <p:nvSpPr>
          <p:cNvPr id="119" name="p1-path-safe-replace-desc">
            <a:extLst xmlns:a="http://schemas.openxmlformats.org/drawingml/2006/main">
              <a:ext uri="{FF2B5EF4-FFF2-40B4-BE49-F238E27FC236}">
                <a16:creationId xmlns:a16="http://schemas.microsoft.com/office/drawing/2014/main" id="{2531C5BA-D1D1-4017-A42F-C935A4C0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2633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锚定可信 · 关系可审计 ·</a:t>
            </a:r>
          </a:p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替换有边界</a:t>
            </a:r>
          </a:p>
        </p:txBody>
      </p:sp>
      <p:sp>
        <p:nvSpPr>
          <p:cNvPr id="120" name="p1-path-quality-check-title">
            <a:extLst xmlns:a="http://schemas.openxmlformats.org/drawingml/2006/main">
              <a:ext uri="{FF2B5EF4-FFF2-40B4-BE49-F238E27FC236}">
                <a16:creationId xmlns:a16="http://schemas.microsoft.com/office/drawing/2014/main" id="{FA068D4A-0702-4A0B-B27A-BBB1CF97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5753100"/>
            <a:ext cx="274796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质量检查</a:t>
            </a:r>
          </a:p>
        </p:txBody>
      </p:sp>
      <p:sp>
        <p:nvSpPr>
          <p:cNvPr id="121" name="p1-path-quality-check-desc">
            <a:extLst xmlns:a="http://schemas.openxmlformats.org/drawingml/2006/main">
              <a:ext uri="{FF2B5EF4-FFF2-40B4-BE49-F238E27FC236}">
                <a16:creationId xmlns:a16="http://schemas.microsoft.com/office/drawing/2014/main" id="{E15730DA-27D8-4904-8FDC-A97E86F4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6048375"/>
            <a:ext cx="2633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问题可定位 · 证据可追溯 ·</a:t>
            </a:r>
          </a:p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不自动修复</a:t>
            </a:r>
          </a:p>
        </p:txBody>
      </p:sp>
      <p:sp>
        <p:nvSpPr>
          <p:cNvPr id="122" name="p1-path-top-down-build-title">
            <a:extLst xmlns:a="http://schemas.openxmlformats.org/drawingml/2006/main">
              <a:ext uri="{FF2B5EF4-FFF2-40B4-BE49-F238E27FC236}">
                <a16:creationId xmlns:a16="http://schemas.microsoft.com/office/drawing/2014/main" id="{757231C5-C8BD-4814-B041-4A36B7E8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753100"/>
            <a:ext cx="274796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自上而下构建</a:t>
            </a:r>
          </a:p>
        </p:txBody>
      </p:sp>
      <p:sp>
        <p:nvSpPr>
          <p:cNvPr id="123" name="p1-path-top-down-build-desc">
            <a:extLst xmlns:a="http://schemas.openxmlformats.org/drawingml/2006/main">
              <a:ext uri="{FF2B5EF4-FFF2-40B4-BE49-F238E27FC236}">
                <a16:creationId xmlns:a16="http://schemas.microsoft.com/office/drawing/2014/main" id="{7492F0CD-E40E-4CCB-A5FC-CD3328B1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6048375"/>
            <a:ext cx="2633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现实证据起步 ·</a:t>
            </a:r>
          </a:p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道路与节点完整承载</a:t>
            </a:r>
          </a:p>
        </p:txBody>
      </p:sp>
      <p:sp>
        <p:nvSpPr>
          <p:cNvPr id="124" name="p1-path-divider-3">
            <a:extLst xmlns:a="http://schemas.openxmlformats.org/drawingml/2006/main">
              <a:ext uri="{FF2B5EF4-FFF2-40B4-BE49-F238E27FC236}">
                <a16:creationId xmlns:a16="http://schemas.microsoft.com/office/drawing/2014/main" id="{4257D7F4-AEA4-489C-A477-98E71D33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5381625"/>
            <a:ext cx="0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125" name="p1-path-node-4-outer">
            <a:extLst xmlns:a="http://schemas.openxmlformats.org/drawingml/2006/main">
              <a:ext uri="{FF2B5EF4-FFF2-40B4-BE49-F238E27FC236}">
                <a16:creationId xmlns:a16="http://schemas.microsoft.com/office/drawing/2014/main" id="{F5117B46-C3E5-4D09-9203-2E8267F6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744" y="5543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26" name="p1-path-node-4-inner">
            <a:extLst xmlns:a="http://schemas.openxmlformats.org/drawingml/2006/main">
              <a:ext uri="{FF2B5EF4-FFF2-40B4-BE49-F238E27FC236}">
                <a16:creationId xmlns:a16="http://schemas.microsoft.com/office/drawing/2014/main" id="{F85E9CCF-3FB9-4C3F-8165-3BB6D578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369" y="559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27" name="p1-path-reality-change-title">
            <a:extLst xmlns:a="http://schemas.openxmlformats.org/drawingml/2006/main">
              <a:ext uri="{FF2B5EF4-FFF2-40B4-BE49-F238E27FC236}">
                <a16:creationId xmlns:a16="http://schemas.microsoft.com/office/drawing/2014/main" id="{8553DB0E-3F8E-4FFE-B363-1A9162AD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5753100"/>
            <a:ext cx="274796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现实变更</a:t>
            </a:r>
          </a:p>
        </p:txBody>
      </p:sp>
      <p:sp>
        <p:nvSpPr>
          <p:cNvPr id="128" name="p1-path-reality-change-desc">
            <a:extLst xmlns:a="http://schemas.openxmlformats.org/drawingml/2006/main">
              <a:ext uri="{FF2B5EF4-FFF2-40B4-BE49-F238E27FC236}">
                <a16:creationId xmlns:a16="http://schemas.microsoft.com/office/drawing/2014/main" id="{788AF771-665E-4415-8706-3E2915BD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6048375"/>
            <a:ext cx="2633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路口新增或形态变化 ·</a:t>
            </a:r>
          </a:p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路口间通行关系变化</a:t>
            </a:r>
          </a:p>
        </p:txBody>
      </p:sp>
    </p:spTree>
    <p:extLst>
      <p:ext uri="{BB962C8B-B14F-4D97-AF65-F5344CB8AC3E}">
        <p14:creationId xmlns:p14="http://schemas.microsoft.com/office/powerpoint/2010/main" val="1437893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age-title">
            <a:extLst xmlns:a="http://schemas.openxmlformats.org/drawingml/2006/main">
              <a:ext uri="{FF2B5EF4-FFF2-40B4-BE49-F238E27FC236}">
                <a16:creationId xmlns:a16="http://schemas.microsoft.com/office/drawing/2014/main" id="{7A22530E-8EF0-4301-A82B-F1870D2C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方案一：基于路口锚定的路段安全替换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13C5BB2-F73C-4870-9847-CD64031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以可信路口关系圈定替换范围，只有方向、连通、覆盖与拓扑审计全部通过，才写入融合路网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A9DCDDB-08C6-4732-A0D9-71455F4E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9" name="p2-scheme-heading-v03">
            <a:extLst xmlns:a="http://schemas.openxmlformats.org/drawingml/2006/main">
              <a:ext uri="{FF2B5EF4-FFF2-40B4-BE49-F238E27FC236}">
                <a16:creationId xmlns:a16="http://schemas.microsoft.com/office/drawing/2014/main" id="{FD120FBE-551C-4039-BB8C-9A9E456F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替换方案</a:t>
            </a:r>
          </a:p>
        </p:txBody>
      </p:sp>
      <p:sp>
        <p:nvSpPr>
          <p:cNvPr id="90" name="p2-scheme-baseline-v03">
            <a:extLst xmlns:a="http://schemas.openxmlformats.org/drawingml/2006/main">
              <a:ext uri="{FF2B5EF4-FFF2-40B4-BE49-F238E27FC236}">
                <a16:creationId xmlns:a16="http://schemas.microsoft.com/office/drawing/2014/main" id="{26396359-16CC-44D9-8671-92B7AAE8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91" name="p2-anchor-entry-left-v03">
            <a:extLst xmlns:a="http://schemas.openxmlformats.org/drawingml/2006/main">
              <a:ext uri="{FF2B5EF4-FFF2-40B4-BE49-F238E27FC236}">
                <a16:creationId xmlns:a16="http://schemas.microsoft.com/office/drawing/2014/main" id="{39177277-7522-4324-906B-6220E86C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71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p2-anchor-entry-right-v03">
            <a:extLst xmlns:a="http://schemas.openxmlformats.org/drawingml/2006/main">
              <a:ext uri="{FF2B5EF4-FFF2-40B4-BE49-F238E27FC236}">
                <a16:creationId xmlns:a16="http://schemas.microsoft.com/office/drawing/2014/main" id="{0657E3FD-A1D9-469A-A1CC-36A60907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71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3" name="p2-anchor-entry-out-v03">
            <a:extLst xmlns:a="http://schemas.openxmlformats.org/drawingml/2006/main">
              <a:ext uri="{FF2B5EF4-FFF2-40B4-BE49-F238E27FC236}">
                <a16:creationId xmlns:a16="http://schemas.microsoft.com/office/drawing/2014/main" id="{D34C34ED-6046-48D2-B8DD-370C1353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p2-anchor-evidence-in-v03">
            <a:extLst xmlns:a="http://schemas.openxmlformats.org/drawingml/2006/main">
              <a:ext uri="{FF2B5EF4-FFF2-40B4-BE49-F238E27FC236}">
                <a16:creationId xmlns:a16="http://schemas.microsoft.com/office/drawing/2014/main" id="{711903CB-4BC4-4F30-B030-23C6952F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5" name="p2-anchor-evidence-out-v03">
            <a:extLst xmlns:a="http://schemas.openxmlformats.org/drawingml/2006/main">
              <a:ext uri="{FF2B5EF4-FFF2-40B4-BE49-F238E27FC236}">
                <a16:creationId xmlns:a16="http://schemas.microsoft.com/office/drawing/2014/main" id="{BDBC63BA-5C1B-4BD4-A719-76035AB7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6" name="p2-anchor-audit-in-v03">
            <a:extLst xmlns:a="http://schemas.openxmlformats.org/drawingml/2006/main">
              <a:ext uri="{FF2B5EF4-FFF2-40B4-BE49-F238E27FC236}">
                <a16:creationId xmlns:a16="http://schemas.microsoft.com/office/drawing/2014/main" id="{8A7AE9FD-44B6-4004-A125-4B818593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7" name="p2-anchor-audit-out-v03">
            <a:extLst xmlns:a="http://schemas.openxmlformats.org/drawingml/2006/main">
              <a:ext uri="{FF2B5EF4-FFF2-40B4-BE49-F238E27FC236}">
                <a16:creationId xmlns:a16="http://schemas.microsoft.com/office/drawing/2014/main" id="{D89EEE53-6986-4886-ACB5-F160FE5B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8" name="p2-anchor-branch-v03">
            <a:extLst xmlns:a="http://schemas.openxmlformats.org/drawingml/2006/main">
              <a:ext uri="{FF2B5EF4-FFF2-40B4-BE49-F238E27FC236}">
                <a16:creationId xmlns:a16="http://schemas.microsoft.com/office/drawing/2014/main" id="{58040C16-39A9-4FB7-B62D-2332C7AD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9" name="p2-anchor-pass-v03">
            <a:extLst xmlns:a="http://schemas.openxmlformats.org/drawingml/2006/main">
              <a:ext uri="{FF2B5EF4-FFF2-40B4-BE49-F238E27FC236}">
                <a16:creationId xmlns:a16="http://schemas.microsoft.com/office/drawing/2014/main" id="{02913051-8FF2-4E66-85A3-E03E385B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33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0" name="p2-anchor-fail-v03">
            <a:extLst xmlns:a="http://schemas.openxmlformats.org/drawingml/2006/main">
              <a:ext uri="{FF2B5EF4-FFF2-40B4-BE49-F238E27FC236}">
                <a16:creationId xmlns:a16="http://schemas.microsoft.com/office/drawing/2014/main" id="{ADE48991-7344-4658-9A4D-A15FD90F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43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36" name="直接箭头连接符 413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809625" y="2381250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D2A26"/>
            </a:solidFill>
            <a:prstDash val="solid"/>
          </a:ln>
        </p:spPr>
      </p:cxnSp>
      <p:cxnSp>
        <p:nvCxnSpPr>
          <p:cNvPr id="437" name="直接箭头连接符 414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2228850" y="2619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38" name="直接箭头连接符 415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6210300" y="2619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39" name="直接箭头连接符 416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8782050" y="2619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40" name="连接符: 肘形 417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 flipV="1">
            <a:off x="9144000" y="2143125"/>
            <a:ext cx="447675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7D2633"/>
            </a:solidFill>
            <a:prstDash val="solid"/>
            <a:tailEnd type="arrow" w="med" len="med"/>
          </a:ln>
        </p:spPr>
      </p:cxnSp>
      <p:cxnSp>
        <p:nvCxnSpPr>
          <p:cNvPr id="441" name="连接符: 肘形 418"/>
          <p:cNvCxnSpPr>
            <a:stCxn xmlns:a="http://schemas.openxmlformats.org/drawingml/2006/main" id="98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9144000" y="2619375"/>
            <a:ext cx="447675" cy="533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E6A64"/>
            </a:solidFill>
            <a:prstDash val="solid"/>
            <a:tailEnd type="arrow" w="med" len="med"/>
          </a:ln>
        </p:spPr>
      </p:cxnSp>
      <p:sp>
        <p:nvSpPr>
          <p:cNvPr id="107" name="p2-audit-axis-v03">
            <a:extLst xmlns:a="http://schemas.openxmlformats.org/drawingml/2006/main">
              <a:ext uri="{FF2B5EF4-FFF2-40B4-BE49-F238E27FC236}">
                <a16:creationId xmlns:a16="http://schemas.microsoft.com/office/drawing/2014/main" id="{97CC01B9-8F71-4299-9CD6-98CBDABF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526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D0C7"/>
            </a:solidFill>
            <a:prstDash val="solid"/>
          </a:ln>
        </p:spPr>
      </p:sp>
      <p:sp>
        <p:nvSpPr>
          <p:cNvPr id="108" name="p2-entry-accent-v03">
            <a:extLst xmlns:a="http://schemas.openxmlformats.org/drawingml/2006/main">
              <a:ext uri="{FF2B5EF4-FFF2-40B4-BE49-F238E27FC236}">
                <a16:creationId xmlns:a16="http://schemas.microsoft.com/office/drawing/2014/main" id="{92E9BCC5-16C1-41FE-96B1-A6E3B344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09" name="p2-entry-title-v03">
            <a:extLst xmlns:a="http://schemas.openxmlformats.org/drawingml/2006/main">
              <a:ext uri="{FF2B5EF4-FFF2-40B4-BE49-F238E27FC236}">
                <a16:creationId xmlns:a16="http://schemas.microsoft.com/office/drawing/2014/main" id="{87C3E92B-390F-418B-BAF3-1FD793D1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可信路口关系</a:t>
            </a:r>
          </a:p>
        </p:txBody>
      </p:sp>
      <p:sp>
        <p:nvSpPr>
          <p:cNvPr id="110" name="p2-entry-left-outer-v03">
            <a:extLst xmlns:a="http://schemas.openxmlformats.org/drawingml/2006/main">
              <a:ext uri="{FF2B5EF4-FFF2-40B4-BE49-F238E27FC236}">
                <a16:creationId xmlns:a16="http://schemas.microsoft.com/office/drawing/2014/main" id="{D2574B7A-BE2D-43D0-BB98-770BC843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11" name="p2-entry-left-inner-v03">
            <a:extLst xmlns:a="http://schemas.openxmlformats.org/drawingml/2006/main">
              <a:ext uri="{FF2B5EF4-FFF2-40B4-BE49-F238E27FC236}">
                <a16:creationId xmlns:a16="http://schemas.microsoft.com/office/drawing/2014/main" id="{AEF657E0-A0BF-422E-BFB1-099BF19D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12" name="p2-entry-right-outer-v03">
            <a:extLst xmlns:a="http://schemas.openxmlformats.org/drawingml/2006/main">
              <a:ext uri="{FF2B5EF4-FFF2-40B4-BE49-F238E27FC236}">
                <a16:creationId xmlns:a16="http://schemas.microsoft.com/office/drawing/2014/main" id="{F107EFCE-E225-4CF0-9AB2-11AC9E8A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66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13" name="p2-entry-right-inner-v03">
            <a:extLst xmlns:a="http://schemas.openxmlformats.org/drawingml/2006/main">
              <a:ext uri="{FF2B5EF4-FFF2-40B4-BE49-F238E27FC236}">
                <a16:creationId xmlns:a16="http://schemas.microsoft.com/office/drawing/2014/main" id="{650D17DA-B0BD-4B0C-BEFE-0B0128A6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14" name="p2-entry-copy-v03">
            <a:extLst xmlns:a="http://schemas.openxmlformats.org/drawingml/2006/main">
              <a:ext uri="{FF2B5EF4-FFF2-40B4-BE49-F238E27FC236}">
                <a16:creationId xmlns:a16="http://schemas.microsoft.com/office/drawing/2014/main" id="{AE85CFC7-A193-4674-8567-982058B8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两端路口均有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唯一、可解释的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RCSD 锚点</a:t>
            </a:r>
          </a:p>
        </p:txBody>
      </p:sp>
      <p:sp>
        <p:nvSpPr>
          <p:cNvPr id="115" name="p2-evidence-stage-accent-v03">
            <a:extLst xmlns:a="http://schemas.openxmlformats.org/drawingml/2006/main">
              <a:ext uri="{FF2B5EF4-FFF2-40B4-BE49-F238E27FC236}">
                <a16:creationId xmlns:a16="http://schemas.microsoft.com/office/drawing/2014/main" id="{7B06A1D9-8162-444E-BCBC-0B9B788E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76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16" name="p2-evidence-stage-title-v03">
            <a:extLst xmlns:a="http://schemas.openxmlformats.org/drawingml/2006/main">
              <a:ext uri="{FF2B5EF4-FFF2-40B4-BE49-F238E27FC236}">
                <a16:creationId xmlns:a16="http://schemas.microsoft.com/office/drawing/2014/main" id="{EAECCDE9-5091-4E6F-B75B-6C67C63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候选道路走廊</a:t>
            </a:r>
          </a:p>
        </p:txBody>
      </p:sp>
      <p:sp>
        <p:nvSpPr>
          <p:cNvPr id="117" name="p2-evidence-heading-v03">
            <a:extLst xmlns:a="http://schemas.openxmlformats.org/drawingml/2006/main">
              <a:ext uri="{FF2B5EF4-FFF2-40B4-BE49-F238E27FC236}">
                <a16:creationId xmlns:a16="http://schemas.microsoft.com/office/drawing/2014/main" id="{1890703E-7787-41B7-8BF8-96599588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真实锚定证据</a:t>
            </a:r>
          </a:p>
        </p:txBody>
      </p:sp>
      <p:sp>
        <p:nvSpPr>
          <p:cNvPr id="118" name="p2-evidence-copy-v03">
            <a:extLst xmlns:a="http://schemas.openxmlformats.org/drawingml/2006/main">
              <a:ext uri="{FF2B5EF4-FFF2-40B4-BE49-F238E27FC236}">
                <a16:creationId xmlns:a16="http://schemas.microsoft.com/office/drawing/2014/main" id="{AB9E5904-ECBA-4D52-97A5-06B68DD4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81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以路段范围约束候选 RCSD 道路，避免跨范围替换</a:t>
            </a:r>
          </a:p>
        </p:txBody>
      </p:sp>
      <p:sp>
        <p:nvSpPr>
          <p:cNvPr id="119" name="p2-evidence-frame-v03">
            <a:extLst xmlns:a="http://schemas.openxmlformats.org/drawingml/2006/main">
              <a:ext uri="{FF2B5EF4-FFF2-40B4-BE49-F238E27FC236}">
                <a16:creationId xmlns:a16="http://schemas.microsoft.com/office/drawing/2014/main" id="{70B7913F-5A1A-45C6-844F-8AA9FCA5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33147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120" name="p2-evidence-accent-v03">
            <a:extLst xmlns:a="http://schemas.openxmlformats.org/drawingml/2006/main">
              <a:ext uri="{FF2B5EF4-FFF2-40B4-BE49-F238E27FC236}">
                <a16:creationId xmlns:a16="http://schemas.microsoft.com/office/drawing/2014/main" id="{CD907BC7-229E-4D4D-A9DE-7CEF4790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381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1905">
            <a:solidFill>
              <a:srgbClr val="7D2633"/>
            </a:solidFill>
            <a:prstDash val="solid"/>
          </a:ln>
        </p:spPr>
      </p:sp>
      <p:pic>
        <p:nvPicPr>
          <p:cNvPr id="456" name="p2-real-evidence-image-v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85bb7bddb458e"/>
          <a:stretch xmlns:a="http://schemas.openxmlformats.org/drawingml/2006/main"/>
        </p:blipFill>
        <p:spPr>
          <a:xfrm xmlns:a="http://schemas.openxmlformats.org/drawingml/2006/main">
            <a:off x="3119967" y="2209800"/>
            <a:ext cx="2523067" cy="1419225"/>
          </a:xfrm>
          <a:prstGeom xmlns:a="http://schemas.openxmlformats.org/drawingml/2006/main" prst="rect">
            <a:avLst/>
          </a:prstGeom>
        </p:spPr>
      </p:pic>
      <p:sp>
        <p:nvSpPr>
          <p:cNvPr id="122" name="p2-evidence-caption-v03">
            <a:extLst xmlns:a="http://schemas.openxmlformats.org/drawingml/2006/main">
              <a:ext uri="{FF2B5EF4-FFF2-40B4-BE49-F238E27FC236}">
                <a16:creationId xmlns:a16="http://schemas.microsoft.com/office/drawing/2014/main" id="{D5615987-1082-4559-9639-28D70DA1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861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以两端路口锚点约束道路走廊，替换范围可解释、可追溯</a:t>
            </a:r>
          </a:p>
        </p:txBody>
      </p:sp>
      <p:sp>
        <p:nvSpPr>
          <p:cNvPr id="123" name="p2-audit-accent-v03">
            <a:extLst xmlns:a="http://schemas.openxmlformats.org/drawingml/2006/main">
              <a:ext uri="{FF2B5EF4-FFF2-40B4-BE49-F238E27FC236}">
                <a16:creationId xmlns:a16="http://schemas.microsoft.com/office/drawing/2014/main" id="{90624BAB-7539-45D4-96D0-58241393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24" name="p2-audit-title-v03">
            <a:extLst xmlns:a="http://schemas.openxmlformats.org/drawingml/2006/main">
              <a:ext uri="{FF2B5EF4-FFF2-40B4-BE49-F238E27FC236}">
                <a16:creationId xmlns:a16="http://schemas.microsoft.com/office/drawing/2014/main" id="{C5E15039-1FDD-4C02-B760-3844D25A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替换条件审计</a:t>
            </a:r>
          </a:p>
        </p:txBody>
      </p:sp>
      <p:sp>
        <p:nvSpPr>
          <p:cNvPr id="125" name="p2-audit-marker-1-v03">
            <a:extLst xmlns:a="http://schemas.openxmlformats.org/drawingml/2006/main">
              <a:ext uri="{FF2B5EF4-FFF2-40B4-BE49-F238E27FC236}">
                <a16:creationId xmlns:a16="http://schemas.microsoft.com/office/drawing/2014/main" id="{5C7B6B84-65F5-4D0B-ADB9-D15C9A20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14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26" name="p2-audit-row-1-v03">
            <a:extLst xmlns:a="http://schemas.openxmlformats.org/drawingml/2006/main">
              <a:ext uri="{FF2B5EF4-FFF2-40B4-BE49-F238E27FC236}">
                <a16:creationId xmlns:a16="http://schemas.microsoft.com/office/drawing/2014/main" id="{EF78D298-C613-4DCF-AF4F-F57A7E0B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57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方向一致 ·</a:t>
            </a:r>
          </a:p>
        </p:txBody>
      </p:sp>
      <p:sp>
        <p:nvSpPr>
          <p:cNvPr id="127" name="p2-audit-marker-2-v03">
            <a:extLst xmlns:a="http://schemas.openxmlformats.org/drawingml/2006/main">
              <a:ext uri="{FF2B5EF4-FFF2-40B4-BE49-F238E27FC236}">
                <a16:creationId xmlns:a16="http://schemas.microsoft.com/office/drawing/2014/main" id="{CADE0C42-7E7D-43F2-87D2-19022337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28" name="p2-audit-row-2-v03">
            <a:extLst xmlns:a="http://schemas.openxmlformats.org/drawingml/2006/main">
              <a:ext uri="{FF2B5EF4-FFF2-40B4-BE49-F238E27FC236}">
                <a16:creationId xmlns:a16="http://schemas.microsoft.com/office/drawing/2014/main" id="{4330A2A5-C3B2-4746-ADC9-BF8AD0F6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38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路径连通 ·</a:t>
            </a:r>
          </a:p>
        </p:txBody>
      </p:sp>
      <p:sp>
        <p:nvSpPr>
          <p:cNvPr id="129" name="p2-audit-marker-3-v03">
            <a:extLst xmlns:a="http://schemas.openxmlformats.org/drawingml/2006/main">
              <a:ext uri="{FF2B5EF4-FFF2-40B4-BE49-F238E27FC236}">
                <a16:creationId xmlns:a16="http://schemas.microsoft.com/office/drawing/2014/main" id="{213013B2-F27D-4A2C-A7D2-3A36176E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76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30" name="p2-audit-row-3-v03">
            <a:extLst xmlns:a="http://schemas.openxmlformats.org/drawingml/2006/main">
              <a:ext uri="{FF2B5EF4-FFF2-40B4-BE49-F238E27FC236}">
                <a16:creationId xmlns:a16="http://schemas.microsoft.com/office/drawing/2014/main" id="{25C8F55A-659D-458E-B2AC-4E9C11A6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19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几何覆盖 ·</a:t>
            </a:r>
          </a:p>
        </p:txBody>
      </p:sp>
      <p:sp>
        <p:nvSpPr>
          <p:cNvPr id="131" name="p2-audit-marker-4-v03">
            <a:extLst xmlns:a="http://schemas.openxmlformats.org/drawingml/2006/main">
              <a:ext uri="{FF2B5EF4-FFF2-40B4-BE49-F238E27FC236}">
                <a16:creationId xmlns:a16="http://schemas.microsoft.com/office/drawing/2014/main" id="{6D4A6A8D-7D1E-4DE8-ABD0-023FB860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32" name="p2-audit-row-4-v03">
            <a:extLst xmlns:a="http://schemas.openxmlformats.org/drawingml/2006/main">
              <a:ext uri="{FF2B5EF4-FFF2-40B4-BE49-F238E27FC236}">
                <a16:creationId xmlns:a16="http://schemas.microsoft.com/office/drawing/2014/main" id="{871073B6-5325-4B9F-97B7-AC3C028C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00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拓扑闭合</a:t>
            </a:r>
          </a:p>
        </p:txBody>
      </p:sp>
      <p:sp>
        <p:nvSpPr>
          <p:cNvPr id="133" name="p2-result-accent-v03">
            <a:extLst xmlns:a="http://schemas.openxmlformats.org/drawingml/2006/main">
              <a:ext uri="{FF2B5EF4-FFF2-40B4-BE49-F238E27FC236}">
                <a16:creationId xmlns:a16="http://schemas.microsoft.com/office/drawing/2014/main" id="{EDB8AEBD-8EA4-46E8-A60F-5575E42F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34" name="p2-result-title-v03">
            <a:extLst xmlns:a="http://schemas.openxmlformats.org/drawingml/2006/main">
              <a:ext uri="{FF2B5EF4-FFF2-40B4-BE49-F238E27FC236}">
                <a16:creationId xmlns:a16="http://schemas.microsoft.com/office/drawing/2014/main" id="{BA67383A-58A4-4474-BA26-1B71C356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形成替换结果</a:t>
            </a:r>
          </a:p>
        </p:txBody>
      </p:sp>
      <p:sp>
        <p:nvSpPr>
          <p:cNvPr id="135" name="p2-branch-node-v03">
            <a:extLst xmlns:a="http://schemas.openxmlformats.org/drawingml/2006/main">
              <a:ext uri="{FF2B5EF4-FFF2-40B4-BE49-F238E27FC236}">
                <a16:creationId xmlns:a16="http://schemas.microsoft.com/office/drawing/2014/main" id="{DFA0B511-4FDD-4603-97AB-BBF156D8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D2633"/>
            </a:solidFill>
            <a:prstDash val="solid"/>
          </a:ln>
        </p:spPr>
      </p:sp>
      <p:sp>
        <p:nvSpPr>
          <p:cNvPr id="136" name="p2-pass-node-v03">
            <a:extLst xmlns:a="http://schemas.openxmlformats.org/drawingml/2006/main">
              <a:ext uri="{FF2B5EF4-FFF2-40B4-BE49-F238E27FC236}">
                <a16:creationId xmlns:a16="http://schemas.microsoft.com/office/drawing/2014/main" id="{A7F1B3DD-2C25-44FD-87E0-15FDA85C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37" name="p2-pass-text-v03">
            <a:extLst xmlns:a="http://schemas.openxmlformats.org/drawingml/2006/main">
              <a:ext uri="{FF2B5EF4-FFF2-40B4-BE49-F238E27FC236}">
                <a16:creationId xmlns:a16="http://schemas.microsoft.com/office/drawing/2014/main" id="{CC17A142-AD2F-4FBF-BE58-06F58F16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716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通过则替换主干</a:t>
            </a:r>
          </a:p>
        </p:txBody>
      </p:sp>
      <p:sp>
        <p:nvSpPr>
          <p:cNvPr id="138" name="p2-fail-node-v03">
            <a:extLst xmlns:a="http://schemas.openxmlformats.org/drawingml/2006/main">
              <a:ext uri="{FF2B5EF4-FFF2-40B4-BE49-F238E27FC236}">
                <a16:creationId xmlns:a16="http://schemas.microsoft.com/office/drawing/2014/main" id="{982A3E7E-B902-4C69-BC42-320D7FC3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E6A64"/>
            </a:solidFill>
            <a:prstDash val="solid"/>
          </a:ln>
        </p:spPr>
      </p:sp>
      <p:sp>
        <p:nvSpPr>
          <p:cNvPr id="139" name="p2-fail-text-v03">
            <a:extLst xmlns:a="http://schemas.openxmlformats.org/drawingml/2006/main">
              <a:ext uri="{FF2B5EF4-FFF2-40B4-BE49-F238E27FC236}">
                <a16:creationId xmlns:a16="http://schemas.microsoft.com/office/drawing/2014/main" id="{756AD171-054C-47BE-89B4-4666F118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765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不能证明则保留 SWSD，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并登记问题证据</a:t>
            </a:r>
          </a:p>
        </p:txBody>
      </p:sp>
      <p:sp>
        <p:nvSpPr>
          <p:cNvPr id="312" name="p2-v03-section-divider">
            <a:extLst xmlns:a="http://schemas.openxmlformats.org/drawingml/2006/main">
              <a:ext uri="{FF2B5EF4-FFF2-40B4-BE49-F238E27FC236}">
                <a16:creationId xmlns:a16="http://schemas.microsoft.com/office/drawing/2014/main" id="{4C9056AA-3983-4937-9792-74BF9B47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13" name="矩形 312">
            <a:extLst xmlns:a="http://schemas.openxmlformats.org/drawingml/2006/main">
              <a:ext uri="{FF2B5EF4-FFF2-40B4-BE49-F238E27FC236}">
                <a16:creationId xmlns:a16="http://schemas.microsoft.com/office/drawing/2014/main" id="{E9FCD299-12D1-4B61-A28B-6F545F24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能力结论与替换边界</a:t>
            </a:r>
          </a:p>
        </p:txBody>
      </p:sp>
      <p:sp>
        <p:nvSpPr>
          <p:cNvPr id="314" name="直接连接符 313">
            <a:extLst xmlns:a="http://schemas.openxmlformats.org/drawingml/2006/main">
              <a:ext uri="{FF2B5EF4-FFF2-40B4-BE49-F238E27FC236}">
                <a16:creationId xmlns:a16="http://schemas.microsoft.com/office/drawing/2014/main" id="{0F03A586-CB6C-4E82-8551-FD849103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15" name="直接连接符 314">
            <a:extLst xmlns:a="http://schemas.openxmlformats.org/drawingml/2006/main">
              <a:ext uri="{FF2B5EF4-FFF2-40B4-BE49-F238E27FC236}">
                <a16:creationId xmlns:a16="http://schemas.microsoft.com/office/drawing/2014/main" id="{D95C2F5F-A863-40BF-8B7F-C44D8003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624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16" name="直接连接符 315">
            <a:extLst xmlns:a="http://schemas.openxmlformats.org/drawingml/2006/main">
              <a:ext uri="{FF2B5EF4-FFF2-40B4-BE49-F238E27FC236}">
                <a16:creationId xmlns:a16="http://schemas.microsoft.com/office/drawing/2014/main" id="{EE1764F3-DDAD-4B85-A569-D5B94A94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17" name="矩形 316">
            <a:extLst xmlns:a="http://schemas.openxmlformats.org/drawingml/2006/main">
              <a:ext uri="{FF2B5EF4-FFF2-40B4-BE49-F238E27FC236}">
                <a16:creationId xmlns:a16="http://schemas.microsoft.com/office/drawing/2014/main" id="{73045671-C7AC-456A-B8DD-DD6CC3EA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95%</a:t>
            </a:r>
          </a:p>
        </p:txBody>
      </p:sp>
      <p:sp>
        <p:nvSpPr>
          <p:cNvPr id="318" name="矩形 317">
            <a:extLst xmlns:a="http://schemas.openxmlformats.org/drawingml/2006/main">
              <a:ext uri="{FF2B5EF4-FFF2-40B4-BE49-F238E27FC236}">
                <a16:creationId xmlns:a16="http://schemas.microsoft.com/office/drawing/2014/main" id="{156A6701-037C-46AC-A8F4-2C3F88DB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路口自动锚定成功率</a:t>
            </a:r>
          </a:p>
        </p:txBody>
      </p:sp>
      <p:sp>
        <p:nvSpPr>
          <p:cNvPr id="319" name="矩形 318">
            <a:extLst xmlns:a="http://schemas.openxmlformats.org/drawingml/2006/main">
              <a:ext uri="{FF2B5EF4-FFF2-40B4-BE49-F238E27FC236}">
                <a16:creationId xmlns:a16="http://schemas.microsoft.com/office/drawing/2014/main" id="{64E25130-8E58-4F7C-A323-AF3FFF68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业务统计</a:t>
            </a:r>
          </a:p>
        </p:txBody>
      </p:sp>
      <p:sp>
        <p:nvSpPr>
          <p:cNvPr id="320" name="矩形 319">
            <a:extLst xmlns:a="http://schemas.openxmlformats.org/drawingml/2006/main">
              <a:ext uri="{FF2B5EF4-FFF2-40B4-BE49-F238E27FC236}">
                <a16:creationId xmlns:a16="http://schemas.microsoft.com/office/drawing/2014/main" id="{2BBE61A1-67AA-4157-B8BB-21F07097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529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80.3760%</a:t>
            </a:r>
          </a:p>
        </p:txBody>
      </p:sp>
      <p:sp>
        <p:nvSpPr>
          <p:cNvPr id="321" name="矩形 320">
            <a:extLst xmlns:a="http://schemas.openxmlformats.org/drawingml/2006/main">
              <a:ext uri="{FF2B5EF4-FFF2-40B4-BE49-F238E27FC236}">
                <a16:creationId xmlns:a16="http://schemas.microsoft.com/office/drawing/2014/main" id="{09DD9BF3-357C-4389-98F9-DD29B5DA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529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当前实测里程替换率</a:t>
            </a:r>
          </a:p>
        </p:txBody>
      </p:sp>
      <p:sp>
        <p:nvSpPr>
          <p:cNvPr id="322" name="矩形 321">
            <a:extLst xmlns:a="http://schemas.openxmlformats.org/drawingml/2006/main">
              <a:ext uri="{FF2B5EF4-FFF2-40B4-BE49-F238E27FC236}">
                <a16:creationId xmlns:a16="http://schemas.microsoft.com/office/drawing/2014/main" id="{04587E50-30E9-47BD-A4FF-3FE5D254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101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108,732 条 RCSD 道路 / 10,386.319 公里</a:t>
            </a:r>
          </a:p>
        </p:txBody>
      </p:sp>
      <p:sp>
        <p:nvSpPr>
          <p:cNvPr id="323" name="矩形 322">
            <a:extLst xmlns:a="http://schemas.openxmlformats.org/drawingml/2006/main">
              <a:ext uri="{FF2B5EF4-FFF2-40B4-BE49-F238E27FC236}">
                <a16:creationId xmlns:a16="http://schemas.microsoft.com/office/drawing/2014/main" id="{B4114FCF-E834-4D5B-BDB5-4808972B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529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85%</a:t>
            </a:r>
          </a:p>
        </p:txBody>
      </p:sp>
      <p:sp>
        <p:nvSpPr>
          <p:cNvPr id="324" name="矩形 323">
            <a:extLst xmlns:a="http://schemas.openxmlformats.org/drawingml/2006/main">
              <a:ext uri="{FF2B5EF4-FFF2-40B4-BE49-F238E27FC236}">
                <a16:creationId xmlns:a16="http://schemas.microsoft.com/office/drawing/2014/main" id="{CEDBAFE3-D00D-4C20-A491-7342BADE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529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全量路口锚定后的预计替换率</a:t>
            </a:r>
          </a:p>
        </p:txBody>
      </p:sp>
      <p:sp>
        <p:nvSpPr>
          <p:cNvPr id="325" name="矩形 324">
            <a:extLst xmlns:a="http://schemas.openxmlformats.org/drawingml/2006/main">
              <a:ext uri="{FF2B5EF4-FFF2-40B4-BE49-F238E27FC236}">
                <a16:creationId xmlns:a16="http://schemas.microsoft.com/office/drawing/2014/main" id="{08276174-761C-47B7-ACD5-83B35341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条件预估</a:t>
            </a:r>
          </a:p>
        </p:txBody>
      </p:sp>
      <p:sp>
        <p:nvSpPr>
          <p:cNvPr id="326" name="直接连接符 325">
            <a:extLst xmlns:a="http://schemas.openxmlformats.org/drawingml/2006/main">
              <a:ext uri="{FF2B5EF4-FFF2-40B4-BE49-F238E27FC236}">
                <a16:creationId xmlns:a16="http://schemas.microsoft.com/office/drawing/2014/main" id="{F1639C4D-48FF-408B-A2D8-980E575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27" name="矩形 326">
            <a:extLst xmlns:a="http://schemas.openxmlformats.org/drawingml/2006/main">
              <a:ext uri="{FF2B5EF4-FFF2-40B4-BE49-F238E27FC236}">
                <a16:creationId xmlns:a16="http://schemas.microsoft.com/office/drawing/2014/main" id="{48871D25-00BA-49E2-8660-785FBB23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剩余约 15%</a:t>
            </a:r>
          </a:p>
        </p:txBody>
      </p:sp>
      <p:sp>
        <p:nvSpPr>
          <p:cNvPr id="328" name="矩形 327">
            <a:extLst xmlns:a="http://schemas.openxmlformats.org/drawingml/2006/main">
              <a:ext uri="{FF2B5EF4-FFF2-40B4-BE49-F238E27FC236}">
                <a16:creationId xmlns:a16="http://schemas.microsoft.com/office/drawing/2014/main" id="{124B4421-074E-43D1-960B-B7FF4C70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38775"/>
            <a:ext cx="909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受 RCSD 路段级连通性不完整限制，转入 1V1 匹配补充处理。</a:t>
            </a:r>
          </a:p>
        </p:txBody>
      </p:sp>
      <p:sp>
        <p:nvSpPr>
          <p:cNvPr id="329" name="矩形 328">
            <a:extLst xmlns:a="http://schemas.openxmlformats.org/drawingml/2006/main">
              <a:ext uri="{FF2B5EF4-FFF2-40B4-BE49-F238E27FC236}">
                <a16:creationId xmlns:a16="http://schemas.microsoft.com/office/drawing/2014/main" id="{CD688306-8633-4592-A477-266CC46B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24525"/>
            <a:ext cx="909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不能暗示剩余部分已经全部可替换。</a:t>
            </a:r>
          </a:p>
        </p:txBody>
      </p:sp>
      <p:sp>
        <p:nvSpPr>
          <p:cNvPr id="330" name="直接连接符 329">
            <a:extLst xmlns:a="http://schemas.openxmlformats.org/drawingml/2006/main">
              <a:ext uri="{FF2B5EF4-FFF2-40B4-BE49-F238E27FC236}">
                <a16:creationId xmlns:a16="http://schemas.microsoft.com/office/drawing/2014/main" id="{EEE7E5CF-D728-43DA-98D9-CE3E76A0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331" name="矩形 330">
            <a:extLst xmlns:a="http://schemas.openxmlformats.org/drawingml/2006/main">
              <a:ext uri="{FF2B5EF4-FFF2-40B4-BE49-F238E27FC236}">
                <a16:creationId xmlns:a16="http://schemas.microsoft.com/office/drawing/2014/main" id="{E9317D5E-63E8-47E6-8D7B-5941C2A6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口径结论</a:t>
            </a:r>
          </a:p>
        </p:txBody>
      </p:sp>
      <p:sp>
        <p:nvSpPr>
          <p:cNvPr id="332" name="矩形 331">
            <a:extLst xmlns:a="http://schemas.openxmlformats.org/drawingml/2006/main">
              <a:ext uri="{FF2B5EF4-FFF2-40B4-BE49-F238E27FC236}">
                <a16:creationId xmlns:a16="http://schemas.microsoft.com/office/drawing/2014/main" id="{70CFE243-52E8-4F73-AE6E-6C39C74A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960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80.3760% 为当前实测，85% 为全量路口锚定后的条件预估，两者不可混用。</a:t>
            </a:r>
          </a:p>
        </p:txBody>
      </p:sp>
    </p:spTree>
    <p:extLst>
      <p:ext uri="{BB962C8B-B14F-4D97-AF65-F5344CB8AC3E}">
        <p14:creationId xmlns:p14="http://schemas.microsoft.com/office/powerpoint/2010/main" val="478021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title">
            <a:extLst xmlns:a="http://schemas.openxmlformats.org/drawingml/2006/main">
              <a:ext uri="{FF2B5EF4-FFF2-40B4-BE49-F238E27FC236}">
                <a16:creationId xmlns:a16="http://schemas.microsoft.com/office/drawing/2014/main" id="{D4658438-C051-4BDF-9B88-8FC17E57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方案二：复用认知底座，审计一层与二层路网质量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2C5F64F-592E-4F74-9E2D-F3C30D22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对路口、路段、方向与连通执行只读审计，具备短期上线潜力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83CA74F-DC60-49E7-BD43-876451E8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2E2CB746-C45B-4553-A072-4BB20AE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审计目标与准则</a:t>
            </a:r>
          </a:p>
        </p:txBody>
      </p:sp>
      <p:sp>
        <p:nvSpPr>
          <p:cNvPr id="34" name="直接连接符 33">
            <a:extLst xmlns:a="http://schemas.openxmlformats.org/drawingml/2006/main">
              <a:ext uri="{FF2B5EF4-FFF2-40B4-BE49-F238E27FC236}">
                <a16:creationId xmlns:a16="http://schemas.microsoft.com/office/drawing/2014/main" id="{39A10114-452D-4C3A-8464-16D6611D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5" name="直接连接符 34">
            <a:extLst xmlns:a="http://schemas.openxmlformats.org/drawingml/2006/main">
              <a:ext uri="{FF2B5EF4-FFF2-40B4-BE49-F238E27FC236}">
                <a16:creationId xmlns:a16="http://schemas.microsoft.com/office/drawing/2014/main" id="{BBA923A2-666F-43FB-93DB-7401834B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6" name="直接连接符 35">
            <a:extLst xmlns:a="http://schemas.openxmlformats.org/drawingml/2006/main">
              <a:ext uri="{FF2B5EF4-FFF2-40B4-BE49-F238E27FC236}">
                <a16:creationId xmlns:a16="http://schemas.microsoft.com/office/drawing/2014/main" id="{69B2A383-9492-42BA-8FC2-581409D4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D4CE765-E697-4ECE-B783-FDA1BBA3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原始 1V1 路网的 RCSD 道路 / 节点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96607301-4A3A-4148-9739-FA6C00E5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 SWSD 路口—路段语义为基准，逐道路、端点与方向重验。</a:t>
            </a:r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5E21B8A5-4449-4BD1-B3E9-F8DD5B98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97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621ED9B-98E6-48C1-A9AE-486A7BCA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路段级 + 路口级质量识别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CF29217-6D45-42C5-AB61-6038090B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335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路段：检查必需方向、连通与非预期反向通行。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196A5A8-FA31-4435-A2A8-E0F94C0B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路口：通行缺失回到原始 1V1 路网重验；最终一对多、多对一锚定失败经一致性核验后直接发布。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77A623B-90C6-44FB-AEF4-CEBB1E62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三个真实审计案例</a:t>
            </a: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56793119-2F15-4539-B216-6DB52B3D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83646B3C-7140-4737-A861-133D26B8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0350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6" name="直接连接符 45">
            <a:extLst xmlns:a="http://schemas.openxmlformats.org/drawingml/2006/main">
              <a:ext uri="{FF2B5EF4-FFF2-40B4-BE49-F238E27FC236}">
                <a16:creationId xmlns:a16="http://schemas.microsoft.com/office/drawing/2014/main" id="{028E843F-8BDE-4CAF-BA14-C7E3DE6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0" cy="2152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22B6B7B-8666-4CF3-907D-547442E7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1885118｜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路段连通候选异常</a:t>
            </a:r>
          </a:p>
        </p:txBody>
      </p:sp>
      <p:pic>
        <p:nvPicPr>
          <p:cNvPr id="92" name="图片 9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ee58d9b0645fa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209925"/>
            <a:ext cx="3238500" cy="1619250"/>
          </a:xfrm>
          <a:prstGeom xmlns:a="http://schemas.openxmlformats.org/drawingml/2006/main" prst="rect">
            <a:avLst/>
          </a:prstGeom>
        </p:spPr>
      </p:pic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BB5B0BEC-B3BB-42EC-95ED-9C720518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AC700F4-9AEA-4D3F-9C96-9E4486C7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67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候选｜待原始 1V1 路网重验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67BC9FE3-2AF8-4515-A20D-D8168411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522806716｜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路口必需通行关系缺失</a:t>
            </a:r>
          </a:p>
        </p:txBody>
      </p:sp>
      <p:pic>
        <p:nvPicPr>
          <p:cNvPr id="96" name="图片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93f30fc224f44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3209925"/>
            <a:ext cx="3238500" cy="1619250"/>
          </a:xfrm>
          <a:prstGeom xmlns:a="http://schemas.openxmlformats.org/drawingml/2006/main" prst="rect">
            <a:avLst/>
          </a:prstGeom>
        </p:spPr>
      </p:pic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A0801DD3-3A23-4A4C-A259-E4D2299F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99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330FFF41-0BE1-4D11-A174-59144AC8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67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确认｜当前质量审计输入快照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42A8A05A-B8C8-4062-9D46-EF900DD0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用例 26219553_1026960｜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单向路段反向载体候选</a:t>
            </a:r>
          </a:p>
        </p:txBody>
      </p:sp>
      <p:pic>
        <p:nvPicPr>
          <p:cNvPr id="100" name="图片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e3b1cc23f4baf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3209925"/>
            <a:ext cx="3238500" cy="1619250"/>
          </a:xfrm>
          <a:prstGeom xmlns:a="http://schemas.openxmlformats.org/drawingml/2006/main" prst="rect">
            <a:avLst/>
          </a:prstGeom>
        </p:spPr>
      </p:pic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6F68DE99-F0A2-4990-A56D-0493A870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67DBE7A4-C975-4AFE-B51D-726EB641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67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排除｜反向道路归属相邻路段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49F036BE-E04F-41AF-8060-389B5A51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输出与边界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EF206F-C551-4513-B79B-AD6ADF6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24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输出 → 业务处置</a:t>
            </a:r>
          </a:p>
        </p:txBody>
      </p:sp>
      <p:sp>
        <p:nvSpPr>
          <p:cNvPr id="61" name="直接连接符 60">
            <a:extLst xmlns:a="http://schemas.openxmlformats.org/drawingml/2006/main">
              <a:ext uri="{FF2B5EF4-FFF2-40B4-BE49-F238E27FC236}">
                <a16:creationId xmlns:a16="http://schemas.microsoft.com/office/drawing/2014/main" id="{6FF6DB55-0440-4BC6-BE5C-0BD7C51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62" name="直接连接符 61">
            <a:extLst xmlns:a="http://schemas.openxmlformats.org/drawingml/2006/main">
              <a:ext uri="{FF2B5EF4-FFF2-40B4-BE49-F238E27FC236}">
                <a16:creationId xmlns:a16="http://schemas.microsoft.com/office/drawing/2014/main" id="{8618552B-2879-4EA9-AE35-E3CC24EB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387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70E42121-3F43-4C2B-82C3-63468423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E696DAB-4009-423D-8B81-1BBDB3C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可追溯问题输出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8C124D29-6AC9-43B9-B1A7-7A2A8396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路段与路口独立发布候选、确认、排除结果，并保留几何、方向与根因证据。</a:t>
            </a:r>
          </a:p>
        </p:txBody>
      </p:sp>
      <p:sp>
        <p:nvSpPr>
          <p:cNvPr id="66" name="直接连接符 65">
            <a:extLst xmlns:a="http://schemas.openxmlformats.org/drawingml/2006/main">
              <a:ext uri="{FF2B5EF4-FFF2-40B4-BE49-F238E27FC236}">
                <a16:creationId xmlns:a16="http://schemas.microsoft.com/office/drawing/2014/main" id="{540156AF-A5B9-4C8A-AD2F-F2411A54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578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ECE85EAC-ED26-4037-8C8C-CFC4BC03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149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上线判断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774DDA53-C75F-4834-BACE-BA033436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435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具备短期上线潜力，但当前汇报不宣称已经生产部署。</a:t>
            </a:r>
          </a:p>
        </p:txBody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3BE5EEA2-3E04-477B-9F85-2D72907B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579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9924AF-1405-41A3-AEDC-2F3FF526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341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只读审计，不修复、不回写；距离或几何现象不能单独形成质量结论。</a:t>
            </a:r>
          </a:p>
        </p:txBody>
      </p:sp>
    </p:spTree>
    <p:extLst>
      <p:ext uri="{BB962C8B-B14F-4D97-AF65-F5344CB8AC3E}">
        <p14:creationId xmlns:p14="http://schemas.microsoft.com/office/powerpoint/2010/main" val="576510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ge-title">
            <a:extLst xmlns:a="http://schemas.openxmlformats.org/drawingml/2006/main">
              <a:ext uri="{FF2B5EF4-FFF2-40B4-BE49-F238E27FC236}">
                <a16:creationId xmlns:a16="http://schemas.microsoft.com/office/drawing/2014/main" id="{714BF2E4-E8F8-49C5-8059-ADBBDCC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方案三：自上而下直建二层道路与节点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DEFA9B2-D79A-4EB1-9FF8-56E2BFD7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一层路口—路段牵引，分片矢量提供现实证据，面向 RCSD 路网图直建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FD36043-13A4-424F-9821-C049AEA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4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489336F1-130E-4956-B69A-23F07D8F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007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43FEEF74-A421-4826-A99B-0094B6AC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验证边界</a:t>
            </a:r>
          </a:p>
        </p:txBody>
      </p:sp>
      <p:sp>
        <p:nvSpPr>
          <p:cNvPr id="36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34AFF781-9822-45B5-8F4C-CB57F587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81650"/>
            <a:ext cx="9401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当前仍是局部概念验证，不替代既有正式主链，也不宣称已形成生产级融合路网。</a:t>
            </a:r>
          </a:p>
        </p:txBody>
      </p:sp>
      <p:sp>
        <p:nvSpPr>
          <p:cNvPr id="38" name="p4-chain-label-v04a3">
            <a:extLst xmlns:a="http://schemas.openxmlformats.org/drawingml/2006/main">
              <a:ext uri="{FF2B5EF4-FFF2-40B4-BE49-F238E27FC236}">
                <a16:creationId xmlns:a16="http://schemas.microsoft.com/office/drawing/2014/main" id="{C832CED4-E814-4DF4-9826-84F2CA7A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自上而下四阶段构建主链</a:t>
            </a:r>
          </a:p>
        </p:txBody>
      </p:sp>
      <p:sp>
        <p:nvSpPr>
          <p:cNvPr id="39" name="p4-chain-baseline-v04a3">
            <a:extLst xmlns:a="http://schemas.openxmlformats.org/drawingml/2006/main">
              <a:ext uri="{FF2B5EF4-FFF2-40B4-BE49-F238E27FC236}">
                <a16:creationId xmlns:a16="http://schemas.microsoft.com/office/drawing/2014/main" id="{8696697E-85E2-4B7B-BB84-8B3CFFFB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40" name="p4-01-accent-v04a3">
            <a:extLst xmlns:a="http://schemas.openxmlformats.org/drawingml/2006/main">
              <a:ext uri="{FF2B5EF4-FFF2-40B4-BE49-F238E27FC236}">
                <a16:creationId xmlns:a16="http://schemas.microsoft.com/office/drawing/2014/main" id="{C3F178C0-DCB1-400D-9D23-4A6927EA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41" name="p4-01-num-v04a3">
            <a:extLst xmlns:a="http://schemas.openxmlformats.org/drawingml/2006/main">
              <a:ext uri="{FF2B5EF4-FFF2-40B4-BE49-F238E27FC236}">
                <a16:creationId xmlns:a16="http://schemas.microsoft.com/office/drawing/2014/main" id="{EB4E0A45-1F47-4B46-96DD-D6489995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2" name="p4-01-title-v04a3">
            <a:extLst xmlns:a="http://schemas.openxmlformats.org/drawingml/2006/main">
              <a:ext uri="{FF2B5EF4-FFF2-40B4-BE49-F238E27FC236}">
                <a16:creationId xmlns:a16="http://schemas.microsoft.com/office/drawing/2014/main" id="{382D375B-D738-45CE-BA29-F6E955C7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383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一层语义骨架</a:t>
            </a:r>
          </a:p>
        </p:txBody>
      </p:sp>
      <p:sp>
        <p:nvSpPr>
          <p:cNvPr id="43" name="p4-01-body-v04a3">
            <a:extLst xmlns:a="http://schemas.openxmlformats.org/drawingml/2006/main">
              <a:ext uri="{FF2B5EF4-FFF2-40B4-BE49-F238E27FC236}">
                <a16:creationId xmlns:a16="http://schemas.microsoft.com/office/drawing/2014/main" id="{05A2E898-AAD6-4AE8-ACA7-936271CD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383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以一层路网中的路口—路段语义骨架为牵引。</a:t>
            </a:r>
          </a:p>
        </p:txBody>
      </p:sp>
      <p:sp>
        <p:nvSpPr>
          <p:cNvPr id="44" name="p4-01-rule-v04a3">
            <a:extLst xmlns:a="http://schemas.openxmlformats.org/drawingml/2006/main">
              <a:ext uri="{FF2B5EF4-FFF2-40B4-BE49-F238E27FC236}">
                <a16:creationId xmlns:a16="http://schemas.microsoft.com/office/drawing/2014/main" id="{DCC53ABB-FB6A-4D59-94C8-77FD0D2F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45" name="p4-down-1-v04a3-from">
            <a:extLst xmlns:a="http://schemas.openxmlformats.org/drawingml/2006/main">
              <a:ext uri="{FF2B5EF4-FFF2-40B4-BE49-F238E27FC236}">
                <a16:creationId xmlns:a16="http://schemas.microsoft.com/office/drawing/2014/main" id="{FBA734CB-8B08-4798-95FC-DAE8B008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28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p4-down-1-v04a3-to">
            <a:extLst xmlns:a="http://schemas.openxmlformats.org/drawingml/2006/main">
              <a:ext uri="{FF2B5EF4-FFF2-40B4-BE49-F238E27FC236}">
                <a16:creationId xmlns:a16="http://schemas.microsoft.com/office/drawing/2014/main" id="{658B465F-9072-4F8A-8CB5-5B691E0C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145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5" name="直接箭头连接符 277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6096000" y="2047875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48" name="p4-02-accent-v04a3">
            <a:extLst xmlns:a="http://schemas.openxmlformats.org/drawingml/2006/main">
              <a:ext uri="{FF2B5EF4-FFF2-40B4-BE49-F238E27FC236}">
                <a16:creationId xmlns:a16="http://schemas.microsoft.com/office/drawing/2014/main" id="{F14F23D1-FF63-4CA9-AC7D-DFAAD8FC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49" name="p4-02-num-v04a3">
            <a:extLst xmlns:a="http://schemas.openxmlformats.org/drawingml/2006/main">
              <a:ext uri="{FF2B5EF4-FFF2-40B4-BE49-F238E27FC236}">
                <a16:creationId xmlns:a16="http://schemas.microsoft.com/office/drawing/2014/main" id="{448FF851-9819-43AF-8C61-4AE14C48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p4-02-title-v04a3">
            <a:extLst xmlns:a="http://schemas.openxmlformats.org/drawingml/2006/main">
              <a:ext uri="{FF2B5EF4-FFF2-40B4-BE49-F238E27FC236}">
                <a16:creationId xmlns:a16="http://schemas.microsoft.com/office/drawing/2014/main" id="{D65BED95-55EE-4563-930F-B30690AA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分片证据拟合</a:t>
            </a:r>
          </a:p>
        </p:txBody>
      </p:sp>
      <p:sp>
        <p:nvSpPr>
          <p:cNvPr id="51" name="p4-02-body-v04a3">
            <a:extLst xmlns:a="http://schemas.openxmlformats.org/drawingml/2006/main">
              <a:ext uri="{FF2B5EF4-FFF2-40B4-BE49-F238E27FC236}">
                <a16:creationId xmlns:a16="http://schemas.microsoft.com/office/drawing/2014/main" id="{B437A1AB-E469-4A0A-A514-990CCD8D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以分片道路、车道、车道拓扑、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边界与道路面拟合现实证据。</a:t>
            </a:r>
          </a:p>
        </p:txBody>
      </p:sp>
      <p:sp>
        <p:nvSpPr>
          <p:cNvPr id="52" name="p4-evidence-frame-v04a3">
            <a:extLst xmlns:a="http://schemas.openxmlformats.org/drawingml/2006/main">
              <a:ext uri="{FF2B5EF4-FFF2-40B4-BE49-F238E27FC236}">
                <a16:creationId xmlns:a16="http://schemas.microsoft.com/office/drawing/2014/main" id="{CE65D795-23C4-4869-BFA4-7EDE2A6D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3429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pic>
        <p:nvPicPr>
          <p:cNvPr id="321" name="p4-local-experiment-image-v04a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8b4984c6d4e7e"/>
          <a:stretch xmlns:a="http://schemas.openxmlformats.org/drawingml/2006/main"/>
        </p:blipFill>
        <p:spPr>
          <a:xfrm xmlns:a="http://schemas.openxmlformats.org/drawingml/2006/main">
            <a:off x="4097867" y="2190750"/>
            <a:ext cx="3234267" cy="1819275"/>
          </a:xfrm>
          <a:prstGeom xmlns:a="http://schemas.openxmlformats.org/drawingml/2006/main" prst="rect">
            <a:avLst/>
          </a:prstGeom>
        </p:spPr>
      </p:pic>
      <p:sp>
        <p:nvSpPr>
          <p:cNvPr id="54" name="p4-evidence-label-v04a3">
            <a:extLst xmlns:a="http://schemas.openxmlformats.org/drawingml/2006/main">
              <a:ext uri="{FF2B5EF4-FFF2-40B4-BE49-F238E27FC236}">
                <a16:creationId xmlns:a16="http://schemas.microsoft.com/office/drawing/2014/main" id="{9A7F14AD-F86C-407F-9160-85CA25F7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真实局部实验图</a:t>
            </a:r>
          </a:p>
        </p:txBody>
      </p:sp>
      <p:sp>
        <p:nvSpPr>
          <p:cNvPr id="55" name="p4-evidence-caption-v04a3">
            <a:extLst xmlns:a="http://schemas.openxmlformats.org/drawingml/2006/main">
              <a:ext uri="{FF2B5EF4-FFF2-40B4-BE49-F238E27FC236}">
                <a16:creationId xmlns:a16="http://schemas.microsoft.com/office/drawing/2014/main" id="{29866005-BF80-4BD1-8B6B-1B6E88DC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670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局部实验完成，证明路段优先的构建路径可行。</a:t>
            </a:r>
          </a:p>
        </p:txBody>
      </p:sp>
      <p:sp>
        <p:nvSpPr>
          <p:cNvPr id="56" name="p4-02-rule-v04a3">
            <a:extLst xmlns:a="http://schemas.openxmlformats.org/drawingml/2006/main">
              <a:ext uri="{FF2B5EF4-FFF2-40B4-BE49-F238E27FC236}">
                <a16:creationId xmlns:a16="http://schemas.microsoft.com/office/drawing/2014/main" id="{91E029B2-4505-4CF6-A9A4-DC2676C8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57" name="p4-down-2-v04a3-from">
            <a:extLst xmlns:a="http://schemas.openxmlformats.org/drawingml/2006/main">
              <a:ext uri="{FF2B5EF4-FFF2-40B4-BE49-F238E27FC236}">
                <a16:creationId xmlns:a16="http://schemas.microsoft.com/office/drawing/2014/main" id="{94817DA0-07A3-4106-95AD-9087C8F1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481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p4-down-2-v04a3-to">
            <a:extLst xmlns:a="http://schemas.openxmlformats.org/drawingml/2006/main">
              <a:ext uri="{FF2B5EF4-FFF2-40B4-BE49-F238E27FC236}">
                <a16:creationId xmlns:a16="http://schemas.microsoft.com/office/drawing/2014/main" id="{33FB2A4A-B924-4D2A-BA9F-E41207A9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1529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7" name="直接箭头连接符 289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6096000" y="406717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60" name="p4-03-accent-v04a3">
            <a:extLst xmlns:a="http://schemas.openxmlformats.org/drawingml/2006/main">
              <a:ext uri="{FF2B5EF4-FFF2-40B4-BE49-F238E27FC236}">
                <a16:creationId xmlns:a16="http://schemas.microsoft.com/office/drawing/2014/main" id="{3035946E-8805-4965-A58F-E99810E1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61" name="p4-03-num-v04a3">
            <a:extLst xmlns:a="http://schemas.openxmlformats.org/drawingml/2006/main">
              <a:ext uri="{FF2B5EF4-FFF2-40B4-BE49-F238E27FC236}">
                <a16:creationId xmlns:a16="http://schemas.microsoft.com/office/drawing/2014/main" id="{9A4E6820-3242-4473-A9AA-CDD8660B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2" name="p4-03-title-v04a3">
            <a:extLst xmlns:a="http://schemas.openxmlformats.org/drawingml/2006/main">
              <a:ext uri="{FF2B5EF4-FFF2-40B4-BE49-F238E27FC236}">
                <a16:creationId xmlns:a16="http://schemas.microsoft.com/office/drawing/2014/main" id="{6760E155-B461-4DB8-BE18-B2741869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高精对象构建</a:t>
            </a:r>
          </a:p>
        </p:txBody>
      </p:sp>
      <p:sp>
        <p:nvSpPr>
          <p:cNvPr id="63" name="p4-03-body-v04a3">
            <a:extLst xmlns:a="http://schemas.openxmlformats.org/drawingml/2006/main">
              <a:ext uri="{FF2B5EF4-FFF2-40B4-BE49-F238E27FC236}">
                <a16:creationId xmlns:a16="http://schemas.microsoft.com/office/drawing/2014/main" id="{D491A112-F09C-4C78-BEF4-66EFEC2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481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构建高精道路、节点与道路衔接关系。</a:t>
            </a:r>
          </a:p>
        </p:txBody>
      </p:sp>
      <p:sp>
        <p:nvSpPr>
          <p:cNvPr id="64" name="p4-03-rule-v04a3">
            <a:extLst xmlns:a="http://schemas.openxmlformats.org/drawingml/2006/main">
              <a:ext uri="{FF2B5EF4-FFF2-40B4-BE49-F238E27FC236}">
                <a16:creationId xmlns:a16="http://schemas.microsoft.com/office/drawing/2014/main" id="{6EED5C78-2CD0-4684-8A5D-AEA43B24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  <p:sp>
        <p:nvSpPr>
          <p:cNvPr id="65" name="p4-down-3-v04a3-from">
            <a:extLst xmlns:a="http://schemas.openxmlformats.org/drawingml/2006/main">
              <a:ext uri="{FF2B5EF4-FFF2-40B4-BE49-F238E27FC236}">
                <a16:creationId xmlns:a16="http://schemas.microsoft.com/office/drawing/2014/main" id="{DFF21D06-50D4-4CCB-B043-EE0ACC8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638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p4-down-3-v04a3-to">
            <a:extLst xmlns:a="http://schemas.openxmlformats.org/drawingml/2006/main">
              <a:ext uri="{FF2B5EF4-FFF2-40B4-BE49-F238E27FC236}">
                <a16:creationId xmlns:a16="http://schemas.microsoft.com/office/drawing/2014/main" id="{0946B7E2-411A-454B-A824-569B217D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7434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5" name="直接箭头连接符 297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6096000" y="465772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D2633"/>
            </a:solidFill>
            <a:prstDash val="solid"/>
            <a:tailEnd type="arrow" w="med" len="med"/>
          </a:ln>
        </p:spPr>
      </p:cxnSp>
      <p:sp>
        <p:nvSpPr>
          <p:cNvPr id="68" name="p4-04-accent-v04a3">
            <a:extLst xmlns:a="http://schemas.openxmlformats.org/drawingml/2006/main">
              <a:ext uri="{FF2B5EF4-FFF2-40B4-BE49-F238E27FC236}">
                <a16:creationId xmlns:a16="http://schemas.microsoft.com/office/drawing/2014/main" id="{4C06B717-E51E-4312-BEE5-40D966E8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69" name="p4-04-num-v04a3">
            <a:extLst xmlns:a="http://schemas.openxmlformats.org/drawingml/2006/main">
              <a:ext uri="{FF2B5EF4-FFF2-40B4-BE49-F238E27FC236}">
                <a16:creationId xmlns:a16="http://schemas.microsoft.com/office/drawing/2014/main" id="{3D8953F2-CCE6-465B-B2C1-1C76BE9C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0" name="p4-04-title-v04a3">
            <a:extLst xmlns:a="http://schemas.openxmlformats.org/drawingml/2006/main">
              <a:ext uri="{FF2B5EF4-FFF2-40B4-BE49-F238E27FC236}">
                <a16:creationId xmlns:a16="http://schemas.microsoft.com/office/drawing/2014/main" id="{5A3A0F1F-46BE-40F9-9340-E9EB4B18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目标输出</a:t>
            </a:r>
          </a:p>
        </p:txBody>
      </p:sp>
      <p:sp>
        <p:nvSpPr>
          <p:cNvPr id="71" name="p4-04-body-v04a3">
            <a:extLst xmlns:a="http://schemas.openxmlformats.org/drawingml/2006/main">
              <a:ext uri="{FF2B5EF4-FFF2-40B4-BE49-F238E27FC236}">
                <a16:creationId xmlns:a16="http://schemas.microsoft.com/office/drawing/2014/main" id="{4CE72BCE-3FF2-44DF-BE43-37431506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387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2A26"/>
                </a:solidFill>
                <a:latin typeface="Microsoft YaHei"/>
                <a:ea typeface="Microsoft YaHei"/>
                <a:cs typeface="Microsoft YaHei"/>
              </a:rPr>
              <a:t>并形成 RCSD 路网图候选。</a:t>
            </a:r>
          </a:p>
        </p:txBody>
      </p:sp>
      <p:sp>
        <p:nvSpPr>
          <p:cNvPr id="72" name="p4-04-rule-v04a3">
            <a:extLst xmlns:a="http://schemas.openxmlformats.org/drawingml/2006/main">
              <a:ext uri="{FF2B5EF4-FFF2-40B4-BE49-F238E27FC236}">
                <a16:creationId xmlns:a16="http://schemas.microsoft.com/office/drawing/2014/main" id="{969486B2-D260-4392-A56C-08635C61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5D0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46078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title">
            <a:extLst xmlns:a="http://schemas.openxmlformats.org/drawingml/2006/main">
              <a:ext uri="{FF2B5EF4-FFF2-40B4-BE49-F238E27FC236}">
                <a16:creationId xmlns:a16="http://schemas.microsoft.com/office/drawing/2014/main" id="{054AD369-526F-C05F-AD4A-E5A3DCF8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高德上下车点基于</a:t>
            </a:r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RCSD</a:t>
            </a:r>
            <a:r>
              <a:rPr sz="2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修正，服务两类接客组织</a:t>
            </a:r>
          </a:p>
        </p:txBody>
      </p:sp>
      <p:sp>
        <p:nvSpPr>
          <p:cNvPr id="4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5EB7030-CAF0-E452-9C5B-3B7088E1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需求点先完成道路侧、方向和区间校验；不可用时切换附近备选点或同方向同侧候选区间</a:t>
            </a:r>
          </a:p>
        </p:txBody>
      </p:sp>
      <p:sp>
        <p:nvSpPr>
          <p:cNvPr id="4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56FD4F6-AD4B-40E3-B2B4-584341E0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97280"/>
            <a:ext cx="11055096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0C7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amap-boundary">
            <a:extLst xmlns:a="http://schemas.openxmlformats.org/drawingml/2006/main">
              <a:ext uri="{FF2B5EF4-FFF2-40B4-BE49-F238E27FC236}">
                <a16:creationId xmlns:a16="http://schemas.microsoft.com/office/drawing/2014/main" id="{46C9819A-FED9-B422-BB00-E0AED766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533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高德上下车点｜表达现实需求位置，不直接决定静态规则</a:t>
            </a:r>
          </a:p>
        </p:txBody>
      </p:sp>
      <p:sp>
        <p:nvSpPr>
          <p:cNvPr id="47" name="match-boundary">
            <a:extLst xmlns:a="http://schemas.openxmlformats.org/drawingml/2006/main">
              <a:ext uri="{FF2B5EF4-FFF2-40B4-BE49-F238E27FC236}">
                <a16:creationId xmlns:a16="http://schemas.microsoft.com/office/drawing/2014/main" id="{FC07DAEB-5E98-FE0A-D1AE-0E29F559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3584"/>
            <a:ext cx="5434584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RCSD</a:t>
            </a: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候选空间匹配｜路口／路段、行驶方向、道路一侧、局部区间</a:t>
            </a:r>
          </a:p>
        </p:txBody>
      </p:sp>
      <p:sp>
        <p:nvSpPr>
          <p:cNvPr id="48" name="road-base">
            <a:extLst xmlns:a="http://schemas.openxmlformats.org/drawingml/2006/main">
              <a:ext uri="{FF2B5EF4-FFF2-40B4-BE49-F238E27FC236}">
                <a16:creationId xmlns:a16="http://schemas.microsoft.com/office/drawing/2014/main" id="{EB4503DF-0758-BD67-3E93-16E38137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01800"/>
            <a:ext cx="99212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road-center">
            <a:extLst xmlns:a="http://schemas.openxmlformats.org/drawingml/2006/main">
              <a:ext uri="{FF2B5EF4-FFF2-40B4-BE49-F238E27FC236}">
                <a16:creationId xmlns:a16="http://schemas.microsoft.com/office/drawing/2014/main" id="{0C78BA2C-6932-4647-AF01-FEA64423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06600"/>
            <a:ext cx="992124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0C7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0" name="left-junction">
            <a:extLst xmlns:a="http://schemas.openxmlformats.org/drawingml/2006/main">
              <a:ext uri="{FF2B5EF4-FFF2-40B4-BE49-F238E27FC236}">
                <a16:creationId xmlns:a16="http://schemas.microsoft.com/office/drawing/2014/main" id="{C41CC00B-02DF-B819-305B-BC6F1183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406400" cy="9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5D0C7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road-direction-forward">
            <a:extLst xmlns:a="http://schemas.openxmlformats.org/drawingml/2006/main">
              <a:ext uri="{FF2B5EF4-FFF2-40B4-BE49-F238E27FC236}">
                <a16:creationId xmlns:a16="http://schemas.microsoft.com/office/drawing/2014/main" id="{CB735F57-EB7D-44A0-9E23-92D38353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17700"/>
            <a:ext cx="848360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303634"/>
            </a:solidFill>
            <a:headEnd type="non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2" name="road-direction-reverse">
            <a:extLst xmlns:a="http://schemas.openxmlformats.org/drawingml/2006/main">
              <a:ext uri="{FF2B5EF4-FFF2-40B4-BE49-F238E27FC236}">
                <a16:creationId xmlns:a16="http://schemas.microsoft.com/office/drawing/2014/main" id="{456F038C-D92C-4950-96C9-B4AB4C7B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59000" y="2209800"/>
            <a:ext cx="807720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303634"/>
            </a:solidFill>
            <a:headEnd type="non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candidate-unavailable">
            <a:extLst xmlns:a="http://schemas.openxmlformats.org/drawingml/2006/main">
              <a:ext uri="{FF2B5EF4-FFF2-40B4-BE49-F238E27FC236}">
                <a16:creationId xmlns:a16="http://schemas.microsoft.com/office/drawing/2014/main" id="{F9AF4860-B6AB-54D2-86F9-937CA170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1739900"/>
            <a:ext cx="609600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12700">
            <a:solidFill>
              <a:srgbClr val="7D263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candidate-static">
            <a:extLst xmlns:a="http://schemas.openxmlformats.org/drawingml/2006/main">
              <a:ext uri="{FF2B5EF4-FFF2-40B4-BE49-F238E27FC236}">
                <a16:creationId xmlns:a16="http://schemas.microsoft.com/office/drawing/2014/main" id="{15D6975F-47B8-FED5-C264-3699C0F0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100" y="1739900"/>
            <a:ext cx="5461000" cy="16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0363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original-point">
            <a:extLst xmlns:a="http://schemas.openxmlformats.org/drawingml/2006/main">
              <a:ext uri="{FF2B5EF4-FFF2-40B4-BE49-F238E27FC236}">
                <a16:creationId xmlns:a16="http://schemas.microsoft.com/office/drawing/2014/main" id="{1B350A27-7181-057E-D0AF-6FBE7800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00" y="1422400"/>
            <a:ext cx="254000" cy="25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7D263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original-point-stem">
            <a:extLst xmlns:a="http://schemas.openxmlformats.org/drawingml/2006/main">
              <a:ext uri="{FF2B5EF4-FFF2-40B4-BE49-F238E27FC236}">
                <a16:creationId xmlns:a16="http://schemas.microsoft.com/office/drawing/2014/main" id="{6D07FD2D-599D-4374-ADC3-2BF39AC2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700" y="1676400"/>
            <a:ext cx="0" cy="6350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7D2633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retained-point">
            <a:extLst xmlns:a="http://schemas.openxmlformats.org/drawingml/2006/main">
              <a:ext uri="{FF2B5EF4-FFF2-40B4-BE49-F238E27FC236}">
                <a16:creationId xmlns:a16="http://schemas.microsoft.com/office/drawing/2014/main" id="{A7419D50-9FD6-70B2-42D1-DF9B3E09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460500"/>
            <a:ext cx="177800" cy="17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320">
            <a:solidFill>
              <a:srgbClr val="7D263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retained-point-stem">
            <a:extLst xmlns:a="http://schemas.openxmlformats.org/drawingml/2006/main">
              <a:ext uri="{FF2B5EF4-FFF2-40B4-BE49-F238E27FC236}">
                <a16:creationId xmlns:a16="http://schemas.microsoft.com/office/drawing/2014/main" id="{66B2EAE5-5FC6-4F33-AB3E-C4386EB6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1638300"/>
            <a:ext cx="0" cy="1016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D2633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9" name="retained-point-label">
            <a:extLst xmlns:a="http://schemas.openxmlformats.org/drawingml/2006/main">
              <a:ext uri="{FF2B5EF4-FFF2-40B4-BE49-F238E27FC236}">
                <a16:creationId xmlns:a16="http://schemas.microsoft.com/office/drawing/2014/main" id="{B6935B75-1F93-CEE7-589C-DA1B0DF9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358900"/>
            <a:ext cx="1143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保留／微调</a:t>
            </a:r>
          </a:p>
        </p:txBody>
      </p:sp>
      <p:sp>
        <p:nvSpPr>
          <p:cNvPr id="60" name="hit-candidate-arrow">
            <a:extLst xmlns:a="http://schemas.openxmlformats.org/drawingml/2006/main">
              <a:ext uri="{FF2B5EF4-FFF2-40B4-BE49-F238E27FC236}">
                <a16:creationId xmlns:a16="http://schemas.microsoft.com/office/drawing/2014/main" id="{827C7B93-43D8-49FF-B9A8-1B6AB754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1549400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D2633"/>
            </a:solidFill>
            <a:headEnd type="non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branch-origin">
            <a:extLst xmlns:a="http://schemas.openxmlformats.org/drawingml/2006/main">
              <a:ext uri="{FF2B5EF4-FFF2-40B4-BE49-F238E27FC236}">
                <a16:creationId xmlns:a16="http://schemas.microsoft.com/office/drawing/2014/main" id="{D15BF96D-2802-45C6-B532-9B029C17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700" y="2311400"/>
            <a:ext cx="0" cy="5969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D5D0C7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2" name="branch-nearby-line">
            <a:extLst xmlns:a="http://schemas.openxmlformats.org/drawingml/2006/main">
              <a:ext uri="{FF2B5EF4-FFF2-40B4-BE49-F238E27FC236}">
                <a16:creationId xmlns:a16="http://schemas.microsoft.com/office/drawing/2014/main" id="{3303DA39-5223-4B96-A291-074A64B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700" y="2565400"/>
            <a:ext cx="521970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303634"/>
            </a:solidFill>
            <a:headEnd type="non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3" name="branch-nearby-node">
            <a:extLst xmlns:a="http://schemas.openxmlformats.org/drawingml/2006/main">
              <a:ext uri="{FF2B5EF4-FFF2-40B4-BE49-F238E27FC236}">
                <a16:creationId xmlns:a16="http://schemas.microsoft.com/office/drawing/2014/main" id="{3468965A-3E6A-6302-F052-F48CA1FF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200" y="2514600"/>
            <a:ext cx="101600" cy="10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30363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branch-nearby-text">
            <a:extLst xmlns:a="http://schemas.openxmlformats.org/drawingml/2006/main">
              <a:ext uri="{FF2B5EF4-FFF2-40B4-BE49-F238E27FC236}">
                <a16:creationId xmlns:a16="http://schemas.microsoft.com/office/drawing/2014/main" id="{B86B92D3-F2D6-6CAA-5F28-A2130ADD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800" y="2413000"/>
            <a:ext cx="342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不可用：优先使用附近高德备选点</a:t>
            </a:r>
          </a:p>
        </p:txBody>
      </p:sp>
      <p:sp>
        <p:nvSpPr>
          <p:cNvPr id="65" name="branch-sameside-line">
            <a:extLst xmlns:a="http://schemas.openxmlformats.org/drawingml/2006/main">
              <a:ext uri="{FF2B5EF4-FFF2-40B4-BE49-F238E27FC236}">
                <a16:creationId xmlns:a16="http://schemas.microsoft.com/office/drawing/2014/main" id="{764B78CD-F53F-4ED5-B8D9-84975A69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700" y="2908300"/>
            <a:ext cx="521970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7D2633"/>
            </a:solidFill>
            <a:headEnd type="non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6" name="branch-sameside-node">
            <a:extLst xmlns:a="http://schemas.openxmlformats.org/drawingml/2006/main">
              <a:ext uri="{FF2B5EF4-FFF2-40B4-BE49-F238E27FC236}">
                <a16:creationId xmlns:a16="http://schemas.microsoft.com/office/drawing/2014/main" id="{17147947-DFFA-AAB8-68AE-732622E4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200" y="2857500"/>
            <a:ext cx="101600" cy="10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7D263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branch-sameside-text">
            <a:extLst xmlns:a="http://schemas.openxmlformats.org/drawingml/2006/main">
              <a:ext uri="{FF2B5EF4-FFF2-40B4-BE49-F238E27FC236}">
                <a16:creationId xmlns:a16="http://schemas.microsoft.com/office/drawing/2014/main" id="{657004A7-3167-4452-1835-D79822B6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800" y="2755900"/>
            <a:ext cx="419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无附近备选：</a:t>
            </a: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RCSD</a:t>
            </a: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返回同方向同侧静态候选区间</a:t>
            </a:r>
          </a:p>
        </p:txBody>
      </p:sp>
      <p:sp>
        <p:nvSpPr>
          <p:cNvPr id="68" name="recheck-trunk">
            <a:extLst xmlns:a="http://schemas.openxmlformats.org/drawingml/2006/main">
              <a:ext uri="{FF2B5EF4-FFF2-40B4-BE49-F238E27FC236}">
                <a16:creationId xmlns:a16="http://schemas.microsoft.com/office/drawing/2014/main" id="{FDE8C6A7-1F40-496C-84AE-1AE7BAE6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565400"/>
            <a:ext cx="0" cy="3429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303634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recheck-output-arrow">
            <a:extLst xmlns:a="http://schemas.openxmlformats.org/drawingml/2006/main">
              <a:ext uri="{FF2B5EF4-FFF2-40B4-BE49-F238E27FC236}">
                <a16:creationId xmlns:a16="http://schemas.microsoft.com/office/drawing/2014/main" id="{1CF23666-C59C-4D35-B8B6-4683BEF0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1371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03634"/>
            </a:solidFill>
            <a:headEnd type="non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0" name="recheck-text">
            <a:extLst xmlns:a="http://schemas.openxmlformats.org/drawingml/2006/main">
              <a:ext uri="{FF2B5EF4-FFF2-40B4-BE49-F238E27FC236}">
                <a16:creationId xmlns:a16="http://schemas.microsoft.com/office/drawing/2014/main" id="{5A248A9A-9CE0-3AC7-9D62-4DAE8F07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362200"/>
            <a:ext cx="215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重新进行</a:t>
            </a: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RCSD</a:t>
            </a: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71" name="output-pickup">
            <a:extLst xmlns:a="http://schemas.openxmlformats.org/drawingml/2006/main">
              <a:ext uri="{FF2B5EF4-FFF2-40B4-BE49-F238E27FC236}">
                <a16:creationId xmlns:a16="http://schemas.microsoft.com/office/drawing/2014/main" id="{534126CD-7E8C-3F93-9917-D8B55D5F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25146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修正后的上车点</a:t>
            </a:r>
          </a:p>
        </p:txBody>
      </p:sp>
      <p:sp>
        <p:nvSpPr>
          <p:cNvPr id="72" name="output-waiting">
            <a:extLst xmlns:a="http://schemas.openxmlformats.org/drawingml/2006/main">
              <a:ext uri="{FF2B5EF4-FFF2-40B4-BE49-F238E27FC236}">
                <a16:creationId xmlns:a16="http://schemas.microsoft.com/office/drawing/2014/main" id="{33C989D5-C0D7-344B-0FE9-CB561A23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2819400"/>
            <a:ext cx="1905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候车范围／停车位</a:t>
            </a:r>
          </a:p>
        </p:txBody>
      </p:sp>
      <p:sp>
        <p:nvSpPr>
          <p:cNvPr id="73" name="no-candidate-note">
            <a:extLst xmlns:a="http://schemas.openxmlformats.org/drawingml/2006/main">
              <a:ext uri="{FF2B5EF4-FFF2-40B4-BE49-F238E27FC236}">
                <a16:creationId xmlns:a16="http://schemas.microsoft.com/office/drawing/2014/main" id="{640E0F2B-2F00-F0D2-7A00-A5084C56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62300"/>
            <a:ext cx="5080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仍无合适候选：提示用户重新选点</a:t>
            </a:r>
          </a:p>
        </p:txBody>
      </p:sp>
      <p:sp>
        <p:nvSpPr>
          <p:cNvPr id="74" name="upper-lower-divider">
            <a:extLst xmlns:a="http://schemas.openxmlformats.org/drawingml/2006/main">
              <a:ext uri="{FF2B5EF4-FFF2-40B4-BE49-F238E27FC236}">
                <a16:creationId xmlns:a16="http://schemas.microsoft.com/office/drawing/2014/main" id="{DBE796EC-DD31-41F2-9354-D373CC0C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92500"/>
            <a:ext cx="10872216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0C7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pickup-column-divider">
            <a:extLst xmlns:a="http://schemas.openxmlformats.org/drawingml/2006/main">
              <a:ext uri="{FF2B5EF4-FFF2-40B4-BE49-F238E27FC236}">
                <a16:creationId xmlns:a16="http://schemas.microsoft.com/office/drawing/2014/main" id="{82772699-65D6-4E79-890C-020C826A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0300"/>
            <a:ext cx="0" cy="21463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0C7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ordinary-title">
            <a:extLst xmlns:a="http://schemas.openxmlformats.org/drawingml/2006/main">
              <a:ext uri="{FF2B5EF4-FFF2-40B4-BE49-F238E27FC236}">
                <a16:creationId xmlns:a16="http://schemas.microsoft.com/office/drawing/2014/main" id="{2A25467B-58E3-B087-C6C5-58A3E79E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08400"/>
            <a:ext cx="51892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普通道路上车</a:t>
            </a:r>
          </a:p>
        </p:txBody>
      </p:sp>
      <p:sp>
        <p:nvSpPr>
          <p:cNvPr id="77" name="ordinary-passenger-role">
            <a:extLst xmlns:a="http://schemas.openxmlformats.org/drawingml/2006/main">
              <a:ext uri="{FF2B5EF4-FFF2-40B4-BE49-F238E27FC236}">
                <a16:creationId xmlns:a16="http://schemas.microsoft.com/office/drawing/2014/main" id="{1C5BA6B7-8040-0B77-62FE-AC6A35EF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40200"/>
            <a:ext cx="533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乘客</a:t>
            </a:r>
          </a:p>
        </p:txBody>
      </p:sp>
      <p:sp>
        <p:nvSpPr>
          <p:cNvPr id="78" name="ordinary-passenger-text">
            <a:extLst xmlns:a="http://schemas.openxmlformats.org/drawingml/2006/main">
              <a:ext uri="{FF2B5EF4-FFF2-40B4-BE49-F238E27FC236}">
                <a16:creationId xmlns:a16="http://schemas.microsoft.com/office/drawing/2014/main" id="{02F90B8E-D88A-DBB9-5A1D-35E1F695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208" y="4140200"/>
            <a:ext cx="397002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选择上车点 → 步行到点并等待车辆</a:t>
            </a:r>
          </a:p>
        </p:txBody>
      </p:sp>
      <p:sp>
        <p:nvSpPr>
          <p:cNvPr id="79" name="ordinary-passenger-start">
            <a:extLst xmlns:a="http://schemas.openxmlformats.org/drawingml/2006/main">
              <a:ext uri="{FF2B5EF4-FFF2-40B4-BE49-F238E27FC236}">
                <a16:creationId xmlns:a16="http://schemas.microsoft.com/office/drawing/2014/main" id="{FAFD8110-A023-2484-80FB-4009A141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108" y="443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0363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ordinary-passenger-track">
            <a:extLst xmlns:a="http://schemas.openxmlformats.org/drawingml/2006/main">
              <a:ext uri="{FF2B5EF4-FFF2-40B4-BE49-F238E27FC236}">
                <a16:creationId xmlns:a16="http://schemas.microsoft.com/office/drawing/2014/main" id="{1CCB2AFD-98B5-416A-8150-83990106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308" y="4470400"/>
            <a:ext cx="403352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0C7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1" name="ordinary-vehicle-role">
            <a:extLst xmlns:a="http://schemas.openxmlformats.org/drawingml/2006/main">
              <a:ext uri="{FF2B5EF4-FFF2-40B4-BE49-F238E27FC236}">
                <a16:creationId xmlns:a16="http://schemas.microsoft.com/office/drawing/2014/main" id="{99823C4D-6DEE-F235-0CDB-3BB1FED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97400"/>
            <a:ext cx="533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车辆</a:t>
            </a:r>
          </a:p>
        </p:txBody>
      </p:sp>
      <p:sp>
        <p:nvSpPr>
          <p:cNvPr id="82" name="ordinary-vehicle-text">
            <a:extLst xmlns:a="http://schemas.openxmlformats.org/drawingml/2006/main">
              <a:ext uri="{FF2B5EF4-FFF2-40B4-BE49-F238E27FC236}">
                <a16:creationId xmlns:a16="http://schemas.microsoft.com/office/drawing/2014/main" id="{A5E60C41-4990-A482-8296-E31CDA72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208" y="4597400"/>
            <a:ext cx="397002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进入候车范围／等待位置 →
乘客到位后前往上车点</a:t>
            </a:r>
          </a:p>
        </p:txBody>
      </p:sp>
      <p:sp>
        <p:nvSpPr>
          <p:cNvPr id="83" name="ordinary-vehicle-start">
            <a:extLst xmlns:a="http://schemas.openxmlformats.org/drawingml/2006/main">
              <a:ext uri="{FF2B5EF4-FFF2-40B4-BE49-F238E27FC236}">
                <a16:creationId xmlns:a16="http://schemas.microsoft.com/office/drawing/2014/main" id="{B04DB784-4F1B-8D70-D34B-F4D9BD89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108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0363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ordinary-vehicle-track">
            <a:extLst xmlns:a="http://schemas.openxmlformats.org/drawingml/2006/main">
              <a:ext uri="{FF2B5EF4-FFF2-40B4-BE49-F238E27FC236}">
                <a16:creationId xmlns:a16="http://schemas.microsoft.com/office/drawing/2014/main" id="{84937349-4722-48C3-8CC6-E2B2941B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308" y="5105400"/>
            <a:ext cx="403352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0C7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5" name="ordinary-merge-top">
            <a:extLst xmlns:a="http://schemas.openxmlformats.org/drawingml/2006/main">
              <a:ext uri="{FF2B5EF4-FFF2-40B4-BE49-F238E27FC236}">
                <a16:creationId xmlns:a16="http://schemas.microsoft.com/office/drawing/2014/main" id="{15389012-9FCE-4892-BFDC-FA1315EB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828" y="4470400"/>
            <a:ext cx="0" cy="317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03634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6" name="ordinary-merge-bottom">
            <a:extLst xmlns:a="http://schemas.openxmlformats.org/drawingml/2006/main">
              <a:ext uri="{FF2B5EF4-FFF2-40B4-BE49-F238E27FC236}">
                <a16:creationId xmlns:a16="http://schemas.microsoft.com/office/drawing/2014/main" id="{A95D0FB0-A6D9-4BD8-97DC-ACAD87C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828" y="4787900"/>
            <a:ext cx="0" cy="317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03634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7" name="ordinary-merge-link">
            <a:extLst xmlns:a="http://schemas.openxmlformats.org/drawingml/2006/main">
              <a:ext uri="{FF2B5EF4-FFF2-40B4-BE49-F238E27FC236}">
                <a16:creationId xmlns:a16="http://schemas.microsoft.com/office/drawing/2014/main" id="{05009C0B-F953-4A49-A745-74FFE15B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828" y="4787900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03634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8" name="ordinary-pickup-node">
            <a:extLst xmlns:a="http://schemas.openxmlformats.org/drawingml/2006/main">
              <a:ext uri="{FF2B5EF4-FFF2-40B4-BE49-F238E27FC236}">
                <a16:creationId xmlns:a16="http://schemas.microsoft.com/office/drawing/2014/main" id="{04B8D7F4-AAA6-396F-C479-84C6284A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228" y="4711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7D263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9" name="ordinary-pickup-text">
            <a:extLst xmlns:a="http://schemas.openxmlformats.org/drawingml/2006/main">
              <a:ext uri="{FF2B5EF4-FFF2-40B4-BE49-F238E27FC236}">
                <a16:creationId xmlns:a16="http://schemas.microsoft.com/office/drawing/2014/main" id="{821CF378-4EE6-AB09-82C1-29668EB5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428" y="5207000"/>
            <a:ext cx="1397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接上乘客</a:t>
            </a:r>
          </a:p>
        </p:txBody>
      </p:sp>
      <p:sp>
        <p:nvSpPr>
          <p:cNvPr id="90" name="ordinary-conclusion-accent">
            <a:extLst xmlns:a="http://schemas.openxmlformats.org/drawingml/2006/main">
              <a:ext uri="{FF2B5EF4-FFF2-40B4-BE49-F238E27FC236}">
                <a16:creationId xmlns:a16="http://schemas.microsoft.com/office/drawing/2014/main" id="{D554F735-5474-46BD-AC50-4C790002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702300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7D2633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ordinary-conclusion">
            <a:extLst xmlns:a="http://schemas.openxmlformats.org/drawingml/2006/main">
              <a:ext uri="{FF2B5EF4-FFF2-40B4-BE49-F238E27FC236}">
                <a16:creationId xmlns:a16="http://schemas.microsoft.com/office/drawing/2014/main" id="{6F10DF3A-B2CE-AAFB-8DC2-F9DA7627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208" y="5588000"/>
            <a:ext cx="47828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等待与上车位置分离</a:t>
            </a:r>
          </a:p>
        </p:txBody>
      </p:sp>
      <p:sp>
        <p:nvSpPr>
          <p:cNvPr id="92" name="hub-title">
            <a:extLst xmlns:a="http://schemas.openxmlformats.org/drawingml/2006/main">
              <a:ext uri="{FF2B5EF4-FFF2-40B4-BE49-F238E27FC236}">
                <a16:creationId xmlns:a16="http://schemas.microsoft.com/office/drawing/2014/main" id="{68255B01-C85D-3BED-5083-EFAEC587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24" y="3708400"/>
            <a:ext cx="51892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交通枢纽上车</a:t>
            </a:r>
          </a:p>
        </p:txBody>
      </p:sp>
      <p:sp>
        <p:nvSpPr>
          <p:cNvPr id="93" name="hub-passenger-role">
            <a:extLst xmlns:a="http://schemas.openxmlformats.org/drawingml/2006/main">
              <a:ext uri="{FF2B5EF4-FFF2-40B4-BE49-F238E27FC236}">
                <a16:creationId xmlns:a16="http://schemas.microsoft.com/office/drawing/2014/main" id="{E246EF3E-8CB4-CF14-BA9E-FA9EEDF3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24" y="4140200"/>
            <a:ext cx="533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乘客</a:t>
            </a:r>
          </a:p>
        </p:txBody>
      </p:sp>
      <p:sp>
        <p:nvSpPr>
          <p:cNvPr id="94" name="hub-passenger-text">
            <a:extLst xmlns:a="http://schemas.openxmlformats.org/drawingml/2006/main">
              <a:ext uri="{FF2B5EF4-FFF2-40B4-BE49-F238E27FC236}">
                <a16:creationId xmlns:a16="http://schemas.microsoft.com/office/drawing/2014/main" id="{17F1B496-0D18-743E-15CF-381FDC3A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24" y="4140200"/>
            <a:ext cx="397002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到达枢纽集合点 → 在上客区等待／步行找车</a:t>
            </a:r>
          </a:p>
        </p:txBody>
      </p:sp>
      <p:sp>
        <p:nvSpPr>
          <p:cNvPr id="95" name="hub-passenger-start">
            <a:extLst xmlns:a="http://schemas.openxmlformats.org/drawingml/2006/main">
              <a:ext uri="{FF2B5EF4-FFF2-40B4-BE49-F238E27FC236}">
                <a16:creationId xmlns:a16="http://schemas.microsoft.com/office/drawing/2014/main" id="{6736FADF-70DC-629F-4EEF-0397D572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24" y="443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0363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6" name="hub-passenger-track">
            <a:extLst xmlns:a="http://schemas.openxmlformats.org/drawingml/2006/main">
              <a:ext uri="{FF2B5EF4-FFF2-40B4-BE49-F238E27FC236}">
                <a16:creationId xmlns:a16="http://schemas.microsoft.com/office/drawing/2014/main" id="{42445700-F92C-4B39-B66E-0E0941AC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424" y="4470400"/>
            <a:ext cx="403352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0C7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7" name="hub-vehicle-role">
            <a:extLst xmlns:a="http://schemas.openxmlformats.org/drawingml/2006/main">
              <a:ext uri="{FF2B5EF4-FFF2-40B4-BE49-F238E27FC236}">
                <a16:creationId xmlns:a16="http://schemas.microsoft.com/office/drawing/2014/main" id="{2A164087-7DBB-1D53-EA4A-82A44856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24" y="4597400"/>
            <a:ext cx="5334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车辆</a:t>
            </a:r>
          </a:p>
        </p:txBody>
      </p:sp>
      <p:sp>
        <p:nvSpPr>
          <p:cNvPr id="98" name="hub-vehicle-text">
            <a:extLst xmlns:a="http://schemas.openxmlformats.org/drawingml/2006/main">
              <a:ext uri="{FF2B5EF4-FFF2-40B4-BE49-F238E27FC236}">
                <a16:creationId xmlns:a16="http://schemas.microsoft.com/office/drawing/2014/main" id="{FE84888F-5981-3220-E478-07F55514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24" y="4597400"/>
            <a:ext cx="397002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进入停车位／候车区 → 响应召唤，
前往上客区／原地等候</a:t>
            </a:r>
          </a:p>
        </p:txBody>
      </p:sp>
      <p:sp>
        <p:nvSpPr>
          <p:cNvPr id="99" name="hub-vehicle-start">
            <a:extLst xmlns:a="http://schemas.openxmlformats.org/drawingml/2006/main">
              <a:ext uri="{FF2B5EF4-FFF2-40B4-BE49-F238E27FC236}">
                <a16:creationId xmlns:a16="http://schemas.microsoft.com/office/drawing/2014/main" id="{98A6C2A8-3891-5A9C-B0CE-90122CA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224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0363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0" name="hub-vehicle-track">
            <a:extLst xmlns:a="http://schemas.openxmlformats.org/drawingml/2006/main">
              <a:ext uri="{FF2B5EF4-FFF2-40B4-BE49-F238E27FC236}">
                <a16:creationId xmlns:a16="http://schemas.microsoft.com/office/drawing/2014/main" id="{7850FBA7-3722-4103-A186-8CCAFE51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424" y="5105400"/>
            <a:ext cx="403352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0C7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1" name="hub-merge-top">
            <a:extLst xmlns:a="http://schemas.openxmlformats.org/drawingml/2006/main">
              <a:ext uri="{FF2B5EF4-FFF2-40B4-BE49-F238E27FC236}">
                <a16:creationId xmlns:a16="http://schemas.microsoft.com/office/drawing/2014/main" id="{9BBC7934-0350-46B3-B330-C7F5C16E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4470400"/>
            <a:ext cx="0" cy="317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03634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2" name="hub-merge-bottom">
            <a:extLst xmlns:a="http://schemas.openxmlformats.org/drawingml/2006/main">
              <a:ext uri="{FF2B5EF4-FFF2-40B4-BE49-F238E27FC236}">
                <a16:creationId xmlns:a16="http://schemas.microsoft.com/office/drawing/2014/main" id="{0BA250BB-17F5-4884-94E6-748809EC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4787900"/>
            <a:ext cx="0" cy="317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03634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3" name="hub-merge-link">
            <a:extLst xmlns:a="http://schemas.openxmlformats.org/drawingml/2006/main">
              <a:ext uri="{FF2B5EF4-FFF2-40B4-BE49-F238E27FC236}">
                <a16:creationId xmlns:a16="http://schemas.microsoft.com/office/drawing/2014/main" id="{AE078223-8AAA-4746-8D66-71C3BBA2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4787900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03634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" name="hub-pickup-node">
            <a:extLst xmlns:a="http://schemas.openxmlformats.org/drawingml/2006/main">
              <a:ext uri="{FF2B5EF4-FFF2-40B4-BE49-F238E27FC236}">
                <a16:creationId xmlns:a16="http://schemas.microsoft.com/office/drawing/2014/main" id="{8889FFB1-6EE0-B0C7-ECB6-DB4E6FEB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344" y="4711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7D2633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5" name="hub-pickup-text">
            <a:extLst xmlns:a="http://schemas.openxmlformats.org/drawingml/2006/main">
              <a:ext uri="{FF2B5EF4-FFF2-40B4-BE49-F238E27FC236}">
                <a16:creationId xmlns:a16="http://schemas.microsoft.com/office/drawing/2014/main" id="{DDF573D2-AE11-66F5-D797-61BDA62D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544" y="5207000"/>
            <a:ext cx="1397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接上乘客</a:t>
            </a:r>
          </a:p>
        </p:txBody>
      </p:sp>
      <p:sp>
        <p:nvSpPr>
          <p:cNvPr id="106" name="hub-conclusion-accent">
            <a:extLst xmlns:a="http://schemas.openxmlformats.org/drawingml/2006/main">
              <a:ext uri="{FF2B5EF4-FFF2-40B4-BE49-F238E27FC236}">
                <a16:creationId xmlns:a16="http://schemas.microsoft.com/office/drawing/2014/main" id="{957EA8C8-D405-4884-923B-4B6A5CB2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24" y="5702300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7D2633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7" name="hub-conclusion">
            <a:extLst xmlns:a="http://schemas.openxmlformats.org/drawingml/2006/main">
              <a:ext uri="{FF2B5EF4-FFF2-40B4-BE49-F238E27FC236}">
                <a16:creationId xmlns:a16="http://schemas.microsoft.com/office/drawing/2014/main" id="{D10C77BC-79DA-B22A-5D15-51D4D7E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324" y="5588000"/>
            <a:ext cx="47828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集合点与停车区域组织汇合</a:t>
            </a:r>
          </a:p>
        </p:txBody>
      </p:sp>
      <p:sp>
        <p:nvSpPr>
          <p:cNvPr id="108" name="responsibility-divider">
            <a:extLst xmlns:a="http://schemas.openxmlformats.org/drawingml/2006/main">
              <a:ext uri="{FF2B5EF4-FFF2-40B4-BE49-F238E27FC236}">
                <a16:creationId xmlns:a16="http://schemas.microsoft.com/office/drawing/2014/main" id="{6C7A1349-5A13-4AB3-A979-D778889A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81344"/>
            <a:ext cx="10872216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D0C7"/>
            </a:solidFill>
            <a:headEnd type="none"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responsibility-text">
            <a:extLst xmlns:a="http://schemas.openxmlformats.org/drawingml/2006/main">
              <a:ext uri="{FF2B5EF4-FFF2-40B4-BE49-F238E27FC236}">
                <a16:creationId xmlns:a16="http://schemas.microsoft.com/office/drawing/2014/main" id="{0B52AF3C-596A-4911-C460-ECBF7FDC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23000"/>
            <a:ext cx="10872216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高德表达需求位置；</a:t>
            </a: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RCSD</a:t>
            </a: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限定静态可用边界；车辆到达现场后确认最终执行</a:t>
            </a:r>
          </a:p>
        </p:txBody>
      </p:sp>
    </p:spTree>
    <p:extLst>
      <p:ext uri="{BB962C8B-B14F-4D97-AF65-F5344CB8AC3E}">
        <p14:creationId xmlns:p14="http://schemas.microsoft.com/office/powerpoint/2010/main" val="36627511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page-title">
            <a:extLst xmlns:a="http://schemas.openxmlformats.org/drawingml/2006/main">
              <a:ext uri="{FF2B5EF4-FFF2-40B4-BE49-F238E27FC236}">
                <a16:creationId xmlns:a16="http://schemas.microsoft.com/office/drawing/2014/main" id="{4AD7EA0B-7204-46EF-B4D9-4986FDF0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静态证据形成RCSD候选：路口定义边界，路段生成连续停靠区间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2F68C9D-0A0C-4869-98A2-AD438143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法规、标牌、标线和停车设施落到“路口／开口＋路段＋行驶方向”，再按最严格结果合成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B9BD9D1-8A0C-4402-8016-84C573CA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97280"/>
            <a:ext cx="1105509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evidence-main-arrow">
            <a:extLst xmlns:a="http://schemas.openxmlformats.org/drawingml/2006/main">
              <a:ext uri="{FF2B5EF4-FFF2-40B4-BE49-F238E27FC236}">
                <a16:creationId xmlns:a16="http://schemas.microsoft.com/office/drawing/2014/main" id="{0A812BDC-B169-48C4-A95F-B17C6B68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43075"/>
            <a:ext cx="714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5" name="evidence-accent">
            <a:extLst xmlns:a="http://schemas.openxmlformats.org/drawingml/2006/main">
              <a:ext uri="{FF2B5EF4-FFF2-40B4-BE49-F238E27FC236}">
                <a16:creationId xmlns:a16="http://schemas.microsoft.com/office/drawing/2014/main" id="{57C2988D-72C4-4736-9140-F9534010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04925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D2633"/>
            </a:solidFill>
            <a:prstDash val="solid"/>
          </a:ln>
        </p:spPr>
      </p:sp>
      <p:sp>
        <p:nvSpPr>
          <p:cNvPr id="6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268A3876-214C-4F41-B3C5-ADFDA128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620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静态证据</a:t>
            </a:r>
          </a:p>
        </p:txBody>
      </p:sp>
      <p:sp>
        <p:nvSpPr>
          <p:cNvPr id="7" name="law-icon">
            <a:extLst xmlns:a="http://schemas.openxmlformats.org/drawingml/2006/main">
              <a:ext uri="{FF2B5EF4-FFF2-40B4-BE49-F238E27FC236}">
                <a16:creationId xmlns:a16="http://schemas.microsoft.com/office/drawing/2014/main" id="{75C28A36-9606-4687-9026-A8D09D07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03634"/>
            </a:solidFill>
            <a:prstDash val="solid"/>
          </a:ln>
        </p:spPr>
      </p:sp>
      <p:sp>
        <p:nvSpPr>
          <p:cNvPr id="8" name="law-icon-line-1">
            <a:extLst xmlns:a="http://schemas.openxmlformats.org/drawingml/2006/main">
              <a:ext uri="{FF2B5EF4-FFF2-40B4-BE49-F238E27FC236}">
                <a16:creationId xmlns:a16="http://schemas.microsoft.com/office/drawing/2014/main" id="{A70E9D63-3396-46F3-B0B1-5CB82A4E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4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634"/>
            </a:solidFill>
            <a:prstDash val="solid"/>
          </a:ln>
        </p:spPr>
      </p:sp>
      <p:sp>
        <p:nvSpPr>
          <p:cNvPr id="9" name="law-icon-line-2">
            <a:extLst xmlns:a="http://schemas.openxmlformats.org/drawingml/2006/main">
              <a:ext uri="{FF2B5EF4-FFF2-40B4-BE49-F238E27FC236}">
                <a16:creationId xmlns:a16="http://schemas.microsoft.com/office/drawing/2014/main" id="{18B17370-3E54-474E-A68A-774E882F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4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" name="law-label">
            <a:extLst xmlns:a="http://schemas.openxmlformats.org/drawingml/2006/main">
              <a:ext uri="{FF2B5EF4-FFF2-40B4-BE49-F238E27FC236}">
                <a16:creationId xmlns:a16="http://schemas.microsoft.com/office/drawing/2014/main" id="{FA09B1F2-C64A-4EDB-BF1A-0FC0CE71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764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法规</a:t>
            </a:r>
          </a:p>
        </p:txBody>
      </p:sp>
      <p:sp>
        <p:nvSpPr>
          <p:cNvPr id="11" name="ban-sign">
            <a:extLst xmlns:a="http://schemas.openxmlformats.org/drawingml/2006/main">
              <a:ext uri="{FF2B5EF4-FFF2-40B4-BE49-F238E27FC236}">
                <a16:creationId xmlns:a16="http://schemas.microsoft.com/office/drawing/2014/main" id="{2A7DBC93-F4FE-4C00-837E-0C29063B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2" name="ban-sign-slash">
            <a:extLst xmlns:a="http://schemas.openxmlformats.org/drawingml/2006/main">
              <a:ext uri="{FF2B5EF4-FFF2-40B4-BE49-F238E27FC236}">
                <a16:creationId xmlns:a16="http://schemas.microsoft.com/office/drawing/2014/main" id="{112B3BEA-FF85-42F6-9989-D3F2870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3" name="ban-label">
            <a:extLst xmlns:a="http://schemas.openxmlformats.org/drawingml/2006/main">
              <a:ext uri="{FF2B5EF4-FFF2-40B4-BE49-F238E27FC236}">
                <a16:creationId xmlns:a16="http://schemas.microsoft.com/office/drawing/2014/main" id="{71FA3BE2-A0DE-4BB9-B02B-F4C5D5A7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禁停标牌／标线</a:t>
            </a:r>
          </a:p>
        </p:txBody>
      </p:sp>
      <p:sp>
        <p:nvSpPr>
          <p:cNvPr id="14" name="parking-icon">
            <a:extLst xmlns:a="http://schemas.openxmlformats.org/drawingml/2006/main">
              <a:ext uri="{FF2B5EF4-FFF2-40B4-BE49-F238E27FC236}">
                <a16:creationId xmlns:a16="http://schemas.microsoft.com/office/drawing/2014/main" id="{A454624D-70D4-4DD5-BC19-1C919687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241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03634"/>
            </a:solidFill>
            <a:prstDash val="solid"/>
          </a:ln>
        </p:spPr>
      </p:sp>
      <p:sp>
        <p:nvSpPr>
          <p:cNvPr id="15" name="parking-bay-1">
            <a:extLst xmlns:a="http://schemas.openxmlformats.org/drawingml/2006/main">
              <a:ext uri="{FF2B5EF4-FFF2-40B4-BE49-F238E27FC236}">
                <a16:creationId xmlns:a16="http://schemas.microsoft.com/office/drawing/2014/main" id="{17D6C7DA-046B-4823-B41C-4975A478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6" name="parking-bay-2">
            <a:extLst xmlns:a="http://schemas.openxmlformats.org/drawingml/2006/main">
              <a:ext uri="{FF2B5EF4-FFF2-40B4-BE49-F238E27FC236}">
                <a16:creationId xmlns:a16="http://schemas.microsoft.com/office/drawing/2014/main" id="{59F848EE-61E2-4178-8FA1-F853CDD7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7" name="parking-label">
            <a:extLst xmlns:a="http://schemas.openxmlformats.org/drawingml/2006/main">
              <a:ext uri="{FF2B5EF4-FFF2-40B4-BE49-F238E27FC236}">
                <a16:creationId xmlns:a16="http://schemas.microsoft.com/office/drawing/2014/main" id="{54297A41-8319-4135-B7A8-5D5ABC3A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停车位／上下客区</a:t>
            </a:r>
          </a:p>
        </p:txBody>
      </p:sp>
      <p:sp>
        <p:nvSpPr>
          <p:cNvPr id="18" name="left-junction-title">
            <a:extLst xmlns:a="http://schemas.openxmlformats.org/drawingml/2006/main">
              <a:ext uri="{FF2B5EF4-FFF2-40B4-BE49-F238E27FC236}">
                <a16:creationId xmlns:a16="http://schemas.microsoft.com/office/drawing/2014/main" id="{7512A30B-C93D-4E8F-9354-1259EE2F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239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路口｜定义规则边界</a:t>
            </a:r>
          </a:p>
        </p:txBody>
      </p:sp>
      <p:sp>
        <p:nvSpPr>
          <p:cNvPr id="19" name="segment-title">
            <a:extLst xmlns:a="http://schemas.openxmlformats.org/drawingml/2006/main">
              <a:ext uri="{FF2B5EF4-FFF2-40B4-BE49-F238E27FC236}">
                <a16:creationId xmlns:a16="http://schemas.microsoft.com/office/drawing/2014/main" id="{37A8D4DF-EFB4-4820-84C9-DC7C7A46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95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路段｜承载连续停靠属性</a:t>
            </a:r>
          </a:p>
        </p:txBody>
      </p:sp>
      <p:sp>
        <p:nvSpPr>
          <p:cNvPr id="20" name="right-junction-title">
            <a:extLst xmlns:a="http://schemas.openxmlformats.org/drawingml/2006/main">
              <a:ext uri="{FF2B5EF4-FFF2-40B4-BE49-F238E27FC236}">
                <a16:creationId xmlns:a16="http://schemas.microsoft.com/office/drawing/2014/main" id="{409D3523-389F-4353-B732-08A55E02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239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路口｜定义规则边界</a:t>
            </a:r>
          </a:p>
        </p:txBody>
      </p:sp>
      <p:sp>
        <p:nvSpPr>
          <p:cNvPr id="21" name="left-cross-road-surface">
            <a:extLst xmlns:a="http://schemas.openxmlformats.org/drawingml/2006/main">
              <a:ext uri="{FF2B5EF4-FFF2-40B4-BE49-F238E27FC236}">
                <a16:creationId xmlns:a16="http://schemas.microsoft.com/office/drawing/2014/main" id="{77D17E4F-EDC4-4B6B-B47B-28E2C0E4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81150"/>
            <a:ext cx="5334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2" name="right-cross-road-surface">
            <a:extLst xmlns:a="http://schemas.openxmlformats.org/drawingml/2006/main">
              <a:ext uri="{FF2B5EF4-FFF2-40B4-BE49-F238E27FC236}">
                <a16:creationId xmlns:a16="http://schemas.microsoft.com/office/drawing/2014/main" id="{682251A7-787A-4FAE-A670-D28F0562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81150"/>
            <a:ext cx="5334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3" name="main-road-surface">
            <a:extLst xmlns:a="http://schemas.openxmlformats.org/drawingml/2006/main">
              <a:ext uri="{FF2B5EF4-FFF2-40B4-BE49-F238E27FC236}">
                <a16:creationId xmlns:a16="http://schemas.microsoft.com/office/drawing/2014/main" id="{A0E7FFA5-6C69-4F29-BA90-247048D7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728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4" name="left-junction-range">
            <a:extLst xmlns:a="http://schemas.openxmlformats.org/drawingml/2006/main">
              <a:ext uri="{FF2B5EF4-FFF2-40B4-BE49-F238E27FC236}">
                <a16:creationId xmlns:a16="http://schemas.microsoft.com/office/drawing/2014/main" id="{EC48DB33-2235-4DCD-A2F1-97F0FF0C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9750"/>
            <a:ext cx="53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4"/>
          </a:solidFill>
          <a:ln xmlns:a="http://schemas.openxmlformats.org/drawingml/2006/main" w="11906">
            <a:solidFill>
              <a:srgbClr val="7D2633"/>
            </a:solidFill>
            <a:prstDash val="solid"/>
          </a:ln>
        </p:spPr>
      </p:sp>
      <p:sp>
        <p:nvSpPr>
          <p:cNvPr id="25" name="right-junction-range">
            <a:extLst xmlns:a="http://schemas.openxmlformats.org/drawingml/2006/main">
              <a:ext uri="{FF2B5EF4-FFF2-40B4-BE49-F238E27FC236}">
                <a16:creationId xmlns:a16="http://schemas.microsoft.com/office/drawing/2014/main" id="{FA1FCAB9-384E-4DA4-81A5-0EA485BB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533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4"/>
          </a:solidFill>
          <a:ln xmlns:a="http://schemas.openxmlformats.org/drawingml/2006/main" w="11906">
            <a:solidFill>
              <a:srgbClr val="7D2633"/>
            </a:solidFill>
            <a:prstDash val="solid"/>
          </a:ln>
        </p:spPr>
      </p:sp>
      <p:sp>
        <p:nvSpPr>
          <p:cNvPr id="26" name="main-road-center-dash-1">
            <a:extLst xmlns:a="http://schemas.openxmlformats.org/drawingml/2006/main">
              <a:ext uri="{FF2B5EF4-FFF2-40B4-BE49-F238E27FC236}">
                <a16:creationId xmlns:a16="http://schemas.microsoft.com/office/drawing/2014/main" id="{95BEB48A-B018-401D-BFCA-24E04871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27" name="main-road-center-dash-2">
            <a:extLst xmlns:a="http://schemas.openxmlformats.org/drawingml/2006/main">
              <a:ext uri="{FF2B5EF4-FFF2-40B4-BE49-F238E27FC236}">
                <a16:creationId xmlns:a16="http://schemas.microsoft.com/office/drawing/2014/main" id="{922B3D12-3703-4778-AEC1-ECA7F717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28" name="main-road-center-dash-3">
            <a:extLst xmlns:a="http://schemas.openxmlformats.org/drawingml/2006/main">
              <a:ext uri="{FF2B5EF4-FFF2-40B4-BE49-F238E27FC236}">
                <a16:creationId xmlns:a16="http://schemas.microsoft.com/office/drawing/2014/main" id="{BFD6EEF3-C242-4C53-964F-4B4138D1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29" name="main-road-center-dash-4">
            <a:extLst xmlns:a="http://schemas.openxmlformats.org/drawingml/2006/main">
              <a:ext uri="{FF2B5EF4-FFF2-40B4-BE49-F238E27FC236}">
                <a16:creationId xmlns:a16="http://schemas.microsoft.com/office/drawing/2014/main" id="{F5EA1031-FD9F-43E9-8D77-4A34BA07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30" name="main-road-center-dash-5">
            <a:extLst xmlns:a="http://schemas.openxmlformats.org/drawingml/2006/main">
              <a:ext uri="{FF2B5EF4-FFF2-40B4-BE49-F238E27FC236}">
                <a16:creationId xmlns:a16="http://schemas.microsoft.com/office/drawing/2014/main" id="{83325826-9580-4723-9B8D-A220B837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31" name="main-road-center-dash-6">
            <a:extLst xmlns:a="http://schemas.openxmlformats.org/drawingml/2006/main">
              <a:ext uri="{FF2B5EF4-FFF2-40B4-BE49-F238E27FC236}">
                <a16:creationId xmlns:a16="http://schemas.microsoft.com/office/drawing/2014/main" id="{4AA63F36-EC02-42FE-9880-4DBD676C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32" name="main-road-center-dash-7">
            <a:extLst xmlns:a="http://schemas.openxmlformats.org/drawingml/2006/main">
              <a:ext uri="{FF2B5EF4-FFF2-40B4-BE49-F238E27FC236}">
                <a16:creationId xmlns:a16="http://schemas.microsoft.com/office/drawing/2014/main" id="{B7E72100-2A00-4882-9141-ABA9D610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33" name="main-road-center-dash-8">
            <a:extLst xmlns:a="http://schemas.openxmlformats.org/drawingml/2006/main">
              <a:ext uri="{FF2B5EF4-FFF2-40B4-BE49-F238E27FC236}">
                <a16:creationId xmlns:a16="http://schemas.microsoft.com/office/drawing/2014/main" id="{FBDF2685-60C2-4687-A5ED-0FA636CE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34" name="main-road-center-dash-9">
            <a:extLst xmlns:a="http://schemas.openxmlformats.org/drawingml/2006/main">
              <a:ext uri="{FF2B5EF4-FFF2-40B4-BE49-F238E27FC236}">
                <a16:creationId xmlns:a16="http://schemas.microsoft.com/office/drawing/2014/main" id="{5061CA0F-1318-4518-86EA-4DA8A62E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35" name="main-road-center-dash-10">
            <a:extLst xmlns:a="http://schemas.openxmlformats.org/drawingml/2006/main">
              <a:ext uri="{FF2B5EF4-FFF2-40B4-BE49-F238E27FC236}">
                <a16:creationId xmlns:a16="http://schemas.microsoft.com/office/drawing/2014/main" id="{C0142417-B610-41BC-B0E6-426F3D36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36" name="main-road-center-dash-11">
            <a:extLst xmlns:a="http://schemas.openxmlformats.org/drawingml/2006/main">
              <a:ext uri="{FF2B5EF4-FFF2-40B4-BE49-F238E27FC236}">
                <a16:creationId xmlns:a16="http://schemas.microsoft.com/office/drawing/2014/main" id="{B98FC8B8-9959-4B85-9E27-7F79B01E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37" name="main-road-center-dash-12">
            <a:extLst xmlns:a="http://schemas.openxmlformats.org/drawingml/2006/main">
              <a:ext uri="{FF2B5EF4-FFF2-40B4-BE49-F238E27FC236}">
                <a16:creationId xmlns:a16="http://schemas.microsoft.com/office/drawing/2014/main" id="{65D6C3A2-97FD-4C31-9BE1-31B53E6D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38" name="main-road-center-dash-13">
            <a:extLst xmlns:a="http://schemas.openxmlformats.org/drawingml/2006/main">
              <a:ext uri="{FF2B5EF4-FFF2-40B4-BE49-F238E27FC236}">
                <a16:creationId xmlns:a16="http://schemas.microsoft.com/office/drawing/2014/main" id="{113F8636-4978-4EC5-AAD5-1A7A203E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39" name="main-road-center-dash-14">
            <a:extLst xmlns:a="http://schemas.openxmlformats.org/drawingml/2006/main">
              <a:ext uri="{FF2B5EF4-FFF2-40B4-BE49-F238E27FC236}">
                <a16:creationId xmlns:a16="http://schemas.microsoft.com/office/drawing/2014/main" id="{D2E3314E-6225-4ABD-AEE2-D3B2EFDB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40" name="main-road-center-dash-15">
            <a:extLst xmlns:a="http://schemas.openxmlformats.org/drawingml/2006/main">
              <a:ext uri="{FF2B5EF4-FFF2-40B4-BE49-F238E27FC236}">
                <a16:creationId xmlns:a16="http://schemas.microsoft.com/office/drawing/2014/main" id="{78520F95-6E70-451C-A023-D9BC716F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41" name="main-road-center-dash-16">
            <a:extLst xmlns:a="http://schemas.openxmlformats.org/drawingml/2006/main">
              <a:ext uri="{FF2B5EF4-FFF2-40B4-BE49-F238E27FC236}">
                <a16:creationId xmlns:a16="http://schemas.microsoft.com/office/drawing/2014/main" id="{F35E3573-4CE4-4729-8143-472B0A48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42" name="main-road-center-dash-17">
            <a:extLst xmlns:a="http://schemas.openxmlformats.org/drawingml/2006/main">
              <a:ext uri="{FF2B5EF4-FFF2-40B4-BE49-F238E27FC236}">
                <a16:creationId xmlns:a16="http://schemas.microsoft.com/office/drawing/2014/main" id="{8BEECE89-AFCA-4005-981B-4D35632A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43" name="main-road-center-dash-18">
            <a:extLst xmlns:a="http://schemas.openxmlformats.org/drawingml/2006/main">
              <a:ext uri="{FF2B5EF4-FFF2-40B4-BE49-F238E27FC236}">
                <a16:creationId xmlns:a16="http://schemas.microsoft.com/office/drawing/2014/main" id="{DF887BD4-7898-4352-B5A7-B89FFEC7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44" name="main-road-center-dash-19">
            <a:extLst xmlns:a="http://schemas.openxmlformats.org/drawingml/2006/main">
              <a:ext uri="{FF2B5EF4-FFF2-40B4-BE49-F238E27FC236}">
                <a16:creationId xmlns:a16="http://schemas.microsoft.com/office/drawing/2014/main" id="{3C62E467-D09F-4D3B-ADBD-E60D4EED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45" name="main-road-center-dash-20">
            <a:extLst xmlns:a="http://schemas.openxmlformats.org/drawingml/2006/main">
              <a:ext uri="{FF2B5EF4-FFF2-40B4-BE49-F238E27FC236}">
                <a16:creationId xmlns:a16="http://schemas.microsoft.com/office/drawing/2014/main" id="{2669816F-96FF-4848-B4FE-806E9A7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46" name="main-road-center-dash-21">
            <a:extLst xmlns:a="http://schemas.openxmlformats.org/drawingml/2006/main">
              <a:ext uri="{FF2B5EF4-FFF2-40B4-BE49-F238E27FC236}">
                <a16:creationId xmlns:a16="http://schemas.microsoft.com/office/drawing/2014/main" id="{9C2BDE70-798C-466D-BF3D-B8E1561F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47" name="main-road-center-dash-22">
            <a:extLst xmlns:a="http://schemas.openxmlformats.org/drawingml/2006/main">
              <a:ext uri="{FF2B5EF4-FFF2-40B4-BE49-F238E27FC236}">
                <a16:creationId xmlns:a16="http://schemas.microsoft.com/office/drawing/2014/main" id="{8310DAFD-D815-4A8E-A09E-37EE6CDB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48" name="main-road-center-dash-23">
            <a:extLst xmlns:a="http://schemas.openxmlformats.org/drawingml/2006/main">
              <a:ext uri="{FF2B5EF4-FFF2-40B4-BE49-F238E27FC236}">
                <a16:creationId xmlns:a16="http://schemas.microsoft.com/office/drawing/2014/main" id="{C769A254-A216-4DF8-8E08-673B868B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7645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49" name="main-road-center-dash-24">
            <a:extLst xmlns:a="http://schemas.openxmlformats.org/drawingml/2006/main">
              <a:ext uri="{FF2B5EF4-FFF2-40B4-BE49-F238E27FC236}">
                <a16:creationId xmlns:a16="http://schemas.microsoft.com/office/drawing/2014/main" id="{A98DFF45-FB01-4E6D-916E-45937658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76450"/>
            <a:ext cx="857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0C7"/>
            </a:solidFill>
            <a:prstDash val="solid"/>
          </a:ln>
        </p:spPr>
      </p:sp>
      <p:sp>
        <p:nvSpPr>
          <p:cNvPr id="50" name="main-road-direction">
            <a:extLst xmlns:a="http://schemas.openxmlformats.org/drawingml/2006/main">
              <a:ext uri="{FF2B5EF4-FFF2-40B4-BE49-F238E27FC236}">
                <a16:creationId xmlns:a16="http://schemas.microsoft.com/office/drawing/2014/main" id="{08E176E4-0EE3-4C8F-9CF5-BD3D4F67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00250"/>
            <a:ext cx="61912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4763">
            <a:solidFill>
              <a:srgbClr val="303634"/>
            </a:solidFill>
            <a:prstDash val="solid"/>
          </a:ln>
        </p:spPr>
      </p:sp>
      <p:sp>
        <p:nvSpPr>
          <p:cNvPr id="51" name="junction-internal-no-parking">
            <a:extLst xmlns:a="http://schemas.openxmlformats.org/drawingml/2006/main">
              <a:ext uri="{FF2B5EF4-FFF2-40B4-BE49-F238E27FC236}">
                <a16:creationId xmlns:a16="http://schemas.microsoft.com/office/drawing/2014/main" id="{99482B92-4BBF-41C7-BDA3-B72540AD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24100"/>
            <a:ext cx="600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D2633"/>
            </a:solidFill>
            <a:prstDash val="solid"/>
          </a:ln>
        </p:spPr>
      </p:sp>
      <p:sp>
        <p:nvSpPr>
          <p:cNvPr id="52" name="mapped-ban-sign">
            <a:extLst xmlns:a="http://schemas.openxmlformats.org/drawingml/2006/main">
              <a:ext uri="{FF2B5EF4-FFF2-40B4-BE49-F238E27FC236}">
                <a16:creationId xmlns:a16="http://schemas.microsoft.com/office/drawing/2014/main" id="{CE258463-529D-4C2F-BD98-73B5F4CC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66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53" name="mapped-ban-slash">
            <a:extLst xmlns:a="http://schemas.openxmlformats.org/drawingml/2006/main">
              <a:ext uri="{FF2B5EF4-FFF2-40B4-BE49-F238E27FC236}">
                <a16:creationId xmlns:a16="http://schemas.microsoft.com/office/drawing/2014/main" id="{F908B437-AB99-41BF-91F0-51AF9B9B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704975"/>
            <a:ext cx="1333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54" name="mapped-ban-stem">
            <a:extLst xmlns:a="http://schemas.openxmlformats.org/drawingml/2006/main">
              <a:ext uri="{FF2B5EF4-FFF2-40B4-BE49-F238E27FC236}">
                <a16:creationId xmlns:a16="http://schemas.microsoft.com/office/drawing/2014/main" id="{D0B40FB7-FBF4-46EC-8E4C-60C1E910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76425"/>
            <a:ext cx="953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55" name="mapped-parking-bay-1">
            <a:extLst xmlns:a="http://schemas.openxmlformats.org/drawingml/2006/main">
              <a:ext uri="{FF2B5EF4-FFF2-40B4-BE49-F238E27FC236}">
                <a16:creationId xmlns:a16="http://schemas.microsoft.com/office/drawing/2014/main" id="{AD1CD7A5-FF70-4684-B815-BC19DEA2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03634"/>
            </a:solidFill>
            <a:prstDash val="solid"/>
          </a:ln>
        </p:spPr>
      </p:sp>
      <p:sp>
        <p:nvSpPr>
          <p:cNvPr id="56" name="mapped-parking-bay-2">
            <a:extLst xmlns:a="http://schemas.openxmlformats.org/drawingml/2006/main">
              <a:ext uri="{FF2B5EF4-FFF2-40B4-BE49-F238E27FC236}">
                <a16:creationId xmlns:a16="http://schemas.microsoft.com/office/drawing/2014/main" id="{B417092E-B389-4C5E-B172-4B6724BE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9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03634"/>
            </a:solidFill>
            <a:prstDash val="solid"/>
          </a:ln>
        </p:spPr>
      </p:sp>
      <p:sp>
        <p:nvSpPr>
          <p:cNvPr id="57" name="mapped-parking-bay-3">
            <a:extLst xmlns:a="http://schemas.openxmlformats.org/drawingml/2006/main">
              <a:ext uri="{FF2B5EF4-FFF2-40B4-BE49-F238E27FC236}">
                <a16:creationId xmlns:a16="http://schemas.microsoft.com/office/drawing/2014/main" id="{3D785D4F-EFE5-4E44-8F72-8BE9C32C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03634"/>
            </a:solidFill>
            <a:prstDash val="solid"/>
          </a:ln>
        </p:spPr>
      </p:sp>
      <p:sp>
        <p:nvSpPr>
          <p:cNvPr id="58" name="main-profile-no-parking">
            <a:extLst xmlns:a="http://schemas.openxmlformats.org/drawingml/2006/main">
              <a:ext uri="{FF2B5EF4-FFF2-40B4-BE49-F238E27FC236}">
                <a16:creationId xmlns:a16="http://schemas.microsoft.com/office/drawing/2014/main" id="{58055386-C15C-4633-86C3-E98B41F3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185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D2633"/>
            </a:solidFill>
            <a:prstDash val="solid"/>
          </a:ln>
        </p:spPr>
      </p:sp>
      <p:sp>
        <p:nvSpPr>
          <p:cNvPr id="59" name="main-profile-quick-stop">
            <a:extLst xmlns:a="http://schemas.openxmlformats.org/drawingml/2006/main">
              <a:ext uri="{FF2B5EF4-FFF2-40B4-BE49-F238E27FC236}">
                <a16:creationId xmlns:a16="http://schemas.microsoft.com/office/drawing/2014/main" id="{FF30B2CE-BA6E-46A1-9543-8EC020B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166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03634"/>
            </a:solidFill>
            <a:prstDash val="solid"/>
          </a:ln>
        </p:spPr>
      </p:sp>
      <p:sp>
        <p:nvSpPr>
          <p:cNvPr id="60" name="main-profile-temporary">
            <a:extLst xmlns:a="http://schemas.openxmlformats.org/drawingml/2006/main">
              <a:ext uri="{FF2B5EF4-FFF2-40B4-BE49-F238E27FC236}">
                <a16:creationId xmlns:a16="http://schemas.microsoft.com/office/drawing/2014/main" id="{CAD2B007-FAE4-4648-A706-1F9BFABC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1762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5D0C7"/>
            </a:solidFill>
            <a:prstDash val="solid"/>
          </a:ln>
        </p:spPr>
      </p:sp>
      <p:sp>
        <p:nvSpPr>
          <p:cNvPr id="61" name="main-profile-label-no-parking">
            <a:extLst xmlns:a="http://schemas.openxmlformats.org/drawingml/2006/main">
              <a:ext uri="{FF2B5EF4-FFF2-40B4-BE49-F238E27FC236}">
                <a16:creationId xmlns:a16="http://schemas.microsoft.com/office/drawing/2014/main" id="{7848F613-18E6-4E2D-B69D-2509B685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5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禁止停车</a:t>
            </a:r>
          </a:p>
        </p:txBody>
      </p:sp>
      <p:sp>
        <p:nvSpPr>
          <p:cNvPr id="62" name="main-profile-label-quick-stop">
            <a:extLst xmlns:a="http://schemas.openxmlformats.org/drawingml/2006/main">
              <a:ext uri="{FF2B5EF4-FFF2-40B4-BE49-F238E27FC236}">
                <a16:creationId xmlns:a16="http://schemas.microsoft.com/office/drawing/2014/main" id="{A02EA187-303E-42B1-9B40-630F8C16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即停即走</a:t>
            </a:r>
          </a:p>
        </p:txBody>
      </p:sp>
      <p:sp>
        <p:nvSpPr>
          <p:cNvPr id="63" name="main-profile-label-temporary">
            <a:extLst xmlns:a="http://schemas.openxmlformats.org/drawingml/2006/main">
              <a:ext uri="{FF2B5EF4-FFF2-40B4-BE49-F238E27FC236}">
                <a16:creationId xmlns:a16="http://schemas.microsoft.com/office/drawing/2014/main" id="{D2C4C612-EAEA-48AD-B5EA-20D7AF0D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临时停靠</a:t>
            </a:r>
          </a:p>
        </p:txBody>
      </p:sp>
      <p:sp>
        <p:nvSpPr>
          <p:cNvPr id="64" name="junction-details">
            <a:extLst xmlns:a="http://schemas.openxmlformats.org/drawingml/2006/main">
              <a:ext uri="{FF2B5EF4-FFF2-40B4-BE49-F238E27FC236}">
                <a16:creationId xmlns:a16="http://schemas.microsoft.com/office/drawing/2014/main" id="{43D1B4E5-5A3C-4E8E-B9C1-C57E5EA7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路口范围、内部道路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路口端、进出方向</a:t>
            </a:r>
          </a:p>
        </p:txBody>
      </p:sp>
      <p:sp>
        <p:nvSpPr>
          <p:cNvPr id="65" name="segment-details">
            <a:extLst xmlns:a="http://schemas.openxmlformats.org/drawingml/2006/main">
              <a:ext uri="{FF2B5EF4-FFF2-40B4-BE49-F238E27FC236}">
                <a16:creationId xmlns:a16="http://schemas.microsoft.com/office/drawing/2014/main" id="{E51BB7D2-E4D0-4369-96BB-B811029C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行驶方向、道路一侧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作用区间、停靠属性、来源证据</a:t>
            </a:r>
          </a:p>
        </p:txBody>
      </p:sp>
      <p:sp>
        <p:nvSpPr>
          <p:cNvPr id="66" name="right-junction-details">
            <a:extLst xmlns:a="http://schemas.openxmlformats.org/drawingml/2006/main">
              <a:ext uri="{FF2B5EF4-FFF2-40B4-BE49-F238E27FC236}">
                <a16:creationId xmlns:a16="http://schemas.microsoft.com/office/drawing/2014/main" id="{69B0E2B7-6979-4A72-8579-46719A76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路口范围、内部道路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路口端、进出方向</a:t>
            </a:r>
          </a:p>
        </p:txBody>
      </p:sp>
      <p:sp>
        <p:nvSpPr>
          <p:cNvPr id="67" name="minimum-unit">
            <a:extLst xmlns:a="http://schemas.openxmlformats.org/drawingml/2006/main">
              <a:ext uri="{FF2B5EF4-FFF2-40B4-BE49-F238E27FC236}">
                <a16:creationId xmlns:a16="http://schemas.microsoft.com/office/drawing/2014/main" id="{12638273-770C-4C0F-93E8-224727E0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28950"/>
            <a:ext cx="500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最小编制单元：路口／开口＋路段＋行驶方向</a:t>
            </a:r>
          </a:p>
        </p:txBody>
      </p:sp>
      <p:sp>
        <p:nvSpPr>
          <p:cNvPr id="68" name="result-accent">
            <a:extLst xmlns:a="http://schemas.openxmlformats.org/drawingml/2006/main">
              <a:ext uri="{FF2B5EF4-FFF2-40B4-BE49-F238E27FC236}">
                <a16:creationId xmlns:a16="http://schemas.microsoft.com/office/drawing/2014/main" id="{F578B230-10A9-43B7-8319-B6510F2B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04925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D2633"/>
            </a:solidFill>
            <a:prstDash val="solid"/>
          </a:ln>
        </p:spPr>
      </p:sp>
      <p:sp>
        <p:nvSpPr>
          <p:cNvPr id="69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CC54E75B-7C36-47D7-A300-126D8A9C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620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RCSD静态停靠剖面</a:t>
            </a:r>
          </a:p>
        </p:txBody>
      </p:sp>
      <p:sp>
        <p:nvSpPr>
          <p:cNvPr id="70" name="result-profile-no-parking">
            <a:extLst xmlns:a="http://schemas.openxmlformats.org/drawingml/2006/main">
              <a:ext uri="{FF2B5EF4-FFF2-40B4-BE49-F238E27FC236}">
                <a16:creationId xmlns:a16="http://schemas.microsoft.com/office/drawing/2014/main" id="{58EC3C68-8FE2-4E4A-8E6E-DDE811B8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742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2633"/>
            </a:solidFill>
            <a:prstDash val="solid"/>
          </a:ln>
        </p:spPr>
      </p:sp>
      <p:sp>
        <p:nvSpPr>
          <p:cNvPr id="71" name="result-label-no-parking">
            <a:extLst xmlns:a="http://schemas.openxmlformats.org/drawingml/2006/main">
              <a:ext uri="{FF2B5EF4-FFF2-40B4-BE49-F238E27FC236}">
                <a16:creationId xmlns:a16="http://schemas.microsoft.com/office/drawing/2014/main" id="{66ED13A4-4578-44DE-8127-8B653C0F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049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禁止停车</a:t>
            </a:r>
          </a:p>
        </p:txBody>
      </p:sp>
      <p:sp>
        <p:nvSpPr>
          <p:cNvPr id="72" name="result-profile-quick-stop">
            <a:extLst xmlns:a="http://schemas.openxmlformats.org/drawingml/2006/main">
              <a:ext uri="{FF2B5EF4-FFF2-40B4-BE49-F238E27FC236}">
                <a16:creationId xmlns:a16="http://schemas.microsoft.com/office/drawing/2014/main" id="{1D657F6C-C007-4F6A-BA30-D01A8A3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14550"/>
            <a:ext cx="742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634"/>
            </a:solidFill>
            <a:prstDash val="solid"/>
          </a:ln>
        </p:spPr>
      </p:sp>
      <p:sp>
        <p:nvSpPr>
          <p:cNvPr id="73" name="result-label-quick-stop">
            <a:extLst xmlns:a="http://schemas.openxmlformats.org/drawingml/2006/main">
              <a:ext uri="{FF2B5EF4-FFF2-40B4-BE49-F238E27FC236}">
                <a16:creationId xmlns:a16="http://schemas.microsoft.com/office/drawing/2014/main" id="{5BCB414C-CBEF-4DE9-B32C-4550748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097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即停即走</a:t>
            </a:r>
          </a:p>
        </p:txBody>
      </p:sp>
      <p:sp>
        <p:nvSpPr>
          <p:cNvPr id="74" name="result-profile-temporary">
            <a:extLst xmlns:a="http://schemas.openxmlformats.org/drawingml/2006/main">
              <a:ext uri="{FF2B5EF4-FFF2-40B4-BE49-F238E27FC236}">
                <a16:creationId xmlns:a16="http://schemas.microsoft.com/office/drawing/2014/main" id="{C07516D0-B647-4816-B477-DE79DE2C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90775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0C7"/>
            </a:solidFill>
            <a:prstDash val="solid"/>
          </a:ln>
        </p:spPr>
      </p:sp>
      <p:sp>
        <p:nvSpPr>
          <p:cNvPr id="75" name="result-label-temporary">
            <a:extLst xmlns:a="http://schemas.openxmlformats.org/drawingml/2006/main">
              <a:ext uri="{FF2B5EF4-FFF2-40B4-BE49-F238E27FC236}">
                <a16:creationId xmlns:a16="http://schemas.microsoft.com/office/drawing/2014/main" id="{78E664D9-D6F2-4906-B5C6-7DFA6B76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050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临时停靠</a:t>
            </a:r>
          </a:p>
        </p:txBody>
      </p:sp>
      <p:sp>
        <p:nvSpPr>
          <p:cNvPr id="76" name="result-to-candidate-arrow">
            <a:extLst xmlns:a="http://schemas.openxmlformats.org/drawingml/2006/main">
              <a:ext uri="{FF2B5EF4-FFF2-40B4-BE49-F238E27FC236}">
                <a16:creationId xmlns:a16="http://schemas.microsoft.com/office/drawing/2014/main" id="{30A71883-8C34-4E37-9645-0DCC850F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43200"/>
            <a:ext cx="2857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77" name="boarding-candidate">
            <a:extLst xmlns:a="http://schemas.openxmlformats.org/drawingml/2006/main">
              <a:ext uri="{FF2B5EF4-FFF2-40B4-BE49-F238E27FC236}">
                <a16:creationId xmlns:a16="http://schemas.microsoft.com/office/drawing/2014/main" id="{822DA1B2-6FC6-4586-8CB6-AA283518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003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上下客候选</a:t>
            </a:r>
          </a:p>
        </p:txBody>
      </p:sp>
      <p:sp>
        <p:nvSpPr>
          <p:cNvPr id="78" name="waiting-candidate">
            <a:extLst xmlns:a="http://schemas.openxmlformats.org/drawingml/2006/main">
              <a:ext uri="{FF2B5EF4-FFF2-40B4-BE49-F238E27FC236}">
                <a16:creationId xmlns:a16="http://schemas.microsoft.com/office/drawing/2014/main" id="{3B677A68-6A4B-4C16-A201-01EDE673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860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候客候选</a:t>
            </a:r>
          </a:p>
        </p:txBody>
      </p:sp>
      <p:sp>
        <p:nvSpPr>
          <p:cNvPr id="79" name="projection-guide-1">
            <a:extLst xmlns:a="http://schemas.openxmlformats.org/drawingml/2006/main">
              <a:ext uri="{FF2B5EF4-FFF2-40B4-BE49-F238E27FC236}">
                <a16:creationId xmlns:a16="http://schemas.microsoft.com/office/drawing/2014/main" id="{FE9DBFD4-3D18-4C11-9F7E-C5FE3D91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86125"/>
            <a:ext cx="953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0" name="projection-guide-2">
            <a:extLst xmlns:a="http://schemas.openxmlformats.org/drawingml/2006/main">
              <a:ext uri="{FF2B5EF4-FFF2-40B4-BE49-F238E27FC236}">
                <a16:creationId xmlns:a16="http://schemas.microsoft.com/office/drawing/2014/main" id="{7C3637AF-8F29-4C32-BF37-1279F939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86125"/>
            <a:ext cx="953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1" name="projection-guide-3">
            <a:extLst xmlns:a="http://schemas.openxmlformats.org/drawingml/2006/main">
              <a:ext uri="{FF2B5EF4-FFF2-40B4-BE49-F238E27FC236}">
                <a16:creationId xmlns:a16="http://schemas.microsoft.com/office/drawing/2014/main" id="{C9CF57B1-373F-4061-A567-26130F71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953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2" name="local-separator-1">
            <a:extLst xmlns:a="http://schemas.openxmlformats.org/drawingml/2006/main">
              <a:ext uri="{FF2B5EF4-FFF2-40B4-BE49-F238E27FC236}">
                <a16:creationId xmlns:a16="http://schemas.microsoft.com/office/drawing/2014/main" id="{C3303882-D277-4D86-902D-77905CB2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05225"/>
            <a:ext cx="953" cy="1914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3" name="local-separator-2">
            <a:extLst xmlns:a="http://schemas.openxmlformats.org/drawingml/2006/main">
              <a:ext uri="{FF2B5EF4-FFF2-40B4-BE49-F238E27FC236}">
                <a16:creationId xmlns:a16="http://schemas.microsoft.com/office/drawing/2014/main" id="{C55BEC42-F8DE-4599-B4A4-BAD99768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05225"/>
            <a:ext cx="953" cy="1914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4" name="junction-grade-title">
            <a:extLst xmlns:a="http://schemas.openxmlformats.org/drawingml/2006/main">
              <a:ext uri="{FF2B5EF4-FFF2-40B4-BE49-F238E27FC236}">
                <a16:creationId xmlns:a16="http://schemas.microsoft.com/office/drawing/2014/main" id="{D7C25B96-F83A-4CAE-A41F-F4AD53C2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43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路口分级</a:t>
            </a:r>
          </a:p>
        </p:txBody>
      </p:sp>
      <p:sp>
        <p:nvSpPr>
          <p:cNvPr id="85" name="junction-internal-label">
            <a:extLst xmlns:a="http://schemas.openxmlformats.org/drawingml/2006/main">
              <a:ext uri="{FF2B5EF4-FFF2-40B4-BE49-F238E27FC236}">
                <a16:creationId xmlns:a16="http://schemas.microsoft.com/office/drawing/2014/main" id="{BC1CF63E-5824-40BB-A39A-D89665C0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10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路口内部：禁止停车</a:t>
            </a:r>
          </a:p>
        </p:txBody>
      </p:sp>
      <p:sp>
        <p:nvSpPr>
          <p:cNvPr id="86" name="grade-baseline">
            <a:extLst xmlns:a="http://schemas.openxmlformats.org/drawingml/2006/main">
              <a:ext uri="{FF2B5EF4-FFF2-40B4-BE49-F238E27FC236}">
                <a16:creationId xmlns:a16="http://schemas.microsoft.com/office/drawing/2014/main" id="{4FA0682C-3CD3-4053-BB59-8395C99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2524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7" name="grade-tick-0">
            <a:extLst xmlns:a="http://schemas.openxmlformats.org/drawingml/2006/main">
              <a:ext uri="{FF2B5EF4-FFF2-40B4-BE49-F238E27FC236}">
                <a16:creationId xmlns:a16="http://schemas.microsoft.com/office/drawing/2014/main" id="{2172528D-D419-4E66-A667-5EFA328C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953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88" name="grade-tick-label-0">
            <a:extLst xmlns:a="http://schemas.openxmlformats.org/drawingml/2006/main">
              <a:ext uri="{FF2B5EF4-FFF2-40B4-BE49-F238E27FC236}">
                <a16:creationId xmlns:a16="http://schemas.microsoft.com/office/drawing/2014/main" id="{AAC19C63-2C1E-46A4-B060-CF55D82C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052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9" name="grade-tick-10">
            <a:extLst xmlns:a="http://schemas.openxmlformats.org/drawingml/2006/main">
              <a:ext uri="{FF2B5EF4-FFF2-40B4-BE49-F238E27FC236}">
                <a16:creationId xmlns:a16="http://schemas.microsoft.com/office/drawing/2014/main" id="{4112D359-2E51-4692-9FF6-E0A5987A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29100"/>
            <a:ext cx="953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90" name="grade-tick-label-10">
            <a:extLst xmlns:a="http://schemas.openxmlformats.org/drawingml/2006/main">
              <a:ext uri="{FF2B5EF4-FFF2-40B4-BE49-F238E27FC236}">
                <a16:creationId xmlns:a16="http://schemas.microsoft.com/office/drawing/2014/main" id="{80FDB844-9042-4E97-9EED-AB338A5F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052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1" name="grade-tick-50">
            <a:extLst xmlns:a="http://schemas.openxmlformats.org/drawingml/2006/main">
              <a:ext uri="{FF2B5EF4-FFF2-40B4-BE49-F238E27FC236}">
                <a16:creationId xmlns:a16="http://schemas.microsoft.com/office/drawing/2014/main" id="{820963CA-0348-4599-9758-3DE29363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29100"/>
            <a:ext cx="953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92" name="grade-tick-label-50">
            <a:extLst xmlns:a="http://schemas.openxmlformats.org/drawingml/2006/main">
              <a:ext uri="{FF2B5EF4-FFF2-40B4-BE49-F238E27FC236}">
                <a16:creationId xmlns:a16="http://schemas.microsoft.com/office/drawing/2014/main" id="{705BF66D-32C5-4114-9736-A3094786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1052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50米</a:t>
            </a:r>
          </a:p>
        </p:txBody>
      </p:sp>
      <p:sp>
        <p:nvSpPr>
          <p:cNvPr id="93" name="grade-row-1-text">
            <a:extLst xmlns:a="http://schemas.openxmlformats.org/drawingml/2006/main">
              <a:ext uri="{FF2B5EF4-FFF2-40B4-BE49-F238E27FC236}">
                <a16:creationId xmlns:a16="http://schemas.microsoft.com/office/drawing/2014/main" id="{461EF868-D2FE-42CF-A2AD-96609FD9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33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一级｜0—50米 禁止停车</a:t>
            </a:r>
          </a:p>
        </p:txBody>
      </p:sp>
      <p:sp>
        <p:nvSpPr>
          <p:cNvPr id="94" name="grade-row-1-no-parking">
            <a:extLst xmlns:a="http://schemas.openxmlformats.org/drawingml/2006/main">
              <a:ext uri="{FF2B5EF4-FFF2-40B4-BE49-F238E27FC236}">
                <a16:creationId xmlns:a16="http://schemas.microsoft.com/office/drawing/2014/main" id="{A2CC6A20-0446-4CBC-849F-BD443624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2524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95" name="grade-row-2-text">
            <a:extLst xmlns:a="http://schemas.openxmlformats.org/drawingml/2006/main">
              <a:ext uri="{FF2B5EF4-FFF2-40B4-BE49-F238E27FC236}">
                <a16:creationId xmlns:a16="http://schemas.microsoft.com/office/drawing/2014/main" id="{ADCBF831-E24A-4C9D-87F9-3DF8ED65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05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二级｜0—10米 禁止停车；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10—50米 即停即走</a:t>
            </a:r>
          </a:p>
        </p:txBody>
      </p:sp>
      <p:sp>
        <p:nvSpPr>
          <p:cNvPr id="96" name="grade-row-2-no-parking">
            <a:extLst xmlns:a="http://schemas.openxmlformats.org/drawingml/2006/main">
              <a:ext uri="{FF2B5EF4-FFF2-40B4-BE49-F238E27FC236}">
                <a16:creationId xmlns:a16="http://schemas.microsoft.com/office/drawing/2014/main" id="{195EB931-B8CD-43A4-8E20-7163BAC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523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97" name="grade-row-2-quick-stop">
            <a:extLst xmlns:a="http://schemas.openxmlformats.org/drawingml/2006/main">
              <a:ext uri="{FF2B5EF4-FFF2-40B4-BE49-F238E27FC236}">
                <a16:creationId xmlns:a16="http://schemas.microsoft.com/office/drawing/2014/main" id="{22124DF6-7C44-470D-8BB2-5DD5378C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577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03634"/>
            </a:solidFill>
            <a:prstDash val="solid"/>
          </a:ln>
        </p:spPr>
      </p:sp>
      <p:sp>
        <p:nvSpPr>
          <p:cNvPr id="98" name="grade-row-3-text">
            <a:extLst xmlns:a="http://schemas.openxmlformats.org/drawingml/2006/main">
              <a:ext uri="{FF2B5EF4-FFF2-40B4-BE49-F238E27FC236}">
                <a16:creationId xmlns:a16="http://schemas.microsoft.com/office/drawing/2014/main" id="{6295E86A-FE19-444A-A033-642C1500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625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三级｜0—10米 禁止停车；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10米外 恢复路段基础属性</a:t>
            </a:r>
          </a:p>
        </p:txBody>
      </p:sp>
      <p:sp>
        <p:nvSpPr>
          <p:cNvPr id="99" name="grade-row-3-no-parking">
            <a:extLst xmlns:a="http://schemas.openxmlformats.org/drawingml/2006/main">
              <a:ext uri="{FF2B5EF4-FFF2-40B4-BE49-F238E27FC236}">
                <a16:creationId xmlns:a16="http://schemas.microsoft.com/office/drawing/2014/main" id="{D9269ECF-C47C-4D63-B197-85E4C507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14950"/>
            <a:ext cx="523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00" name="grade-row-3-base">
            <a:extLst xmlns:a="http://schemas.openxmlformats.org/drawingml/2006/main">
              <a:ext uri="{FF2B5EF4-FFF2-40B4-BE49-F238E27FC236}">
                <a16:creationId xmlns:a16="http://schemas.microsoft.com/office/drawing/2014/main" id="{9913F7C6-675F-42EA-BCEE-23AF0A72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149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0C7"/>
            </a:solidFill>
            <a:prstDash val="solid"/>
          </a:ln>
        </p:spPr>
      </p:sp>
      <p:sp>
        <p:nvSpPr>
          <p:cNvPr id="101" name="ban-local-title">
            <a:extLst xmlns:a="http://schemas.openxmlformats.org/drawingml/2006/main">
              <a:ext uri="{FF2B5EF4-FFF2-40B4-BE49-F238E27FC236}">
                <a16:creationId xmlns:a16="http://schemas.microsoft.com/office/drawing/2014/main" id="{EBBD021B-7ED6-4AFC-BEF0-9C8DBE04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43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禁停标牌</a:t>
            </a:r>
          </a:p>
        </p:txBody>
      </p:sp>
      <p:sp>
        <p:nvSpPr>
          <p:cNvPr id="102" name="ban-local-road">
            <a:extLst xmlns:a="http://schemas.openxmlformats.org/drawingml/2006/main">
              <a:ext uri="{FF2B5EF4-FFF2-40B4-BE49-F238E27FC236}">
                <a16:creationId xmlns:a16="http://schemas.microsoft.com/office/drawing/2014/main" id="{F6E2E505-79C7-4456-A1C8-4649B667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2619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3" name="ban-local-lane-divider">
            <a:extLst xmlns:a="http://schemas.openxmlformats.org/drawingml/2006/main">
              <a:ext uri="{FF2B5EF4-FFF2-40B4-BE49-F238E27FC236}">
                <a16:creationId xmlns:a16="http://schemas.microsoft.com/office/drawing/2014/main" id="{137518B6-7696-4593-B1A2-5BE0A82D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00550"/>
            <a:ext cx="2619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4" name="ban-local-next-junction">
            <a:extLst xmlns:a="http://schemas.openxmlformats.org/drawingml/2006/main">
              <a:ext uri="{FF2B5EF4-FFF2-40B4-BE49-F238E27FC236}">
                <a16:creationId xmlns:a16="http://schemas.microsoft.com/office/drawing/2014/main" id="{D7D383D0-034B-4856-9FDA-D2DBF491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0C7"/>
            </a:solidFill>
            <a:prstDash val="solid"/>
          </a:ln>
        </p:spPr>
      </p:sp>
      <p:sp>
        <p:nvSpPr>
          <p:cNvPr id="105" name="ban-local-current-side">
            <a:extLst xmlns:a="http://schemas.openxmlformats.org/drawingml/2006/main">
              <a:ext uri="{FF2B5EF4-FFF2-40B4-BE49-F238E27FC236}">
                <a16:creationId xmlns:a16="http://schemas.microsoft.com/office/drawing/2014/main" id="{AAF38D2F-7CC2-4BC0-A83E-C70FE599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1752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7D2633"/>
            </a:solidFill>
            <a:prstDash val="solid"/>
          </a:ln>
        </p:spPr>
      </p:sp>
      <p:sp>
        <p:nvSpPr>
          <p:cNvPr id="106" name="ban-local-current-direction">
            <a:extLst xmlns:a="http://schemas.openxmlformats.org/drawingml/2006/main">
              <a:ext uri="{FF2B5EF4-FFF2-40B4-BE49-F238E27FC236}">
                <a16:creationId xmlns:a16="http://schemas.microsoft.com/office/drawing/2014/main" id="{1F026C34-D1A3-41B3-B983-872F3E25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10050"/>
            <a:ext cx="7429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4763">
            <a:solidFill>
              <a:srgbClr val="303634"/>
            </a:solidFill>
            <a:prstDash val="solid"/>
          </a:ln>
        </p:spPr>
      </p:sp>
      <p:sp>
        <p:nvSpPr>
          <p:cNvPr id="107" name="ban-local-opposite-direction">
            <a:extLst xmlns:a="http://schemas.openxmlformats.org/drawingml/2006/main">
              <a:ext uri="{FF2B5EF4-FFF2-40B4-BE49-F238E27FC236}">
                <a16:creationId xmlns:a16="http://schemas.microsoft.com/office/drawing/2014/main" id="{C6E0A1B4-5353-435D-A55B-BF82040E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467225"/>
            <a:ext cx="7429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4763">
            <a:solidFill>
              <a:srgbClr val="303634"/>
            </a:solidFill>
            <a:prstDash val="solid"/>
          </a:ln>
        </p:spPr>
      </p:sp>
      <p:sp>
        <p:nvSpPr>
          <p:cNvPr id="108" name="ban-local-sign">
            <a:extLst xmlns:a="http://schemas.openxmlformats.org/drawingml/2006/main">
              <a:ext uri="{FF2B5EF4-FFF2-40B4-BE49-F238E27FC236}">
                <a16:creationId xmlns:a16="http://schemas.microsoft.com/office/drawing/2014/main" id="{E6FC5F6B-1AB1-4155-BD34-D466220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62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09" name="ban-local-sign-slash">
            <a:extLst xmlns:a="http://schemas.openxmlformats.org/drawingml/2006/main">
              <a:ext uri="{FF2B5EF4-FFF2-40B4-BE49-F238E27FC236}">
                <a16:creationId xmlns:a16="http://schemas.microsoft.com/office/drawing/2014/main" id="{654D5B9E-7FDF-4EAC-85B4-7736962D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1333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10" name="ban-local-rule">
            <a:extLst xmlns:a="http://schemas.openxmlformats.org/drawingml/2006/main">
              <a:ext uri="{FF2B5EF4-FFF2-40B4-BE49-F238E27FC236}">
                <a16:creationId xmlns:a16="http://schemas.microsoft.com/office/drawing/2014/main" id="{2DA7919A-F358-42F0-B4D3-C7393770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720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当前路段＋标牌所在侧行驶方向</a:t>
            </a:r>
          </a:p>
        </p:txBody>
      </p:sp>
      <p:sp>
        <p:nvSpPr>
          <p:cNvPr id="111" name="ban-local-boundary">
            <a:extLst xmlns:a="http://schemas.openxmlformats.org/drawingml/2006/main">
              <a:ext uri="{FF2B5EF4-FFF2-40B4-BE49-F238E27FC236}">
                <a16:creationId xmlns:a16="http://schemas.microsoft.com/office/drawing/2014/main" id="{7C837C95-4D80-47F6-AA0C-74CD9352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149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不跨越路口，也不向后续路段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无限传播</a:t>
            </a:r>
          </a:p>
        </p:txBody>
      </p:sp>
      <p:sp>
        <p:nvSpPr>
          <p:cNvPr id="112" name="parking-local-title">
            <a:extLst xmlns:a="http://schemas.openxmlformats.org/drawingml/2006/main">
              <a:ext uri="{FF2B5EF4-FFF2-40B4-BE49-F238E27FC236}">
                <a16:creationId xmlns:a16="http://schemas.microsoft.com/office/drawing/2014/main" id="{B8BC5727-9475-42BF-979F-E03EC6B7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43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明确停车位</a:t>
            </a:r>
          </a:p>
        </p:txBody>
      </p:sp>
      <p:sp>
        <p:nvSpPr>
          <p:cNvPr id="113" name="parking-local-road">
            <a:extLst xmlns:a="http://schemas.openxmlformats.org/drawingml/2006/main">
              <a:ext uri="{FF2B5EF4-FFF2-40B4-BE49-F238E27FC236}">
                <a16:creationId xmlns:a16="http://schemas.microsoft.com/office/drawing/2014/main" id="{E068E2C8-9412-431C-88BB-F07581E6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86250"/>
            <a:ext cx="2619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14" name="parking-local-bay-1">
            <a:extLst xmlns:a="http://schemas.openxmlformats.org/drawingml/2006/main">
              <a:ext uri="{FF2B5EF4-FFF2-40B4-BE49-F238E27FC236}">
                <a16:creationId xmlns:a16="http://schemas.microsoft.com/office/drawing/2014/main" id="{629E50BA-2EE6-429D-83BF-978D3B04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361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03634"/>
            </a:solidFill>
            <a:prstDash val="solid"/>
          </a:ln>
        </p:spPr>
      </p:sp>
      <p:sp>
        <p:nvSpPr>
          <p:cNvPr id="115" name="parking-local-bay-2">
            <a:extLst xmlns:a="http://schemas.openxmlformats.org/drawingml/2006/main">
              <a:ext uri="{FF2B5EF4-FFF2-40B4-BE49-F238E27FC236}">
                <a16:creationId xmlns:a16="http://schemas.microsoft.com/office/drawing/2014/main" id="{F505EE70-D707-4952-B9B4-3F602DDF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57650"/>
            <a:ext cx="361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03634"/>
            </a:solidFill>
            <a:prstDash val="solid"/>
          </a:ln>
        </p:spPr>
      </p:sp>
      <p:sp>
        <p:nvSpPr>
          <p:cNvPr id="116" name="parking-local-bay-3">
            <a:extLst xmlns:a="http://schemas.openxmlformats.org/drawingml/2006/main">
              <a:ext uri="{FF2B5EF4-FFF2-40B4-BE49-F238E27FC236}">
                <a16:creationId xmlns:a16="http://schemas.microsoft.com/office/drawing/2014/main" id="{66CF2C9A-9174-47CF-BB88-47E4C0D9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057650"/>
            <a:ext cx="361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03634"/>
            </a:solidFill>
            <a:prstDash val="solid"/>
          </a:ln>
        </p:spPr>
      </p:sp>
      <p:sp>
        <p:nvSpPr>
          <p:cNvPr id="117" name="parking-local-allowed">
            <a:extLst xmlns:a="http://schemas.openxmlformats.org/drawingml/2006/main">
              <a:ext uri="{FF2B5EF4-FFF2-40B4-BE49-F238E27FC236}">
                <a16:creationId xmlns:a16="http://schemas.microsoft.com/office/drawing/2014/main" id="{996D6100-9154-4555-BA63-F9EB7279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00550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03634"/>
            </a:solidFill>
            <a:prstDash val="solid"/>
          </a:ln>
        </p:spPr>
      </p:sp>
      <p:sp>
        <p:nvSpPr>
          <p:cNvPr id="118" name="parking-local-stricter">
            <a:extLst xmlns:a="http://schemas.openxmlformats.org/drawingml/2006/main">
              <a:ext uri="{FF2B5EF4-FFF2-40B4-BE49-F238E27FC236}">
                <a16:creationId xmlns:a16="http://schemas.microsoft.com/office/drawing/2014/main" id="{72923916-5707-40F0-8C93-B4FD3F2C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714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4763">
            <a:solidFill>
              <a:srgbClr val="7D2633"/>
            </a:solidFill>
            <a:prstDash val="solid"/>
          </a:ln>
        </p:spPr>
      </p:sp>
      <p:sp>
        <p:nvSpPr>
          <p:cNvPr id="119" name="parking-local-direction">
            <a:extLst xmlns:a="http://schemas.openxmlformats.org/drawingml/2006/main">
              <a:ext uri="{FF2B5EF4-FFF2-40B4-BE49-F238E27FC236}">
                <a16:creationId xmlns:a16="http://schemas.microsoft.com/office/drawing/2014/main" id="{A9BE5F39-4D2B-4F83-836A-510170AB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81500"/>
            <a:ext cx="6477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4763">
            <a:solidFill>
              <a:srgbClr val="303634"/>
            </a:solidFill>
            <a:prstDash val="solid"/>
          </a:ln>
        </p:spPr>
      </p:sp>
      <p:sp>
        <p:nvSpPr>
          <p:cNvPr id="120" name="parking-local-rule">
            <a:extLst xmlns:a="http://schemas.openxmlformats.org/drawingml/2006/main">
              <a:ext uri="{FF2B5EF4-FFF2-40B4-BE49-F238E27FC236}">
                <a16:creationId xmlns:a16="http://schemas.microsoft.com/office/drawing/2014/main" id="{C7ECA606-0CCF-463D-BEE6-3663FDF1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77202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明确几何是允许证据</a:t>
            </a:r>
          </a:p>
        </p:txBody>
      </p:sp>
      <p:sp>
        <p:nvSpPr>
          <p:cNvPr id="121" name="parking-local-boundary">
            <a:extLst xmlns:a="http://schemas.openxmlformats.org/drawingml/2006/main">
              <a:ext uri="{FF2B5EF4-FFF2-40B4-BE49-F238E27FC236}">
                <a16:creationId xmlns:a16="http://schemas.microsoft.com/office/drawing/2014/main" id="{34480DF7-9705-4A0C-B132-7E70319A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1492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关联路段＋行驶方向；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不覆盖更严格规则</a:t>
            </a:r>
          </a:p>
        </p:txBody>
      </p:sp>
      <p:sp>
        <p:nvSpPr>
          <p:cNvPr id="122" name="synthesis-divider">
            <a:extLst xmlns:a="http://schemas.openxmlformats.org/drawingml/2006/main">
              <a:ext uri="{FF2B5EF4-FFF2-40B4-BE49-F238E27FC236}">
                <a16:creationId xmlns:a16="http://schemas.microsoft.com/office/drawing/2014/main" id="{1079454F-7EA4-4C27-B243-05BDFF8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10250"/>
            <a:ext cx="1105509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23" name="synthesis-left">
            <a:extLst xmlns:a="http://schemas.openxmlformats.org/drawingml/2006/main">
              <a:ext uri="{FF2B5EF4-FFF2-40B4-BE49-F238E27FC236}">
                <a16:creationId xmlns:a16="http://schemas.microsoft.com/office/drawing/2014/main" id="{27D8D24E-4F0C-486E-AD5E-8E18B2D6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436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同一区间命中多条规则，取最严格结果</a:t>
            </a:r>
          </a:p>
        </p:txBody>
      </p:sp>
      <p:sp>
        <p:nvSpPr>
          <p:cNvPr id="124" name="synthesis-priority">
            <a:extLst xmlns:a="http://schemas.openxmlformats.org/drawingml/2006/main">
              <a:ext uri="{FF2B5EF4-FFF2-40B4-BE49-F238E27FC236}">
                <a16:creationId xmlns:a16="http://schemas.microsoft.com/office/drawing/2014/main" id="{C8C5E28D-ECF6-47E8-A65D-64017FDE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150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禁止停车 ＞ 即停即走 ＞ 临时停靠</a:t>
            </a:r>
          </a:p>
        </p:txBody>
      </p:sp>
      <p:sp>
        <p:nvSpPr>
          <p:cNvPr id="125" name="synthesis-vehicle">
            <a:extLst xmlns:a="http://schemas.openxmlformats.org/drawingml/2006/main">
              <a:ext uri="{FF2B5EF4-FFF2-40B4-BE49-F238E27FC236}">
                <a16:creationId xmlns:a16="http://schemas.microsoft.com/office/drawing/2014/main" id="{D2CAEC8F-1E2F-4758-A40C-ECBD3629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8769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车辆只能收紧，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不能推翻RCSD硬禁停</a:t>
            </a:r>
          </a:p>
        </p:txBody>
      </p:sp>
      <p:sp>
        <p:nvSpPr>
          <p:cNvPr id="126" name="synthesis-rail">
            <a:extLst xmlns:a="http://schemas.openxmlformats.org/drawingml/2006/main">
              <a:ext uri="{FF2B5EF4-FFF2-40B4-BE49-F238E27FC236}">
                <a16:creationId xmlns:a16="http://schemas.microsoft.com/office/drawing/2014/main" id="{CC252908-397C-45C2-B319-0386C440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15100"/>
            <a:ext cx="9906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D0C7"/>
            </a:solidFill>
            <a:prstDash val="solid"/>
          </a:ln>
        </p:spPr>
      </p:sp>
      <p:sp>
        <p:nvSpPr>
          <p:cNvPr id="127" name="synthesis-node-left">
            <a:extLst xmlns:a="http://schemas.openxmlformats.org/drawingml/2006/main">
              <a:ext uri="{FF2B5EF4-FFF2-40B4-BE49-F238E27FC236}">
                <a16:creationId xmlns:a16="http://schemas.microsoft.com/office/drawing/2014/main" id="{6E2F6076-738A-49AB-AC49-D05E3B28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46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128" name="synthesis-node-center">
            <a:extLst xmlns:a="http://schemas.openxmlformats.org/drawingml/2006/main">
              <a:ext uri="{FF2B5EF4-FFF2-40B4-BE49-F238E27FC236}">
                <a16:creationId xmlns:a16="http://schemas.microsoft.com/office/drawing/2014/main" id="{739F623B-481E-4448-8B07-649A8860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46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3634"/>
            </a:solidFill>
            <a:prstDash val="solid"/>
          </a:ln>
        </p:spPr>
      </p:sp>
      <p:sp>
        <p:nvSpPr>
          <p:cNvPr id="129" name="synthesis-node-right">
            <a:extLst xmlns:a="http://schemas.openxmlformats.org/drawingml/2006/main">
              <a:ext uri="{FF2B5EF4-FFF2-40B4-BE49-F238E27FC236}">
                <a16:creationId xmlns:a16="http://schemas.microsoft.com/office/drawing/2014/main" id="{FC06A3DE-F714-4056-86DF-8ABB685D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46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363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5998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title">
            <a:extLst xmlns:a="http://schemas.openxmlformats.org/drawingml/2006/main">
              <a:ext uri="{FF2B5EF4-FFF2-40B4-BE49-F238E27FC236}">
                <a16:creationId xmlns:a16="http://schemas.microsoft.com/office/drawing/2014/main" id="{5784E015-7CE4-4938-BCD8-B520337A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越野地图：用大模型压缩需求澄清到可发布原型的迭代周期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6006C85-07D8-4C44-9AA4-5067C50D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真实素材与业务输入经数据契约、交互原型、人工评审和冻结发布形成敏捷闭环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959260D-EF2B-46B6-B561-37B9727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offroad-loop-label">
            <a:extLst xmlns:a="http://schemas.openxmlformats.org/drawingml/2006/main">
              <a:ext uri="{FF2B5EF4-FFF2-40B4-BE49-F238E27FC236}">
                <a16:creationId xmlns:a16="http://schemas.microsoft.com/office/drawing/2014/main" id="{527D1CEB-1C83-47EC-AD1B-AEC0C795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四阶段敏捷闭环</a:t>
            </a:r>
          </a:p>
        </p:txBody>
      </p:sp>
      <p:sp>
        <p:nvSpPr>
          <p:cNvPr id="5" name="offroad-spine">
            <a:extLst xmlns:a="http://schemas.openxmlformats.org/drawingml/2006/main">
              <a:ext uri="{FF2B5EF4-FFF2-40B4-BE49-F238E27FC236}">
                <a16:creationId xmlns:a16="http://schemas.microsoft.com/office/drawing/2014/main" id="{6F27898C-1E5C-42F0-897F-D075F9CD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24025"/>
            <a:ext cx="9525" cy="3152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C7"/>
            </a:solidFill>
            <a:prstDash val="solid"/>
          </a:ln>
        </p:spPr>
      </p:sp>
      <p:sp>
        <p:nvSpPr>
          <p:cNvPr id="6" name="offroad-dot-1">
            <a:extLst xmlns:a="http://schemas.openxmlformats.org/drawingml/2006/main">
              <a:ext uri="{FF2B5EF4-FFF2-40B4-BE49-F238E27FC236}">
                <a16:creationId xmlns:a16="http://schemas.microsoft.com/office/drawing/2014/main" id="{B04F95D5-6D5C-461E-AE08-26C04C6B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24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7" name="offroad-num-1">
            <a:extLst xmlns:a="http://schemas.openxmlformats.org/drawingml/2006/main">
              <a:ext uri="{FF2B5EF4-FFF2-40B4-BE49-F238E27FC236}">
                <a16:creationId xmlns:a16="http://schemas.microsoft.com/office/drawing/2014/main" id="{CA641382-4B00-476F-BCFA-02D8E0F0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offroad-title-1">
            <a:extLst xmlns:a="http://schemas.openxmlformats.org/drawingml/2006/main">
              <a:ext uri="{FF2B5EF4-FFF2-40B4-BE49-F238E27FC236}">
                <a16:creationId xmlns:a16="http://schemas.microsoft.com/office/drawing/2014/main" id="{9F3BED3E-20E5-4856-A4E3-E9D5FD82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6097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业务输入</a:t>
            </a:r>
          </a:p>
        </p:txBody>
      </p:sp>
      <p:sp>
        <p:nvSpPr>
          <p:cNvPr id="9" name="offroad-body-1">
            <a:extLst xmlns:a="http://schemas.openxmlformats.org/drawingml/2006/main">
              <a:ext uri="{FF2B5EF4-FFF2-40B4-BE49-F238E27FC236}">
                <a16:creationId xmlns:a16="http://schemas.microsoft.com/office/drawing/2014/main" id="{E0DF2B7D-F21A-4E50-8B74-2442A3A5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97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真实素材与业务输入</a:t>
            </a:r>
          </a:p>
        </p:txBody>
      </p:sp>
      <p:sp>
        <p:nvSpPr>
          <p:cNvPr id="10" name="offroad-dot-2">
            <a:extLst xmlns:a="http://schemas.openxmlformats.org/drawingml/2006/main">
              <a:ext uri="{FF2B5EF4-FFF2-40B4-BE49-F238E27FC236}">
                <a16:creationId xmlns:a16="http://schemas.microsoft.com/office/drawing/2014/main" id="{2F4CFCD8-47BC-4262-877B-2CE952EB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1" name="offroad-num-2">
            <a:extLst xmlns:a="http://schemas.openxmlformats.org/drawingml/2006/main">
              <a:ext uri="{FF2B5EF4-FFF2-40B4-BE49-F238E27FC236}">
                <a16:creationId xmlns:a16="http://schemas.microsoft.com/office/drawing/2014/main" id="{EF4B4478-262B-4347-992A-29401FBF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offroad-title-2">
            <a:extLst xmlns:a="http://schemas.openxmlformats.org/drawingml/2006/main">
              <a:ext uri="{FF2B5EF4-FFF2-40B4-BE49-F238E27FC236}">
                <a16:creationId xmlns:a16="http://schemas.microsoft.com/office/drawing/2014/main" id="{F5307149-C39E-4CBC-A2E8-11C7DB92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384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大模型澄清 / 数据契约</a:t>
            </a:r>
          </a:p>
        </p:txBody>
      </p:sp>
      <p:sp>
        <p:nvSpPr>
          <p:cNvPr id="13" name="offroad-body-2">
            <a:extLst xmlns:a="http://schemas.openxmlformats.org/drawingml/2006/main">
              <a:ext uri="{FF2B5EF4-FFF2-40B4-BE49-F238E27FC236}">
                <a16:creationId xmlns:a16="http://schemas.microsoft.com/office/drawing/2014/main" id="{2B5CADBB-77F1-4424-BBAA-7856C874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大模型辅助拆分场景、澄清需求，
形成可追溯的数据契约。</a:t>
            </a:r>
          </a:p>
        </p:txBody>
      </p:sp>
      <p:sp>
        <p:nvSpPr>
          <p:cNvPr id="14" name="offroad-dot-3">
            <a:extLst xmlns:a="http://schemas.openxmlformats.org/drawingml/2006/main">
              <a:ext uri="{FF2B5EF4-FFF2-40B4-BE49-F238E27FC236}">
                <a16:creationId xmlns:a16="http://schemas.microsoft.com/office/drawing/2014/main" id="{949224BF-D564-45EA-8B06-FA3F2582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38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15" name="offroad-num-3">
            <a:extLst xmlns:a="http://schemas.openxmlformats.org/drawingml/2006/main">
              <a:ext uri="{FF2B5EF4-FFF2-40B4-BE49-F238E27FC236}">
                <a16:creationId xmlns:a16="http://schemas.microsoft.com/office/drawing/2014/main" id="{A35E26DF-775E-4BE0-BD9C-4DFAA062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575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offroad-title-3">
            <a:extLst xmlns:a="http://schemas.openxmlformats.org/drawingml/2006/main">
              <a:ext uri="{FF2B5EF4-FFF2-40B4-BE49-F238E27FC236}">
                <a16:creationId xmlns:a16="http://schemas.microsoft.com/office/drawing/2014/main" id="{D458F0F5-15D6-4186-8917-F659292E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快速原型</a:t>
            </a:r>
          </a:p>
        </p:txBody>
      </p:sp>
      <p:sp>
        <p:nvSpPr>
          <p:cNvPr id="17" name="offroad-body-3">
            <a:extLst xmlns:a="http://schemas.openxmlformats.org/drawingml/2006/main">
              <a:ext uri="{FF2B5EF4-FFF2-40B4-BE49-F238E27FC236}">
                <a16:creationId xmlns:a16="http://schemas.microsoft.com/office/drawing/2014/main" id="{F96458C7-FB42-438C-BFC7-A07C6537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多轮打磨视觉草案，快速形成可点击原型。</a:t>
            </a:r>
          </a:p>
        </p:txBody>
      </p:sp>
      <p:sp>
        <p:nvSpPr>
          <p:cNvPr id="18" name="offroad-dot-4">
            <a:extLst xmlns:a="http://schemas.openxmlformats.org/drawingml/2006/main">
              <a:ext uri="{FF2B5EF4-FFF2-40B4-BE49-F238E27FC236}">
                <a16:creationId xmlns:a16="http://schemas.microsoft.com/office/drawing/2014/main" id="{0C0FD775-01EE-4292-81AF-A4A2983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91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9" name="offroad-num-4">
            <a:extLst xmlns:a="http://schemas.openxmlformats.org/drawingml/2006/main">
              <a:ext uri="{FF2B5EF4-FFF2-40B4-BE49-F238E27FC236}">
                <a16:creationId xmlns:a16="http://schemas.microsoft.com/office/drawing/2014/main" id="{247E3DCE-3DBA-4CF9-9784-E34D310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10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offroad-title-4">
            <a:extLst xmlns:a="http://schemas.openxmlformats.org/drawingml/2006/main">
              <a:ext uri="{FF2B5EF4-FFF2-40B4-BE49-F238E27FC236}">
                <a16:creationId xmlns:a16="http://schemas.microsoft.com/office/drawing/2014/main" id="{4273732E-267E-4E98-8260-FD257594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767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人工评审冻结发布</a:t>
            </a:r>
          </a:p>
        </p:txBody>
      </p:sp>
      <p:sp>
        <p:nvSpPr>
          <p:cNvPr id="21" name="offroad-body-4">
            <a:extLst xmlns:a="http://schemas.openxmlformats.org/drawingml/2006/main">
              <a:ext uri="{FF2B5EF4-FFF2-40B4-BE49-F238E27FC236}">
                <a16:creationId xmlns:a16="http://schemas.microsoft.com/office/drawing/2014/main" id="{7A41AEF3-0F0A-45D6-A04A-666F037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767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原型已发布为可访问网页，并依据评审反馈持续迭代。</a:t>
            </a:r>
          </a:p>
        </p:txBody>
      </p:sp>
      <p:sp>
        <p:nvSpPr>
          <p:cNvPr id="22" name="offroad-arrow-1-shaft">
            <a:extLst xmlns:a="http://schemas.openxmlformats.org/drawingml/2006/main">
              <a:ext uri="{FF2B5EF4-FFF2-40B4-BE49-F238E27FC236}">
                <a16:creationId xmlns:a16="http://schemas.microsoft.com/office/drawing/2014/main" id="{AFC26A35-FFE5-4FDF-8BB3-6AD0E5DE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95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3" name="offroad-arrow-1-head">
            <a:extLst xmlns:a="http://schemas.openxmlformats.org/drawingml/2006/main">
              <a:ext uri="{FF2B5EF4-FFF2-40B4-BE49-F238E27FC236}">
                <a16:creationId xmlns:a16="http://schemas.microsoft.com/office/drawing/2014/main" id="{113EE98C-0532-4C0C-908B-017450F0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offroad-arrow-2-shaft">
            <a:extLst xmlns:a="http://schemas.openxmlformats.org/drawingml/2006/main">
              <a:ext uri="{FF2B5EF4-FFF2-40B4-BE49-F238E27FC236}">
                <a16:creationId xmlns:a16="http://schemas.microsoft.com/office/drawing/2014/main" id="{242AC2E3-96F7-4203-8ACF-3BC8DC29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5" name="offroad-arrow-2-head">
            <a:extLst xmlns:a="http://schemas.openxmlformats.org/drawingml/2006/main">
              <a:ext uri="{FF2B5EF4-FFF2-40B4-BE49-F238E27FC236}">
                <a16:creationId xmlns:a16="http://schemas.microsoft.com/office/drawing/2014/main" id="{688AC545-666D-4307-B82B-3DF59C3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offroad-arrow-3-shaft">
            <a:extLst xmlns:a="http://schemas.openxmlformats.org/drawingml/2006/main">
              <a:ext uri="{FF2B5EF4-FFF2-40B4-BE49-F238E27FC236}">
                <a16:creationId xmlns:a16="http://schemas.microsoft.com/office/drawing/2014/main" id="{A1A3DEB3-001C-4430-823B-FA698673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952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7" name="offroad-arrow-3-head">
            <a:extLst xmlns:a="http://schemas.openxmlformats.org/drawingml/2006/main">
              <a:ext uri="{FF2B5EF4-FFF2-40B4-BE49-F238E27FC236}">
                <a16:creationId xmlns:a16="http://schemas.microsoft.com/office/drawing/2014/main" id="{AF8ABCA6-BBE8-43EF-8E09-DED1DE52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offroad-feedback">
            <a:extLst xmlns:a="http://schemas.openxmlformats.org/drawingml/2006/main">
              <a:ext uri="{FF2B5EF4-FFF2-40B4-BE49-F238E27FC236}">
                <a16:creationId xmlns:a16="http://schemas.microsoft.com/office/drawing/2014/main" id="{02130017-B133-4039-BB37-3C091ADE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↺  评审反馈进入下一轮需求澄清</a:t>
            </a:r>
          </a:p>
        </p:txBody>
      </p:sp>
      <p:sp>
        <p:nvSpPr>
          <p:cNvPr id="29" name="offroad-shot-label">
            <a:extLst xmlns:a="http://schemas.openxmlformats.org/drawingml/2006/main">
              <a:ext uri="{FF2B5EF4-FFF2-40B4-BE49-F238E27FC236}">
                <a16:creationId xmlns:a16="http://schemas.microsoft.com/office/drawing/2014/main" id="{CD978EC5-3075-4D08-A1C6-F3A345D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266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真实原型截图｜老掌沟</a:t>
            </a:r>
          </a:p>
        </p:txBody>
      </p:sp>
      <p:sp>
        <p:nvSpPr>
          <p:cNvPr id="30" name="offroad-shot-frame">
            <a:extLst xmlns:a="http://schemas.openxmlformats.org/drawingml/2006/main">
              <a:ext uri="{FF2B5EF4-FFF2-40B4-BE49-F238E27FC236}">
                <a16:creationId xmlns:a16="http://schemas.microsoft.com/office/drawing/2014/main" id="{E1ECB119-B0F4-444C-BE96-1AB7FC19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571625"/>
            <a:ext cx="6848475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72" name="图片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3c02ecb0e4524"/>
          <a:stretch xmlns:a="http://schemas.openxmlformats.org/drawingml/2006/main"/>
        </p:blipFill>
        <p:spPr>
          <a:xfrm xmlns:a="http://schemas.openxmlformats.org/drawingml/2006/main">
            <a:off x="4772025" y="1576488"/>
            <a:ext cx="6848475" cy="3295450"/>
          </a:xfrm>
          <a:prstGeom xmlns:a="http://schemas.openxmlformats.org/drawingml/2006/main" prst="rect">
            <a:avLst/>
          </a:prstGeom>
        </p:spPr>
      </p:pic>
      <p:sp>
        <p:nvSpPr>
          <p:cNvPr id="32" name="offroad-freeze-bg">
            <a:extLst xmlns:a="http://schemas.openxmlformats.org/drawingml/2006/main">
              <a:ext uri="{FF2B5EF4-FFF2-40B4-BE49-F238E27FC236}">
                <a16:creationId xmlns:a16="http://schemas.microsoft.com/office/drawing/2014/main" id="{0A13F1CE-D64D-4290-A73B-2361536C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53000"/>
            <a:ext cx="68484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3" name="offroad-freeze">
            <a:extLst xmlns:a="http://schemas.openxmlformats.org/drawingml/2006/main">
              <a:ext uri="{FF2B5EF4-FFF2-40B4-BE49-F238E27FC236}">
                <a16:creationId xmlns:a16="http://schemas.microsoft.com/office/drawing/2014/main" id="{817D9B7F-AB2A-4CD6-90C8-6006DB1B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648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演示脚本、构建检查、截图、结构化记录与校验值共同冻结证据。</a:t>
            </a:r>
          </a:p>
        </p:txBody>
      </p:sp>
      <p:sp>
        <p:nvSpPr>
          <p:cNvPr id="34" name="offroad-human-gate">
            <a:extLst xmlns:a="http://schemas.openxmlformats.org/drawingml/2006/main">
              <a:ext uri="{FF2B5EF4-FFF2-40B4-BE49-F238E27FC236}">
                <a16:creationId xmlns:a16="http://schemas.microsoft.com/office/drawing/2014/main" id="{E519E289-31C4-48F4-9917-A47FCBF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1104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D2633"/>
            </a:solidFill>
            <a:prstDash val="solid"/>
          </a:ln>
        </p:spPr>
      </p:sp>
      <p:sp>
        <p:nvSpPr>
          <p:cNvPr id="35" name="offroad-human-gate-text">
            <a:extLst xmlns:a="http://schemas.openxmlformats.org/drawingml/2006/main">
              <a:ext uri="{FF2B5EF4-FFF2-40B4-BE49-F238E27FC236}">
                <a16:creationId xmlns:a16="http://schemas.microsoft.com/office/drawing/2014/main" id="{3C825D01-8920-4204-88E9-40C41D8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591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大模型负责生成候选工件，事实、边界和冻结版本由人确认。</a:t>
            </a:r>
          </a:p>
        </p:txBody>
      </p:sp>
      <p:sp>
        <p:nvSpPr>
          <p:cNvPr id="37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553B7455-21E9-4D97-A9FB-06FD70C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57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C646ECC5-D0ED-44B3-A7D7-85C930EE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15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39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62094355-6661-4FDD-B1F1-D10F5EE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96000"/>
            <a:ext cx="940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公开兴趣点、路线和媒体资料只作为候选线索，不用于导航、救援或车辆控制。</a:t>
            </a:r>
          </a:p>
        </p:txBody>
      </p:sp>
    </p:spTree>
    <p:extLst>
      <p:ext uri="{BB962C8B-B14F-4D97-AF65-F5344CB8AC3E}">
        <p14:creationId xmlns:p14="http://schemas.microsoft.com/office/powerpoint/2010/main" val="85356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2026-08-05T12:48:12.1260000Z</dcterms:created>
  <dcterms:modified xsi:type="dcterms:W3CDTF">2026-08-05T12:48:12.1260000Z</dcterms:modified>
</coreProperties>
</file>