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fae04a0e54a06" /><Relationship Type="http://schemas.openxmlformats.org/officeDocument/2006/relationships/extended-properties" Target="/docProps/app.xml" Id="R648173e6bbab4d2a" /><Relationship Type="http://schemas.openxmlformats.org/officeDocument/2006/relationships/officeDocument" Target="/ppt/presentation.xml" Id="Rb4939fda50be4e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cf3559d38c4626"/>
  </p:sldMasterIdLst>
  <p:notesMasterIdLst>
    <p:notesMasterId xmlns:r="http://schemas.openxmlformats.org/officeDocument/2006/relationships" r:id="R3dc8ce4407704518"/>
  </p:notesMasterIdLst>
  <p:sldIdLst>
    <p:sldId xmlns:r="http://schemas.openxmlformats.org/officeDocument/2006/relationships" id="256" r:id="R956ad0931fd24f5d"/>
    <p:sldId xmlns:r="http://schemas.openxmlformats.org/officeDocument/2006/relationships" id="257" r:id="R4a4890317bb940ad"/>
    <p:sldId xmlns:r="http://schemas.openxmlformats.org/officeDocument/2006/relationships" id="258" r:id="Ra5727587f6c043ec"/>
    <p:sldId xmlns:r="http://schemas.openxmlformats.org/officeDocument/2006/relationships" id="259" r:id="Rdc442634e0c74e2f"/>
    <p:sldId xmlns:r="http://schemas.openxmlformats.org/officeDocument/2006/relationships" id="260" r:id="Rdc8fa2d7f98e4836"/>
    <p:sldId xmlns:r="http://schemas.openxmlformats.org/officeDocument/2006/relationships" id="261" r:id="R64668903f09841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cc833718be477e" /><Relationship Type="http://schemas.openxmlformats.org/officeDocument/2006/relationships/slideMaster" Target="/ppt/slideMasters/slideMaster1.xml" Id="R93cf3559d38c4626" /><Relationship Type="http://schemas.openxmlformats.org/officeDocument/2006/relationships/notesMaster" Target="/ppt/notesMasters/notesMaster1.xml" Id="R3dc8ce4407704518" /><Relationship Type="http://schemas.openxmlformats.org/officeDocument/2006/relationships/presProps" Target="/ppt/presProps.xml" Id="R9fafd166463a4944" /><Relationship Type="http://schemas.openxmlformats.org/officeDocument/2006/relationships/tableStyles" Target="/ppt/tableStyles.xml" Id="Ra8d1e8d4c9734376" /><Relationship Type="http://schemas.openxmlformats.org/officeDocument/2006/relationships/slide" Target="/ppt/slides/slide1.xml" Id="R956ad0931fd24f5d" /><Relationship Type="http://schemas.openxmlformats.org/officeDocument/2006/relationships/slide" Target="/ppt/slides/slide2.xml" Id="R4a4890317bb940ad" /><Relationship Type="http://schemas.openxmlformats.org/officeDocument/2006/relationships/slide" Target="/ppt/slides/slide3.xml" Id="Ra5727587f6c043ec" /><Relationship Type="http://schemas.openxmlformats.org/officeDocument/2006/relationships/slide" Target="/ppt/slides/slide4.xml" Id="Rdc442634e0c74e2f" /><Relationship Type="http://schemas.openxmlformats.org/officeDocument/2006/relationships/slide" Target="/ppt/slides/slide5.xml" Id="Rdc8fa2d7f98e4836" /><Relationship Type="http://schemas.openxmlformats.org/officeDocument/2006/relationships/slide" Target="/ppt/slides/slide6.xml" Id="R64668903f09841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233e2edee341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e129566074ede" /><Relationship Type="http://schemas.openxmlformats.org/officeDocument/2006/relationships/notesMaster" Target="/ppt/notesMasters/notesMaster1.xml" Id="Rd48df716567f44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499715f8914030" /><Relationship Type="http://schemas.openxmlformats.org/officeDocument/2006/relationships/notesMaster" Target="/ppt/notesMasters/notesMaster1.xml" Id="R7e454c51487542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aaee4fa64c47cc" /><Relationship Type="http://schemas.openxmlformats.org/officeDocument/2006/relationships/notesMaster" Target="/ppt/notesMasters/notesMaster1.xml" Id="Rde5c8344f83547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eddad26ce74508" /><Relationship Type="http://schemas.openxmlformats.org/officeDocument/2006/relationships/notesMaster" Target="/ppt/notesMasters/notesMaster1.xml" Id="Rc584aa055a8e4d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794e88ef0d490b" /><Relationship Type="http://schemas.openxmlformats.org/officeDocument/2006/relationships/notesMaster" Target="/ppt/notesMasters/notesMaster1.xml" Id="R92250395d9ce43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31d020d2de4335" /><Relationship Type="http://schemas.openxmlformats.org/officeDocument/2006/relationships/notesMaster" Target="/ppt/notesMasters/notesMaster1.xml" Id="Re77bea48d65e45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docs/PROJECT_REQUIREMENTS.md</a:t>
            </a:r>
          </a:p>
          <a:p xmlns:a="http://schemas.openxmlformats.org/drawingml/2006/main">
            <a:r>
              <a:t>- docs/doc-governance/module-lifecycle.md</a:t>
            </a:r>
          </a:p>
          <a:p xmlns:a="http://schemas.openxmlformats.org/drawingml/2006/main">
            <a:r>
              <a:t>- modules/t01_data_preprocess/SPEC.md</a:t>
            </a:r>
          </a:p>
          <a:p xmlns:a="http://schemas.openxmlformats.org/drawingml/2006/main">
            <a:r>
              <a:t>- modules/t07_semantic_junction_anchor/SPEC.md</a:t>
            </a:r>
          </a:p>
          <a:p xmlns:a="http://schemas.openxmlformats.org/drawingml/2006/main">
            <a:r>
              <a:t>- modules/t03_virtual_junction_anchor/SPEC.md</a:t>
            </a:r>
          </a:p>
          <a:p xmlns:a="http://schemas.openxmlformats.org/drawingml/2006/main">
            <a:r>
              <a:t>- modules/t04_divmerge_virtual_polygon/SPEC.md</a:t>
            </a:r>
          </a:p>
          <a:p xmlns:a="http://schemas.openxmlformats.org/drawingml/2006/main">
            <a:r>
              <a:t>- modules/t05_junction_surface_fusion/SPEC.md</a:t>
            </a:r>
          </a:p>
          <a:p xmlns:a="http://schemas.openxmlformats.org/drawingml/2006/main">
            <a:r>
              <a:t>- modules/t06_segment_fusion_precheck/INTERFACE_CONTRACT.md</a:t>
            </a:r>
          </a:p>
          <a:p xmlns:a="http://schemas.openxmlformats.org/drawingml/2006/main">
            <a:r>
              <a:t>- modules/t12_frcsd_quality_audit/INTERFACE_CONTRACT.md</a:t>
            </a:r>
          </a:p>
          <a:p xmlns:a="http://schemas.openxmlformats.org/drawingml/2006/main">
            <a:r>
              <a:t>- modules/p04_road_direct_generation/INTERFACE_CONTRACT.md</a:t>
            </a:r>
          </a:p>
          <a:p xmlns:a="http://schemas.openxmlformats.org/drawingml/2006/main">
            <a:r>
              <a:t>- modules/p05_neural_road_generation/INTERFACE_CONTRACT.md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modules/t06_segment_fusion_precheck/SPEC.md</a:t>
            </a:r>
          </a:p>
          <a:p xmlns:a="http://schemas.openxmlformats.org/drawingml/2006/main">
            <a:r>
              <a:t>- modules/p05_neural_road_generation/SPEC.md</a:t>
            </a:r>
          </a:p>
          <a:p xmlns:a="http://schemas.openxmlformats.org/drawingml/2006/main">
            <a:r>
              <a:t>- docs/doc-governance/module-lifecycle.md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modules/t12_frcsd_quality_audit/SPEC.md</a:t>
            </a:r>
          </a:p>
          <a:p xmlns:a="http://schemas.openxmlformats.org/drawingml/2006/main">
            <a:r>
              <a:t>- modules/t12_frcsd_quality_audit/architecture/05-quality-requirements.md</a:t>
            </a:r>
          </a:p>
          <a:p xmlns:a="http://schemas.openxmlformats.org/drawingml/2006/main">
            <a:r>
              <a:t>- modules/t12_frcsd_quality_audit/architecture/06-risks-and-technical-debt.md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modules/p04_road_direct_generation/SPEC.md</a:t>
            </a:r>
          </a:p>
          <a:p xmlns:a="http://schemas.openxmlformats.org/drawingml/2006/main">
            <a:r>
              <a:t>- modules/p04_road_direct_generation/architecture/05-quality-requirements.md</a:t>
            </a:r>
          </a:p>
          <a:p xmlns:a="http://schemas.openxmlformats.org/drawingml/2006/main">
            <a:r>
              <a:t>- docs/doc-governance/module-lifecycle.md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C:\Users\admin\Downloads\L4上下车点技术方案_6页最终发布版_返璞归真视觉_第1页标题统一.pptx</a:t>
            </a:r>
          </a:p>
          <a:p xmlns:a="http://schemas.openxmlformats.org/drawingml/2006/main">
            <a:r>
              <a:t>- The source deck provides the responsibility chain but no production coverage, hit-rate, or safety-effect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E:\Work\Off_Road_Map\modules\p01_phase2_map_prototype\MAP_DATA_STRUCTURE.md</a:t>
            </a:r>
          </a:p>
          <a:p xmlns:a="http://schemas.openxmlformats.org/drawingml/2006/main">
            <a:r>
              <a:t>- E:\Work\Off_Road_Map\docs\reviews\20260801_p01_m9_vehicle_ui_alignment_archive.md</a:t>
            </a:r>
          </a:p>
          <a:p xmlns:a="http://schemas.openxmlformats.org/drawingml/2006/main">
            <a:r>
              <a:t>- E:\Work\Off_Road_Map\docs\reviews\20260801_p01_m9_vehicle_ui_alignment_publish.md</a:t>
            </a:r>
          </a:p>
          <a:p xmlns:a="http://schemas.openxmlformats.org/drawingml/2006/main">
            <a:r>
              <a:t>- Embedded screenshot is frozen prototype evidence; public POIs and route descriptions remain candidate context, not navigation-grade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c58e5206949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7c7b9d42744004" /><Relationship Type="http://schemas.openxmlformats.org/officeDocument/2006/relationships/slideLayout" Target="/ppt/slideLayouts/slideLayout1.xml" Id="Rcdacadf779f64b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acadf779f64b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3cd349e114bfa" /><Relationship Type="http://schemas.openxmlformats.org/officeDocument/2006/relationships/image" Target="/ppt/media/image.png" Id="R420e17f24a934683" /><Relationship Type="http://schemas.openxmlformats.org/officeDocument/2006/relationships/notesSlide" Target="/ppt/notesSlides/notesSlide1.xml" Id="Rfad481b809bd4e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727d54302450a" /><Relationship Type="http://schemas.openxmlformats.org/officeDocument/2006/relationships/image" Target="/ppt/media/image2.png" Id="R4231bb2aa8244f11" /><Relationship Type="http://schemas.openxmlformats.org/officeDocument/2006/relationships/notesSlide" Target="/ppt/notesSlides/notesSlide2.xml" Id="R832f24b83c2042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d92d52cf547fb" /><Relationship Type="http://schemas.openxmlformats.org/officeDocument/2006/relationships/image" Target="/ppt/media/image3.png" Id="R3a88da21f694451a" /><Relationship Type="http://schemas.openxmlformats.org/officeDocument/2006/relationships/notesSlide" Target="/ppt/notesSlides/notesSlide3.xml" Id="R706926b6790a48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ce727ebdc459a" /><Relationship Type="http://schemas.openxmlformats.org/officeDocument/2006/relationships/image" Target="/ppt/media/image4.png" Id="R3a727e42c7a941e1" /><Relationship Type="http://schemas.openxmlformats.org/officeDocument/2006/relationships/notesSlide" Target="/ppt/notesSlides/notesSlide4.xml" Id="R64efd0df464549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d8821cf2345f3" /><Relationship Type="http://schemas.openxmlformats.org/officeDocument/2006/relationships/notesSlide" Target="/ppt/notesSlides/notesSlide5.xml" Id="R50418e5b624447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0cd6b205d44c1" /><Relationship Type="http://schemas.openxmlformats.org/officeDocument/2006/relationships/image" Target="/ppt/media/image5.png" Id="R57af62f00d9b4184" /><Relationship Type="http://schemas.openxmlformats.org/officeDocument/2006/relationships/notesSlide" Target="/ppt/notesSlides/notesSlide6.xml" Id="R303e026f584048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age-title">
            <a:extLst xmlns:a="http://schemas.openxmlformats.org/drawingml/2006/main">
              <a:ext uri="{FF2B5EF4-FFF2-40B4-BE49-F238E27FC236}">
                <a16:creationId xmlns:a16="http://schemas.microsoft.com/office/drawing/2014/main" id="{277F19B6-4BED-48CA-9BA7-B00CB4D6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道路业务全貌：统一认知底座，支撑替换、质检与直建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B2B1350-3A8A-4542-9DC6-89076FB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SWSD 一层语义、现实空间证据与 RCSD 二层对象，先形成路口—路段认知，再进入三条业务闭环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6361FF2-D17F-4FB3-8FF8-E4B4DEA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e17f24a934683"/>
          <a:stretch xmlns:a="http://schemas.openxmlformats.org/drawingml/2006/main"/>
        </p:blipFill>
        <p:spPr>
          <a:xfrm xmlns:a="http://schemas.openxmlformats.org/drawingml/2006/main">
            <a:off x="1066800" y="3390900"/>
            <a:ext cx="1981200" cy="904875"/>
          </a:xfrm>
          <a:prstGeom xmlns:a="http://schemas.openxmlformats.org/drawingml/2006/main" prst="rect">
            <a:avLst/>
          </a:prstGeom>
        </p:spPr>
      </p:pic>
      <p:sp>
        <p:nvSpPr>
          <p:cNvPr id="45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4978EFB4-1A4C-4C8F-A7FF-943B549D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11055096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46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909F5585-C34D-4E33-A6BE-F343BB62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95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7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BB4DDEA0-4E8D-4498-A796-B9F35381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业务全貌</a:t>
            </a:r>
          </a:p>
        </p:txBody>
      </p:sp>
      <p:sp>
        <p:nvSpPr>
          <p:cNvPr id="48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993A7087-8C80-4C77-A57F-9524EA16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2932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先建立可解释、可追溯的路口—路段认知底座，再分别回答：能否替换、哪里有错、如何重建。</a:t>
            </a:r>
          </a:p>
        </p:txBody>
      </p:sp>
      <p:sp>
        <p:nvSpPr>
          <p:cNvPr id="51" name="p1-section-input-number">
            <a:extLst xmlns:a="http://schemas.openxmlformats.org/drawingml/2006/main">
              <a:ext uri="{FF2B5EF4-FFF2-40B4-BE49-F238E27FC236}">
                <a16:creationId xmlns:a16="http://schemas.microsoft.com/office/drawing/2014/main" id="{B2FE3F1F-F612-40D0-9668-D79DE0CF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2" name="p1-section-input-heading">
            <a:extLst xmlns:a="http://schemas.openxmlformats.org/drawingml/2006/main">
              <a:ext uri="{FF2B5EF4-FFF2-40B4-BE49-F238E27FC236}">
                <a16:creationId xmlns:a16="http://schemas.microsoft.com/office/drawing/2014/main" id="{D5ED7BE0-401C-409F-A444-AD62613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573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三类事实输入</a:t>
            </a:r>
          </a:p>
        </p:txBody>
      </p:sp>
      <p:sp>
        <p:nvSpPr>
          <p:cNvPr id="53" name="p1-section-input-divider">
            <a:extLst xmlns:a="http://schemas.openxmlformats.org/drawingml/2006/main">
              <a:ext uri="{FF2B5EF4-FFF2-40B4-BE49-F238E27FC236}">
                <a16:creationId xmlns:a16="http://schemas.microsoft.com/office/drawing/2014/main" id="{1A11BFC9-77D9-487C-BD0F-D296429B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54" name="p1-section-foundation-number">
            <a:extLst xmlns:a="http://schemas.openxmlformats.org/drawingml/2006/main">
              <a:ext uri="{FF2B5EF4-FFF2-40B4-BE49-F238E27FC236}">
                <a16:creationId xmlns:a16="http://schemas.microsoft.com/office/drawing/2014/main" id="{6C9B9DE2-1855-43C6-BCD2-8999E45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5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5" name="p1-section-foundation-heading">
            <a:extLst xmlns:a="http://schemas.openxmlformats.org/drawingml/2006/main">
              <a:ext uri="{FF2B5EF4-FFF2-40B4-BE49-F238E27FC236}">
                <a16:creationId xmlns:a16="http://schemas.microsoft.com/office/drawing/2014/main" id="{73F42948-08AF-43A4-9EBA-5F23E19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2573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共同认知底座</a:t>
            </a:r>
          </a:p>
        </p:txBody>
      </p:sp>
      <p:sp>
        <p:nvSpPr>
          <p:cNvPr id="56" name="p1-section-foundation-divider">
            <a:extLst xmlns:a="http://schemas.openxmlformats.org/drawingml/2006/main">
              <a:ext uri="{FF2B5EF4-FFF2-40B4-BE49-F238E27FC236}">
                <a16:creationId xmlns:a16="http://schemas.microsoft.com/office/drawing/2014/main" id="{2748F0E8-3520-4A2E-B2B1-D434AA09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621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57" name="p1-section-loops-number">
            <a:extLst xmlns:a="http://schemas.openxmlformats.org/drawingml/2006/main">
              <a:ext uri="{FF2B5EF4-FFF2-40B4-BE49-F238E27FC236}">
                <a16:creationId xmlns:a16="http://schemas.microsoft.com/office/drawing/2014/main" id="{C644ACE4-FCA3-4563-B595-B3C8AFEB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8" name="p1-section-loops-heading">
            <a:extLst xmlns:a="http://schemas.openxmlformats.org/drawingml/2006/main">
              <a:ext uri="{FF2B5EF4-FFF2-40B4-BE49-F238E27FC236}">
                <a16:creationId xmlns:a16="http://schemas.microsoft.com/office/drawing/2014/main" id="{85D16A88-EF0A-47F6-9420-A6D228F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57300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三类业务闭环</a:t>
            </a:r>
          </a:p>
        </p:txBody>
      </p:sp>
      <p:sp>
        <p:nvSpPr>
          <p:cNvPr id="59" name="p1-section-loops-divider">
            <a:extLst xmlns:a="http://schemas.openxmlformats.org/drawingml/2006/main">
              <a:ext uri="{FF2B5EF4-FFF2-40B4-BE49-F238E27FC236}">
                <a16:creationId xmlns:a16="http://schemas.microsoft.com/office/drawing/2014/main" id="{8765F348-3FFB-40F8-92B3-6869E342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60" name="p1-input-spine">
            <a:extLst xmlns:a="http://schemas.openxmlformats.org/drawingml/2006/main">
              <a:ext uri="{FF2B5EF4-FFF2-40B4-BE49-F238E27FC236}">
                <a16:creationId xmlns:a16="http://schemas.microsoft.com/office/drawing/2014/main" id="{3465323F-C1C1-4C6D-994C-F0D63270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9750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4CE"/>
            </a:solidFill>
            <a:prstDash val="solid"/>
          </a:ln>
        </p:spPr>
      </p:sp>
      <p:sp>
        <p:nvSpPr>
          <p:cNvPr id="61" name="p1-input-merge-rail">
            <a:extLst xmlns:a="http://schemas.openxmlformats.org/drawingml/2006/main">
              <a:ext uri="{FF2B5EF4-FFF2-40B4-BE49-F238E27FC236}">
                <a16:creationId xmlns:a16="http://schemas.microsoft.com/office/drawing/2014/main" id="{B8BAE170-4E8F-442E-AAC9-D056B6EA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66925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62" name="p1-input-arrow-swsd-shaft">
            <a:extLst xmlns:a="http://schemas.openxmlformats.org/drawingml/2006/main">
              <a:ext uri="{FF2B5EF4-FFF2-40B4-BE49-F238E27FC236}">
                <a16:creationId xmlns:a16="http://schemas.microsoft.com/office/drawing/2014/main" id="{58BB209C-40D4-4A9E-87F4-1E48400D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6692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D2633"/>
            </a:solidFill>
            <a:prstDash val="solid"/>
          </a:ln>
        </p:spPr>
      </p:sp>
      <p:sp>
        <p:nvSpPr>
          <p:cNvPr id="63" name="p1-input-arrow-swsd-head">
            <a:extLst xmlns:a="http://schemas.openxmlformats.org/drawingml/2006/main">
              <a:ext uri="{FF2B5EF4-FFF2-40B4-BE49-F238E27FC236}">
                <a16:creationId xmlns:a16="http://schemas.microsoft.com/office/drawing/2014/main" id="{E43DFDB7-16EC-4F73-A057-7354743C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52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64" name="p1-input-arrow-reality-shaft">
            <a:extLst xmlns:a="http://schemas.openxmlformats.org/drawingml/2006/main">
              <a:ext uri="{FF2B5EF4-FFF2-40B4-BE49-F238E27FC236}">
                <a16:creationId xmlns:a16="http://schemas.microsoft.com/office/drawing/2014/main" id="{76C65A08-EFAD-4FE6-A2C7-6E9D1CB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F7B72"/>
            </a:solidFill>
            <a:prstDash val="solid"/>
          </a:ln>
        </p:spPr>
      </p:sp>
      <p:sp>
        <p:nvSpPr>
          <p:cNvPr id="65" name="p1-input-arrow-reality-head">
            <a:extLst xmlns:a="http://schemas.openxmlformats.org/drawingml/2006/main">
              <a:ext uri="{FF2B5EF4-FFF2-40B4-BE49-F238E27FC236}">
                <a16:creationId xmlns:a16="http://schemas.microsoft.com/office/drawing/2014/main" id="{95DFDADE-60D4-41D0-A845-81049177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623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66" name="p1-input-arrow-rcsd-shaft">
            <a:extLst xmlns:a="http://schemas.openxmlformats.org/drawingml/2006/main">
              <a:ext uri="{FF2B5EF4-FFF2-40B4-BE49-F238E27FC236}">
                <a16:creationId xmlns:a16="http://schemas.microsoft.com/office/drawing/2014/main" id="{B6F6637D-F5F9-41B7-98E6-C2084C96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910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27B62"/>
            </a:solidFill>
            <a:prstDash val="solid"/>
          </a:ln>
        </p:spPr>
      </p:sp>
      <p:sp>
        <p:nvSpPr>
          <p:cNvPr id="67" name="p1-input-arrow-rcsd-head">
            <a:extLst xmlns:a="http://schemas.openxmlformats.org/drawingml/2006/main">
              <a:ext uri="{FF2B5EF4-FFF2-40B4-BE49-F238E27FC236}">
                <a16:creationId xmlns:a16="http://schemas.microsoft.com/office/drawing/2014/main" id="{46312F71-ABD8-4CAD-9F1C-3F64CF63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767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68" name="p1-core-line-left">
            <a:extLst xmlns:a="http://schemas.openxmlformats.org/drawingml/2006/main">
              <a:ext uri="{FF2B5EF4-FFF2-40B4-BE49-F238E27FC236}">
                <a16:creationId xmlns:a16="http://schemas.microsoft.com/office/drawing/2014/main" id="{33F9099B-851B-47E7-AE22-2ACB2D01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69" name="p1-core-line-right">
            <a:extLst xmlns:a="http://schemas.openxmlformats.org/drawingml/2006/main">
              <a:ext uri="{FF2B5EF4-FFF2-40B4-BE49-F238E27FC236}">
                <a16:creationId xmlns:a16="http://schemas.microsoft.com/office/drawing/2014/main" id="{F93554E6-151E-47DD-B797-390876A1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70" name="p1-segment-branch-up">
            <a:extLst xmlns:a="http://schemas.openxmlformats.org/drawingml/2006/main">
              <a:ext uri="{FF2B5EF4-FFF2-40B4-BE49-F238E27FC236}">
                <a16:creationId xmlns:a16="http://schemas.microsoft.com/office/drawing/2014/main" id="{A2A625E9-9FFE-42A9-8F58-9C05A6D5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D2633"/>
            </a:solidFill>
            <a:prstDash val="solid"/>
          </a:ln>
        </p:spPr>
      </p:sp>
      <p:sp>
        <p:nvSpPr>
          <p:cNvPr id="71" name="p1-segment-branch-arrow-shaft">
            <a:extLst xmlns:a="http://schemas.openxmlformats.org/drawingml/2006/main">
              <a:ext uri="{FF2B5EF4-FFF2-40B4-BE49-F238E27FC236}">
                <a16:creationId xmlns:a16="http://schemas.microsoft.com/office/drawing/2014/main" id="{7D4D04B8-CB05-4EDB-8076-86B6C03D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813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72" name="p1-segment-branch-arrow-head">
            <a:extLst xmlns:a="http://schemas.openxmlformats.org/drawingml/2006/main">
              <a:ext uri="{FF2B5EF4-FFF2-40B4-BE49-F238E27FC236}">
                <a16:creationId xmlns:a16="http://schemas.microsoft.com/office/drawing/2014/main" id="{69BFEA47-C221-4369-BD88-06015292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670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3" name="p1-relation-arrow-t05-shaft">
            <a:extLst xmlns:a="http://schemas.openxmlformats.org/drawingml/2006/main">
              <a:ext uri="{FF2B5EF4-FFF2-40B4-BE49-F238E27FC236}">
                <a16:creationId xmlns:a16="http://schemas.microsoft.com/office/drawing/2014/main" id="{3C4944D5-D1B6-4190-B6BF-59D35104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95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7B72"/>
            </a:solidFill>
            <a:prstDash val="solid"/>
          </a:ln>
        </p:spPr>
      </p:sp>
      <p:sp>
        <p:nvSpPr>
          <p:cNvPr id="74" name="p1-relation-arrow-t05-head">
            <a:extLst xmlns:a="http://schemas.openxmlformats.org/drawingml/2006/main">
              <a:ext uri="{FF2B5EF4-FFF2-40B4-BE49-F238E27FC236}">
                <a16:creationId xmlns:a16="http://schemas.microsoft.com/office/drawing/2014/main" id="{7234AC7C-6461-4D71-B5B7-937B24E1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052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5" name="p1-relation-arrow-publish-shaft">
            <a:extLst xmlns:a="http://schemas.openxmlformats.org/drawingml/2006/main">
              <a:ext uri="{FF2B5EF4-FFF2-40B4-BE49-F238E27FC236}">
                <a16:creationId xmlns:a16="http://schemas.microsoft.com/office/drawing/2014/main" id="{AF0A3756-EC21-447F-A041-A625F6B1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195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7B72"/>
            </a:solidFill>
            <a:prstDash val="solid"/>
          </a:ln>
        </p:spPr>
      </p:sp>
      <p:sp>
        <p:nvSpPr>
          <p:cNvPr id="76" name="p1-relation-arrow-publish-head">
            <a:extLst xmlns:a="http://schemas.openxmlformats.org/drawingml/2006/main">
              <a:ext uri="{FF2B5EF4-FFF2-40B4-BE49-F238E27FC236}">
                <a16:creationId xmlns:a16="http://schemas.microsoft.com/office/drawing/2014/main" id="{26C48ED5-D334-4AD7-A83D-41F48D8F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1052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7" name="p1-relation-branch-up">
            <a:extLst xmlns:a="http://schemas.openxmlformats.org/drawingml/2006/main">
              <a:ext uri="{FF2B5EF4-FFF2-40B4-BE49-F238E27FC236}">
                <a16:creationId xmlns:a16="http://schemas.microsoft.com/office/drawing/2014/main" id="{B2200057-CF46-4D31-BCF8-AC466519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384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F7B72"/>
            </a:solidFill>
            <a:prstDash val="solid"/>
          </a:ln>
        </p:spPr>
      </p:sp>
      <p:sp>
        <p:nvSpPr>
          <p:cNvPr id="78" name="p1-loop-rail">
            <a:extLst xmlns:a="http://schemas.openxmlformats.org/drawingml/2006/main">
              <a:ext uri="{FF2B5EF4-FFF2-40B4-BE49-F238E27FC236}">
                <a16:creationId xmlns:a16="http://schemas.microsoft.com/office/drawing/2014/main" id="{2FFD2915-F1E0-4314-A38A-CD94362D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4CE"/>
            </a:solidFill>
            <a:prstDash val="solid"/>
          </a:ln>
        </p:spPr>
      </p:sp>
      <p:sp>
        <p:nvSpPr>
          <p:cNvPr id="79" name="p1-loop-arrow-t06-shaft">
            <a:extLst xmlns:a="http://schemas.openxmlformats.org/drawingml/2006/main">
              <a:ext uri="{FF2B5EF4-FFF2-40B4-BE49-F238E27FC236}">
                <a16:creationId xmlns:a16="http://schemas.microsoft.com/office/drawing/2014/main" id="{7DA18AAD-4427-4F70-AE5E-AF2C895C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02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2633"/>
            </a:solidFill>
            <a:prstDash val="solid"/>
          </a:ln>
        </p:spPr>
      </p:sp>
      <p:sp>
        <p:nvSpPr>
          <p:cNvPr id="80" name="p1-loop-arrow-t06-head">
            <a:extLst xmlns:a="http://schemas.openxmlformats.org/drawingml/2006/main">
              <a:ext uri="{FF2B5EF4-FFF2-40B4-BE49-F238E27FC236}">
                <a16:creationId xmlns:a16="http://schemas.microsoft.com/office/drawing/2014/main" id="{4AF9DF1E-711B-408A-9CD8-1C7A9944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0859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1" name="p1-loop-arrow-t12-shaft">
            <a:extLst xmlns:a="http://schemas.openxmlformats.org/drawingml/2006/main">
              <a:ext uri="{FF2B5EF4-FFF2-40B4-BE49-F238E27FC236}">
                <a16:creationId xmlns:a16="http://schemas.microsoft.com/office/drawing/2014/main" id="{A8235A30-DE26-4149-8FB2-3DD0A43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99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F7B72"/>
            </a:solidFill>
            <a:prstDash val="solid"/>
          </a:ln>
        </p:spPr>
      </p:sp>
      <p:sp>
        <p:nvSpPr>
          <p:cNvPr id="82" name="p1-loop-arrow-t12-head">
            <a:extLst xmlns:a="http://schemas.openxmlformats.org/drawingml/2006/main">
              <a:ext uri="{FF2B5EF4-FFF2-40B4-BE49-F238E27FC236}">
                <a16:creationId xmlns:a16="http://schemas.microsoft.com/office/drawing/2014/main" id="{B684DC80-9B22-4740-AE29-A910998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956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3" name="p1-loop-arrow-p04-shaft">
            <a:extLst xmlns:a="http://schemas.openxmlformats.org/drawingml/2006/main">
              <a:ext uri="{FF2B5EF4-FFF2-40B4-BE49-F238E27FC236}">
                <a16:creationId xmlns:a16="http://schemas.microsoft.com/office/drawing/2014/main" id="{5D2253A8-0BFE-4C13-8698-FE80D0D5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7202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27B62"/>
            </a:solidFill>
            <a:prstDash val="solid"/>
          </a:ln>
        </p:spPr>
      </p:sp>
      <p:sp>
        <p:nvSpPr>
          <p:cNvPr id="84" name="p1-loop-arrow-p04-head">
            <a:extLst xmlns:a="http://schemas.openxmlformats.org/drawingml/2006/main">
              <a:ext uri="{FF2B5EF4-FFF2-40B4-BE49-F238E27FC236}">
                <a16:creationId xmlns:a16="http://schemas.microsoft.com/office/drawing/2014/main" id="{9B861056-CEB2-4ED3-AB09-FB707C09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657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85" name="p1-loop-divider-1">
            <a:extLst xmlns:a="http://schemas.openxmlformats.org/drawingml/2006/main">
              <a:ext uri="{FF2B5EF4-FFF2-40B4-BE49-F238E27FC236}">
                <a16:creationId xmlns:a16="http://schemas.microsoft.com/office/drawing/2014/main" id="{0E89DE87-614F-45CF-A334-7E8BFC3F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86" name="p1-loop-divider-2">
            <a:extLst xmlns:a="http://schemas.openxmlformats.org/drawingml/2006/main">
              <a:ext uri="{FF2B5EF4-FFF2-40B4-BE49-F238E27FC236}">
                <a16:creationId xmlns:a16="http://schemas.microsoft.com/office/drawing/2014/main" id="{22101913-0781-4DB2-9F16-847860D1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0025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87" name="p1-input-swsd-dot">
            <a:extLst xmlns:a="http://schemas.openxmlformats.org/drawingml/2006/main">
              <a:ext uri="{FF2B5EF4-FFF2-40B4-BE49-F238E27FC236}">
                <a16:creationId xmlns:a16="http://schemas.microsoft.com/office/drawing/2014/main" id="{11744682-4FC7-4BFE-9DBD-78AE2007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8" name="p1-input-swsd-label">
            <a:extLst xmlns:a="http://schemas.openxmlformats.org/drawingml/2006/main">
              <a:ext uri="{FF2B5EF4-FFF2-40B4-BE49-F238E27FC236}">
                <a16:creationId xmlns:a16="http://schemas.microsoft.com/office/drawing/2014/main" id="{9732DD93-BAB8-4B91-A6F6-62A93770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一层语义</a:t>
            </a:r>
          </a:p>
        </p:txBody>
      </p:sp>
      <p:sp>
        <p:nvSpPr>
          <p:cNvPr id="89" name="p1-input-swsd-text">
            <a:extLst xmlns:a="http://schemas.openxmlformats.org/drawingml/2006/main">
              <a:ext uri="{FF2B5EF4-FFF2-40B4-BE49-F238E27FC236}">
                <a16:creationId xmlns:a16="http://schemas.microsoft.com/office/drawing/2014/main" id="{23F908C6-6102-4111-B107-983C84E9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SWSD 道路 / 节点 → 路段</a:t>
            </a:r>
          </a:p>
        </p:txBody>
      </p:sp>
      <p:sp>
        <p:nvSpPr>
          <p:cNvPr id="90" name="p1-input-reality-dot">
            <a:extLst xmlns:a="http://schemas.openxmlformats.org/drawingml/2006/main">
              <a:ext uri="{FF2B5EF4-FFF2-40B4-BE49-F238E27FC236}">
                <a16:creationId xmlns:a16="http://schemas.microsoft.com/office/drawing/2014/main" id="{BEB34EF2-57CB-421C-B5A6-10EB4040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19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1" name="p1-input-reality-label">
            <a:extLst xmlns:a="http://schemas.openxmlformats.org/drawingml/2006/main">
              <a:ext uri="{FF2B5EF4-FFF2-40B4-BE49-F238E27FC236}">
                <a16:creationId xmlns:a16="http://schemas.microsoft.com/office/drawing/2014/main" id="{705070EB-BDEC-442C-AF7B-DDBFBAFA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现实空间</a:t>
            </a:r>
          </a:p>
        </p:txBody>
      </p:sp>
      <p:sp>
        <p:nvSpPr>
          <p:cNvPr id="92" name="p1-input-reality-text">
            <a:extLst xmlns:a="http://schemas.openxmlformats.org/drawingml/2006/main">
              <a:ext uri="{FF2B5EF4-FFF2-40B4-BE49-F238E27FC236}">
                <a16:creationId xmlns:a16="http://schemas.microsoft.com/office/drawing/2014/main" id="{A492642A-95E0-4835-8999-C3E3506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道路面 / 路口面 / 导流带</a:t>
            </a:r>
          </a:p>
        </p:txBody>
      </p:sp>
      <p:sp>
        <p:nvSpPr>
          <p:cNvPr id="93" name="p1-input-rcsd-dot">
            <a:extLst xmlns:a="http://schemas.openxmlformats.org/drawingml/2006/main">
              <a:ext uri="{FF2B5EF4-FFF2-40B4-BE49-F238E27FC236}">
                <a16:creationId xmlns:a16="http://schemas.microsoft.com/office/drawing/2014/main" id="{2A3EF195-C61C-49E8-BE4D-29071E9B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624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4" name="p1-input-rcsd-label">
            <a:extLst xmlns:a="http://schemas.openxmlformats.org/drawingml/2006/main">
              <a:ext uri="{FF2B5EF4-FFF2-40B4-BE49-F238E27FC236}">
                <a16:creationId xmlns:a16="http://schemas.microsoft.com/office/drawing/2014/main" id="{E63C2749-CF72-492A-BE7C-21505574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053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二层对象</a:t>
            </a:r>
          </a:p>
        </p:txBody>
      </p:sp>
      <p:sp>
        <p:nvSpPr>
          <p:cNvPr id="95" name="p1-input-rcsd-text">
            <a:extLst xmlns:a="http://schemas.openxmlformats.org/drawingml/2006/main">
              <a:ext uri="{FF2B5EF4-FFF2-40B4-BE49-F238E27FC236}">
                <a16:creationId xmlns:a16="http://schemas.microsoft.com/office/drawing/2014/main" id="{A4DA0D6E-F69C-47E3-89FF-830F609E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72025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RCSD 道路 / 节点</a:t>
            </a:r>
          </a:p>
        </p:txBody>
      </p:sp>
      <p:sp>
        <p:nvSpPr>
          <p:cNvPr id="96" name="p1-reality-evidence-frame">
            <a:extLst xmlns:a="http://schemas.openxmlformats.org/drawingml/2006/main">
              <a:ext uri="{FF2B5EF4-FFF2-40B4-BE49-F238E27FC236}">
                <a16:creationId xmlns:a16="http://schemas.microsoft.com/office/drawing/2014/main" id="{A9357F5A-715B-4DFA-98F8-691B618B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43275"/>
            <a:ext cx="2076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4CE"/>
            </a:solidFill>
            <a:prstDash val="solid"/>
          </a:ln>
        </p:spPr>
      </p:sp>
      <p:sp>
        <p:nvSpPr>
          <p:cNvPr id="97" name="p1-reality-evidence-caption">
            <a:extLst xmlns:a="http://schemas.openxmlformats.org/drawingml/2006/main">
              <a:ext uri="{FF2B5EF4-FFF2-40B4-BE49-F238E27FC236}">
                <a16:creationId xmlns:a16="http://schemas.microsoft.com/office/drawing/2014/main" id="{43480D16-E171-4EF3-B98B-8619127C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33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rPr>
              <a:t>真实空间证据缩略图</a:t>
            </a:r>
          </a:p>
        </p:txBody>
      </p:sp>
      <p:sp>
        <p:nvSpPr>
          <p:cNvPr id="98" name="p1-foundation-caption">
            <a:extLst xmlns:a="http://schemas.openxmlformats.org/drawingml/2006/main">
              <a:ext uri="{FF2B5EF4-FFF2-40B4-BE49-F238E27FC236}">
                <a16:creationId xmlns:a16="http://schemas.microsoft.com/office/drawing/2014/main" id="{ABB04C45-EABD-48F2-83FE-0AF58F5E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rPr>
              <a:t>共同业务骨架</a:t>
            </a:r>
          </a:p>
        </p:txBody>
      </p:sp>
      <p:sp>
        <p:nvSpPr>
          <p:cNvPr id="99" name="p1-core-junction-left-shape">
            <a:extLst xmlns:a="http://schemas.openxmlformats.org/drawingml/2006/main">
              <a:ext uri="{FF2B5EF4-FFF2-40B4-BE49-F238E27FC236}">
                <a16:creationId xmlns:a16="http://schemas.microsoft.com/office/drawing/2014/main" id="{35D0014F-02DA-4FBA-ABDE-EA244A18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71675"/>
            <a:ext cx="8191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F1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00" name="p1-core-junction-left-text">
            <a:extLst xmlns:a="http://schemas.openxmlformats.org/drawingml/2006/main">
              <a:ext uri="{FF2B5EF4-FFF2-40B4-BE49-F238E27FC236}">
                <a16:creationId xmlns:a16="http://schemas.microsoft.com/office/drawing/2014/main" id="{3431F6F2-C941-4190-984A-C1C7AB78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90725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101" name="p1-core-segment-shape">
            <a:extLst xmlns:a="http://schemas.openxmlformats.org/drawingml/2006/main">
              <a:ext uri="{FF2B5EF4-FFF2-40B4-BE49-F238E27FC236}">
                <a16:creationId xmlns:a16="http://schemas.microsoft.com/office/drawing/2014/main" id="{3C3FD17B-33AC-4ED7-B224-C4351465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9775"/>
            <a:ext cx="819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D2633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02" name="p1-core-segment-text">
            <a:extLst xmlns:a="http://schemas.openxmlformats.org/drawingml/2006/main">
              <a:ext uri="{FF2B5EF4-FFF2-40B4-BE49-F238E27FC236}">
                <a16:creationId xmlns:a16="http://schemas.microsoft.com/office/drawing/2014/main" id="{CD0E63D7-AAE3-42F2-A990-6108430A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2882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路段</a:t>
            </a:r>
          </a:p>
        </p:txBody>
      </p:sp>
      <p:sp>
        <p:nvSpPr>
          <p:cNvPr id="103" name="p1-core-junction-right-shape">
            <a:extLst xmlns:a="http://schemas.openxmlformats.org/drawingml/2006/main">
              <a:ext uri="{FF2B5EF4-FFF2-40B4-BE49-F238E27FC236}">
                <a16:creationId xmlns:a16="http://schemas.microsoft.com/office/drawing/2014/main" id="{1D8F2A5A-5F53-41C5-893B-AF7D19FD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71675"/>
            <a:ext cx="8572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F1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04" name="p1-core-junction-right-text">
            <a:extLst xmlns:a="http://schemas.openxmlformats.org/drawingml/2006/main">
              <a:ext uri="{FF2B5EF4-FFF2-40B4-BE49-F238E27FC236}">
                <a16:creationId xmlns:a16="http://schemas.microsoft.com/office/drawing/2014/main" id="{EF130E8F-9EE2-4BF2-92B6-6F837318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9907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</p:txBody>
      </p:sp>
      <p:sp>
        <p:nvSpPr>
          <p:cNvPr id="105" name="p1-core-ontology">
            <a:extLst xmlns:a="http://schemas.openxmlformats.org/drawingml/2006/main">
              <a:ext uri="{FF2B5EF4-FFF2-40B4-BE49-F238E27FC236}">
                <a16:creationId xmlns:a16="http://schemas.microsoft.com/office/drawing/2014/main" id="{8A695ACF-5ACF-47A7-88CF-E77BEF3A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571750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路口 — 路段 — 路口</a:t>
            </a:r>
          </a:p>
        </p:txBody>
      </p:sp>
      <p:sp>
        <p:nvSpPr>
          <p:cNvPr id="106" name="p1-segment-branch-label">
            <a:extLst xmlns:a="http://schemas.openxmlformats.org/drawingml/2006/main">
              <a:ext uri="{FF2B5EF4-FFF2-40B4-BE49-F238E27FC236}">
                <a16:creationId xmlns:a16="http://schemas.microsoft.com/office/drawing/2014/main" id="{13B1FF2F-0052-44C9-8BC8-1A2C612A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813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路段生成支路</a:t>
            </a:r>
          </a:p>
        </p:txBody>
      </p:sp>
      <p:sp>
        <p:nvSpPr>
          <p:cNvPr id="107" name="p1-segment-branch-t01-shape">
            <a:extLst xmlns:a="http://schemas.openxmlformats.org/drawingml/2006/main">
              <a:ext uri="{FF2B5EF4-FFF2-40B4-BE49-F238E27FC236}">
                <a16:creationId xmlns:a16="http://schemas.microsoft.com/office/drawing/2014/main" id="{BDD9898F-23EA-4DF7-B64C-356279A4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48025"/>
            <a:ext cx="5524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EFF1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08" name="p1-segment-branch-t01-text">
            <a:extLst xmlns:a="http://schemas.openxmlformats.org/drawingml/2006/main">
              <a:ext uri="{FF2B5EF4-FFF2-40B4-BE49-F238E27FC236}">
                <a16:creationId xmlns:a16="http://schemas.microsoft.com/office/drawing/2014/main" id="{ADD6E064-7B37-465A-8980-3F41B3A2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670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一层</a:t>
            </a:r>
          </a:p>
        </p:txBody>
      </p:sp>
      <p:sp>
        <p:nvSpPr>
          <p:cNvPr id="109" name="p1-segment-branch-segment-shape">
            <a:extLst xmlns:a="http://schemas.openxmlformats.org/drawingml/2006/main">
              <a:ext uri="{FF2B5EF4-FFF2-40B4-BE49-F238E27FC236}">
                <a16:creationId xmlns:a16="http://schemas.microsoft.com/office/drawing/2014/main" id="{7A358EAC-4437-4783-AABB-AA4689A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48025"/>
            <a:ext cx="10001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D2633"/>
            </a:solidFill>
            <a:prstDash val="solid"/>
          </a:ln>
        </p:spPr>
      </p:sp>
      <p:sp>
        <p:nvSpPr>
          <p:cNvPr id="110" name="p1-segment-branch-segment-text">
            <a:extLst xmlns:a="http://schemas.openxmlformats.org/drawingml/2006/main">
              <a:ext uri="{FF2B5EF4-FFF2-40B4-BE49-F238E27FC236}">
                <a16:creationId xmlns:a16="http://schemas.microsoft.com/office/drawing/2014/main" id="{90BF3E30-7422-449C-8A1D-29701C45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670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语义路段</a:t>
            </a:r>
          </a:p>
        </p:txBody>
      </p:sp>
      <p:sp>
        <p:nvSpPr>
          <p:cNvPr id="111" name="p1-relation-branch-label">
            <a:extLst xmlns:a="http://schemas.openxmlformats.org/drawingml/2006/main">
              <a:ext uri="{FF2B5EF4-FFF2-40B4-BE49-F238E27FC236}">
                <a16:creationId xmlns:a16="http://schemas.microsoft.com/office/drawing/2014/main" id="{0272C610-BF2F-4F70-93BB-C23D2B3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0047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路口关系支路</a:t>
            </a:r>
          </a:p>
        </p:txBody>
      </p:sp>
      <p:sp>
        <p:nvSpPr>
          <p:cNvPr id="112" name="p1-relation-branch-anchors-shape">
            <a:extLst xmlns:a="http://schemas.openxmlformats.org/drawingml/2006/main">
              <a:ext uri="{FF2B5EF4-FFF2-40B4-BE49-F238E27FC236}">
                <a16:creationId xmlns:a16="http://schemas.microsoft.com/office/drawing/2014/main" id="{B44A68E9-5D29-4931-A792-9103EF9A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86225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F3F0"/>
          </a:solidFill>
          <a:ln xmlns:a="http://schemas.openxmlformats.org/drawingml/2006/main" w="11430">
            <a:solidFill>
              <a:srgbClr val="6F7B72"/>
            </a:solidFill>
            <a:prstDash val="solid"/>
          </a:ln>
        </p:spPr>
      </p:sp>
      <p:sp>
        <p:nvSpPr>
          <p:cNvPr id="113" name="p1-relation-branch-anchors-text">
            <a:extLst xmlns:a="http://schemas.openxmlformats.org/drawingml/2006/main">
              <a:ext uri="{FF2B5EF4-FFF2-40B4-BE49-F238E27FC236}">
                <a16:creationId xmlns:a16="http://schemas.microsoft.com/office/drawing/2014/main" id="{353AE015-7CB8-4AAA-862A-43FE6871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052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路口锚定</a:t>
            </a:r>
          </a:p>
        </p:txBody>
      </p:sp>
      <p:sp>
        <p:nvSpPr>
          <p:cNvPr id="114" name="p1-relation-branch-t05-shape">
            <a:extLst xmlns:a="http://schemas.openxmlformats.org/drawingml/2006/main">
              <a:ext uri="{FF2B5EF4-FFF2-40B4-BE49-F238E27FC236}">
                <a16:creationId xmlns:a16="http://schemas.microsoft.com/office/drawing/2014/main" id="{DB4C60DA-447C-469C-835E-81B77053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86225"/>
            <a:ext cx="476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F7B72"/>
          </a:solidFill>
          <a:ln xmlns:a="http://schemas.openxmlformats.org/drawingml/2006/main" w="11430">
            <a:solidFill>
              <a:srgbClr val="6F7B72"/>
            </a:solidFill>
            <a:prstDash val="solid"/>
          </a:ln>
        </p:spPr>
      </p:sp>
      <p:sp>
        <p:nvSpPr>
          <p:cNvPr id="115" name="p1-relation-branch-t05-text">
            <a:extLst xmlns:a="http://schemas.openxmlformats.org/drawingml/2006/main">
              <a:ext uri="{FF2B5EF4-FFF2-40B4-BE49-F238E27FC236}">
                <a16:creationId xmlns:a16="http://schemas.microsoft.com/office/drawing/2014/main" id="{359DE4C6-D138-4494-8E9B-40BA8A0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1052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</a:t>
            </a:r>
          </a:p>
        </p:txBody>
      </p:sp>
      <p:sp>
        <p:nvSpPr>
          <p:cNvPr id="116" name="p1-relation-branch-published-shape">
            <a:extLst xmlns:a="http://schemas.openxmlformats.org/drawingml/2006/main">
              <a:ext uri="{FF2B5EF4-FFF2-40B4-BE49-F238E27FC236}">
                <a16:creationId xmlns:a16="http://schemas.microsoft.com/office/drawing/2014/main" id="{29DF548F-F67B-43D8-AA4D-1875B0FD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29075"/>
            <a:ext cx="838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F7B72"/>
            </a:solidFill>
            <a:prstDash val="solid"/>
          </a:ln>
        </p:spPr>
      </p:sp>
      <p:sp>
        <p:nvSpPr>
          <p:cNvPr id="117" name="p1-relation-branch-published-text">
            <a:extLst xmlns:a="http://schemas.openxmlformats.org/drawingml/2006/main">
              <a:ext uri="{FF2B5EF4-FFF2-40B4-BE49-F238E27FC236}">
                <a16:creationId xmlns:a16="http://schemas.microsoft.com/office/drawing/2014/main" id="{3960DFA5-9F69-47C7-AA12-23DB20B6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路口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关系</a:t>
            </a:r>
          </a:p>
        </p:txBody>
      </p:sp>
      <p:sp>
        <p:nvSpPr>
          <p:cNvPr id="118" name="p1-foundation-facts-bg">
            <a:extLst xmlns:a="http://schemas.openxmlformats.org/drawingml/2006/main">
              <a:ext uri="{FF2B5EF4-FFF2-40B4-BE49-F238E27FC236}">
                <a16:creationId xmlns:a16="http://schemas.microsoft.com/office/drawing/2014/main" id="{21103C5C-F77C-4279-B031-0BF4F13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810125"/>
            <a:ext cx="3019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1-foundation-facts">
            <a:extLst xmlns:a="http://schemas.openxmlformats.org/drawingml/2006/main">
              <a:ext uri="{FF2B5EF4-FFF2-40B4-BE49-F238E27FC236}">
                <a16:creationId xmlns:a16="http://schemas.microsoft.com/office/drawing/2014/main" id="{AA30C3A2-1271-43C5-9339-8AC9A3F2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95850"/>
            <a:ext cx="2790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锚定可信 · 方向明确 · 连通可证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120" name="p1-foundation-summary">
            <a:extLst xmlns:a="http://schemas.openxmlformats.org/drawingml/2006/main">
              <a:ext uri="{FF2B5EF4-FFF2-40B4-BE49-F238E27FC236}">
                <a16:creationId xmlns:a16="http://schemas.microsoft.com/office/drawing/2014/main" id="{B05BA231-E0E4-478D-8BA8-1A948F0E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816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0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77716A"/>
                </a:solidFill>
                <a:latin typeface="Microsoft YaHei"/>
                <a:ea typeface="Microsoft YaHei"/>
                <a:cs typeface="Microsoft YaHei"/>
              </a:rPr>
              <a:t>两条支路共同形成可解释、可审计的认知底座</a:t>
            </a:r>
          </a:p>
        </p:txBody>
      </p:sp>
      <p:sp>
        <p:nvSpPr>
          <p:cNvPr id="121" name="p1-t06-accent">
            <a:extLst xmlns:a="http://schemas.openxmlformats.org/drawingml/2006/main">
              <a:ext uri="{FF2B5EF4-FFF2-40B4-BE49-F238E27FC236}">
                <a16:creationId xmlns:a16="http://schemas.microsoft.com/office/drawing/2014/main" id="{DFB14DD7-3C4B-4AF8-B337-80C0F85A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1-t06-module">
            <a:extLst xmlns:a="http://schemas.openxmlformats.org/drawingml/2006/main">
              <a:ext uri="{FF2B5EF4-FFF2-40B4-BE49-F238E27FC236}">
                <a16:creationId xmlns:a16="http://schemas.microsoft.com/office/drawing/2014/main" id="{BEF51EEB-6CD2-4C98-88B6-E3B43FDF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04975"/>
            <a:ext cx="4857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替换</a:t>
            </a:r>
          </a:p>
        </p:txBody>
      </p:sp>
      <p:sp>
        <p:nvSpPr>
          <p:cNvPr id="123" name="p1-t06-question">
            <a:extLst xmlns:a="http://schemas.openxmlformats.org/drawingml/2006/main">
              <a:ext uri="{FF2B5EF4-FFF2-40B4-BE49-F238E27FC236}">
                <a16:creationId xmlns:a16="http://schemas.microsoft.com/office/drawing/2014/main" id="{943ADD45-352A-4AD5-9877-6B3370A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85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能否安全替换</a:t>
            </a:r>
          </a:p>
        </p:txBody>
      </p:sp>
      <p:sp>
        <p:nvSpPr>
          <p:cNvPr id="124" name="p1-t06-loop">
            <a:extLst xmlns:a="http://schemas.openxmlformats.org/drawingml/2006/main">
              <a:ext uri="{FF2B5EF4-FFF2-40B4-BE49-F238E27FC236}">
                <a16:creationId xmlns:a16="http://schemas.microsoft.com/office/drawing/2014/main" id="{0AAB1086-BE59-4D07-A166-3D32E3DF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6668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↺</a:t>
            </a:r>
          </a:p>
        </p:txBody>
      </p:sp>
      <p:sp>
        <p:nvSpPr>
          <p:cNvPr id="125" name="p1-t06-output">
            <a:extLst xmlns:a="http://schemas.openxmlformats.org/drawingml/2006/main">
              <a:ext uri="{FF2B5EF4-FFF2-40B4-BE49-F238E27FC236}">
                <a16:creationId xmlns:a16="http://schemas.microsoft.com/office/drawing/2014/main" id="{806884C2-86FB-40C1-B145-FF1EDC1F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路段 + 路口关系 → 可审计替换计划
→ 最终 RCSD 道路 / 节点</a:t>
            </a:r>
          </a:p>
        </p:txBody>
      </p:sp>
      <p:sp>
        <p:nvSpPr>
          <p:cNvPr id="126" name="p1-t06-status">
            <a:extLst xmlns:a="http://schemas.openxmlformats.org/drawingml/2006/main">
              <a:ext uri="{FF2B5EF4-FFF2-40B4-BE49-F238E27FC236}">
                <a16:creationId xmlns:a16="http://schemas.microsoft.com/office/drawing/2014/main" id="{35E2DF20-986A-421C-BCF3-C1B668AD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规则方案概念验证已完成（阶段判断）</a:t>
            </a:r>
          </a:p>
        </p:txBody>
      </p:sp>
      <p:sp>
        <p:nvSpPr>
          <p:cNvPr id="127" name="p1-t06-boundary">
            <a:extLst xmlns:a="http://schemas.openxmlformats.org/drawingml/2006/main">
              <a:ext uri="{FF2B5EF4-FFF2-40B4-BE49-F238E27FC236}">
                <a16:creationId xmlns:a16="http://schemas.microsoft.com/office/drawing/2014/main" id="{39A78107-59E5-4112-B601-26B1CBF0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812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当前模型未通过发布门禁 · 暂无可发布模型</a:t>
            </a:r>
          </a:p>
        </p:txBody>
      </p:sp>
      <p:sp>
        <p:nvSpPr>
          <p:cNvPr id="128" name="p1-t12-accent">
            <a:extLst xmlns:a="http://schemas.openxmlformats.org/drawingml/2006/main">
              <a:ext uri="{FF2B5EF4-FFF2-40B4-BE49-F238E27FC236}">
                <a16:creationId xmlns:a16="http://schemas.microsoft.com/office/drawing/2014/main" id="{9EFCF24B-E475-4AF3-97EE-9665946D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381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1-t12-module">
            <a:extLst xmlns:a="http://schemas.openxmlformats.org/drawingml/2006/main">
              <a:ext uri="{FF2B5EF4-FFF2-40B4-BE49-F238E27FC236}">
                <a16:creationId xmlns:a16="http://schemas.microsoft.com/office/drawing/2014/main" id="{FA294007-3BBC-47A2-8EAD-ACACCAD2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4857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质检</a:t>
            </a:r>
          </a:p>
        </p:txBody>
      </p:sp>
      <p:sp>
        <p:nvSpPr>
          <p:cNvPr id="130" name="p1-t12-question">
            <a:extLst xmlns:a="http://schemas.openxmlformats.org/drawingml/2006/main">
              <a:ext uri="{FF2B5EF4-FFF2-40B4-BE49-F238E27FC236}">
                <a16:creationId xmlns:a16="http://schemas.microsoft.com/office/drawing/2014/main" id="{1FCA895A-14B5-444D-B843-4916E53B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哪里存在质量错误</a:t>
            </a:r>
          </a:p>
        </p:txBody>
      </p:sp>
      <p:sp>
        <p:nvSpPr>
          <p:cNvPr id="131" name="p1-t12-loop">
            <a:extLst xmlns:a="http://schemas.openxmlformats.org/drawingml/2006/main">
              <a:ext uri="{FF2B5EF4-FFF2-40B4-BE49-F238E27FC236}">
                <a16:creationId xmlns:a16="http://schemas.microsoft.com/office/drawing/2014/main" id="{26EBEFDC-5901-4C49-829E-A3DCCFE7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8956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↺</a:t>
            </a:r>
          </a:p>
        </p:txBody>
      </p:sp>
      <p:sp>
        <p:nvSpPr>
          <p:cNvPr id="132" name="p1-t12-output">
            <a:extLst xmlns:a="http://schemas.openxmlformats.org/drawingml/2006/main">
              <a:ext uri="{FF2B5EF4-FFF2-40B4-BE49-F238E27FC236}">
                <a16:creationId xmlns:a16="http://schemas.microsoft.com/office/drawing/2014/main" id="{BE351695-ADD5-4952-8EBD-334FC894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候选问题 → 确认 / 排除 + 空间证据</a:t>
            </a:r>
          </a:p>
        </p:txBody>
      </p:sp>
      <p:sp>
        <p:nvSpPr>
          <p:cNvPr id="133" name="p1-t12-status">
            <a:extLst xmlns:a="http://schemas.openxmlformats.org/drawingml/2006/main">
              <a:ext uri="{FF2B5EF4-FFF2-40B4-BE49-F238E27FC236}">
                <a16:creationId xmlns:a16="http://schemas.microsoft.com/office/drawing/2014/main" id="{27749444-BFC2-4DC7-86EF-54BC7275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956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B72"/>
                </a:solidFill>
                <a:latin typeface="Microsoft YaHei"/>
                <a:ea typeface="Microsoft YaHei"/>
                <a:cs typeface="Microsoft YaHei"/>
              </a:rPr>
              <a:t>已形成只读审计能力</a:t>
            </a:r>
          </a:p>
        </p:txBody>
      </p:sp>
      <p:sp>
        <p:nvSpPr>
          <p:cNvPr id="134" name="p1-t12-boundary">
            <a:extLst xmlns:a="http://schemas.openxmlformats.org/drawingml/2006/main">
              <a:ext uri="{FF2B5EF4-FFF2-40B4-BE49-F238E27FC236}">
                <a16:creationId xmlns:a16="http://schemas.microsoft.com/office/drawing/2014/main" id="{0F6C0AA2-03BC-49F2-8650-2BBD291B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短期上线潜力（阶段判断；未部署）· 不自动修复</a:t>
            </a:r>
          </a:p>
        </p:txBody>
      </p:sp>
      <p:sp>
        <p:nvSpPr>
          <p:cNvPr id="135" name="p1-p04-accent">
            <a:extLst xmlns:a="http://schemas.openxmlformats.org/drawingml/2006/main">
              <a:ext uri="{FF2B5EF4-FFF2-40B4-BE49-F238E27FC236}">
                <a16:creationId xmlns:a16="http://schemas.microsoft.com/office/drawing/2014/main" id="{83AE3E3F-0362-412E-A588-FC393924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8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1-p04-module">
            <a:extLst xmlns:a="http://schemas.openxmlformats.org/drawingml/2006/main">
              <a:ext uri="{FF2B5EF4-FFF2-40B4-BE49-F238E27FC236}">
                <a16:creationId xmlns:a16="http://schemas.microsoft.com/office/drawing/2014/main" id="{7EF93BED-93B7-40D7-8C07-CEB65495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52900"/>
            <a:ext cx="4857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直建</a:t>
            </a:r>
          </a:p>
        </p:txBody>
      </p:sp>
      <p:sp>
        <p:nvSpPr>
          <p:cNvPr id="137" name="p1-p04-question">
            <a:extLst xmlns:a="http://schemas.openxmlformats.org/drawingml/2006/main">
              <a:ext uri="{FF2B5EF4-FFF2-40B4-BE49-F238E27FC236}">
                <a16:creationId xmlns:a16="http://schemas.microsoft.com/office/drawing/2014/main" id="{1938B050-A69B-44D6-8058-3DFE9AC6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3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92724"/>
                </a:solidFill>
                <a:latin typeface="Microsoft YaHei"/>
                <a:ea typeface="Microsoft YaHei"/>
                <a:cs typeface="Microsoft YaHei"/>
              </a:rPr>
              <a:t>如何直接构建二层对象</a:t>
            </a:r>
          </a:p>
        </p:txBody>
      </p:sp>
      <p:sp>
        <p:nvSpPr>
          <p:cNvPr id="138" name="p1-p04-loop">
            <a:extLst xmlns:a="http://schemas.openxmlformats.org/drawingml/2006/main">
              <a:ext uri="{FF2B5EF4-FFF2-40B4-BE49-F238E27FC236}">
                <a16:creationId xmlns:a16="http://schemas.microsoft.com/office/drawing/2014/main" id="{3A8E513A-F4B8-4B13-B5D5-F3B5C421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1148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↺</a:t>
            </a:r>
          </a:p>
        </p:txBody>
      </p:sp>
      <p:sp>
        <p:nvSpPr>
          <p:cNvPr id="139" name="p1-p04-input">
            <a:extLst xmlns:a="http://schemas.openxmlformats.org/drawingml/2006/main">
              <a:ext uri="{FF2B5EF4-FFF2-40B4-BE49-F238E27FC236}">
                <a16:creationId xmlns:a16="http://schemas.microsoft.com/office/drawing/2014/main" id="{4F942570-2195-44DB-AFEC-FC8AF734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专用证据：SWSD 路段 + 已确认路口面 +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分片矢量 / 道路 / 车道拓扑</a:t>
            </a:r>
          </a:p>
        </p:txBody>
      </p:sp>
      <p:sp>
        <p:nvSpPr>
          <p:cNvPr id="140" name="p1-p04-output">
            <a:extLst xmlns:a="http://schemas.openxmlformats.org/drawingml/2006/main">
              <a:ext uri="{FF2B5EF4-FFF2-40B4-BE49-F238E27FC236}">
                <a16:creationId xmlns:a16="http://schemas.microsoft.com/office/drawing/2014/main" id="{5A87C4DF-9CD9-445F-9B7E-5F2A6575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道路 / 节点 / 道路衔接关系候选</a:t>
            </a:r>
          </a:p>
        </p:txBody>
      </p:sp>
      <p:sp>
        <p:nvSpPr>
          <p:cNvPr id="141" name="p1-p04-status">
            <a:extLst xmlns:a="http://schemas.openxmlformats.org/drawingml/2006/main">
              <a:ext uri="{FF2B5EF4-FFF2-40B4-BE49-F238E27FC236}">
                <a16:creationId xmlns:a16="http://schemas.microsoft.com/office/drawing/2014/main" id="{FFC30236-9900-4D58-9A37-4A651E52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57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27B62"/>
                </a:solidFill>
                <a:latin typeface="Microsoft YaHei"/>
                <a:ea typeface="Microsoft YaHei"/>
                <a:cs typeface="Microsoft YaHei"/>
              </a:rPr>
              <a:t>局部实验形成阶段成果（阶段判断）</a:t>
            </a:r>
          </a:p>
        </p:txBody>
      </p:sp>
      <p:sp>
        <p:nvSpPr>
          <p:cNvPr id="142" name="p1-p04-boundary">
            <a:extLst xmlns:a="http://schemas.openxmlformats.org/drawingml/2006/main">
              <a:ext uri="{FF2B5EF4-FFF2-40B4-BE49-F238E27FC236}">
                <a16:creationId xmlns:a16="http://schemas.microsoft.com/office/drawing/2014/main" id="{5004B7DE-7E53-4667-BE92-EDD21346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7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持续验证中的概念方案 · 未生产正式化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4945"/>
                </a:solidFill>
                <a:latin typeface="Microsoft YaHei"/>
                <a:ea typeface="Microsoft YaHei"/>
                <a:cs typeface="Microsoft YaHei"/>
              </a:rPr>
              <a:t>不替代基于关系融合的正式主链</a:t>
            </a:r>
          </a:p>
        </p:txBody>
      </p:sp>
    </p:spTree>
    <p:extLst>
      <p:ext uri="{BB962C8B-B14F-4D97-AF65-F5344CB8AC3E}">
        <p14:creationId xmlns:p14="http://schemas.microsoft.com/office/powerpoint/2010/main" val="1437893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age-title">
            <a:extLst xmlns:a="http://schemas.openxmlformats.org/drawingml/2006/main">
              <a:ext uri="{FF2B5EF4-FFF2-40B4-BE49-F238E27FC236}">
                <a16:creationId xmlns:a16="http://schemas.microsoft.com/office/drawing/2014/main" id="{7A22530E-8EF0-4301-A82B-F1870D2C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方案一：锚定后路段安全替换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13C5BB2-F73C-4870-9847-CD64031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规则概念验证已确定当前算法上限；神经网络尝试尚未形成可发布模型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A9DCDDB-08C6-4732-A0D9-71455F4E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p2-t06-label">
            <a:extLst xmlns:a="http://schemas.openxmlformats.org/drawingml/2006/main">
              <a:ext uri="{FF2B5EF4-FFF2-40B4-BE49-F238E27FC236}">
                <a16:creationId xmlns:a16="http://schemas.microsoft.com/office/drawing/2014/main" id="{8F934F36-D63D-402F-8C37-F711CF7C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规则替换主链</a:t>
            </a:r>
          </a:p>
        </p:txBody>
      </p:sp>
      <p:sp>
        <p:nvSpPr>
          <p:cNvPr id="5" name="p2-stage-number-1">
            <a:extLst xmlns:a="http://schemas.openxmlformats.org/drawingml/2006/main">
              <a:ext uri="{FF2B5EF4-FFF2-40B4-BE49-F238E27FC236}">
                <a16:creationId xmlns:a16="http://schemas.microsoft.com/office/drawing/2014/main" id="{066A0513-6B17-4319-90B6-A45E28F9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1533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p2-stage-rule-1">
            <a:extLst xmlns:a="http://schemas.openxmlformats.org/drawingml/2006/main">
              <a:ext uri="{FF2B5EF4-FFF2-40B4-BE49-F238E27FC236}">
                <a16:creationId xmlns:a16="http://schemas.microsoft.com/office/drawing/2014/main" id="{A78C4D84-946E-4C1D-9440-E6369CE5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1828800"/>
            <a:ext cx="1533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7" name="p2-stage-title-1">
            <a:extLst xmlns:a="http://schemas.openxmlformats.org/drawingml/2006/main">
              <a:ext uri="{FF2B5EF4-FFF2-40B4-BE49-F238E27FC236}">
                <a16:creationId xmlns:a16="http://schemas.microsoft.com/office/drawing/2014/main" id="{C5D45AC6-1D5C-4777-9156-46611AED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已锚定路口关系</a:t>
            </a:r>
          </a:p>
        </p:txBody>
      </p:sp>
      <p:sp>
        <p:nvSpPr>
          <p:cNvPr id="8" name="p2-stage-copy-1">
            <a:extLst xmlns:a="http://schemas.openxmlformats.org/drawingml/2006/main">
              <a:ext uri="{FF2B5EF4-FFF2-40B4-BE49-F238E27FC236}">
                <a16:creationId xmlns:a16="http://schemas.microsoft.com/office/drawing/2014/main" id="{469FF9A9-B16C-403A-999D-F5D02026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15335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SWSD 路段 +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已发布路口关系</a:t>
            </a:r>
          </a:p>
        </p:txBody>
      </p:sp>
      <p:sp>
        <p:nvSpPr>
          <p:cNvPr id="9" name="p2-stage-arrow-1-shaft">
            <a:extLst xmlns:a="http://schemas.openxmlformats.org/drawingml/2006/main">
              <a:ext uri="{FF2B5EF4-FFF2-40B4-BE49-F238E27FC236}">
                <a16:creationId xmlns:a16="http://schemas.microsoft.com/office/drawing/2014/main" id="{31E9B0E2-8269-41AD-95FC-A48DE8CE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2650" y="2152650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0" name="p2-stage-arrow-1-head">
            <a:extLst xmlns:a="http://schemas.openxmlformats.org/drawingml/2006/main">
              <a:ext uri="{FF2B5EF4-FFF2-40B4-BE49-F238E27FC236}">
                <a16:creationId xmlns:a16="http://schemas.microsoft.com/office/drawing/2014/main" id="{CD8863C4-E09F-471C-894A-203FD542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621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p2-stage-number-2">
            <a:extLst xmlns:a="http://schemas.openxmlformats.org/drawingml/2006/main">
              <a:ext uri="{FF2B5EF4-FFF2-40B4-BE49-F238E27FC236}">
                <a16:creationId xmlns:a16="http://schemas.microsoft.com/office/drawing/2014/main" id="{46148797-59A6-4011-B533-602966F3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52575"/>
            <a:ext cx="1533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p2-stage-rule-2">
            <a:extLst xmlns:a="http://schemas.openxmlformats.org/drawingml/2006/main">
              <a:ext uri="{FF2B5EF4-FFF2-40B4-BE49-F238E27FC236}">
                <a16:creationId xmlns:a16="http://schemas.microsoft.com/office/drawing/2014/main" id="{14022656-C88C-47E7-A57D-0691EA4C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47925" y="1828800"/>
            <a:ext cx="1533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3" name="p2-stage-title-2">
            <a:extLst xmlns:a="http://schemas.openxmlformats.org/drawingml/2006/main">
              <a:ext uri="{FF2B5EF4-FFF2-40B4-BE49-F238E27FC236}">
                <a16:creationId xmlns:a16="http://schemas.microsoft.com/office/drawing/2014/main" id="{88C63712-605C-41C8-8E43-1FE84E5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9526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可替换性门禁</a:t>
            </a:r>
          </a:p>
        </p:txBody>
      </p:sp>
      <p:sp>
        <p:nvSpPr>
          <p:cNvPr id="14" name="p2-stage-copy-2">
            <a:extLst xmlns:a="http://schemas.openxmlformats.org/drawingml/2006/main">
              <a:ext uri="{FF2B5EF4-FFF2-40B4-BE49-F238E27FC236}">
                <a16:creationId xmlns:a16="http://schemas.microsoft.com/office/drawing/2014/main" id="{A7AC54FA-465E-4CC8-B130-263B901C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90775"/>
            <a:ext cx="15335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判断 RCSD 路段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是否可由 SWSD 替换</a:t>
            </a:r>
          </a:p>
        </p:txBody>
      </p:sp>
      <p:sp>
        <p:nvSpPr>
          <p:cNvPr id="15" name="p2-stage-arrow-2-shaft">
            <a:extLst xmlns:a="http://schemas.openxmlformats.org/drawingml/2006/main">
              <a:ext uri="{FF2B5EF4-FFF2-40B4-BE49-F238E27FC236}">
                <a16:creationId xmlns:a16="http://schemas.microsoft.com/office/drawing/2014/main" id="{C6D2BCEB-980D-4272-B915-660C6E60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29075" y="2152650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6" name="p2-stage-arrow-2-head">
            <a:extLst xmlns:a="http://schemas.openxmlformats.org/drawingml/2006/main">
              <a:ext uri="{FF2B5EF4-FFF2-40B4-BE49-F238E27FC236}">
                <a16:creationId xmlns:a16="http://schemas.microsoft.com/office/drawing/2014/main" id="{541C9EBE-7E8F-42D0-BD99-7D7CD116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621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p2-stage-number-3">
            <a:extLst xmlns:a="http://schemas.openxmlformats.org/drawingml/2006/main">
              <a:ext uri="{FF2B5EF4-FFF2-40B4-BE49-F238E27FC236}">
                <a16:creationId xmlns:a16="http://schemas.microsoft.com/office/drawing/2014/main" id="{9DA7AA5C-A81B-496B-ACB4-0942E2D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52575"/>
            <a:ext cx="1647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p2-stage-rule-3">
            <a:extLst xmlns:a="http://schemas.openxmlformats.org/drawingml/2006/main">
              <a:ext uri="{FF2B5EF4-FFF2-40B4-BE49-F238E27FC236}">
                <a16:creationId xmlns:a16="http://schemas.microsoft.com/office/drawing/2014/main" id="{0BBF03E0-1B72-4B7C-9F0E-15459E41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24350" y="1828800"/>
            <a:ext cx="16478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9" name="p2-stage-title-3">
            <a:extLst xmlns:a="http://schemas.openxmlformats.org/drawingml/2006/main">
              <a:ext uri="{FF2B5EF4-FFF2-40B4-BE49-F238E27FC236}">
                <a16:creationId xmlns:a16="http://schemas.microsoft.com/office/drawing/2014/main" id="{19F9F99F-2E87-4C43-8918-3DA9C563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164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可审计替换计划</a:t>
            </a:r>
          </a:p>
        </p:txBody>
      </p:sp>
      <p:sp>
        <p:nvSpPr>
          <p:cNvPr id="20" name="p2-stage-copy-3">
            <a:extLst xmlns:a="http://schemas.openxmlformats.org/drawingml/2006/main">
              <a:ext uri="{FF2B5EF4-FFF2-40B4-BE49-F238E27FC236}">
                <a16:creationId xmlns:a16="http://schemas.microsoft.com/office/drawing/2014/main" id="{EA8D1F5D-8F64-485E-AF20-41440E68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90775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输出可审计的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替换计划</a:t>
            </a:r>
          </a:p>
        </p:txBody>
      </p:sp>
      <p:sp>
        <p:nvSpPr>
          <p:cNvPr id="21" name="p2-stage-arrow-3-shaft">
            <a:extLst xmlns:a="http://schemas.openxmlformats.org/drawingml/2006/main">
              <a:ext uri="{FF2B5EF4-FFF2-40B4-BE49-F238E27FC236}">
                <a16:creationId xmlns:a16="http://schemas.microsoft.com/office/drawing/2014/main" id="{31761DFA-D5EF-40F5-94E8-6A98E4AF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19800" y="21526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2" name="p2-stage-arrow-3-head">
            <a:extLst xmlns:a="http://schemas.openxmlformats.org/drawingml/2006/main">
              <a:ext uri="{FF2B5EF4-FFF2-40B4-BE49-F238E27FC236}">
                <a16:creationId xmlns:a16="http://schemas.microsoft.com/office/drawing/2014/main" id="{BFF56F14-2609-4E8F-BF99-048825BB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3" name="p2-stage-number-4">
            <a:extLst xmlns:a="http://schemas.openxmlformats.org/drawingml/2006/main">
              <a:ext uri="{FF2B5EF4-FFF2-40B4-BE49-F238E27FC236}">
                <a16:creationId xmlns:a16="http://schemas.microsoft.com/office/drawing/2014/main" id="{55EABAC5-65BC-4304-B7E1-599C9445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52575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p2-stage-rule-4">
            <a:extLst xmlns:a="http://schemas.openxmlformats.org/drawingml/2006/main">
              <a:ext uri="{FF2B5EF4-FFF2-40B4-BE49-F238E27FC236}">
                <a16:creationId xmlns:a16="http://schemas.microsoft.com/office/drawing/2014/main" id="{B8157ED6-D5CD-4E2C-B89C-4CE06C4B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00775" y="1828800"/>
            <a:ext cx="1609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5" name="p2-stage-title-4">
            <a:extLst xmlns:a="http://schemas.openxmlformats.org/drawingml/2006/main">
              <a:ext uri="{FF2B5EF4-FFF2-40B4-BE49-F238E27FC236}">
                <a16:creationId xmlns:a16="http://schemas.microsoft.com/office/drawing/2014/main" id="{56FD96CF-4E48-411C-A32B-1FC5E5EC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52625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融合结果输出</a:t>
            </a:r>
          </a:p>
        </p:txBody>
      </p:sp>
      <p:sp>
        <p:nvSpPr>
          <p:cNvPr id="26" name="p2-stage-copy-4">
            <a:extLst xmlns:a="http://schemas.openxmlformats.org/drawingml/2006/main">
              <a:ext uri="{FF2B5EF4-FFF2-40B4-BE49-F238E27FC236}">
                <a16:creationId xmlns:a16="http://schemas.microsoft.com/office/drawing/2014/main" id="{881E852D-3870-452E-B8F4-BE4D60F1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90775"/>
            <a:ext cx="16097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生成最终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道路 / 节点</a:t>
            </a:r>
          </a:p>
        </p:txBody>
      </p:sp>
      <p:sp>
        <p:nvSpPr>
          <p:cNvPr id="27" name="p2-t06-exact-copy">
            <a:extLst xmlns:a="http://schemas.openxmlformats.org/drawingml/2006/main">
              <a:ext uri="{FF2B5EF4-FFF2-40B4-BE49-F238E27FC236}">
                <a16:creationId xmlns:a16="http://schemas.microsoft.com/office/drawing/2014/main" id="{D7429D12-24A4-481C-969E-829965EB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消费 SWSD 路段与已发布路口关系，判断 RCSD 路段是否可由 SWSD 替换；输出可审计替换计划，并生成最终 RCSD 道路 / 节点。</a:t>
            </a:r>
          </a:p>
        </p:txBody>
      </p:sp>
      <p:sp>
        <p:nvSpPr>
          <p:cNvPr id="28" name="p2-evidence-label">
            <a:extLst xmlns:a="http://schemas.openxmlformats.org/drawingml/2006/main">
              <a:ext uri="{FF2B5EF4-FFF2-40B4-BE49-F238E27FC236}">
                <a16:creationId xmlns:a16="http://schemas.microsoft.com/office/drawing/2014/main" id="{86F6ABE6-92B6-4494-9954-94824AE3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668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现实锚定证据</a:t>
            </a:r>
          </a:p>
        </p:txBody>
      </p:sp>
      <p:sp>
        <p:nvSpPr>
          <p:cNvPr id="29" name="p2-evidence-frame">
            <a:extLst xmlns:a="http://schemas.openxmlformats.org/drawingml/2006/main">
              <a:ext uri="{FF2B5EF4-FFF2-40B4-BE49-F238E27FC236}">
                <a16:creationId xmlns:a16="http://schemas.microsoft.com/office/drawing/2014/main" id="{F75DA5A8-55A8-4F84-982D-DBFE274B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52575"/>
            <a:ext cx="33337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0" name="p2-evidence-accent">
            <a:extLst xmlns:a="http://schemas.openxmlformats.org/drawingml/2006/main">
              <a:ext uri="{FF2B5EF4-FFF2-40B4-BE49-F238E27FC236}">
                <a16:creationId xmlns:a16="http://schemas.microsoft.com/office/drawing/2014/main" id="{999D22FA-ECC0-4B38-B3A7-F0FEBB7D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1552575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1bb2aa8244f11"/>
          <a:stretch xmlns:a="http://schemas.openxmlformats.org/drawingml/2006/main"/>
        </p:blipFill>
        <p:spPr>
          <a:xfrm xmlns:a="http://schemas.openxmlformats.org/drawingml/2006/main">
            <a:off x="8172450" y="1676995"/>
            <a:ext cx="3181350" cy="1789509"/>
          </a:xfrm>
          <a:prstGeom xmlns:a="http://schemas.openxmlformats.org/drawingml/2006/main" prst="rect">
            <a:avLst/>
          </a:prstGeom>
        </p:spPr>
      </p:pic>
      <p:sp>
        <p:nvSpPr>
          <p:cNvPr id="32" name="p2-section-divider">
            <a:extLst xmlns:a="http://schemas.openxmlformats.org/drawingml/2006/main">
              <a:ext uri="{FF2B5EF4-FFF2-40B4-BE49-F238E27FC236}">
                <a16:creationId xmlns:a16="http://schemas.microsoft.com/office/drawing/2014/main" id="{BCE442BB-F306-4B4E-8717-F0D85299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829050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p2-p05-label">
            <a:extLst xmlns:a="http://schemas.openxmlformats.org/drawingml/2006/main">
              <a:ext uri="{FF2B5EF4-FFF2-40B4-BE49-F238E27FC236}">
                <a16:creationId xmlns:a16="http://schemas.microsoft.com/office/drawing/2014/main" id="{DF9243EE-A145-42C0-A612-7F98022E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神经网络尝试</a:t>
            </a:r>
          </a:p>
        </p:txBody>
      </p:sp>
      <p:sp>
        <p:nvSpPr>
          <p:cNvPr id="34" name="p2-p05-accent">
            <a:extLst xmlns:a="http://schemas.openxmlformats.org/drawingml/2006/main">
              <a:ext uri="{FF2B5EF4-FFF2-40B4-BE49-F238E27FC236}">
                <a16:creationId xmlns:a16="http://schemas.microsoft.com/office/drawing/2014/main" id="{3CE97929-66CC-4060-808F-35BA7EF1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5" name="p2-p05-status">
            <a:extLst xmlns:a="http://schemas.openxmlformats.org/drawingml/2006/main">
              <a:ext uri="{FF2B5EF4-FFF2-40B4-BE49-F238E27FC236}">
                <a16:creationId xmlns:a16="http://schemas.microsoft.com/office/drawing/2014/main" id="{EEAB1F6F-1B3F-4ECD-A351-945EE3F1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未通过</a:t>
            </a:r>
          </a:p>
        </p:txBody>
      </p:sp>
      <p:sp>
        <p:nvSpPr>
          <p:cNvPr id="36" name="p2-p05-summary">
            <a:extLst xmlns:a="http://schemas.openxmlformats.org/drawingml/2006/main">
              <a:ext uri="{FF2B5EF4-FFF2-40B4-BE49-F238E27FC236}">
                <a16:creationId xmlns:a16="http://schemas.microsoft.com/office/drawing/2014/main" id="{E2E14D9B-BA8E-4BBE-AF31-F4C9967E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053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冻结业务骨架，仅训练道路承载方案；模型未通过。</a:t>
            </a:r>
          </a:p>
        </p:txBody>
      </p:sp>
      <p:sp>
        <p:nvSpPr>
          <p:cNvPr id="37" name="p2-p05-boundary">
            <a:extLst xmlns:a="http://schemas.openxmlformats.org/drawingml/2006/main">
              <a:ext uri="{FF2B5EF4-FFF2-40B4-BE49-F238E27FC236}">
                <a16:creationId xmlns:a16="http://schemas.microsoft.com/office/drawing/2014/main" id="{352174ED-F2E9-466E-BF55-7231595C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645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冻结路口—路段骨架，仅训练道路承载方案选择，当前模型未通过发布门禁。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神经网络尝试尚未成功，不代表神经网络整体不适用。</a:t>
            </a:r>
          </a:p>
        </p:txBody>
      </p:sp>
      <p:sp>
        <p:nvSpPr>
          <p:cNvPr id="38" name="p2-p05-divider">
            <a:extLst xmlns:a="http://schemas.openxmlformats.org/drawingml/2006/main">
              <a:ext uri="{FF2B5EF4-FFF2-40B4-BE49-F238E27FC236}">
                <a16:creationId xmlns:a16="http://schemas.microsoft.com/office/drawing/2014/main" id="{F0B37FB7-BF9F-443D-808B-A1D30C4D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62850" y="4314825"/>
            <a:ext cx="9525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9" name="p2-p05-locked-label">
            <a:extLst xmlns:a="http://schemas.openxmlformats.org/drawingml/2006/main">
              <a:ext uri="{FF2B5EF4-FFF2-40B4-BE49-F238E27FC236}">
                <a16:creationId xmlns:a16="http://schemas.microsoft.com/office/drawing/2014/main" id="{E7D2EAF0-23EC-4E32-A7F5-FDF98D70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约束边界</a:t>
            </a:r>
          </a:p>
        </p:txBody>
      </p:sp>
      <p:sp>
        <p:nvSpPr>
          <p:cNvPr id="40" name="p2-p05-locked">
            <a:extLst xmlns:a="http://schemas.openxmlformats.org/drawingml/2006/main">
              <a:ext uri="{FF2B5EF4-FFF2-40B4-BE49-F238E27FC236}">
                <a16:creationId xmlns:a16="http://schemas.microsoft.com/office/drawing/2014/main" id="{275E9D4D-7545-427A-B1BF-A2C744E2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95825"/>
            <a:ext cx="3371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模型不得改写既定路口—路段业务骨架。</a:t>
            </a:r>
          </a:p>
        </p:txBody>
      </p:sp>
      <p:sp>
        <p:nvSpPr>
          <p:cNvPr id="41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C679197B-0A73-4383-9E61-8A5E1E4F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11055096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42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3BA7D4F2-13CF-45AE-92CD-06AD3A3E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95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3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FF862832-64DE-4E28-BBE8-3BB33090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44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75219812-3933-44CF-8D3A-7937C4F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2932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规则概念验证已完成，确定当前算法上限。</a:t>
            </a:r>
          </a:p>
        </p:txBody>
      </p:sp>
    </p:spTree>
    <p:extLst>
      <p:ext uri="{BB962C8B-B14F-4D97-AF65-F5344CB8AC3E}">
        <p14:creationId xmlns:p14="http://schemas.microsoft.com/office/powerpoint/2010/main" val="478021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title">
            <a:extLst xmlns:a="http://schemas.openxmlformats.org/drawingml/2006/main">
              <a:ext uri="{FF2B5EF4-FFF2-40B4-BE49-F238E27FC236}">
                <a16:creationId xmlns:a16="http://schemas.microsoft.com/office/drawing/2014/main" id="{D4658438-C051-4BDF-9B88-8FC17E57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方案二：复用认知底座，审计一层与二层路网质量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2C5F64F-592E-4F74-9E2D-F3C30D22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对路口、路段、方向与连通执行只读审计，具备短期上线潜力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83CA74F-DC60-49E7-BD43-876451E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p3-input-label">
            <a:extLst xmlns:a="http://schemas.openxmlformats.org/drawingml/2006/main">
              <a:ext uri="{FF2B5EF4-FFF2-40B4-BE49-F238E27FC236}">
                <a16:creationId xmlns:a16="http://schemas.microsoft.com/office/drawing/2014/main" id="{B6AA7386-B42F-43F1-8C8D-BD2D401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审计目标与准则</a:t>
            </a:r>
          </a:p>
        </p:txBody>
      </p:sp>
      <p:sp>
        <p:nvSpPr>
          <p:cNvPr id="5" name="p3-left-accent">
            <a:extLst xmlns:a="http://schemas.openxmlformats.org/drawingml/2006/main">
              <a:ext uri="{FF2B5EF4-FFF2-40B4-BE49-F238E27FC236}">
                <a16:creationId xmlns:a16="http://schemas.microsoft.com/office/drawing/2014/main" id="{25E03C60-7599-4ABB-A23B-158F931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1562100"/>
            <a:ext cx="9525" cy="3400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D2633"/>
            </a:solidFill>
            <a:prstDash val="solid"/>
          </a:ln>
        </p:spPr>
      </p:sp>
      <p:sp>
        <p:nvSpPr>
          <p:cNvPr id="6" name="p3-input-heading">
            <a:extLst xmlns:a="http://schemas.openxmlformats.org/drawingml/2006/main">
              <a:ext uri="{FF2B5EF4-FFF2-40B4-BE49-F238E27FC236}">
                <a16:creationId xmlns:a16="http://schemas.microsoft.com/office/drawing/2014/main" id="{D1D17B1E-102D-4560-B663-E7E94A3F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原始一对一融合路网的 RCSD 道路 / 节点</a:t>
            </a:r>
          </a:p>
        </p:txBody>
      </p:sp>
      <p:sp>
        <p:nvSpPr>
          <p:cNvPr id="7" name="p3-input-copy">
            <a:extLst xmlns:a="http://schemas.openxmlformats.org/drawingml/2006/main">
              <a:ext uri="{FF2B5EF4-FFF2-40B4-BE49-F238E27FC236}">
                <a16:creationId xmlns:a16="http://schemas.microsoft.com/office/drawing/2014/main" id="{9ACA8BAF-B549-4A9B-9A19-70BC39D3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 SWSD 语义拓扑为基准。
检查发布的一层、二层路网。</a:t>
            </a:r>
          </a:p>
        </p:txBody>
      </p:sp>
      <p:sp>
        <p:nvSpPr>
          <p:cNvPr id="8" name="p3-input-divider">
            <a:extLst xmlns:a="http://schemas.openxmlformats.org/drawingml/2006/main">
              <a:ext uri="{FF2B5EF4-FFF2-40B4-BE49-F238E27FC236}">
                <a16:creationId xmlns:a16="http://schemas.microsoft.com/office/drawing/2014/main" id="{38CC38A5-AC99-42DD-BAE8-39D5AD65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" y="29718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9" name="p3-rule-heading">
            <a:extLst xmlns:a="http://schemas.openxmlformats.org/drawingml/2006/main">
              <a:ext uri="{FF2B5EF4-FFF2-40B4-BE49-F238E27FC236}">
                <a16:creationId xmlns:a16="http://schemas.microsoft.com/office/drawing/2014/main" id="{AC20C561-932E-4425-8833-4B022AC9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路口—路段基线</a:t>
            </a:r>
          </a:p>
        </p:txBody>
      </p:sp>
      <p:sp>
        <p:nvSpPr>
          <p:cNvPr id="10" name="p3-rule-copy">
            <a:extLst xmlns:a="http://schemas.openxmlformats.org/drawingml/2006/main">
              <a:ext uri="{FF2B5EF4-FFF2-40B4-BE49-F238E27FC236}">
                <a16:creationId xmlns:a16="http://schemas.microsoft.com/office/drawing/2014/main" id="{5F3C9C3A-6D52-4E85-9BDA-765ADC5E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381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审计对象包括路口、路段、必需方向、连通与异常反向通行。</a:t>
            </a:r>
          </a:p>
        </p:txBody>
      </p:sp>
      <p:sp>
        <p:nvSpPr>
          <p:cNvPr id="11" name="p3-rule-foot">
            <a:extLst xmlns:a="http://schemas.openxmlformats.org/drawingml/2006/main">
              <a:ext uri="{FF2B5EF4-FFF2-40B4-BE49-F238E27FC236}">
                <a16:creationId xmlns:a16="http://schemas.microsoft.com/office/drawing/2014/main" id="{3E0DCD20-916A-4D05-952F-0562E5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8152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输入  →  检查</a:t>
            </a:r>
          </a:p>
        </p:txBody>
      </p:sp>
      <p:sp>
        <p:nvSpPr>
          <p:cNvPr id="12" name="p3-arrow-left-to-evidence-shaft">
            <a:extLst xmlns:a="http://schemas.openxmlformats.org/drawingml/2006/main">
              <a:ext uri="{FF2B5EF4-FFF2-40B4-BE49-F238E27FC236}">
                <a16:creationId xmlns:a16="http://schemas.microsoft.com/office/drawing/2014/main" id="{B9C8EF64-F020-452A-8986-87D7D01A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3267075"/>
            <a:ext cx="76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13" name="p3-arrow-left-to-evidence-head">
            <a:extLst xmlns:a="http://schemas.openxmlformats.org/drawingml/2006/main">
              <a:ext uri="{FF2B5EF4-FFF2-40B4-BE49-F238E27FC236}">
                <a16:creationId xmlns:a16="http://schemas.microsoft.com/office/drawing/2014/main" id="{9137D4F8-A40D-4813-AAC9-EA47409B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765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p3-evidence-label">
            <a:extLst xmlns:a="http://schemas.openxmlformats.org/drawingml/2006/main">
              <a:ext uri="{FF2B5EF4-FFF2-40B4-BE49-F238E27FC236}">
                <a16:creationId xmlns:a16="http://schemas.microsoft.com/office/drawing/2014/main" id="{36419CDD-476B-465F-9F72-213CAEC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266825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现实质检案例</a:t>
            </a:r>
          </a:p>
        </p:txBody>
      </p:sp>
      <p:sp>
        <p:nvSpPr>
          <p:cNvPr id="15" name="p3-evidence-frame">
            <a:extLst xmlns:a="http://schemas.openxmlformats.org/drawingml/2006/main">
              <a:ext uri="{FF2B5EF4-FFF2-40B4-BE49-F238E27FC236}">
                <a16:creationId xmlns:a16="http://schemas.microsoft.com/office/drawing/2014/main" id="{CAE9BF5D-EC30-4052-977F-294C4AA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52575"/>
            <a:ext cx="39624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16" name="p3-evidence-accent">
            <a:extLst xmlns:a="http://schemas.openxmlformats.org/drawingml/2006/main">
              <a:ext uri="{FF2B5EF4-FFF2-40B4-BE49-F238E27FC236}">
                <a16:creationId xmlns:a16="http://schemas.microsoft.com/office/drawing/2014/main" id="{CBF608E0-9D23-4BCE-9644-C102F2B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9050" y="1552575"/>
            <a:ext cx="396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8da21f694451a"/>
          <a:stretch xmlns:a="http://schemas.openxmlformats.org/drawingml/2006/main"/>
        </p:blipFill>
        <p:spPr>
          <a:xfrm xmlns:a="http://schemas.openxmlformats.org/drawingml/2006/main">
            <a:off x="3924300" y="1987153"/>
            <a:ext cx="3771900" cy="2121694"/>
          </a:xfrm>
          <a:prstGeom xmlns:a="http://schemas.openxmlformats.org/drawingml/2006/main" prst="rect">
            <a:avLst/>
          </a:prstGeom>
        </p:spPr>
      </p:pic>
      <p:sp>
        <p:nvSpPr>
          <p:cNvPr id="18" name="p3-evidence-flow">
            <a:extLst xmlns:a="http://schemas.openxmlformats.org/drawingml/2006/main">
              <a:ext uri="{FF2B5EF4-FFF2-40B4-BE49-F238E27FC236}">
                <a16:creationId xmlns:a16="http://schemas.microsoft.com/office/drawing/2014/main" id="{BE071AF0-EB3E-4B66-B1CB-ED3DCC81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57725"/>
            <a:ext cx="3962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检查  →  空间证据  →  结论</a:t>
            </a:r>
          </a:p>
        </p:txBody>
      </p:sp>
      <p:sp>
        <p:nvSpPr>
          <p:cNvPr id="19" name="p3-arrow-evidence-to-output-shaft">
            <a:extLst xmlns:a="http://schemas.openxmlformats.org/drawingml/2006/main">
              <a:ext uri="{FF2B5EF4-FFF2-40B4-BE49-F238E27FC236}">
                <a16:creationId xmlns:a16="http://schemas.microsoft.com/office/drawing/2014/main" id="{D9ADA8E3-8477-42A0-BEE3-CCDB3DC2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15275" y="3267075"/>
            <a:ext cx="276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2633"/>
            </a:solidFill>
            <a:prstDash val="solid"/>
          </a:ln>
        </p:spPr>
      </p:sp>
      <p:sp>
        <p:nvSpPr>
          <p:cNvPr id="20" name="p3-arrow-evidence-to-output-head">
            <a:extLst xmlns:a="http://schemas.openxmlformats.org/drawingml/2006/main">
              <a:ext uri="{FF2B5EF4-FFF2-40B4-BE49-F238E27FC236}">
                <a16:creationId xmlns:a16="http://schemas.microsoft.com/office/drawing/2014/main" id="{6E35304F-CC03-49B4-85EB-9684027D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p3-output-label">
            <a:extLst xmlns:a="http://schemas.openxmlformats.org/drawingml/2006/main">
              <a:ext uri="{FF2B5EF4-FFF2-40B4-BE49-F238E27FC236}">
                <a16:creationId xmlns:a16="http://schemas.microsoft.com/office/drawing/2014/main" id="{BAFE9770-3C0E-46E5-97EC-E3C41456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668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输出与边界</a:t>
            </a:r>
          </a:p>
        </p:txBody>
      </p:sp>
      <p:sp>
        <p:nvSpPr>
          <p:cNvPr id="22" name="p3-output-heading">
            <a:extLst xmlns:a="http://schemas.openxmlformats.org/drawingml/2006/main">
              <a:ext uri="{FF2B5EF4-FFF2-40B4-BE49-F238E27FC236}">
                <a16:creationId xmlns:a16="http://schemas.microsoft.com/office/drawing/2014/main" id="{84C655D7-3BA0-496E-BDA0-1E6F28B3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097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可追溯问题输出</a:t>
            </a:r>
          </a:p>
        </p:txBody>
      </p:sp>
      <p:sp>
        <p:nvSpPr>
          <p:cNvPr id="23" name="p3-output-copy">
            <a:extLst xmlns:a="http://schemas.openxmlformats.org/drawingml/2006/main">
              <a:ext uri="{FF2B5EF4-FFF2-40B4-BE49-F238E27FC236}">
                <a16:creationId xmlns:a16="http://schemas.microsoft.com/office/drawing/2014/main" id="{03D65AD4-BA1A-4845-B125-CE7B85CC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9775"/>
            <a:ext cx="3009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输出候选、确认、排除结果及空间证据。
输入、参数与结论均可追溯。</a:t>
            </a:r>
          </a:p>
        </p:txBody>
      </p:sp>
      <p:sp>
        <p:nvSpPr>
          <p:cNvPr id="24" name="p3-output-divider">
            <a:extLst xmlns:a="http://schemas.openxmlformats.org/drawingml/2006/main">
              <a:ext uri="{FF2B5EF4-FFF2-40B4-BE49-F238E27FC236}">
                <a16:creationId xmlns:a16="http://schemas.microsoft.com/office/drawing/2014/main" id="{12B7DC02-D902-4741-9391-DA95BB14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0100" y="2952750"/>
            <a:ext cx="300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25" name="p3-boundary-heading">
            <a:extLst xmlns:a="http://schemas.openxmlformats.org/drawingml/2006/main">
              <a:ext uri="{FF2B5EF4-FFF2-40B4-BE49-F238E27FC236}">
                <a16:creationId xmlns:a16="http://schemas.microsoft.com/office/drawing/2014/main" id="{21319B43-C108-44B1-BAA7-856BF545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上线判断</a:t>
            </a:r>
          </a:p>
        </p:txBody>
      </p:sp>
      <p:sp>
        <p:nvSpPr>
          <p:cNvPr id="26" name="p3-boundary-copy">
            <a:extLst xmlns:a="http://schemas.openxmlformats.org/drawingml/2006/main">
              <a:ext uri="{FF2B5EF4-FFF2-40B4-BE49-F238E27FC236}">
                <a16:creationId xmlns:a16="http://schemas.microsoft.com/office/drawing/2014/main" id="{7C71D79F-BE19-49D9-85DA-34D01CCD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52825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具备短期上线潜力，但当前汇报不宣称已经生产部署。</a:t>
            </a:r>
          </a:p>
        </p:txBody>
      </p:sp>
      <p:sp>
        <p:nvSpPr>
          <p:cNvPr id="27" name="p3-output-foot">
            <a:extLst xmlns:a="http://schemas.openxmlformats.org/drawingml/2006/main">
              <a:ext uri="{FF2B5EF4-FFF2-40B4-BE49-F238E27FC236}">
                <a16:creationId xmlns:a16="http://schemas.microsoft.com/office/drawing/2014/main" id="{48954B34-ABF2-492F-B74B-62E48C5E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8152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输出  →  业务处置</a:t>
            </a:r>
          </a:p>
        </p:txBody>
      </p:sp>
      <p:sp>
        <p:nvSpPr>
          <p:cNvPr id="28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0C8734CE-3CD0-4F72-9FB8-E4827D2C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11055096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29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04AAD728-EE02-4FD7-A9D1-AF8FACA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2650"/>
            <a:ext cx="95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0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B255DBAE-5B1F-4870-9178-847C73E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31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CB036C23-C186-4E95-ACF3-D106E9D4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29325"/>
            <a:ext cx="960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只读审计，不静默修复，不改变既有生产链路行为。</a:t>
            </a:r>
          </a:p>
        </p:txBody>
      </p:sp>
    </p:spTree>
    <p:extLst>
      <p:ext uri="{BB962C8B-B14F-4D97-AF65-F5344CB8AC3E}">
        <p14:creationId xmlns:p14="http://schemas.microsoft.com/office/powerpoint/2010/main" val="576510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ge-title">
            <a:extLst xmlns:a="http://schemas.openxmlformats.org/drawingml/2006/main">
              <a:ext uri="{FF2B5EF4-FFF2-40B4-BE49-F238E27FC236}">
                <a16:creationId xmlns:a16="http://schemas.microsoft.com/office/drawing/2014/main" id="{714BF2E4-E8F8-49C5-8059-ADBBDCC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方案三：自上而下直建二层道路与节点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DEFA9B2-D79A-4EB1-9FF8-56E2BFD7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一层路口—路段牵引，分片矢量提供现实证据，面向 RCSD 路网图直建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FD36043-13A4-424F-9821-C049AEA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p04-chain-label">
            <a:extLst xmlns:a="http://schemas.openxmlformats.org/drawingml/2006/main">
              <a:ext uri="{FF2B5EF4-FFF2-40B4-BE49-F238E27FC236}">
                <a16:creationId xmlns:a16="http://schemas.microsoft.com/office/drawing/2014/main" id="{737B8653-08F1-426F-B873-EB429DD6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自上而下四阶段构建主链</a:t>
            </a:r>
          </a:p>
        </p:txBody>
      </p:sp>
      <p:sp>
        <p:nvSpPr>
          <p:cNvPr id="5" name="p04-spine">
            <a:extLst xmlns:a="http://schemas.openxmlformats.org/drawingml/2006/main">
              <a:ext uri="{FF2B5EF4-FFF2-40B4-BE49-F238E27FC236}">
                <a16:creationId xmlns:a16="http://schemas.microsoft.com/office/drawing/2014/main" id="{C17C6C33-41C6-46BF-B2B1-425631E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1743075"/>
            <a:ext cx="9525" cy="3267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C7"/>
            </a:solidFill>
            <a:prstDash val="solid"/>
          </a:ln>
        </p:spPr>
      </p:sp>
      <p:sp>
        <p:nvSpPr>
          <p:cNvPr id="6" name="p04-dot-1">
            <a:extLst xmlns:a="http://schemas.openxmlformats.org/drawingml/2006/main">
              <a:ext uri="{FF2B5EF4-FFF2-40B4-BE49-F238E27FC236}">
                <a16:creationId xmlns:a16="http://schemas.microsoft.com/office/drawing/2014/main" id="{01F07A88-8BAE-4478-9B47-9F174200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7" name="p04-num-1">
            <a:extLst xmlns:a="http://schemas.openxmlformats.org/drawingml/2006/main">
              <a:ext uri="{FF2B5EF4-FFF2-40B4-BE49-F238E27FC236}">
                <a16:creationId xmlns:a16="http://schemas.microsoft.com/office/drawing/2014/main" id="{592E1C90-117E-4AC7-A17C-EF7F4D55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859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p04-title-1">
            <a:extLst xmlns:a="http://schemas.openxmlformats.org/drawingml/2006/main">
              <a:ext uri="{FF2B5EF4-FFF2-40B4-BE49-F238E27FC236}">
                <a16:creationId xmlns:a16="http://schemas.microsoft.com/office/drawing/2014/main" id="{4C9121A9-4BE1-4E93-B440-8B19F05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5525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一层语义骨架</a:t>
            </a:r>
          </a:p>
        </p:txBody>
      </p:sp>
      <p:sp>
        <p:nvSpPr>
          <p:cNvPr id="9" name="p04-body-1">
            <a:extLst xmlns:a="http://schemas.openxmlformats.org/drawingml/2006/main">
              <a:ext uri="{FF2B5EF4-FFF2-40B4-BE49-F238E27FC236}">
                <a16:creationId xmlns:a16="http://schemas.microsoft.com/office/drawing/2014/main" id="{1FE7D34D-84F8-4C66-820D-997382F7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00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以一层路网中的路口—路段语义骨架为牵引。</a:t>
            </a:r>
          </a:p>
        </p:txBody>
      </p:sp>
      <p:sp>
        <p:nvSpPr>
          <p:cNvPr id="10" name="p04-dot-2">
            <a:extLst xmlns:a="http://schemas.openxmlformats.org/drawingml/2006/main">
              <a:ext uri="{FF2B5EF4-FFF2-40B4-BE49-F238E27FC236}">
                <a16:creationId xmlns:a16="http://schemas.microsoft.com/office/drawing/2014/main" id="{035AC28E-2B12-48DD-AF30-8E4A2EBA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1" name="p04-num-2">
            <a:extLst xmlns:a="http://schemas.openxmlformats.org/drawingml/2006/main">
              <a:ext uri="{FF2B5EF4-FFF2-40B4-BE49-F238E27FC236}">
                <a16:creationId xmlns:a16="http://schemas.microsoft.com/office/drawing/2014/main" id="{39399C1F-4618-4038-A2F4-139DFA2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p04-title-2">
            <a:extLst xmlns:a="http://schemas.openxmlformats.org/drawingml/2006/main">
              <a:ext uri="{FF2B5EF4-FFF2-40B4-BE49-F238E27FC236}">
                <a16:creationId xmlns:a16="http://schemas.microsoft.com/office/drawing/2014/main" id="{7A976665-95C5-4490-8F7D-97EABEBD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19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分片证据拟合</a:t>
            </a:r>
          </a:p>
        </p:txBody>
      </p:sp>
      <p:sp>
        <p:nvSpPr>
          <p:cNvPr id="13" name="p04-body-2">
            <a:extLst xmlns:a="http://schemas.openxmlformats.org/drawingml/2006/main">
              <a:ext uri="{FF2B5EF4-FFF2-40B4-BE49-F238E27FC236}">
                <a16:creationId xmlns:a16="http://schemas.microsoft.com/office/drawing/2014/main" id="{36B7F640-DE89-406C-81F8-C069CCE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669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以分片道路、车道、车道拓扑、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边界与道路面拟合现实证据。</a:t>
            </a:r>
          </a:p>
        </p:txBody>
      </p:sp>
      <p:sp>
        <p:nvSpPr>
          <p:cNvPr id="14" name="p04-dot-3">
            <a:extLst xmlns:a="http://schemas.openxmlformats.org/drawingml/2006/main">
              <a:ext uri="{FF2B5EF4-FFF2-40B4-BE49-F238E27FC236}">
                <a16:creationId xmlns:a16="http://schemas.microsoft.com/office/drawing/2014/main" id="{246D4221-5AD5-4812-8B36-E1B57C72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5" name="p04-num-3">
            <a:extLst xmlns:a="http://schemas.openxmlformats.org/drawingml/2006/main">
              <a:ext uri="{FF2B5EF4-FFF2-40B4-BE49-F238E27FC236}">
                <a16:creationId xmlns:a16="http://schemas.microsoft.com/office/drawing/2014/main" id="{4836AF35-8328-4A53-AB72-2F47999C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956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p04-title-3">
            <a:extLst xmlns:a="http://schemas.openxmlformats.org/drawingml/2006/main">
              <a:ext uri="{FF2B5EF4-FFF2-40B4-BE49-F238E27FC236}">
                <a16:creationId xmlns:a16="http://schemas.microsoft.com/office/drawing/2014/main" id="{5C9DC4B1-1E22-4CD4-B4AC-5F16434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623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高精对象构建</a:t>
            </a:r>
          </a:p>
        </p:txBody>
      </p:sp>
      <p:sp>
        <p:nvSpPr>
          <p:cNvPr id="17" name="p04-body-3">
            <a:extLst xmlns:a="http://schemas.openxmlformats.org/drawingml/2006/main">
              <a:ext uri="{FF2B5EF4-FFF2-40B4-BE49-F238E27FC236}">
                <a16:creationId xmlns:a16="http://schemas.microsoft.com/office/drawing/2014/main" id="{2D0A6157-3DED-44EF-9B3C-EFE53C5E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099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构建高精道路、节点与道路衔接关系。</a:t>
            </a:r>
          </a:p>
        </p:txBody>
      </p:sp>
      <p:sp>
        <p:nvSpPr>
          <p:cNvPr id="18" name="p04-dot-4">
            <a:extLst xmlns:a="http://schemas.openxmlformats.org/drawingml/2006/main">
              <a:ext uri="{FF2B5EF4-FFF2-40B4-BE49-F238E27FC236}">
                <a16:creationId xmlns:a16="http://schemas.microsoft.com/office/drawing/2014/main" id="{E3A0170C-8A1C-43FA-8998-D2100A11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9" name="p04-num-4">
            <a:extLst xmlns:a="http://schemas.openxmlformats.org/drawingml/2006/main">
              <a:ext uri="{FF2B5EF4-FFF2-40B4-BE49-F238E27FC236}">
                <a16:creationId xmlns:a16="http://schemas.microsoft.com/office/drawing/2014/main" id="{9F250AFF-F5F0-41AF-84B3-77A52A71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719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p04-title-4">
            <a:extLst xmlns:a="http://schemas.openxmlformats.org/drawingml/2006/main">
              <a:ext uri="{FF2B5EF4-FFF2-40B4-BE49-F238E27FC236}">
                <a16:creationId xmlns:a16="http://schemas.microsoft.com/office/drawing/2014/main" id="{7C4D2A93-B3A2-44A7-B999-C6102F75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38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目标输出</a:t>
            </a:r>
          </a:p>
        </p:txBody>
      </p:sp>
      <p:sp>
        <p:nvSpPr>
          <p:cNvPr id="21" name="p04-body-4">
            <a:extLst xmlns:a="http://schemas.openxmlformats.org/drawingml/2006/main">
              <a:ext uri="{FF2B5EF4-FFF2-40B4-BE49-F238E27FC236}">
                <a16:creationId xmlns:a16="http://schemas.microsoft.com/office/drawing/2014/main" id="{DE0817CD-D899-4BCD-A219-BD590CBE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862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并形成 RCSD 路网图候选。</a:t>
            </a:r>
          </a:p>
        </p:txBody>
      </p:sp>
      <p:sp>
        <p:nvSpPr>
          <p:cNvPr id="22" name="p04-arrow-1-shaft">
            <a:extLst xmlns:a="http://schemas.openxmlformats.org/drawingml/2006/main">
              <a:ext uri="{FF2B5EF4-FFF2-40B4-BE49-F238E27FC236}">
                <a16:creationId xmlns:a16="http://schemas.microsoft.com/office/drawing/2014/main" id="{F255E7C5-96FD-4114-82F4-6F55AE4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009775"/>
            <a:ext cx="9525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3" name="p04-arrow-1-head">
            <a:extLst xmlns:a="http://schemas.openxmlformats.org/drawingml/2006/main">
              <a:ext uri="{FF2B5EF4-FFF2-40B4-BE49-F238E27FC236}">
                <a16:creationId xmlns:a16="http://schemas.microsoft.com/office/drawing/2014/main" id="{350B61F2-507D-4855-BE17-135044CC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p04-arrow-2-shaft">
            <a:extLst xmlns:a="http://schemas.openxmlformats.org/drawingml/2006/main">
              <a:ext uri="{FF2B5EF4-FFF2-40B4-BE49-F238E27FC236}">
                <a16:creationId xmlns:a16="http://schemas.microsoft.com/office/drawing/2014/main" id="{583EC269-EB9A-4BB1-8388-B31AF1BD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876550"/>
            <a:ext cx="952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5" name="p04-arrow-2-head">
            <a:extLst xmlns:a="http://schemas.openxmlformats.org/drawingml/2006/main">
              <a:ext uri="{FF2B5EF4-FFF2-40B4-BE49-F238E27FC236}">
                <a16:creationId xmlns:a16="http://schemas.microsoft.com/office/drawing/2014/main" id="{B975DFE7-BECE-491F-9341-15BCFC6C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p04-arrow-3-shaft">
            <a:extLst xmlns:a="http://schemas.openxmlformats.org/drawingml/2006/main">
              <a:ext uri="{FF2B5EF4-FFF2-40B4-BE49-F238E27FC236}">
                <a16:creationId xmlns:a16="http://schemas.microsoft.com/office/drawing/2014/main" id="{7AF269DE-B62F-423E-BA3D-DFF05CAF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3819525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7" name="p04-arrow-3-head">
            <a:extLst xmlns:a="http://schemas.openxmlformats.org/drawingml/2006/main">
              <a:ext uri="{FF2B5EF4-FFF2-40B4-BE49-F238E27FC236}">
                <a16:creationId xmlns:a16="http://schemas.microsoft.com/office/drawing/2014/main" id="{F7AF1A7B-3378-4552-8BD7-DEF40FB3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p04-evidence-label">
            <a:extLst xmlns:a="http://schemas.openxmlformats.org/drawingml/2006/main">
              <a:ext uri="{FF2B5EF4-FFF2-40B4-BE49-F238E27FC236}">
                <a16:creationId xmlns:a16="http://schemas.microsoft.com/office/drawing/2014/main" id="{5D3A8556-A00A-498D-B67C-CD248AA1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668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真实局部实验图</a:t>
            </a:r>
          </a:p>
        </p:txBody>
      </p:sp>
      <p:sp>
        <p:nvSpPr>
          <p:cNvPr id="29" name="p04-evidence-frame">
            <a:extLst xmlns:a="http://schemas.openxmlformats.org/drawingml/2006/main">
              <a:ext uri="{FF2B5EF4-FFF2-40B4-BE49-F238E27FC236}">
                <a16:creationId xmlns:a16="http://schemas.microsoft.com/office/drawing/2014/main" id="{DB201E6C-F598-4556-A7CA-CB301F93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1625"/>
            <a:ext cx="52197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27e42c7a941e1"/>
          <a:stretch xmlns:a="http://schemas.openxmlformats.org/drawingml/2006/main"/>
        </p:blipFill>
        <p:spPr>
          <a:xfrm xmlns:a="http://schemas.openxmlformats.org/drawingml/2006/main">
            <a:off x="6589183" y="16764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31" name="p04-caption-bg">
            <a:extLst xmlns:a="http://schemas.openxmlformats.org/drawingml/2006/main">
              <a:ext uri="{FF2B5EF4-FFF2-40B4-BE49-F238E27FC236}">
                <a16:creationId xmlns:a16="http://schemas.microsoft.com/office/drawing/2014/main" id="{D3C30776-07DC-406B-AF7E-017672E9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57725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2" name="p04-caption">
            <a:extLst xmlns:a="http://schemas.openxmlformats.org/drawingml/2006/main">
              <a:ext uri="{FF2B5EF4-FFF2-40B4-BE49-F238E27FC236}">
                <a16:creationId xmlns:a16="http://schemas.microsoft.com/office/drawing/2014/main" id="{C543A0E6-CA93-4F65-A0BE-13B3BB5D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局部实验完成，证明路段优先的构建路径可行。</a:t>
            </a:r>
          </a:p>
        </p:txBody>
      </p:sp>
      <p:sp>
        <p:nvSpPr>
          <p:cNvPr id="33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79CE4C80-19FC-42B7-ABEA-8CB6350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5450"/>
            <a:ext cx="11055096" cy="6286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4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489336F1-130E-4956-B69A-23F07D8F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5450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5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43FEEF74-A421-4826-A99B-0094B6AC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00700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验证边界</a:t>
            </a:r>
          </a:p>
        </p:txBody>
      </p:sp>
      <p:sp>
        <p:nvSpPr>
          <p:cNvPr id="36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34AFF781-9822-45B5-8F4C-CB57F587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81650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当前仍是局部概念验证，不替代既有正式主链，也不宣称已形成生产级融合路网。</a:t>
            </a:r>
          </a:p>
        </p:txBody>
      </p:sp>
    </p:spTree>
    <p:extLst>
      <p:ext uri="{BB962C8B-B14F-4D97-AF65-F5344CB8AC3E}">
        <p14:creationId xmlns:p14="http://schemas.microsoft.com/office/powerpoint/2010/main" val="1214607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F0C3B25-7B13-4EA0-B91E-9A140306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RCSD 把需求点转译为上下车候选，车端确认当次执行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69004D5-1A6D-41FF-AB31-A806488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技术方案已形成；源稿未提供上线范围、覆盖率、命中率或安全效果数据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AA8D4A0-2B0C-47F8-9733-8DA133FE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boarding-problem-accent">
            <a:extLst xmlns:a="http://schemas.openxmlformats.org/drawingml/2006/main">
              <a:ext uri="{FF2B5EF4-FFF2-40B4-BE49-F238E27FC236}">
                <a16:creationId xmlns:a16="http://schemas.microsoft.com/office/drawing/2014/main" id="{89CE7B19-D908-462B-AAC1-C924D34D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76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5" name="boarding-problem">
            <a:extLst xmlns:a="http://schemas.openxmlformats.org/drawingml/2006/main">
              <a:ext uri="{FF2B5EF4-FFF2-40B4-BE49-F238E27FC236}">
                <a16:creationId xmlns:a16="http://schemas.microsoft.com/office/drawing/2014/main" id="{4DB0DCCB-274B-4722-B48A-E3EBECB2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需求点不等于可停车点，也不直接等于可候客或可执行位置。</a:t>
            </a:r>
          </a:p>
        </p:txBody>
      </p:sp>
      <p:sp>
        <p:nvSpPr>
          <p:cNvPr id="6" name="boarding-title-1">
            <a:extLst xmlns:a="http://schemas.openxmlformats.org/drawingml/2006/main">
              <a:ext uri="{FF2B5EF4-FFF2-40B4-BE49-F238E27FC236}">
                <a16:creationId xmlns:a16="http://schemas.microsoft.com/office/drawing/2014/main" id="{CEFCF6B3-698F-4E90-B87D-F4F4568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需求锚点</a:t>
            </a:r>
          </a:p>
        </p:txBody>
      </p:sp>
      <p:sp>
        <p:nvSpPr>
          <p:cNvPr id="7" name="boarding-node-1">
            <a:extLst xmlns:a="http://schemas.openxmlformats.org/drawingml/2006/main">
              <a:ext uri="{FF2B5EF4-FFF2-40B4-BE49-F238E27FC236}">
                <a16:creationId xmlns:a16="http://schemas.microsoft.com/office/drawing/2014/main" id="{75FB4B22-3D9B-46CF-8723-56D6A4F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8" name="boarding-number-1">
            <a:extLst xmlns:a="http://schemas.openxmlformats.org/drawingml/2006/main">
              <a:ext uri="{FF2B5EF4-FFF2-40B4-BE49-F238E27FC236}">
                <a16:creationId xmlns:a16="http://schemas.microsoft.com/office/drawing/2014/main" id="{92940C24-7EBF-49C5-9633-B5459A8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boarding-body-1">
            <a:extLst xmlns:a="http://schemas.openxmlformats.org/drawingml/2006/main">
              <a:ext uri="{FF2B5EF4-FFF2-40B4-BE49-F238E27FC236}">
                <a16:creationId xmlns:a16="http://schemas.microsoft.com/office/drawing/2014/main" id="{883F24EC-0260-41D3-8FE4-0A879EA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位置语义｜兴趣点 / 出入口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步行可达｜园区 / 枢纽语义</a:t>
            </a:r>
          </a:p>
        </p:txBody>
      </p:sp>
      <p:sp>
        <p:nvSpPr>
          <p:cNvPr id="10" name="boarding-title-2">
            <a:extLst xmlns:a="http://schemas.openxmlformats.org/drawingml/2006/main">
              <a:ext uri="{FF2B5EF4-FFF2-40B4-BE49-F238E27FC236}">
                <a16:creationId xmlns:a16="http://schemas.microsoft.com/office/drawing/2014/main" id="{5F787EEC-9A4D-49EE-A07C-19AE263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RCSD 空间锚定</a:t>
            </a:r>
          </a:p>
        </p:txBody>
      </p:sp>
      <p:sp>
        <p:nvSpPr>
          <p:cNvPr id="11" name="boarding-node-2">
            <a:extLst xmlns:a="http://schemas.openxmlformats.org/drawingml/2006/main">
              <a:ext uri="{FF2B5EF4-FFF2-40B4-BE49-F238E27FC236}">
                <a16:creationId xmlns:a16="http://schemas.microsoft.com/office/drawing/2014/main" id="{26D737D8-1519-46E0-80EE-E7D7AB18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12" name="boarding-number-2">
            <a:extLst xmlns:a="http://schemas.openxmlformats.org/drawingml/2006/main">
              <a:ext uri="{FF2B5EF4-FFF2-40B4-BE49-F238E27FC236}">
                <a16:creationId xmlns:a16="http://schemas.microsoft.com/office/drawing/2014/main" id="{018D4A1E-99DA-496C-BEE7-7787D293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boarding-body-2">
            <a:extLst xmlns:a="http://schemas.openxmlformats.org/drawingml/2006/main">
              <a:ext uri="{FF2B5EF4-FFF2-40B4-BE49-F238E27FC236}">
                <a16:creationId xmlns:a16="http://schemas.microsoft.com/office/drawing/2014/main" id="{27096546-7FD5-4B40-A64D-863DCA8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 / 路段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方向 × 侧别 × 局部区间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枢纽补充入口与停车设施</a:t>
            </a:r>
          </a:p>
        </p:txBody>
      </p:sp>
      <p:sp>
        <p:nvSpPr>
          <p:cNvPr id="14" name="boarding-title-3">
            <a:extLst xmlns:a="http://schemas.openxmlformats.org/drawingml/2006/main">
              <a:ext uri="{FF2B5EF4-FFF2-40B4-BE49-F238E27FC236}">
                <a16:creationId xmlns:a16="http://schemas.microsoft.com/office/drawing/2014/main" id="{5CC1BB47-FDEF-4A4C-8428-17E2F6B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静态权限合成</a:t>
            </a:r>
          </a:p>
        </p:txBody>
      </p:sp>
      <p:sp>
        <p:nvSpPr>
          <p:cNvPr id="15" name="boarding-node-3">
            <a:extLst xmlns:a="http://schemas.openxmlformats.org/drawingml/2006/main">
              <a:ext uri="{FF2B5EF4-FFF2-40B4-BE49-F238E27FC236}">
                <a16:creationId xmlns:a16="http://schemas.microsoft.com/office/drawing/2014/main" id="{24598F62-B466-4162-903E-F3E71CF8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16" name="boarding-number-3">
            <a:extLst xmlns:a="http://schemas.openxmlformats.org/drawingml/2006/main">
              <a:ext uri="{FF2B5EF4-FFF2-40B4-BE49-F238E27FC236}">
                <a16:creationId xmlns:a16="http://schemas.microsoft.com/office/drawing/2014/main" id="{C63CCA0E-D74C-4A12-9838-85EF4B47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boarding-body-3">
            <a:extLst xmlns:a="http://schemas.openxmlformats.org/drawingml/2006/main">
              <a:ext uri="{FF2B5EF4-FFF2-40B4-BE49-F238E27FC236}">
                <a16:creationId xmlns:a16="http://schemas.microsoft.com/office/drawing/2014/main" id="{8A6A06A2-3420-4665-9235-9718223B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道路停靠属性＋空间控制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禁止停车 ＞ 即停即走 ＞ 临停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按最严格结果合并</a:t>
            </a:r>
          </a:p>
        </p:txBody>
      </p:sp>
      <p:sp>
        <p:nvSpPr>
          <p:cNvPr id="18" name="boarding-title-4">
            <a:extLst xmlns:a="http://schemas.openxmlformats.org/drawingml/2006/main">
              <a:ext uri="{FF2B5EF4-FFF2-40B4-BE49-F238E27FC236}">
                <a16:creationId xmlns:a16="http://schemas.microsoft.com/office/drawing/2014/main" id="{DE3901F1-B306-4EAB-A401-6870966F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192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车端当次执行</a:t>
            </a:r>
          </a:p>
        </p:txBody>
      </p:sp>
      <p:sp>
        <p:nvSpPr>
          <p:cNvPr id="19" name="boarding-node-4">
            <a:extLst xmlns:a="http://schemas.openxmlformats.org/drawingml/2006/main">
              <a:ext uri="{FF2B5EF4-FFF2-40B4-BE49-F238E27FC236}">
                <a16:creationId xmlns:a16="http://schemas.microsoft.com/office/drawing/2014/main" id="{E2750F7E-5650-4CD8-9325-7E8C3DD3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43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20" name="boarding-number-4">
            <a:extLst xmlns:a="http://schemas.openxmlformats.org/drawingml/2006/main">
              <a:ext uri="{FF2B5EF4-FFF2-40B4-BE49-F238E27FC236}">
                <a16:creationId xmlns:a16="http://schemas.microsoft.com/office/drawing/2014/main" id="{A09DB789-7868-456A-B475-5184B2D6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71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boarding-body-4">
            <a:extLst xmlns:a="http://schemas.openxmlformats.org/drawingml/2006/main">
              <a:ext uri="{FF2B5EF4-FFF2-40B4-BE49-F238E27FC236}">
                <a16:creationId xmlns:a16="http://schemas.microsoft.com/office/drawing/2014/main" id="{E0A85CA5-F522-4897-B699-32BECE43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候选前筛选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停车 / 开门前再次复核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执行｜重选｜改点｜最小巡航</a:t>
            </a:r>
          </a:p>
        </p:txBody>
      </p:sp>
      <p:sp>
        <p:nvSpPr>
          <p:cNvPr id="22" name="boarding-arrow-1-shaft">
            <a:extLst xmlns:a="http://schemas.openxmlformats.org/drawingml/2006/main">
              <a:ext uri="{FF2B5EF4-FFF2-40B4-BE49-F238E27FC236}">
                <a16:creationId xmlns:a16="http://schemas.microsoft.com/office/drawing/2014/main" id="{457166CC-5A9E-4DF2-9DC7-BD908313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85950" y="2562225"/>
            <a:ext cx="1790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3" name="boarding-arrow-1-head">
            <a:extLst xmlns:a="http://schemas.openxmlformats.org/drawingml/2006/main">
              <a:ext uri="{FF2B5EF4-FFF2-40B4-BE49-F238E27FC236}">
                <a16:creationId xmlns:a16="http://schemas.microsoft.com/office/drawing/2014/main" id="{A0E577DE-DE7F-4827-B312-3860CDB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4" name="boarding-arrow-2-shaft">
            <a:extLst xmlns:a="http://schemas.openxmlformats.org/drawingml/2006/main">
              <a:ext uri="{FF2B5EF4-FFF2-40B4-BE49-F238E27FC236}">
                <a16:creationId xmlns:a16="http://schemas.microsoft.com/office/drawing/2014/main" id="{A612AD6B-CD02-416E-B929-2B922C5C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8650" y="2562225"/>
            <a:ext cx="1828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5" name="boarding-arrow-2-head">
            <a:extLst xmlns:a="http://schemas.openxmlformats.org/drawingml/2006/main">
              <a:ext uri="{FF2B5EF4-FFF2-40B4-BE49-F238E27FC236}">
                <a16:creationId xmlns:a16="http://schemas.microsoft.com/office/drawing/2014/main" id="{8DF03BC9-CA9E-48B3-9FB6-BB254A1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6" name="boarding-arrow-3-shaft">
            <a:extLst xmlns:a="http://schemas.openxmlformats.org/drawingml/2006/main">
              <a:ext uri="{FF2B5EF4-FFF2-40B4-BE49-F238E27FC236}">
                <a16:creationId xmlns:a16="http://schemas.microsoft.com/office/drawing/2014/main" id="{EEECFAEA-268D-4384-982C-AC6B938C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29450" y="256222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A64"/>
            </a:solidFill>
            <a:prstDash val="solid"/>
          </a:ln>
        </p:spPr>
      </p:sp>
      <p:sp>
        <p:nvSpPr>
          <p:cNvPr id="27" name="boarding-arrow-3-head">
            <a:extLst xmlns:a="http://schemas.openxmlformats.org/drawingml/2006/main">
              <a:ext uri="{FF2B5EF4-FFF2-40B4-BE49-F238E27FC236}">
                <a16:creationId xmlns:a16="http://schemas.microsoft.com/office/drawing/2014/main" id="{226FB562-B729-4486-B38D-BBEA0B2E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71725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8" name="boarding-output-label">
            <a:extLst xmlns:a="http://schemas.openxmlformats.org/drawingml/2006/main">
              <a:ext uri="{FF2B5EF4-FFF2-40B4-BE49-F238E27FC236}">
                <a16:creationId xmlns:a16="http://schemas.microsoft.com/office/drawing/2014/main" id="{00C0E011-7360-4752-AD29-CF5DCF30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链路输出包括普通道路上车、交通枢纽上车和下车。</a:t>
            </a:r>
          </a:p>
        </p:txBody>
      </p:sp>
      <p:sp>
        <p:nvSpPr>
          <p:cNvPr id="29" name="boarding-output-spine">
            <a:extLst xmlns:a="http://schemas.openxmlformats.org/drawingml/2006/main">
              <a:ext uri="{FF2B5EF4-FFF2-40B4-BE49-F238E27FC236}">
                <a16:creationId xmlns:a16="http://schemas.microsoft.com/office/drawing/2014/main" id="{05800DF8-FFC8-400F-9F30-536C547A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457700"/>
            <a:ext cx="948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D0C7"/>
            </a:solidFill>
            <a:prstDash val="solid"/>
          </a:ln>
        </p:spPr>
      </p:sp>
      <p:sp>
        <p:nvSpPr>
          <p:cNvPr id="30" name="boarding-output-dot-1">
            <a:extLst xmlns:a="http://schemas.openxmlformats.org/drawingml/2006/main">
              <a:ext uri="{FF2B5EF4-FFF2-40B4-BE49-F238E27FC236}">
                <a16:creationId xmlns:a16="http://schemas.microsoft.com/office/drawing/2014/main" id="{E684C310-D1A7-4A42-8BE4-4C382328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1" name="boarding-output-title-1">
            <a:extLst xmlns:a="http://schemas.openxmlformats.org/drawingml/2006/main">
              <a:ext uri="{FF2B5EF4-FFF2-40B4-BE49-F238E27FC236}">
                <a16:creationId xmlns:a16="http://schemas.microsoft.com/office/drawing/2014/main" id="{46B65916-DE88-4645-9DB1-75D27F95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普通道路上车</a:t>
            </a:r>
          </a:p>
        </p:txBody>
      </p:sp>
      <p:sp>
        <p:nvSpPr>
          <p:cNvPr id="32" name="boarding-output-body-1">
            <a:extLst xmlns:a="http://schemas.openxmlformats.org/drawingml/2006/main">
              <a:ext uri="{FF2B5EF4-FFF2-40B4-BE49-F238E27FC236}">
                <a16:creationId xmlns:a16="http://schemas.microsoft.com/office/drawing/2014/main" id="{459AC60D-4833-4419-BD51-46F8D010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候客范围内优先车等人；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不可停则重选、改点或最小巡航</a:t>
            </a:r>
          </a:p>
        </p:txBody>
      </p:sp>
      <p:sp>
        <p:nvSpPr>
          <p:cNvPr id="33" name="boarding-output-dot-2">
            <a:extLst xmlns:a="http://schemas.openxmlformats.org/drawingml/2006/main">
              <a:ext uri="{FF2B5EF4-FFF2-40B4-BE49-F238E27FC236}">
                <a16:creationId xmlns:a16="http://schemas.microsoft.com/office/drawing/2014/main" id="{05314224-E3EE-4FAC-80C5-EF849478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7B62"/>
          </a:solidFill>
          <a:ln xmlns:a="http://schemas.openxmlformats.org/drawingml/2006/main" w="0">
            <a:solidFill>
              <a:srgbClr val="927B62"/>
            </a:solidFill>
            <a:prstDash val="solid"/>
          </a:ln>
        </p:spPr>
      </p:sp>
      <p:sp>
        <p:nvSpPr>
          <p:cNvPr id="34" name="boarding-output-title-2">
            <a:extLst xmlns:a="http://schemas.openxmlformats.org/drawingml/2006/main">
              <a:ext uri="{FF2B5EF4-FFF2-40B4-BE49-F238E27FC236}">
                <a16:creationId xmlns:a16="http://schemas.microsoft.com/office/drawing/2014/main" id="{381AE1A8-A312-4069-B746-20FA2505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交通枢纽上车</a:t>
            </a:r>
          </a:p>
        </p:txBody>
      </p:sp>
      <p:sp>
        <p:nvSpPr>
          <p:cNvPr id="35" name="boarding-output-body-2">
            <a:extLst xmlns:a="http://schemas.openxmlformats.org/drawingml/2006/main">
              <a:ext uri="{FF2B5EF4-FFF2-40B4-BE49-F238E27FC236}">
                <a16:creationId xmlns:a16="http://schemas.microsoft.com/office/drawing/2014/main" id="{39267D58-A6A7-436C-A7B9-A54FC24C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停车位 / 候车区组织等待；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乘客找车或召唤车辆</a:t>
            </a:r>
          </a:p>
        </p:txBody>
      </p:sp>
      <p:sp>
        <p:nvSpPr>
          <p:cNvPr id="36" name="boarding-output-dot-3">
            <a:extLst xmlns:a="http://schemas.openxmlformats.org/drawingml/2006/main">
              <a:ext uri="{FF2B5EF4-FFF2-40B4-BE49-F238E27FC236}">
                <a16:creationId xmlns:a16="http://schemas.microsoft.com/office/drawing/2014/main" id="{227BF67A-271B-4652-989A-69A951DD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B72"/>
          </a:solidFill>
          <a:ln xmlns:a="http://schemas.openxmlformats.org/drawingml/2006/main" w="0">
            <a:solidFill>
              <a:srgbClr val="6F7B72"/>
            </a:solidFill>
            <a:prstDash val="solid"/>
          </a:ln>
        </p:spPr>
      </p:sp>
      <p:sp>
        <p:nvSpPr>
          <p:cNvPr id="37" name="boarding-output-title-3">
            <a:extLst xmlns:a="http://schemas.openxmlformats.org/drawingml/2006/main">
              <a:ext uri="{FF2B5EF4-FFF2-40B4-BE49-F238E27FC236}">
                <a16:creationId xmlns:a16="http://schemas.microsoft.com/office/drawing/2014/main" id="{A62DEF31-29D3-4A6F-98D3-BEF23BA2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下车</a:t>
            </a:r>
          </a:p>
        </p:txBody>
      </p:sp>
      <p:sp>
        <p:nvSpPr>
          <p:cNvPr id="38" name="boarding-output-body-3">
            <a:extLst xmlns:a="http://schemas.openxmlformats.org/drawingml/2006/main">
              <a:ext uri="{FF2B5EF4-FFF2-40B4-BE49-F238E27FC236}">
                <a16:creationId xmlns:a16="http://schemas.microsoft.com/office/drawing/2014/main" id="{73DE5405-F1BD-4977-BB1D-21EDF78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72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可下客位置短停；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完成下客后立即驶离</a:t>
            </a:r>
          </a:p>
        </p:txBody>
      </p:sp>
      <p:sp>
        <p:nvSpPr>
          <p:cNvPr id="3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A0C026B0-819F-4A72-84F5-FDD725C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00700"/>
            <a:ext cx="11055096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40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41AC60FF-4465-4580-9E86-7AF81232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0070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41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53E40C50-8198-46AD-BBE6-ED263DF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95950"/>
            <a:ext cx="100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42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3CC9CA1F-6CA9-46D0-9690-2D45E81D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7690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RCSD 决定最多允许做什么；车端决定这一次能不能做、具体停在哪里。</a:t>
            </a:r>
          </a:p>
        </p:txBody>
      </p:sp>
    </p:spTree>
    <p:extLst>
      <p:ext uri="{BB962C8B-B14F-4D97-AF65-F5344CB8AC3E}">
        <p14:creationId xmlns:p14="http://schemas.microsoft.com/office/powerpoint/2010/main" val="491640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title">
            <a:extLst xmlns:a="http://schemas.openxmlformats.org/drawingml/2006/main">
              <a:ext uri="{FF2B5EF4-FFF2-40B4-BE49-F238E27FC236}">
                <a16:creationId xmlns:a16="http://schemas.microsoft.com/office/drawing/2014/main" id="{5784E015-7CE4-4938-BCD8-B520337A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"/>
            <a:ext cx="11055096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越野地图：用大模型压缩需求澄清到可发布原型的迭代周期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6006C85-07D8-4C44-9AA4-5067C50D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11055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A64"/>
                </a:solidFill>
                <a:latin typeface="Microsoft YaHei"/>
                <a:ea typeface="Microsoft YaHei"/>
                <a:cs typeface="Microsoft YaHei"/>
              </a:rPr>
              <a:t>真实素材与业务输入经数据契约、交互原型、人工评审和冻结发布形成敏捷闭环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959260D-EF2B-46B6-B561-37B9727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6928" y="1097280"/>
            <a:ext cx="1105509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4" name="offroad-loop-label">
            <a:extLst xmlns:a="http://schemas.openxmlformats.org/drawingml/2006/main">
              <a:ext uri="{FF2B5EF4-FFF2-40B4-BE49-F238E27FC236}">
                <a16:creationId xmlns:a16="http://schemas.microsoft.com/office/drawing/2014/main" id="{527D1CEB-1C83-47EC-AD1B-AEC0C795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6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四阶段敏捷闭环</a:t>
            </a:r>
          </a:p>
        </p:txBody>
      </p:sp>
      <p:sp>
        <p:nvSpPr>
          <p:cNvPr id="5" name="offroad-spine">
            <a:extLst xmlns:a="http://schemas.openxmlformats.org/drawingml/2006/main">
              <a:ext uri="{FF2B5EF4-FFF2-40B4-BE49-F238E27FC236}">
                <a16:creationId xmlns:a16="http://schemas.microsoft.com/office/drawing/2014/main" id="{6F27898C-1E5C-42F0-897F-D075F9CD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1724025"/>
            <a:ext cx="9525" cy="3152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0C7"/>
            </a:solidFill>
            <a:prstDash val="solid"/>
          </a:ln>
        </p:spPr>
      </p:sp>
      <p:sp>
        <p:nvSpPr>
          <p:cNvPr id="6" name="offroad-dot-1">
            <a:extLst xmlns:a="http://schemas.openxmlformats.org/drawingml/2006/main">
              <a:ext uri="{FF2B5EF4-FFF2-40B4-BE49-F238E27FC236}">
                <a16:creationId xmlns:a16="http://schemas.microsoft.com/office/drawing/2014/main" id="{B04F95D5-6D5C-461E-AE08-26C04C6B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24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7" name="offroad-num-1">
            <a:extLst xmlns:a="http://schemas.openxmlformats.org/drawingml/2006/main">
              <a:ext uri="{FF2B5EF4-FFF2-40B4-BE49-F238E27FC236}">
                <a16:creationId xmlns:a16="http://schemas.microsoft.com/office/drawing/2014/main" id="{CA641382-4B00-476F-BCFA-02D8E0F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offroad-title-1">
            <a:extLst xmlns:a="http://schemas.openxmlformats.org/drawingml/2006/main">
              <a:ext uri="{FF2B5EF4-FFF2-40B4-BE49-F238E27FC236}">
                <a16:creationId xmlns:a16="http://schemas.microsoft.com/office/drawing/2014/main" id="{9F3BED3E-20E5-4856-A4E3-E9D5FD82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6097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业务输入</a:t>
            </a:r>
          </a:p>
        </p:txBody>
      </p:sp>
      <p:sp>
        <p:nvSpPr>
          <p:cNvPr id="9" name="offroad-body-1">
            <a:extLst xmlns:a="http://schemas.openxmlformats.org/drawingml/2006/main">
              <a:ext uri="{FF2B5EF4-FFF2-40B4-BE49-F238E27FC236}">
                <a16:creationId xmlns:a16="http://schemas.microsoft.com/office/drawing/2014/main" id="{E0DF2B7D-F21A-4E50-8B74-2442A3A5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97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真实素材与业务输入</a:t>
            </a:r>
          </a:p>
        </p:txBody>
      </p:sp>
      <p:sp>
        <p:nvSpPr>
          <p:cNvPr id="10" name="offroad-dot-2">
            <a:extLst xmlns:a="http://schemas.openxmlformats.org/drawingml/2006/main">
              <a:ext uri="{FF2B5EF4-FFF2-40B4-BE49-F238E27FC236}">
                <a16:creationId xmlns:a16="http://schemas.microsoft.com/office/drawing/2014/main" id="{2F4CFCD8-47BC-4262-877B-2CE952E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1" name="offroad-num-2">
            <a:extLst xmlns:a="http://schemas.openxmlformats.org/drawingml/2006/main">
              <a:ext uri="{FF2B5EF4-FFF2-40B4-BE49-F238E27FC236}">
                <a16:creationId xmlns:a16="http://schemas.microsoft.com/office/drawing/2014/main" id="{EF4B4478-262B-4347-992A-29401FBF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offroad-title-2">
            <a:extLst xmlns:a="http://schemas.openxmlformats.org/drawingml/2006/main">
              <a:ext uri="{FF2B5EF4-FFF2-40B4-BE49-F238E27FC236}">
                <a16:creationId xmlns:a16="http://schemas.microsoft.com/office/drawing/2014/main" id="{F5307149-C39E-4CBC-A2E8-11C7DB92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384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大模型澄清 / 数据契约</a:t>
            </a:r>
          </a:p>
        </p:txBody>
      </p:sp>
      <p:sp>
        <p:nvSpPr>
          <p:cNvPr id="13" name="offroad-body-2">
            <a:extLst xmlns:a="http://schemas.openxmlformats.org/drawingml/2006/main">
              <a:ext uri="{FF2B5EF4-FFF2-40B4-BE49-F238E27FC236}">
                <a16:creationId xmlns:a16="http://schemas.microsoft.com/office/drawing/2014/main" id="{2B5CADBB-77F1-4424-BBAA-7856C87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大模型辅助拆分场景、澄清需求，
形成可追溯的数据契约。</a:t>
            </a:r>
          </a:p>
        </p:txBody>
      </p:sp>
      <p:sp>
        <p:nvSpPr>
          <p:cNvPr id="14" name="offroad-dot-3">
            <a:extLst xmlns:a="http://schemas.openxmlformats.org/drawingml/2006/main">
              <a:ext uri="{FF2B5EF4-FFF2-40B4-BE49-F238E27FC236}">
                <a16:creationId xmlns:a16="http://schemas.microsoft.com/office/drawing/2014/main" id="{949224BF-D564-45EA-8B06-FA3F258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38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3634"/>
            </a:solidFill>
            <a:prstDash val="solid"/>
          </a:ln>
        </p:spPr>
      </p:sp>
      <p:sp>
        <p:nvSpPr>
          <p:cNvPr id="15" name="offroad-num-3">
            <a:extLst xmlns:a="http://schemas.openxmlformats.org/drawingml/2006/main">
              <a:ext uri="{FF2B5EF4-FFF2-40B4-BE49-F238E27FC236}">
                <a16:creationId xmlns:a16="http://schemas.microsoft.com/office/drawing/2014/main" id="{A35E26DF-775E-4BE0-BD9C-4DFAA062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575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offroad-title-3">
            <a:extLst xmlns:a="http://schemas.openxmlformats.org/drawingml/2006/main">
              <a:ext uri="{FF2B5EF4-FFF2-40B4-BE49-F238E27FC236}">
                <a16:creationId xmlns:a16="http://schemas.microsoft.com/office/drawing/2014/main" id="{D458F0F5-15D6-4186-8917-F659292E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24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303634"/>
                </a:solidFill>
                <a:latin typeface="Microsoft YaHei"/>
                <a:ea typeface="Microsoft YaHei"/>
                <a:cs typeface="Microsoft YaHei"/>
              </a:rPr>
              <a:t>快速原型</a:t>
            </a:r>
          </a:p>
        </p:txBody>
      </p:sp>
      <p:sp>
        <p:nvSpPr>
          <p:cNvPr id="17" name="offroad-body-3">
            <a:extLst xmlns:a="http://schemas.openxmlformats.org/drawingml/2006/main">
              <a:ext uri="{FF2B5EF4-FFF2-40B4-BE49-F238E27FC236}">
                <a16:creationId xmlns:a16="http://schemas.microsoft.com/office/drawing/2014/main" id="{F96458C7-FB42-438C-BFC7-A07C6537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多轮打磨视觉草案，快速形成可点击原型。</a:t>
            </a:r>
          </a:p>
        </p:txBody>
      </p:sp>
      <p:sp>
        <p:nvSpPr>
          <p:cNvPr id="18" name="offroad-dot-4">
            <a:extLst xmlns:a="http://schemas.openxmlformats.org/drawingml/2006/main">
              <a:ext uri="{FF2B5EF4-FFF2-40B4-BE49-F238E27FC236}">
                <a16:creationId xmlns:a16="http://schemas.microsoft.com/office/drawing/2014/main" id="{0C0FD775-01EE-4292-81AF-A4A2983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D2633"/>
            </a:solidFill>
            <a:prstDash val="solid"/>
          </a:ln>
        </p:spPr>
      </p:sp>
      <p:sp>
        <p:nvSpPr>
          <p:cNvPr id="19" name="offroad-num-4">
            <a:extLst xmlns:a="http://schemas.openxmlformats.org/drawingml/2006/main">
              <a:ext uri="{FF2B5EF4-FFF2-40B4-BE49-F238E27FC236}">
                <a16:creationId xmlns:a16="http://schemas.microsoft.com/office/drawing/2014/main" id="{247E3DCE-3DBA-4CF9-9784-E34D310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10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offroad-title-4">
            <a:extLst xmlns:a="http://schemas.openxmlformats.org/drawingml/2006/main">
              <a:ext uri="{FF2B5EF4-FFF2-40B4-BE49-F238E27FC236}">
                <a16:creationId xmlns:a16="http://schemas.microsoft.com/office/drawing/2014/main" id="{4273732E-267E-4E98-8260-FD257594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767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人工评审冻结发布</a:t>
            </a:r>
          </a:p>
        </p:txBody>
      </p:sp>
      <p:sp>
        <p:nvSpPr>
          <p:cNvPr id="21" name="offroad-body-4">
            <a:extLst xmlns:a="http://schemas.openxmlformats.org/drawingml/2006/main">
              <a:ext uri="{FF2B5EF4-FFF2-40B4-BE49-F238E27FC236}">
                <a16:creationId xmlns:a16="http://schemas.microsoft.com/office/drawing/2014/main" id="{7A41AEF3-0F0A-45D6-A04A-666F037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原型已发布为可访问网页，并依据评审反馈持续迭代。</a:t>
            </a:r>
          </a:p>
        </p:txBody>
      </p:sp>
      <p:sp>
        <p:nvSpPr>
          <p:cNvPr id="22" name="offroad-arrow-1-shaft">
            <a:extLst xmlns:a="http://schemas.openxmlformats.org/drawingml/2006/main">
              <a:ext uri="{FF2B5EF4-FFF2-40B4-BE49-F238E27FC236}">
                <a16:creationId xmlns:a16="http://schemas.microsoft.com/office/drawing/2014/main" id="{AFC26A35-FFE5-4FDF-8BB3-6AD0E5DE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066925"/>
            <a:ext cx="95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3" name="offroad-arrow-1-head">
            <a:extLst xmlns:a="http://schemas.openxmlformats.org/drawingml/2006/main">
              <a:ext uri="{FF2B5EF4-FFF2-40B4-BE49-F238E27FC236}">
                <a16:creationId xmlns:a16="http://schemas.microsoft.com/office/drawing/2014/main" id="{113EE98C-0532-4C0C-908B-017450F0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4" name="offroad-arrow-2-shaft">
            <a:extLst xmlns:a="http://schemas.openxmlformats.org/drawingml/2006/main">
              <a:ext uri="{FF2B5EF4-FFF2-40B4-BE49-F238E27FC236}">
                <a16:creationId xmlns:a16="http://schemas.microsoft.com/office/drawing/2014/main" id="{242AC2E3-96F7-4203-8ACF-3BC8DC29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2895600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5" name="offroad-arrow-2-head">
            <a:extLst xmlns:a="http://schemas.openxmlformats.org/drawingml/2006/main">
              <a:ext uri="{FF2B5EF4-FFF2-40B4-BE49-F238E27FC236}">
                <a16:creationId xmlns:a16="http://schemas.microsoft.com/office/drawing/2014/main" id="{688AC545-666D-4307-B82B-3DF59C3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offroad-arrow-3-shaft">
            <a:extLst xmlns:a="http://schemas.openxmlformats.org/drawingml/2006/main">
              <a:ext uri="{FF2B5EF4-FFF2-40B4-BE49-F238E27FC236}">
                <a16:creationId xmlns:a16="http://schemas.microsoft.com/office/drawing/2014/main" id="{A1A3DEB3-001C-4430-823B-FA698673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3781425"/>
            <a:ext cx="952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D2633"/>
            </a:solidFill>
            <a:prstDash val="solid"/>
          </a:ln>
        </p:spPr>
      </p:sp>
      <p:sp>
        <p:nvSpPr>
          <p:cNvPr id="27" name="offroad-arrow-3-head">
            <a:extLst xmlns:a="http://schemas.openxmlformats.org/drawingml/2006/main">
              <a:ext uri="{FF2B5EF4-FFF2-40B4-BE49-F238E27FC236}">
                <a16:creationId xmlns:a16="http://schemas.microsoft.com/office/drawing/2014/main" id="{AF8ABCA6-BBE8-43EF-8E09-DED1DE52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offroad-feedback">
            <a:extLst xmlns:a="http://schemas.openxmlformats.org/drawingml/2006/main">
              <a:ext uri="{FF2B5EF4-FFF2-40B4-BE49-F238E27FC236}">
                <a16:creationId xmlns:a16="http://schemas.microsoft.com/office/drawing/2014/main" id="{02130017-B133-4039-BB37-3C091ADE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↺  评审反馈进入下一轮需求澄清</a:t>
            </a:r>
          </a:p>
        </p:txBody>
      </p:sp>
      <p:sp>
        <p:nvSpPr>
          <p:cNvPr id="29" name="offroad-shot-label">
            <a:extLst xmlns:a="http://schemas.openxmlformats.org/drawingml/2006/main">
              <a:ext uri="{FF2B5EF4-FFF2-40B4-BE49-F238E27FC236}">
                <a16:creationId xmlns:a16="http://schemas.microsoft.com/office/drawing/2014/main" id="{CD978EC5-3075-4D08-A1C6-F3A345D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266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真实原型截图｜老掌沟</a:t>
            </a:r>
          </a:p>
        </p:txBody>
      </p:sp>
      <p:sp>
        <p:nvSpPr>
          <p:cNvPr id="30" name="offroad-shot-frame">
            <a:extLst xmlns:a="http://schemas.openxmlformats.org/drawingml/2006/main">
              <a:ext uri="{FF2B5EF4-FFF2-40B4-BE49-F238E27FC236}">
                <a16:creationId xmlns:a16="http://schemas.microsoft.com/office/drawing/2014/main" id="{E1ECB119-B0F4-444C-BE96-1AB7FC19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571625"/>
            <a:ext cx="6848475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f62f00d9b4184"/>
          <a:stretch xmlns:a="http://schemas.openxmlformats.org/drawingml/2006/main"/>
        </p:blipFill>
        <p:spPr>
          <a:xfrm xmlns:a="http://schemas.openxmlformats.org/drawingml/2006/main">
            <a:off x="4772025" y="1576488"/>
            <a:ext cx="6848475" cy="3295450"/>
          </a:xfrm>
          <a:prstGeom xmlns:a="http://schemas.openxmlformats.org/drawingml/2006/main" prst="rect">
            <a:avLst/>
          </a:prstGeom>
        </p:spPr>
      </p:pic>
      <p:sp>
        <p:nvSpPr>
          <p:cNvPr id="32" name="offroad-freeze-bg">
            <a:extLst xmlns:a="http://schemas.openxmlformats.org/drawingml/2006/main">
              <a:ext uri="{FF2B5EF4-FFF2-40B4-BE49-F238E27FC236}">
                <a16:creationId xmlns:a16="http://schemas.microsoft.com/office/drawing/2014/main" id="{0A13F1CE-D64D-4290-A73B-2361536C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53000"/>
            <a:ext cx="6848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5D0C7"/>
            </a:solidFill>
            <a:prstDash val="solid"/>
          </a:ln>
        </p:spPr>
      </p:sp>
      <p:sp>
        <p:nvSpPr>
          <p:cNvPr id="33" name="offroad-freeze">
            <a:extLst xmlns:a="http://schemas.openxmlformats.org/drawingml/2006/main">
              <a:ext uri="{FF2B5EF4-FFF2-40B4-BE49-F238E27FC236}">
                <a16:creationId xmlns:a16="http://schemas.microsoft.com/office/drawing/2014/main" id="{817D9B7F-AB2A-4CD6-90C8-6006DB1B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648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演示脚本、构建检查、截图、结构化记录与校验值共同冻结证据。</a:t>
            </a:r>
          </a:p>
        </p:txBody>
      </p:sp>
      <p:sp>
        <p:nvSpPr>
          <p:cNvPr id="34" name="offroad-human-gate">
            <a:extLst xmlns:a="http://schemas.openxmlformats.org/drawingml/2006/main">
              <a:ext uri="{FF2B5EF4-FFF2-40B4-BE49-F238E27FC236}">
                <a16:creationId xmlns:a16="http://schemas.microsoft.com/office/drawing/2014/main" id="{E519E289-31C4-48F4-9917-A47FCBF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1104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D2633"/>
            </a:solidFill>
            <a:prstDash val="solid"/>
          </a:ln>
        </p:spPr>
      </p:sp>
      <p:sp>
        <p:nvSpPr>
          <p:cNvPr id="35" name="offroad-human-gate-text">
            <a:extLst xmlns:a="http://schemas.openxmlformats.org/drawingml/2006/main">
              <a:ext uri="{FF2B5EF4-FFF2-40B4-BE49-F238E27FC236}">
                <a16:creationId xmlns:a16="http://schemas.microsoft.com/office/drawing/2014/main" id="{3C825D01-8920-4204-88E9-40C41D8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591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7D2633"/>
                </a:solidFill>
                <a:latin typeface="Microsoft YaHei"/>
                <a:ea typeface="Microsoft YaHei"/>
                <a:cs typeface="Microsoft YaHei"/>
              </a:rPr>
              <a:t>大模型负责生成候选工件，事实、边界和冻结版本由人确认。</a:t>
            </a:r>
          </a:p>
        </p:txBody>
      </p:sp>
      <p:sp>
        <p:nvSpPr>
          <p:cNvPr id="36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91821837-DA75-49CC-A843-760F2F60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19800"/>
            <a:ext cx="11055096" cy="5143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303634"/>
          </a:solidFill>
          <a:ln xmlns:a="http://schemas.openxmlformats.org/drawingml/2006/main" w="0">
            <a:solidFill>
              <a:srgbClr val="303634"/>
            </a:solidFill>
            <a:prstDash val="solid"/>
          </a:ln>
        </p:spPr>
      </p:sp>
      <p:sp>
        <p:nvSpPr>
          <p:cNvPr id="37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553B7455-21E9-4D97-A9FB-06FD70C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198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2633"/>
          </a:solidFill>
          <a:ln xmlns:a="http://schemas.openxmlformats.org/drawingml/2006/main" w="0">
            <a:solidFill>
              <a:srgbClr val="7D2633"/>
            </a:solidFill>
            <a:prstDash val="solid"/>
          </a:ln>
        </p:spPr>
      </p:sp>
      <p:sp>
        <p:nvSpPr>
          <p:cNvPr id="38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C646ECC5-D0ED-44B3-A7D7-85C930EE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1505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39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62094355-6661-4FDD-B1F1-D10F5EE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096000"/>
            <a:ext cx="947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公开兴趣点、路线和媒体资料只作为候选线索，不用于导航、救援或车辆控制。</a:t>
            </a:r>
          </a:p>
        </p:txBody>
      </p:sp>
    </p:spTree>
    <p:extLst>
      <p:ext uri="{BB962C8B-B14F-4D97-AF65-F5344CB8AC3E}">
        <p14:creationId xmlns:p14="http://schemas.microsoft.com/office/powerpoint/2010/main" val="85356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2026-08-03T08:13:00.8120000Z</dcterms:created>
  <dcterms:modified xsi:type="dcterms:W3CDTF">2026-08-03T08:13:00.8120000Z</dcterms:modified>
</coreProperties>
</file>