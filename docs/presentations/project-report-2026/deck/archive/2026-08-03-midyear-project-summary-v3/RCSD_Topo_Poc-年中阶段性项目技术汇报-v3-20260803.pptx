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ce2d944f0d4573" /><Relationship Type="http://schemas.openxmlformats.org/officeDocument/2006/relationships/extended-properties" Target="/docProps/app.xml" Id="R21a6ed61834641ca" /><Relationship Type="http://schemas.openxmlformats.org/officeDocument/2006/relationships/officeDocument" Target="/ppt/presentation.xml" Id="Rcdcef7bf91fe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051f990bb4bab"/>
  </p:sldMasterIdLst>
  <p:notesMasterIdLst>
    <p:notesMasterId xmlns:r="http://schemas.openxmlformats.org/officeDocument/2006/relationships" r:id="R7664bab39cfd4e44"/>
  </p:notesMasterIdLst>
  <p:sldIdLst>
    <p:sldId xmlns:r="http://schemas.openxmlformats.org/officeDocument/2006/relationships" id="256" r:id="R75289c8d312544a3"/>
    <p:sldId xmlns:r="http://schemas.openxmlformats.org/officeDocument/2006/relationships" id="257" r:id="R3e7c518550694998"/>
    <p:sldId xmlns:r="http://schemas.openxmlformats.org/officeDocument/2006/relationships" id="258" r:id="R6e14fa9ba52a4275"/>
    <p:sldId xmlns:r="http://schemas.openxmlformats.org/officeDocument/2006/relationships" id="259" r:id="Rc34a2fa025784b7f"/>
    <p:sldId xmlns:r="http://schemas.openxmlformats.org/officeDocument/2006/relationships" id="260" r:id="Rd24e28df0ec74c48"/>
    <p:sldId xmlns:r="http://schemas.openxmlformats.org/officeDocument/2006/relationships" id="261" r:id="Re720a3da3935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4074795ed249f8" /><Relationship Type="http://schemas.openxmlformats.org/officeDocument/2006/relationships/slideMaster" Target="/ppt/slideMasters/slideMaster1.xml" Id="R4a5051f990bb4bab" /><Relationship Type="http://schemas.openxmlformats.org/officeDocument/2006/relationships/notesMaster" Target="/ppt/notesMasters/notesMaster1.xml" Id="R7664bab39cfd4e44" /><Relationship Type="http://schemas.openxmlformats.org/officeDocument/2006/relationships/presProps" Target="/ppt/presProps.xml" Id="R02673d6c0eb4486e" /><Relationship Type="http://schemas.openxmlformats.org/officeDocument/2006/relationships/tableStyles" Target="/ppt/tableStyles.xml" Id="R04d6158a0178455b" /><Relationship Type="http://schemas.openxmlformats.org/officeDocument/2006/relationships/slide" Target="/ppt/slides/slide1.xml" Id="R75289c8d312544a3" /><Relationship Type="http://schemas.openxmlformats.org/officeDocument/2006/relationships/slide" Target="/ppt/slides/slide2.xml" Id="R3e7c518550694998" /><Relationship Type="http://schemas.openxmlformats.org/officeDocument/2006/relationships/slide" Target="/ppt/slides/slide3.xml" Id="R6e14fa9ba52a4275" /><Relationship Type="http://schemas.openxmlformats.org/officeDocument/2006/relationships/slide" Target="/ppt/slides/slide4.xml" Id="Rc34a2fa025784b7f" /><Relationship Type="http://schemas.openxmlformats.org/officeDocument/2006/relationships/slide" Target="/ppt/slides/slide5.xml" Id="Rd24e28df0ec74c48" /><Relationship Type="http://schemas.openxmlformats.org/officeDocument/2006/relationships/slide" Target="/ppt/slides/slide6.xml" Id="Re720a3da3935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00059e96646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be0e58e38404b" /><Relationship Type="http://schemas.openxmlformats.org/officeDocument/2006/relationships/notesMaster" Target="/ppt/notesMasters/notesMaster1.xml" Id="Rb70235877832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00c2c5ed724c95" /><Relationship Type="http://schemas.openxmlformats.org/officeDocument/2006/relationships/notesMaster" Target="/ppt/notesMasters/notesMaster1.xml" Id="R2a5e8140d10145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0706410f524b25" /><Relationship Type="http://schemas.openxmlformats.org/officeDocument/2006/relationships/notesMaster" Target="/ppt/notesMasters/notesMaster1.xml" Id="R9c420fe737a0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3830349d7455c" /><Relationship Type="http://schemas.openxmlformats.org/officeDocument/2006/relationships/notesMaster" Target="/ppt/notesMasters/notesMaster1.xml" Id="R71f1be1c0cc2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aea49456294f40" /><Relationship Type="http://schemas.openxmlformats.org/officeDocument/2006/relationships/notesMaster" Target="/ppt/notesMasters/notesMaster1.xml" Id="Rd2d36f5aff6f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d1a54042d4d3a" /><Relationship Type="http://schemas.openxmlformats.org/officeDocument/2006/relationships/notesMaster" Target="/ppt/notesMasters/notesMaster1.xml" Id="R52f1a62367b0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docs/PROJECT_REQUIREMENTS.md</a:t>
            </a:r>
          </a:p>
          <a:p xmlns:a="http://schemas.openxmlformats.org/drawingml/2006/main">
            <a:r>
              <a:t>- docs/doc-governance/module-lifecycle.md</a:t>
            </a:r>
          </a:p>
          <a:p xmlns:a="http://schemas.openxmlformats.org/drawingml/2006/main">
            <a:r>
              <a:t>- modules/t01_data_preprocess/SPEC.md</a:t>
            </a:r>
          </a:p>
          <a:p xmlns:a="http://schemas.openxmlformats.org/drawingml/2006/main">
            <a:r>
              <a:t>- modules/t07_semantic_junction_anchor/SPEC.md</a:t>
            </a:r>
          </a:p>
          <a:p xmlns:a="http://schemas.openxmlformats.org/drawingml/2006/main">
            <a:r>
              <a:t>- modules/t03_virtual_junction_anchor/SPEC.md</a:t>
            </a:r>
          </a:p>
          <a:p xmlns:a="http://schemas.openxmlformats.org/drawingml/2006/main">
            <a:r>
              <a:t>- modules/t04_divmerge_virtual_polygon/SPEC.md</a:t>
            </a:r>
          </a:p>
          <a:p xmlns:a="http://schemas.openxmlformats.org/drawingml/2006/main">
            <a:r>
              <a:t>- modules/t05_junction_surface_fusion/SPEC.md</a:t>
            </a:r>
          </a:p>
          <a:p xmlns:a="http://schemas.openxmlformats.org/drawingml/2006/main">
            <a:r>
              <a:t>- modules/t06_segment_fusion_precheck/INTERFACE_CONTRACT.md</a:t>
            </a:r>
          </a:p>
          <a:p xmlns:a="http://schemas.openxmlformats.org/drawingml/2006/main">
            <a:r>
              <a:t>- modules/t12_frcsd_quality_audit/INTERFACE_CONTRACT.md</a:t>
            </a:r>
          </a:p>
          <a:p xmlns:a="http://schemas.openxmlformats.org/drawingml/2006/main">
            <a:r>
              <a:t>- modules/p04_road_direct_generation/INTERFACE_CONTRACT.md</a:t>
            </a:r>
          </a:p>
          <a:p xmlns:a="http://schemas.openxmlformats.org/drawingml/2006/main">
            <a:r>
              <a:t>- modules/p05_neural_road_generation/INTERFACE_CONTRACT.md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modules/t06_segment_fusion_precheck/SPEC.md</a:t>
            </a:r>
          </a:p>
          <a:p xmlns:a="http://schemas.openxmlformats.org/drawingml/2006/main">
            <a:r>
              <a:t>- modules/p05_neural_road_generation/SPEC.md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modules/t12_frcsd_quality_audit/SPEC.md</a:t>
            </a:r>
          </a:p>
          <a:p xmlns:a="http://schemas.openxmlformats.org/drawingml/2006/main">
            <a:r>
              <a:t>- modules/t12_frcsd_quality_audit/architecture/05-quality-requirements.md</a:t>
            </a:r>
          </a:p>
          <a:p xmlns:a="http://schemas.openxmlformats.org/drawingml/2006/main">
            <a:r>
              <a:t>- modules/t12_frcsd_quality_audit/architecture/06-risks-and-technical-debt.md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modules/p04_road_direct_generation/SPEC.md</a:t>
            </a:r>
          </a:p>
          <a:p xmlns:a="http://schemas.openxmlformats.org/drawingml/2006/main">
            <a:r>
              <a:t>- modules/p04_road_direct_generation/architecture/05-quality-requirements.md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C:\Users\admin\Downloads\L4上下车点技术方案_6页最终发布版_返璞归真视觉_第1页标题统一.pptx</a:t>
            </a:r>
          </a:p>
          <a:p xmlns:a="http://schemas.openxmlformats.org/drawingml/2006/main">
            <a:r>
              <a:t>- The source deck provides the responsibility chain but no production coverage, hit-rate, or safety-effect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E:\Work\Off_Road_Map\modules\p01_phase2_map_prototype\MAP_DATA_STRUCTURE.md</a:t>
            </a:r>
          </a:p>
          <a:p xmlns:a="http://schemas.openxmlformats.org/drawingml/2006/main">
            <a:r>
              <a:t>- E:\Work\Off_Road_Map\docs\reviews\20260801_p01_m9_vehicle_ui_alignment_archive.md</a:t>
            </a:r>
          </a:p>
          <a:p xmlns:a="http://schemas.openxmlformats.org/drawingml/2006/main">
            <a:r>
              <a:t>- E:\Work\Off_Road_Map\docs\reviews\20260801_p01_m9_vehicle_ui_alignment_publish.md</a:t>
            </a:r>
          </a:p>
          <a:p xmlns:a="http://schemas.openxmlformats.org/drawingml/2006/main">
            <a:r>
              <a:t>- Embedded screenshot is frozen prototype evidence; public POIs and route descriptions remain candidate context, not navigation-grade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963bc6b134e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501d0c25d244e7" /><Relationship Type="http://schemas.openxmlformats.org/officeDocument/2006/relationships/slideLayout" Target="/ppt/slideLayouts/slideLayout1.xml" Id="R260825901b94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0825901b94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e0cfbf60c4db2" /><Relationship Type="http://schemas.openxmlformats.org/officeDocument/2006/relationships/image" Target="/ppt/media/image.png" Id="Rd3fc3130460a4233" /><Relationship Type="http://schemas.openxmlformats.org/officeDocument/2006/relationships/notesSlide" Target="/ppt/notesSlides/notesSlide1.xml" Id="R4a07c456d0d34a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6ad601e914b7a" /><Relationship Type="http://schemas.openxmlformats.org/officeDocument/2006/relationships/image" Target="/ppt/media/image2.png" Id="Rb071ef8fa97a4c36" /><Relationship Type="http://schemas.openxmlformats.org/officeDocument/2006/relationships/notesSlide" Target="/ppt/notesSlides/notesSlide2.xml" Id="Ra5c4ac1df73c4c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bf15d95f344db" /><Relationship Type="http://schemas.openxmlformats.org/officeDocument/2006/relationships/image" Target="/ppt/media/image3.png" Id="R8c9d6cd792604147" /><Relationship Type="http://schemas.openxmlformats.org/officeDocument/2006/relationships/notesSlide" Target="/ppt/notesSlides/notesSlide3.xml" Id="R77e9736f1c54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bf3849c824229" /><Relationship Type="http://schemas.openxmlformats.org/officeDocument/2006/relationships/image" Target="/ppt/media/image4.png" Id="R11088b15b36d46e4" /><Relationship Type="http://schemas.openxmlformats.org/officeDocument/2006/relationships/notesSlide" Target="/ppt/notesSlides/notesSlide4.xml" Id="R738af48c157f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3a205642f4ba0" /><Relationship Type="http://schemas.openxmlformats.org/officeDocument/2006/relationships/notesSlide" Target="/ppt/notesSlides/notesSlide5.xml" Id="R64d5ce45271e40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930a079e748c9" /><Relationship Type="http://schemas.openxmlformats.org/officeDocument/2006/relationships/image" Target="/ppt/media/image5.png" Id="R47e4d82d8b4d418f" /><Relationship Type="http://schemas.openxmlformats.org/officeDocument/2006/relationships/notesSlide" Target="/ppt/notesSlides/notesSlide6.xml" Id="R46e663d3034049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道路业务全貌：统一认知底座，支撑替换、质检与直建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SWSD 一层语义、现实空间证据与 RCSD 二层对象，先汇聚为 Junction–Segment 认知，再进入三条独立闭环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c3130460a4233"/>
          <a:stretch xmlns:a="http://schemas.openxmlformats.org/drawingml/2006/main"/>
        </p:blipFill>
        <p:spPr>
          <a:xfrm xmlns:a="http://schemas.openxmlformats.org/drawingml/2006/main">
            <a:off x="1066800" y="3390900"/>
            <a:ext cx="1981200" cy="904875"/>
          </a:xfrm>
          <a:prstGeom xmlns:a="http://schemas.openxmlformats.org/drawingml/2006/main" prst="rect">
            <a:avLst/>
          </a:prstGeom>
        </p:spPr>
      </p:pic>
      <p:sp>
        <p:nvSpPr>
          <p:cNvPr id="4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4978EFB4-1A4C-4C8F-A7FF-943B549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6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909F5585-C34D-4E33-A6BE-F343BB6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B4DDEA0-4E8D-4498-A796-B9F3538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业务全貌</a:t>
            </a:r>
          </a:p>
        </p:txBody>
      </p:sp>
      <p:sp>
        <p:nvSpPr>
          <p:cNvPr id="48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993A7087-8C80-4C77-A57F-9524EA16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先建立可解释、可追溯的 Junction–Segment 认知底座，再分别回答：能否替换、哪里有错、如何重建。</a:t>
            </a:r>
          </a:p>
        </p:txBody>
      </p:sp>
      <p:sp>
        <p:nvSpPr>
          <p:cNvPr id="51" name="p1-section-input-number">
            <a:extLst xmlns:a="http://schemas.openxmlformats.org/drawingml/2006/main">
              <a:ext uri="{FF2B5EF4-FFF2-40B4-BE49-F238E27FC236}">
                <a16:creationId xmlns:a16="http://schemas.microsoft.com/office/drawing/2014/main" id="{B2FE3F1F-F612-40D0-9668-D79DE0CF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2" name="p1-section-input-heading">
            <a:extLst xmlns:a="http://schemas.openxmlformats.org/drawingml/2006/main">
              <a:ext uri="{FF2B5EF4-FFF2-40B4-BE49-F238E27FC236}">
                <a16:creationId xmlns:a16="http://schemas.microsoft.com/office/drawing/2014/main" id="{D5ED7BE0-401C-409F-A444-AD62613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573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三类事实输入</a:t>
            </a:r>
          </a:p>
        </p:txBody>
      </p:sp>
      <p:sp>
        <p:nvSpPr>
          <p:cNvPr id="53" name="p1-section-input-divider">
            <a:extLst xmlns:a="http://schemas.openxmlformats.org/drawingml/2006/main">
              <a:ext uri="{FF2B5EF4-FFF2-40B4-BE49-F238E27FC236}">
                <a16:creationId xmlns:a16="http://schemas.microsoft.com/office/drawing/2014/main" id="{1A11BFC9-77D9-487C-BD0F-D296429B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54" name="p1-section-foundation-number">
            <a:extLst xmlns:a="http://schemas.openxmlformats.org/drawingml/2006/main">
              <a:ext uri="{FF2B5EF4-FFF2-40B4-BE49-F238E27FC236}">
                <a16:creationId xmlns:a16="http://schemas.microsoft.com/office/drawing/2014/main" id="{6C9B9DE2-1855-43C6-BCD2-8999E45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5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5" name="p1-section-foundation-heading">
            <a:extLst xmlns:a="http://schemas.openxmlformats.org/drawingml/2006/main">
              <a:ext uri="{FF2B5EF4-FFF2-40B4-BE49-F238E27FC236}">
                <a16:creationId xmlns:a16="http://schemas.microsoft.com/office/drawing/2014/main" id="{73F42948-08AF-43A4-9EBA-5F23E19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2573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共同认知底座</a:t>
            </a:r>
          </a:p>
        </p:txBody>
      </p:sp>
      <p:sp>
        <p:nvSpPr>
          <p:cNvPr id="56" name="p1-section-foundation-divider">
            <a:extLst xmlns:a="http://schemas.openxmlformats.org/drawingml/2006/main">
              <a:ext uri="{FF2B5EF4-FFF2-40B4-BE49-F238E27FC236}">
                <a16:creationId xmlns:a16="http://schemas.microsoft.com/office/drawing/2014/main" id="{2748F0E8-3520-4A2E-B2B1-D434AA0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621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57" name="p1-section-loops-number">
            <a:extLst xmlns:a="http://schemas.openxmlformats.org/drawingml/2006/main">
              <a:ext uri="{FF2B5EF4-FFF2-40B4-BE49-F238E27FC236}">
                <a16:creationId xmlns:a16="http://schemas.microsoft.com/office/drawing/2014/main" id="{C644ACE4-FCA3-4563-B595-B3C8AFE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8" name="p1-section-loops-heading">
            <a:extLst xmlns:a="http://schemas.openxmlformats.org/drawingml/2006/main">
              <a:ext uri="{FF2B5EF4-FFF2-40B4-BE49-F238E27FC236}">
                <a16:creationId xmlns:a16="http://schemas.microsoft.com/office/drawing/2014/main" id="{85D16A88-EF0A-47F6-9420-A6D228F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三类业务闭环</a:t>
            </a:r>
          </a:p>
        </p:txBody>
      </p:sp>
      <p:sp>
        <p:nvSpPr>
          <p:cNvPr id="59" name="p1-section-loops-divider">
            <a:extLst xmlns:a="http://schemas.openxmlformats.org/drawingml/2006/main">
              <a:ext uri="{FF2B5EF4-FFF2-40B4-BE49-F238E27FC236}">
                <a16:creationId xmlns:a16="http://schemas.microsoft.com/office/drawing/2014/main" id="{8765F348-3FFB-40F8-92B3-6869E342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60" name="p1-input-spine">
            <a:extLst xmlns:a="http://schemas.openxmlformats.org/drawingml/2006/main">
              <a:ext uri="{FF2B5EF4-FFF2-40B4-BE49-F238E27FC236}">
                <a16:creationId xmlns:a16="http://schemas.microsoft.com/office/drawing/2014/main" id="{3465323F-C1C1-4C6D-994C-F0D6327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4CE"/>
            </a:solidFill>
            <a:prstDash val="solid"/>
          </a:ln>
        </p:spPr>
      </p:sp>
      <p:sp>
        <p:nvSpPr>
          <p:cNvPr id="61" name="p1-input-merge-rail">
            <a:extLst xmlns:a="http://schemas.openxmlformats.org/drawingml/2006/main">
              <a:ext uri="{FF2B5EF4-FFF2-40B4-BE49-F238E27FC236}">
                <a16:creationId xmlns:a16="http://schemas.microsoft.com/office/drawing/2014/main" id="{B8BAE170-4E8F-442E-AAC9-D056B6E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66925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62" name="p1-input-arrow-swsd-shaft">
            <a:extLst xmlns:a="http://schemas.openxmlformats.org/drawingml/2006/main">
              <a:ext uri="{FF2B5EF4-FFF2-40B4-BE49-F238E27FC236}">
                <a16:creationId xmlns:a16="http://schemas.microsoft.com/office/drawing/2014/main" id="{58BB209C-40D4-4A9E-87F4-1E48400D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D2633"/>
            </a:solidFill>
            <a:prstDash val="solid"/>
          </a:ln>
        </p:spPr>
      </p:sp>
      <p:sp>
        <p:nvSpPr>
          <p:cNvPr id="63" name="p1-input-arrow-swsd-head">
            <a:extLst xmlns:a="http://schemas.openxmlformats.org/drawingml/2006/main">
              <a:ext uri="{FF2B5EF4-FFF2-40B4-BE49-F238E27FC236}">
                <a16:creationId xmlns:a16="http://schemas.microsoft.com/office/drawing/2014/main" id="{E43DFDB7-16EC-4F73-A057-7354743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4" name="p1-input-arrow-reality-shaft">
            <a:extLst xmlns:a="http://schemas.openxmlformats.org/drawingml/2006/main">
              <a:ext uri="{FF2B5EF4-FFF2-40B4-BE49-F238E27FC236}">
                <a16:creationId xmlns:a16="http://schemas.microsoft.com/office/drawing/2014/main" id="{76C65A08-EFAD-4FE6-A2C7-6E9D1CB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F7B72"/>
            </a:solidFill>
            <a:prstDash val="solid"/>
          </a:ln>
        </p:spPr>
      </p:sp>
      <p:sp>
        <p:nvSpPr>
          <p:cNvPr id="65" name="p1-input-arrow-reality-head">
            <a:extLst xmlns:a="http://schemas.openxmlformats.org/drawingml/2006/main">
              <a:ext uri="{FF2B5EF4-FFF2-40B4-BE49-F238E27FC236}">
                <a16:creationId xmlns:a16="http://schemas.microsoft.com/office/drawing/2014/main" id="{95DFDADE-60D4-41D0-A845-8104917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62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6" name="p1-input-arrow-rcsd-shaft">
            <a:extLst xmlns:a="http://schemas.openxmlformats.org/drawingml/2006/main">
              <a:ext uri="{FF2B5EF4-FFF2-40B4-BE49-F238E27FC236}">
                <a16:creationId xmlns:a16="http://schemas.microsoft.com/office/drawing/2014/main" id="{B6F6637D-F5F9-41B7-98E6-C2084C96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910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27B62"/>
            </a:solidFill>
            <a:prstDash val="solid"/>
          </a:ln>
        </p:spPr>
      </p:sp>
      <p:sp>
        <p:nvSpPr>
          <p:cNvPr id="67" name="p1-input-arrow-rcsd-head">
            <a:extLst xmlns:a="http://schemas.openxmlformats.org/drawingml/2006/main">
              <a:ext uri="{FF2B5EF4-FFF2-40B4-BE49-F238E27FC236}">
                <a16:creationId xmlns:a16="http://schemas.microsoft.com/office/drawing/2014/main" id="{46312F71-ABD8-4CAD-9F1C-3F64CF63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76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8" name="p1-core-line-left">
            <a:extLst xmlns:a="http://schemas.openxmlformats.org/drawingml/2006/main">
              <a:ext uri="{FF2B5EF4-FFF2-40B4-BE49-F238E27FC236}">
                <a16:creationId xmlns:a16="http://schemas.microsoft.com/office/drawing/2014/main" id="{33F9099B-851B-47E7-AE22-2ACB2D0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9" name="p1-core-line-right">
            <a:extLst xmlns:a="http://schemas.openxmlformats.org/drawingml/2006/main">
              <a:ext uri="{FF2B5EF4-FFF2-40B4-BE49-F238E27FC236}">
                <a16:creationId xmlns:a16="http://schemas.microsoft.com/office/drawing/2014/main" id="{F93554E6-151E-47DD-B797-390876A1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70" name="p1-segment-branch-up">
            <a:extLst xmlns:a="http://schemas.openxmlformats.org/drawingml/2006/main">
              <a:ext uri="{FF2B5EF4-FFF2-40B4-BE49-F238E27FC236}">
                <a16:creationId xmlns:a16="http://schemas.microsoft.com/office/drawing/2014/main" id="{A2A625E9-9FFE-42A9-8F58-9C05A6D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D2633"/>
            </a:solidFill>
            <a:prstDash val="solid"/>
          </a:ln>
        </p:spPr>
      </p:sp>
      <p:sp>
        <p:nvSpPr>
          <p:cNvPr id="71" name="p1-segment-branch-arrow-shaft">
            <a:extLst xmlns:a="http://schemas.openxmlformats.org/drawingml/2006/main">
              <a:ext uri="{FF2B5EF4-FFF2-40B4-BE49-F238E27FC236}">
                <a16:creationId xmlns:a16="http://schemas.microsoft.com/office/drawing/2014/main" id="{7D4D04B8-CB05-4EDB-8076-86B6C03D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72" name="p1-segment-branch-arrow-head">
            <a:extLst xmlns:a="http://schemas.openxmlformats.org/drawingml/2006/main">
              <a:ext uri="{FF2B5EF4-FFF2-40B4-BE49-F238E27FC236}">
                <a16:creationId xmlns:a16="http://schemas.microsoft.com/office/drawing/2014/main" id="{69BFEA47-C221-4369-BD88-0601529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670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3" name="p1-relation-arrow-t05-shaft">
            <a:extLst xmlns:a="http://schemas.openxmlformats.org/drawingml/2006/main">
              <a:ext uri="{FF2B5EF4-FFF2-40B4-BE49-F238E27FC236}">
                <a16:creationId xmlns:a16="http://schemas.microsoft.com/office/drawing/2014/main" id="{3C4944D5-D1B6-4190-B6BF-59D3510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95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7B72"/>
            </a:solidFill>
            <a:prstDash val="solid"/>
          </a:ln>
        </p:spPr>
      </p:sp>
      <p:sp>
        <p:nvSpPr>
          <p:cNvPr id="74" name="p1-relation-arrow-t05-head">
            <a:extLst xmlns:a="http://schemas.openxmlformats.org/drawingml/2006/main">
              <a:ext uri="{FF2B5EF4-FFF2-40B4-BE49-F238E27FC236}">
                <a16:creationId xmlns:a16="http://schemas.microsoft.com/office/drawing/2014/main" id="{7234AC7C-6461-4D71-B5B7-937B24E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05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5" name="p1-relation-arrow-publish-shaft">
            <a:extLst xmlns:a="http://schemas.openxmlformats.org/drawingml/2006/main">
              <a:ext uri="{FF2B5EF4-FFF2-40B4-BE49-F238E27FC236}">
                <a16:creationId xmlns:a16="http://schemas.microsoft.com/office/drawing/2014/main" id="{AF0A3756-EC21-447F-A041-A625F6B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95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7B72"/>
            </a:solidFill>
            <a:prstDash val="solid"/>
          </a:ln>
        </p:spPr>
      </p:sp>
      <p:sp>
        <p:nvSpPr>
          <p:cNvPr id="76" name="p1-relation-arrow-publish-head">
            <a:extLst xmlns:a="http://schemas.openxmlformats.org/drawingml/2006/main">
              <a:ext uri="{FF2B5EF4-FFF2-40B4-BE49-F238E27FC236}">
                <a16:creationId xmlns:a16="http://schemas.microsoft.com/office/drawing/2014/main" id="{26C48ED5-D334-4AD7-A83D-41F48D8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105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7" name="p1-relation-branch-up">
            <a:extLst xmlns:a="http://schemas.openxmlformats.org/drawingml/2006/main">
              <a:ext uri="{FF2B5EF4-FFF2-40B4-BE49-F238E27FC236}">
                <a16:creationId xmlns:a16="http://schemas.microsoft.com/office/drawing/2014/main" id="{B2200057-CF46-4D31-BCF8-AC46651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F7B72"/>
            </a:solidFill>
            <a:prstDash val="solid"/>
          </a:ln>
        </p:spPr>
      </p:sp>
      <p:sp>
        <p:nvSpPr>
          <p:cNvPr id="78" name="p1-loop-rail">
            <a:extLst xmlns:a="http://schemas.openxmlformats.org/drawingml/2006/main">
              <a:ext uri="{FF2B5EF4-FFF2-40B4-BE49-F238E27FC236}">
                <a16:creationId xmlns:a16="http://schemas.microsoft.com/office/drawing/2014/main" id="{2FFD2915-F1E0-4314-A38A-CD94362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4CE"/>
            </a:solidFill>
            <a:prstDash val="solid"/>
          </a:ln>
        </p:spPr>
      </p:sp>
      <p:sp>
        <p:nvSpPr>
          <p:cNvPr id="79" name="p1-loop-arrow-t06-shaft">
            <a:extLst xmlns:a="http://schemas.openxmlformats.org/drawingml/2006/main">
              <a:ext uri="{FF2B5EF4-FFF2-40B4-BE49-F238E27FC236}">
                <a16:creationId xmlns:a16="http://schemas.microsoft.com/office/drawing/2014/main" id="{7DA18AAD-4427-4F70-AE5E-AF2C895C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02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80" name="p1-loop-arrow-t06-head">
            <a:extLst xmlns:a="http://schemas.openxmlformats.org/drawingml/2006/main">
              <a:ext uri="{FF2B5EF4-FFF2-40B4-BE49-F238E27FC236}">
                <a16:creationId xmlns:a16="http://schemas.microsoft.com/office/drawing/2014/main" id="{4AF9DF1E-711B-408A-9CD8-1C7A994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85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1" name="p1-loop-arrow-t12-shaft">
            <a:extLst xmlns:a="http://schemas.openxmlformats.org/drawingml/2006/main">
              <a:ext uri="{FF2B5EF4-FFF2-40B4-BE49-F238E27FC236}">
                <a16:creationId xmlns:a16="http://schemas.microsoft.com/office/drawing/2014/main" id="{A8235A30-DE26-4149-8FB2-3DD0A43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9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7B72"/>
            </a:solidFill>
            <a:prstDash val="solid"/>
          </a:ln>
        </p:spPr>
      </p:sp>
      <p:sp>
        <p:nvSpPr>
          <p:cNvPr id="82" name="p1-loop-arrow-t12-head">
            <a:extLst xmlns:a="http://schemas.openxmlformats.org/drawingml/2006/main">
              <a:ext uri="{FF2B5EF4-FFF2-40B4-BE49-F238E27FC236}">
                <a16:creationId xmlns:a16="http://schemas.microsoft.com/office/drawing/2014/main" id="{B684DC80-9B22-4740-AE29-A910998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95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3" name="p1-loop-arrow-p04-shaft">
            <a:extLst xmlns:a="http://schemas.openxmlformats.org/drawingml/2006/main">
              <a:ext uri="{FF2B5EF4-FFF2-40B4-BE49-F238E27FC236}">
                <a16:creationId xmlns:a16="http://schemas.microsoft.com/office/drawing/2014/main" id="{5D2253A8-0BFE-4C13-8698-FE80D0D5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720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27B62"/>
            </a:solidFill>
            <a:prstDash val="solid"/>
          </a:ln>
        </p:spPr>
      </p:sp>
      <p:sp>
        <p:nvSpPr>
          <p:cNvPr id="84" name="p1-loop-arrow-p04-head">
            <a:extLst xmlns:a="http://schemas.openxmlformats.org/drawingml/2006/main">
              <a:ext uri="{FF2B5EF4-FFF2-40B4-BE49-F238E27FC236}">
                <a16:creationId xmlns:a16="http://schemas.microsoft.com/office/drawing/2014/main" id="{9B861056-CEB2-4ED3-AB09-FB707C09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57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5" name="p1-loop-divider-1">
            <a:extLst xmlns:a="http://schemas.openxmlformats.org/drawingml/2006/main">
              <a:ext uri="{FF2B5EF4-FFF2-40B4-BE49-F238E27FC236}">
                <a16:creationId xmlns:a16="http://schemas.microsoft.com/office/drawing/2014/main" id="{0E89DE87-614F-45CF-A334-7E8BFC3F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86" name="p1-loop-divider-2">
            <a:extLst xmlns:a="http://schemas.openxmlformats.org/drawingml/2006/main">
              <a:ext uri="{FF2B5EF4-FFF2-40B4-BE49-F238E27FC236}">
                <a16:creationId xmlns:a16="http://schemas.microsoft.com/office/drawing/2014/main" id="{22101913-0781-4DB2-9F16-847860D1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87" name="p1-input-swsd-dot">
            <a:extLst xmlns:a="http://schemas.openxmlformats.org/drawingml/2006/main">
              <a:ext uri="{FF2B5EF4-FFF2-40B4-BE49-F238E27FC236}">
                <a16:creationId xmlns:a16="http://schemas.microsoft.com/office/drawing/2014/main" id="{11744682-4FC7-4BFE-9DBD-78AE200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8" name="p1-input-swsd-label">
            <a:extLst xmlns:a="http://schemas.openxmlformats.org/drawingml/2006/main">
              <a:ext uri="{FF2B5EF4-FFF2-40B4-BE49-F238E27FC236}">
                <a16:creationId xmlns:a16="http://schemas.microsoft.com/office/drawing/2014/main" id="{9732DD93-BAB8-4B91-A6F6-62A9377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一层语义</a:t>
            </a:r>
          </a:p>
        </p:txBody>
      </p:sp>
      <p:sp>
        <p:nvSpPr>
          <p:cNvPr id="89" name="p1-input-swsd-text">
            <a:extLst xmlns:a="http://schemas.openxmlformats.org/drawingml/2006/main">
              <a:ext uri="{FF2B5EF4-FFF2-40B4-BE49-F238E27FC236}">
                <a16:creationId xmlns:a16="http://schemas.microsoft.com/office/drawing/2014/main" id="{23F908C6-6102-4111-B107-983C84E9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SWSD Road / Node → T01 Segment</a:t>
            </a:r>
          </a:p>
        </p:txBody>
      </p:sp>
      <p:sp>
        <p:nvSpPr>
          <p:cNvPr id="90" name="p1-input-reality-dot">
            <a:extLst xmlns:a="http://schemas.openxmlformats.org/drawingml/2006/main">
              <a:ext uri="{FF2B5EF4-FFF2-40B4-BE49-F238E27FC236}">
                <a16:creationId xmlns:a16="http://schemas.microsoft.com/office/drawing/2014/main" id="{BEB34EF2-57CB-421C-B5A6-10EB4040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19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1" name="p1-input-reality-label">
            <a:extLst xmlns:a="http://schemas.openxmlformats.org/drawingml/2006/main">
              <a:ext uri="{FF2B5EF4-FFF2-40B4-BE49-F238E27FC236}">
                <a16:creationId xmlns:a16="http://schemas.microsoft.com/office/drawing/2014/main" id="{705070EB-BDEC-442C-AF7B-DDBFBAF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现实空间</a:t>
            </a:r>
          </a:p>
        </p:txBody>
      </p:sp>
      <p:sp>
        <p:nvSpPr>
          <p:cNvPr id="92" name="p1-input-reality-text">
            <a:extLst xmlns:a="http://schemas.openxmlformats.org/drawingml/2006/main">
              <a:ext uri="{FF2B5EF4-FFF2-40B4-BE49-F238E27FC236}">
                <a16:creationId xmlns:a16="http://schemas.microsoft.com/office/drawing/2014/main" id="{A492642A-95E0-4835-8999-C3E3506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道路面 / 路口面 / 导流带</a:t>
            </a:r>
          </a:p>
        </p:txBody>
      </p:sp>
      <p:sp>
        <p:nvSpPr>
          <p:cNvPr id="93" name="p1-input-rcsd-dot">
            <a:extLst xmlns:a="http://schemas.openxmlformats.org/drawingml/2006/main">
              <a:ext uri="{FF2B5EF4-FFF2-40B4-BE49-F238E27FC236}">
                <a16:creationId xmlns:a16="http://schemas.microsoft.com/office/drawing/2014/main" id="{2A3EF195-C61C-49E8-BE4D-29071E9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624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4" name="p1-input-rcsd-label">
            <a:extLst xmlns:a="http://schemas.openxmlformats.org/drawingml/2006/main">
              <a:ext uri="{FF2B5EF4-FFF2-40B4-BE49-F238E27FC236}">
                <a16:creationId xmlns:a16="http://schemas.microsoft.com/office/drawing/2014/main" id="{E63C2749-CF72-492A-BE7C-2150557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二层对象</a:t>
            </a:r>
          </a:p>
        </p:txBody>
      </p:sp>
      <p:sp>
        <p:nvSpPr>
          <p:cNvPr id="95" name="p1-input-rcsd-text">
            <a:extLst xmlns:a="http://schemas.openxmlformats.org/drawingml/2006/main">
              <a:ext uri="{FF2B5EF4-FFF2-40B4-BE49-F238E27FC236}">
                <a16:creationId xmlns:a16="http://schemas.microsoft.com/office/drawing/2014/main" id="{A4DA0D6E-F69C-47E3-89FF-830F609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RCSD Road / Node</a:t>
            </a:r>
          </a:p>
        </p:txBody>
      </p:sp>
      <p:sp>
        <p:nvSpPr>
          <p:cNvPr id="96" name="p1-reality-evidence-frame">
            <a:extLst xmlns:a="http://schemas.openxmlformats.org/drawingml/2006/main">
              <a:ext uri="{FF2B5EF4-FFF2-40B4-BE49-F238E27FC236}">
                <a16:creationId xmlns:a16="http://schemas.microsoft.com/office/drawing/2014/main" id="{A9357F5A-715B-4DFA-98F8-691B618B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43275"/>
            <a:ext cx="2076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97" name="p1-reality-evidence-caption">
            <a:extLst xmlns:a="http://schemas.openxmlformats.org/drawingml/2006/main">
              <a:ext uri="{FF2B5EF4-FFF2-40B4-BE49-F238E27FC236}">
                <a16:creationId xmlns:a16="http://schemas.microsoft.com/office/drawing/2014/main" id="{43480D16-E171-4EF3-B98B-8619127C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rPr>
              <a:t>真实空间证据缩略图</a:t>
            </a:r>
          </a:p>
        </p:txBody>
      </p:sp>
      <p:sp>
        <p:nvSpPr>
          <p:cNvPr id="98" name="p1-foundation-caption">
            <a:extLst xmlns:a="http://schemas.openxmlformats.org/drawingml/2006/main">
              <a:ext uri="{FF2B5EF4-FFF2-40B4-BE49-F238E27FC236}">
                <a16:creationId xmlns:a16="http://schemas.microsoft.com/office/drawing/2014/main" id="{ABB04C45-EABD-48F2-83FE-0AF58F5E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rPr>
              <a:t>共同业务骨架</a:t>
            </a:r>
          </a:p>
        </p:txBody>
      </p:sp>
      <p:sp>
        <p:nvSpPr>
          <p:cNvPr id="99" name="p1-core-junction-left-shape">
            <a:extLst xmlns:a="http://schemas.openxmlformats.org/drawingml/2006/main">
              <a:ext uri="{FF2B5EF4-FFF2-40B4-BE49-F238E27FC236}">
                <a16:creationId xmlns:a16="http://schemas.microsoft.com/office/drawing/2014/main" id="{35D0014F-02DA-4FBA-ABDE-EA244A1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71675"/>
            <a:ext cx="8191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F1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0" name="p1-core-junction-left-text">
            <a:extLst xmlns:a="http://schemas.openxmlformats.org/drawingml/2006/main">
              <a:ext uri="{FF2B5EF4-FFF2-40B4-BE49-F238E27FC236}">
                <a16:creationId xmlns:a16="http://schemas.microsoft.com/office/drawing/2014/main" id="{3431F6F2-C941-4190-984A-C1C7AB78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907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Junction</a:t>
            </a:r>
          </a:p>
        </p:txBody>
      </p:sp>
      <p:sp>
        <p:nvSpPr>
          <p:cNvPr id="101" name="p1-core-segment-shape">
            <a:extLst xmlns:a="http://schemas.openxmlformats.org/drawingml/2006/main">
              <a:ext uri="{FF2B5EF4-FFF2-40B4-BE49-F238E27FC236}">
                <a16:creationId xmlns:a16="http://schemas.microsoft.com/office/drawing/2014/main" id="{3C3FD17B-33AC-4ED7-B224-C4351465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819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2" name="p1-core-segment-text">
            <a:extLst xmlns:a="http://schemas.openxmlformats.org/drawingml/2006/main">
              <a:ext uri="{FF2B5EF4-FFF2-40B4-BE49-F238E27FC236}">
                <a16:creationId xmlns:a16="http://schemas.microsoft.com/office/drawing/2014/main" id="{CD0E63D7-AAE3-42F2-A990-6108430A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Segment</a:t>
            </a:r>
          </a:p>
        </p:txBody>
      </p:sp>
      <p:sp>
        <p:nvSpPr>
          <p:cNvPr id="103" name="p1-core-junction-right-shape">
            <a:extLst xmlns:a="http://schemas.openxmlformats.org/drawingml/2006/main">
              <a:ext uri="{FF2B5EF4-FFF2-40B4-BE49-F238E27FC236}">
                <a16:creationId xmlns:a16="http://schemas.microsoft.com/office/drawing/2014/main" id="{1D8F2A5A-5F53-41C5-893B-AF7D19F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71675"/>
            <a:ext cx="857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F1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4" name="p1-core-junction-right-text">
            <a:extLst xmlns:a="http://schemas.openxmlformats.org/drawingml/2006/main">
              <a:ext uri="{FF2B5EF4-FFF2-40B4-BE49-F238E27FC236}">
                <a16:creationId xmlns:a16="http://schemas.microsoft.com/office/drawing/2014/main" id="{EF130E8F-9EE2-4BF2-92B6-6F83731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9907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Junction</a:t>
            </a:r>
          </a:p>
        </p:txBody>
      </p:sp>
      <p:sp>
        <p:nvSpPr>
          <p:cNvPr id="105" name="p1-core-ontology">
            <a:extLst xmlns:a="http://schemas.openxmlformats.org/drawingml/2006/main">
              <a:ext uri="{FF2B5EF4-FFF2-40B4-BE49-F238E27FC236}">
                <a16:creationId xmlns:a16="http://schemas.microsoft.com/office/drawing/2014/main" id="{8A695ACF-5ACF-47A7-88CF-E77BEF3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71750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Junction — Segment — Junction</a:t>
            </a:r>
          </a:p>
        </p:txBody>
      </p:sp>
      <p:sp>
        <p:nvSpPr>
          <p:cNvPr id="106" name="p1-segment-branch-label">
            <a:extLst xmlns:a="http://schemas.openxmlformats.org/drawingml/2006/main">
              <a:ext uri="{FF2B5EF4-FFF2-40B4-BE49-F238E27FC236}">
                <a16:creationId xmlns:a16="http://schemas.microsoft.com/office/drawing/2014/main" id="{13B1FF2F-0052-44C9-8BC8-1A2C612A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813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支路 A · Segment</a:t>
            </a:r>
          </a:p>
        </p:txBody>
      </p:sp>
      <p:sp>
        <p:nvSpPr>
          <p:cNvPr id="107" name="p1-segment-branch-t01-shape">
            <a:extLst xmlns:a="http://schemas.openxmlformats.org/drawingml/2006/main">
              <a:ext uri="{FF2B5EF4-FFF2-40B4-BE49-F238E27FC236}">
                <a16:creationId xmlns:a16="http://schemas.microsoft.com/office/drawing/2014/main" id="{BDD9898F-23EA-4DF7-B64C-356279A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48025"/>
            <a:ext cx="5524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EFF1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8" name="p1-segment-branch-t01-text">
            <a:extLst xmlns:a="http://schemas.openxmlformats.org/drawingml/2006/main">
              <a:ext uri="{FF2B5EF4-FFF2-40B4-BE49-F238E27FC236}">
                <a16:creationId xmlns:a16="http://schemas.microsoft.com/office/drawing/2014/main" id="{ADD6E064-7B37-465A-8980-3F41B3A2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670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T01</a:t>
            </a:r>
          </a:p>
        </p:txBody>
      </p:sp>
      <p:sp>
        <p:nvSpPr>
          <p:cNvPr id="109" name="p1-segment-branch-segment-shape">
            <a:extLst xmlns:a="http://schemas.openxmlformats.org/drawingml/2006/main">
              <a:ext uri="{FF2B5EF4-FFF2-40B4-BE49-F238E27FC236}">
                <a16:creationId xmlns:a16="http://schemas.microsoft.com/office/drawing/2014/main" id="{7A358EAC-4437-4783-AABB-AA4689A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48025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10" name="p1-segment-branch-segment-text">
            <a:extLst xmlns:a="http://schemas.openxmlformats.org/drawingml/2006/main">
              <a:ext uri="{FF2B5EF4-FFF2-40B4-BE49-F238E27FC236}">
                <a16:creationId xmlns:a16="http://schemas.microsoft.com/office/drawing/2014/main" id="{90BF3E30-7422-449C-8A1D-29701C4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670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Segment</a:t>
            </a:r>
          </a:p>
        </p:txBody>
      </p:sp>
      <p:sp>
        <p:nvSpPr>
          <p:cNvPr id="111" name="p1-relation-branch-label">
            <a:extLst xmlns:a="http://schemas.openxmlformats.org/drawingml/2006/main">
              <a:ext uri="{FF2B5EF4-FFF2-40B4-BE49-F238E27FC236}">
                <a16:creationId xmlns:a16="http://schemas.microsoft.com/office/drawing/2014/main" id="{0272C610-BF2F-4F70-93BB-C23D2B3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004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支路 B · Junction relation</a:t>
            </a:r>
          </a:p>
        </p:txBody>
      </p:sp>
      <p:sp>
        <p:nvSpPr>
          <p:cNvPr id="112" name="p1-relation-branch-anchors-shape">
            <a:extLst xmlns:a="http://schemas.openxmlformats.org/drawingml/2006/main">
              <a:ext uri="{FF2B5EF4-FFF2-40B4-BE49-F238E27FC236}">
                <a16:creationId xmlns:a16="http://schemas.microsoft.com/office/drawing/2014/main" id="{B44A68E9-5D29-4931-A792-9103EF9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86225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3F0"/>
          </a:solidFill>
          <a:ln xmlns:a="http://schemas.openxmlformats.org/drawingml/2006/main" w="11430">
            <a:solidFill>
              <a:srgbClr val="6F7B72"/>
            </a:solidFill>
            <a:prstDash val="solid"/>
          </a:ln>
        </p:spPr>
      </p:sp>
      <p:sp>
        <p:nvSpPr>
          <p:cNvPr id="113" name="p1-relation-branch-anchors-text">
            <a:extLst xmlns:a="http://schemas.openxmlformats.org/drawingml/2006/main">
              <a:ext uri="{FF2B5EF4-FFF2-40B4-BE49-F238E27FC236}">
                <a16:creationId xmlns:a16="http://schemas.microsoft.com/office/drawing/2014/main" id="{353AE015-7CB8-4AAA-862A-43FE687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052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T07 / T03 / T04</a:t>
            </a:r>
          </a:p>
        </p:txBody>
      </p:sp>
      <p:sp>
        <p:nvSpPr>
          <p:cNvPr id="114" name="p1-relation-branch-t05-shape">
            <a:extLst xmlns:a="http://schemas.openxmlformats.org/drawingml/2006/main">
              <a:ext uri="{FF2B5EF4-FFF2-40B4-BE49-F238E27FC236}">
                <a16:creationId xmlns:a16="http://schemas.microsoft.com/office/drawing/2014/main" id="{DB4C60DA-447C-469C-835E-81B77053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86225"/>
            <a:ext cx="476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F7B72"/>
          </a:solidFill>
          <a:ln xmlns:a="http://schemas.openxmlformats.org/drawingml/2006/main" w="11430">
            <a:solidFill>
              <a:srgbClr val="6F7B72"/>
            </a:solidFill>
            <a:prstDash val="solid"/>
          </a:ln>
        </p:spPr>
      </p:sp>
      <p:sp>
        <p:nvSpPr>
          <p:cNvPr id="115" name="p1-relation-branch-t05-text">
            <a:extLst xmlns:a="http://schemas.openxmlformats.org/drawingml/2006/main">
              <a:ext uri="{FF2B5EF4-FFF2-40B4-BE49-F238E27FC236}">
                <a16:creationId xmlns:a16="http://schemas.microsoft.com/office/drawing/2014/main" id="{359DE4C6-D138-4494-8E9B-40BA8A0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052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T05</a:t>
            </a:r>
          </a:p>
        </p:txBody>
      </p:sp>
      <p:sp>
        <p:nvSpPr>
          <p:cNvPr id="116" name="p1-relation-branch-published-shape">
            <a:extLst xmlns:a="http://schemas.openxmlformats.org/drawingml/2006/main">
              <a:ext uri="{FF2B5EF4-FFF2-40B4-BE49-F238E27FC236}">
                <a16:creationId xmlns:a16="http://schemas.microsoft.com/office/drawing/2014/main" id="{29DF548F-F67B-43D8-AA4D-1875B0FD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29075"/>
            <a:ext cx="83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F7B72"/>
            </a:solidFill>
            <a:prstDash val="solid"/>
          </a:ln>
        </p:spPr>
      </p:sp>
      <p:sp>
        <p:nvSpPr>
          <p:cNvPr id="117" name="p1-relation-branch-published-text">
            <a:extLst xmlns:a="http://schemas.openxmlformats.org/drawingml/2006/main">
              <a:ext uri="{FF2B5EF4-FFF2-40B4-BE49-F238E27FC236}">
                <a16:creationId xmlns:a16="http://schemas.microsoft.com/office/drawing/2014/main" id="{3960DFA5-9F69-47C7-AA12-23DB20B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Junction</a:t>
            </a:r>
          </a:p>
          <a:p xmlns:a="http://schemas.openxmlformats.org/drawingml/2006/main">
            <a:pPr algn="ctr"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118" name="p1-foundation-facts-bg">
            <a:extLst xmlns:a="http://schemas.openxmlformats.org/drawingml/2006/main">
              <a:ext uri="{FF2B5EF4-FFF2-40B4-BE49-F238E27FC236}">
                <a16:creationId xmlns:a16="http://schemas.microsoft.com/office/drawing/2014/main" id="{21103C5C-F77C-4279-B031-0BF4F13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810125"/>
            <a:ext cx="3019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1-foundation-facts">
            <a:extLst xmlns:a="http://schemas.openxmlformats.org/drawingml/2006/main">
              <a:ext uri="{FF2B5EF4-FFF2-40B4-BE49-F238E27FC236}">
                <a16:creationId xmlns:a16="http://schemas.microsoft.com/office/drawing/2014/main" id="{AA30C3A2-1271-43C5-9339-8AC9A3F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9585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锚定可信 · 方向明确 · 连通可证</a:t>
            </a:r>
          </a:p>
          <a:p xmlns:a="http://schemas.openxmlformats.org/drawingml/2006/main">
            <a:pPr algn="ctr"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120" name="p1-foundation-summary">
            <a:extLst xmlns:a="http://schemas.openxmlformats.org/drawingml/2006/main">
              <a:ext uri="{FF2B5EF4-FFF2-40B4-BE49-F238E27FC236}">
                <a16:creationId xmlns:a16="http://schemas.microsoft.com/office/drawing/2014/main" id="{B05BA231-E0E4-478D-8BA8-1A948F0E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816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rPr>
              <a:t>两条支路共同形成可解释、可审计的认知底座</a:t>
            </a:r>
          </a:p>
        </p:txBody>
      </p:sp>
      <p:sp>
        <p:nvSpPr>
          <p:cNvPr id="121" name="p1-t06-accent">
            <a:extLst xmlns:a="http://schemas.openxmlformats.org/drawingml/2006/main">
              <a:ext uri="{FF2B5EF4-FFF2-40B4-BE49-F238E27FC236}">
                <a16:creationId xmlns:a16="http://schemas.microsoft.com/office/drawing/2014/main" id="{DFB14DD7-3C4B-4AF8-B337-80C0F85A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1-t06-module">
            <a:extLst xmlns:a="http://schemas.openxmlformats.org/drawingml/2006/main">
              <a:ext uri="{FF2B5EF4-FFF2-40B4-BE49-F238E27FC236}">
                <a16:creationId xmlns:a16="http://schemas.microsoft.com/office/drawing/2014/main" id="{BEF51EEB-6CD2-4C98-88B6-E3B43FD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04975"/>
            <a:ext cx="485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T06</a:t>
            </a:r>
          </a:p>
        </p:txBody>
      </p:sp>
      <p:sp>
        <p:nvSpPr>
          <p:cNvPr id="123" name="p1-t06-question">
            <a:extLst xmlns:a="http://schemas.openxmlformats.org/drawingml/2006/main">
              <a:ext uri="{FF2B5EF4-FFF2-40B4-BE49-F238E27FC236}">
                <a16:creationId xmlns:a16="http://schemas.microsoft.com/office/drawing/2014/main" id="{943ADD45-352A-4AD5-9877-6B3370A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85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能否安全替换</a:t>
            </a:r>
          </a:p>
        </p:txBody>
      </p:sp>
      <p:sp>
        <p:nvSpPr>
          <p:cNvPr id="124" name="p1-t06-loop">
            <a:extLst xmlns:a="http://schemas.openxmlformats.org/drawingml/2006/main">
              <a:ext uri="{FF2B5EF4-FFF2-40B4-BE49-F238E27FC236}">
                <a16:creationId xmlns:a16="http://schemas.microsoft.com/office/drawing/2014/main" id="{0AAB1086-BE59-4D07-A166-3D32E3D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6668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125" name="p1-t06-output">
            <a:extLst xmlns:a="http://schemas.openxmlformats.org/drawingml/2006/main">
              <a:ext uri="{FF2B5EF4-FFF2-40B4-BE49-F238E27FC236}">
                <a16:creationId xmlns:a16="http://schemas.microsoft.com/office/drawing/2014/main" id="{806884C2-86FB-40C1-B145-FF1EDC1F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Segment + relation → replacement plan → F-RCSD Road / Node</a:t>
            </a:r>
          </a:p>
        </p:txBody>
      </p:sp>
      <p:sp>
        <p:nvSpPr>
          <p:cNvPr id="126" name="p1-t06-status">
            <a:extLst xmlns:a="http://schemas.openxmlformats.org/drawingml/2006/main">
              <a:ext uri="{FF2B5EF4-FFF2-40B4-BE49-F238E27FC236}">
                <a16:creationId xmlns:a16="http://schemas.microsoft.com/office/drawing/2014/main" id="{35E2DF20-986A-421C-BCF3-C1B668A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规则方案 POC 已完成（阶段判断）</a:t>
            </a:r>
          </a:p>
        </p:txBody>
      </p:sp>
      <p:sp>
        <p:nvSpPr>
          <p:cNvPr id="127" name="p1-t06-boundary">
            <a:extLst xmlns:a="http://schemas.openxmlformats.org/drawingml/2006/main">
              <a:ext uri="{FF2B5EF4-FFF2-40B4-BE49-F238E27FC236}">
                <a16:creationId xmlns:a16="http://schemas.microsoft.com/office/drawing/2014/main" id="{39A78107-59E5-4112-B601-26B1CBF0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812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当前模型 NO-GO · 暂无可发布模型</a:t>
            </a:r>
          </a:p>
        </p:txBody>
      </p:sp>
      <p:sp>
        <p:nvSpPr>
          <p:cNvPr id="128" name="p1-t12-accent">
            <a:extLst xmlns:a="http://schemas.openxmlformats.org/drawingml/2006/main">
              <a:ext uri="{FF2B5EF4-FFF2-40B4-BE49-F238E27FC236}">
                <a16:creationId xmlns:a16="http://schemas.microsoft.com/office/drawing/2014/main" id="{9EFCF24B-E475-4AF3-97EE-9665946D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381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1-t12-module">
            <a:extLst xmlns:a="http://schemas.openxmlformats.org/drawingml/2006/main">
              <a:ext uri="{FF2B5EF4-FFF2-40B4-BE49-F238E27FC236}">
                <a16:creationId xmlns:a16="http://schemas.microsoft.com/office/drawing/2014/main" id="{FA294007-3BBC-47A2-8EAD-ACACCAD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485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T12</a:t>
            </a:r>
          </a:p>
        </p:txBody>
      </p:sp>
      <p:sp>
        <p:nvSpPr>
          <p:cNvPr id="130" name="p1-t12-question">
            <a:extLst xmlns:a="http://schemas.openxmlformats.org/drawingml/2006/main">
              <a:ext uri="{FF2B5EF4-FFF2-40B4-BE49-F238E27FC236}">
                <a16:creationId xmlns:a16="http://schemas.microsoft.com/office/drawing/2014/main" id="{1FCA895A-14B5-444D-B843-4916E53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哪里存在质量错误</a:t>
            </a:r>
          </a:p>
        </p:txBody>
      </p:sp>
      <p:sp>
        <p:nvSpPr>
          <p:cNvPr id="131" name="p1-t12-loop">
            <a:extLst xmlns:a="http://schemas.openxmlformats.org/drawingml/2006/main">
              <a:ext uri="{FF2B5EF4-FFF2-40B4-BE49-F238E27FC236}">
                <a16:creationId xmlns:a16="http://schemas.microsoft.com/office/drawing/2014/main" id="{26EBEFDC-5901-4C49-829E-A3DCCFE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8956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132" name="p1-t12-output">
            <a:extLst xmlns:a="http://schemas.openxmlformats.org/drawingml/2006/main">
              <a:ext uri="{FF2B5EF4-FFF2-40B4-BE49-F238E27FC236}">
                <a16:creationId xmlns:a16="http://schemas.microsoft.com/office/drawing/2014/main" id="{BE351695-ADD5-4952-8EBD-334FC89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candidate → confirmed / excluded + 空间证据</a:t>
            </a:r>
          </a:p>
        </p:txBody>
      </p:sp>
      <p:sp>
        <p:nvSpPr>
          <p:cNvPr id="133" name="p1-t12-status">
            <a:extLst xmlns:a="http://schemas.openxmlformats.org/drawingml/2006/main">
              <a:ext uri="{FF2B5EF4-FFF2-40B4-BE49-F238E27FC236}">
                <a16:creationId xmlns:a16="http://schemas.microsoft.com/office/drawing/2014/main" id="{27749444-BFC2-4DC7-86EF-54BC7275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95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Active · audit-only</a:t>
            </a:r>
          </a:p>
        </p:txBody>
      </p:sp>
      <p:sp>
        <p:nvSpPr>
          <p:cNvPr id="134" name="p1-t12-boundary">
            <a:extLst xmlns:a="http://schemas.openxmlformats.org/drawingml/2006/main">
              <a:ext uri="{FF2B5EF4-FFF2-40B4-BE49-F238E27FC236}">
                <a16:creationId xmlns:a16="http://schemas.microsoft.com/office/drawing/2014/main" id="{0F6C0AA2-03BC-49F2-8650-2BBD291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短期上线潜力（阶段判断；未部署）· 不自动修复</a:t>
            </a:r>
          </a:p>
        </p:txBody>
      </p:sp>
      <p:sp>
        <p:nvSpPr>
          <p:cNvPr id="135" name="p1-p04-accent">
            <a:extLst xmlns:a="http://schemas.openxmlformats.org/drawingml/2006/main">
              <a:ext uri="{FF2B5EF4-FFF2-40B4-BE49-F238E27FC236}">
                <a16:creationId xmlns:a16="http://schemas.microsoft.com/office/drawing/2014/main" id="{83AE3E3F-0362-412E-A588-FC393924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1-p04-module">
            <a:extLst xmlns:a="http://schemas.openxmlformats.org/drawingml/2006/main">
              <a:ext uri="{FF2B5EF4-FFF2-40B4-BE49-F238E27FC236}">
                <a16:creationId xmlns:a16="http://schemas.microsoft.com/office/drawing/2014/main" id="{7EF93BED-93B7-40D7-8C07-CEB65495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52900"/>
            <a:ext cx="485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P04</a:t>
            </a:r>
          </a:p>
        </p:txBody>
      </p:sp>
      <p:sp>
        <p:nvSpPr>
          <p:cNvPr id="137" name="p1-p04-question">
            <a:extLst xmlns:a="http://schemas.openxmlformats.org/drawingml/2006/main">
              <a:ext uri="{FF2B5EF4-FFF2-40B4-BE49-F238E27FC236}">
                <a16:creationId xmlns:a16="http://schemas.microsoft.com/office/drawing/2014/main" id="{1938B050-A69B-44D6-8058-3DFE9AC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3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如何直接构建二层对象</a:t>
            </a:r>
          </a:p>
        </p:txBody>
      </p:sp>
      <p:sp>
        <p:nvSpPr>
          <p:cNvPr id="138" name="p1-p04-loop">
            <a:extLst xmlns:a="http://schemas.openxmlformats.org/drawingml/2006/main">
              <a:ext uri="{FF2B5EF4-FFF2-40B4-BE49-F238E27FC236}">
                <a16:creationId xmlns:a16="http://schemas.microsoft.com/office/drawing/2014/main" id="{3A8E513A-F4B8-4B13-B5D5-F3B5C421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1148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139" name="p1-p04-input">
            <a:extLst xmlns:a="http://schemas.openxmlformats.org/drawingml/2006/main">
              <a:ext uri="{FF2B5EF4-FFF2-40B4-BE49-F238E27FC236}">
                <a16:creationId xmlns:a16="http://schemas.microsoft.com/office/drawing/2014/main" id="{4F942570-2195-44DB-AFEC-FC8AF734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专用证据：T01 Segment + accepted Junction surface +</a:t>
            </a:r>
          </a:p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Patch Vector / Road / LaneTopo</a:t>
            </a:r>
          </a:p>
        </p:txBody>
      </p:sp>
      <p:sp>
        <p:nvSpPr>
          <p:cNvPr id="140" name="p1-p04-output">
            <a:extLst xmlns:a="http://schemas.openxmlformats.org/drawingml/2006/main">
              <a:ext uri="{FF2B5EF4-FFF2-40B4-BE49-F238E27FC236}">
                <a16:creationId xmlns:a16="http://schemas.microsoft.com/office/drawing/2014/main" id="{5A87C4DF-9CD9-445F-9B7E-5F2A657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Road / Node / RoadNextRoad 候选</a:t>
            </a:r>
          </a:p>
        </p:txBody>
      </p:sp>
      <p:sp>
        <p:nvSpPr>
          <p:cNvPr id="141" name="p1-p04-status">
            <a:extLst xmlns:a="http://schemas.openxmlformats.org/drawingml/2006/main">
              <a:ext uri="{FF2B5EF4-FFF2-40B4-BE49-F238E27FC236}">
                <a16:creationId xmlns:a16="http://schemas.microsoft.com/office/drawing/2014/main" id="{FFC30236-9900-4D58-9A37-4A651E5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局部实验形成阶段成果（阶段判断）</a:t>
            </a:r>
          </a:p>
        </p:txBody>
      </p:sp>
      <p:sp>
        <p:nvSpPr>
          <p:cNvPr id="142" name="p1-p04-boundary">
            <a:extLst xmlns:a="http://schemas.openxmlformats.org/drawingml/2006/main">
              <a:ext uri="{FF2B5EF4-FFF2-40B4-BE49-F238E27FC236}">
                <a16:creationId xmlns:a16="http://schemas.microsoft.com/office/drawing/2014/main" id="{5004B7DE-7E53-4667-BE92-EDD21346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Active POC · 未生产正式化</a:t>
            </a:r>
          </a:p>
          <a:p xmlns:a="http://schemas.openxmlformats.org/drawingml/2006/main">
            <a:pPr algn="l"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不替代 relation-first 正式主链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title">
            <a:extLst xmlns:a="http://schemas.openxmlformats.org/drawingml/2006/main"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方案一：锚定后 Segment 安全替换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T06 规则 POC 已确定当前算法上限；P05 神经网络尝试尚未形成可发布模型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2-t06-label">
            <a:extLst xmlns:a="http://schemas.openxmlformats.org/drawingml/2006/main">
              <a:ext uri="{FF2B5EF4-FFF2-40B4-BE49-F238E27FC236}">
                <a16:creationId xmlns:a16="http://schemas.microsoft.com/office/drawing/2014/main" id="{8F934F36-D63D-402F-8C37-F711CF7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T06｜规则替换主链</a:t>
            </a:r>
          </a:p>
        </p:txBody>
      </p:sp>
      <p:sp>
        <p:nvSpPr>
          <p:cNvPr id="5" name="p2-stage-number-1">
            <a:extLst xmlns:a="http://schemas.openxmlformats.org/drawingml/2006/main">
              <a:ext uri="{FF2B5EF4-FFF2-40B4-BE49-F238E27FC236}">
                <a16:creationId xmlns:a16="http://schemas.microsoft.com/office/drawing/2014/main" id="{066A0513-6B17-4319-90B6-A45E28F9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2-stage-rule-1">
            <a:extLst xmlns:a="http://schemas.openxmlformats.org/drawingml/2006/main">
              <a:ext uri="{FF2B5EF4-FFF2-40B4-BE49-F238E27FC236}">
                <a16:creationId xmlns:a16="http://schemas.microsoft.com/office/drawing/2014/main" id="{A78C4D84-946E-4C1D-9440-E6369CE5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828800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p2-stage-title-1">
            <a:extLst xmlns:a="http://schemas.openxmlformats.org/drawingml/2006/main">
              <a:ext uri="{FF2B5EF4-FFF2-40B4-BE49-F238E27FC236}">
                <a16:creationId xmlns:a16="http://schemas.microsoft.com/office/drawing/2014/main" id="{C5D45AC6-1D5C-4777-9156-46611AE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已锚定 relation</a:t>
            </a:r>
          </a:p>
        </p:txBody>
      </p:sp>
      <p:sp>
        <p:nvSpPr>
          <p:cNvPr id="8" name="p2-stage-copy-1">
            <a:extLst xmlns:a="http://schemas.openxmlformats.org/drawingml/2006/main">
              <a:ext uri="{FF2B5EF4-FFF2-40B4-BE49-F238E27FC236}">
                <a16:creationId xmlns:a16="http://schemas.microsoft.com/office/drawing/2014/main" id="{469FF9A9-B16C-403A-999D-F5D02026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533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T01 Segment +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T05 relation</a:t>
            </a:r>
          </a:p>
        </p:txBody>
      </p:sp>
      <p:sp>
        <p:nvSpPr>
          <p:cNvPr id="9" name="p2-stage-arrow-1-shaft">
            <a:extLst xmlns:a="http://schemas.openxmlformats.org/drawingml/2006/main">
              <a:ext uri="{FF2B5EF4-FFF2-40B4-BE49-F238E27FC236}">
                <a16:creationId xmlns:a16="http://schemas.microsoft.com/office/drawing/2014/main" id="{31E9B0E2-8269-41AD-95FC-A48DE8CE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215265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" name="p2-stage-arrow-1-head">
            <a:extLst xmlns:a="http://schemas.openxmlformats.org/drawingml/2006/main">
              <a:ext uri="{FF2B5EF4-FFF2-40B4-BE49-F238E27FC236}">
                <a16:creationId xmlns:a16="http://schemas.microsoft.com/office/drawing/2014/main" id="{CD8863C4-E09F-471C-894A-203FD54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p2-stage-number-2">
            <a:extLst xmlns:a="http://schemas.openxmlformats.org/drawingml/2006/main">
              <a:ext uri="{FF2B5EF4-FFF2-40B4-BE49-F238E27FC236}">
                <a16:creationId xmlns:a16="http://schemas.microsoft.com/office/drawing/2014/main" id="{46148797-59A6-4011-B533-602966F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5257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2-stage-rule-2">
            <a:extLst xmlns:a="http://schemas.openxmlformats.org/drawingml/2006/main">
              <a:ext uri="{FF2B5EF4-FFF2-40B4-BE49-F238E27FC236}">
                <a16:creationId xmlns:a16="http://schemas.microsoft.com/office/drawing/2014/main" id="{14022656-C88C-47E7-A57D-0691EA4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7925" y="1828800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p2-stage-title-2">
            <a:extLst xmlns:a="http://schemas.openxmlformats.org/drawingml/2006/main">
              <a:ext uri="{FF2B5EF4-FFF2-40B4-BE49-F238E27FC236}">
                <a16:creationId xmlns:a16="http://schemas.microsoft.com/office/drawing/2014/main" id="{88C63712-605C-41C8-8E43-1FE84E5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526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可替换性门禁</a:t>
            </a:r>
          </a:p>
        </p:txBody>
      </p:sp>
      <p:sp>
        <p:nvSpPr>
          <p:cNvPr id="14" name="p2-stage-copy-2">
            <a:extLst xmlns:a="http://schemas.openxmlformats.org/drawingml/2006/main">
              <a:ext uri="{FF2B5EF4-FFF2-40B4-BE49-F238E27FC236}">
                <a16:creationId xmlns:a16="http://schemas.microsoft.com/office/drawing/2014/main" id="{A7AC54FA-465E-4CC8-B130-263B901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90775"/>
            <a:ext cx="1533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判断 RCSD Segment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是否可被 SWSD 替换</a:t>
            </a:r>
          </a:p>
        </p:txBody>
      </p:sp>
      <p:sp>
        <p:nvSpPr>
          <p:cNvPr id="15" name="p2-stage-arrow-2-shaft">
            <a:extLst xmlns:a="http://schemas.openxmlformats.org/drawingml/2006/main">
              <a:ext uri="{FF2B5EF4-FFF2-40B4-BE49-F238E27FC236}">
                <a16:creationId xmlns:a16="http://schemas.microsoft.com/office/drawing/2014/main" id="{C6D2BCEB-980D-4272-B915-660C6E60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9075" y="215265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6" name="p2-stage-arrow-2-head">
            <a:extLst xmlns:a="http://schemas.openxmlformats.org/drawingml/2006/main">
              <a:ext uri="{FF2B5EF4-FFF2-40B4-BE49-F238E27FC236}">
                <a16:creationId xmlns:a16="http://schemas.microsoft.com/office/drawing/2014/main" id="{541C9EBE-7E8F-42D0-BD99-7D7CD11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p2-stage-number-3">
            <a:extLst xmlns:a="http://schemas.openxmlformats.org/drawingml/2006/main">
              <a:ext uri="{FF2B5EF4-FFF2-40B4-BE49-F238E27FC236}">
                <a16:creationId xmlns:a16="http://schemas.microsoft.com/office/drawing/2014/main" id="{9DA7AA5C-A81B-496B-ACB4-0942E2D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525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p2-stage-rule-3">
            <a:extLst xmlns:a="http://schemas.openxmlformats.org/drawingml/2006/main">
              <a:ext uri="{FF2B5EF4-FFF2-40B4-BE49-F238E27FC236}">
                <a16:creationId xmlns:a16="http://schemas.microsoft.com/office/drawing/2014/main" id="{0BBF03E0-1B72-4B7C-9F0E-15459E4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24350" y="1828800"/>
            <a:ext cx="1647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9" name="p2-stage-title-3">
            <a:extLst xmlns:a="http://schemas.openxmlformats.org/drawingml/2006/main">
              <a:ext uri="{FF2B5EF4-FFF2-40B4-BE49-F238E27FC236}">
                <a16:creationId xmlns:a16="http://schemas.microsoft.com/office/drawing/2014/main" id="{19F9F99F-2E87-4C43-8918-3DA9C56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replacement plan</a:t>
            </a:r>
          </a:p>
        </p:txBody>
      </p:sp>
      <p:sp>
        <p:nvSpPr>
          <p:cNvPr id="20" name="p2-stage-copy-3">
            <a:extLst xmlns:a="http://schemas.openxmlformats.org/drawingml/2006/main">
              <a:ext uri="{FF2B5EF4-FFF2-40B4-BE49-F238E27FC236}">
                <a16:creationId xmlns:a16="http://schemas.microsoft.com/office/drawing/2014/main" id="{EA8D1F5D-8F64-485E-AF20-41440E6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输出可审计的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替换计划</a:t>
            </a:r>
          </a:p>
        </p:txBody>
      </p:sp>
      <p:sp>
        <p:nvSpPr>
          <p:cNvPr id="21" name="p2-stage-arrow-3-shaft">
            <a:extLst xmlns:a="http://schemas.openxmlformats.org/drawingml/2006/main">
              <a:ext uri="{FF2B5EF4-FFF2-40B4-BE49-F238E27FC236}">
                <a16:creationId xmlns:a16="http://schemas.microsoft.com/office/drawing/2014/main" id="{31761DFA-D5EF-40F5-94E8-6A98E4AF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9800" y="21526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2" name="p2-stage-arrow-3-head">
            <a:extLst xmlns:a="http://schemas.openxmlformats.org/drawingml/2006/main">
              <a:ext uri="{FF2B5EF4-FFF2-40B4-BE49-F238E27FC236}">
                <a16:creationId xmlns:a16="http://schemas.microsoft.com/office/drawing/2014/main" id="{BFF56F14-2609-4E8F-BF99-048825BB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p2-stage-number-4">
            <a:extLst xmlns:a="http://schemas.openxmlformats.org/drawingml/2006/main">
              <a:ext uri="{FF2B5EF4-FFF2-40B4-BE49-F238E27FC236}">
                <a16:creationId xmlns:a16="http://schemas.microsoft.com/office/drawing/2014/main" id="{55EABAC5-65BC-4304-B7E1-599C9445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2-stage-rule-4">
            <a:extLst xmlns:a="http://schemas.openxmlformats.org/drawingml/2006/main">
              <a:ext uri="{FF2B5EF4-FFF2-40B4-BE49-F238E27FC236}">
                <a16:creationId xmlns:a16="http://schemas.microsoft.com/office/drawing/2014/main" id="{B8157ED6-D5CD-4E2C-B89C-4CE06C4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00775" y="1828800"/>
            <a:ext cx="1609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5" name="p2-stage-title-4">
            <a:extLst xmlns:a="http://schemas.openxmlformats.org/drawingml/2006/main">
              <a:ext uri="{FF2B5EF4-FFF2-40B4-BE49-F238E27FC236}">
                <a16:creationId xmlns:a16="http://schemas.microsoft.com/office/drawing/2014/main" id="{56FD96CF-4E48-411C-A32B-1FC5E5E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F-RCSD 输出</a:t>
            </a:r>
          </a:p>
        </p:txBody>
      </p:sp>
      <p:sp>
        <p:nvSpPr>
          <p:cNvPr id="26" name="p2-stage-copy-4">
            <a:extLst xmlns:a="http://schemas.openxmlformats.org/drawingml/2006/main">
              <a:ext uri="{FF2B5EF4-FFF2-40B4-BE49-F238E27FC236}">
                <a16:creationId xmlns:a16="http://schemas.microsoft.com/office/drawing/2014/main" id="{881E852D-3870-452E-B8F4-BE4D60F1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90775"/>
            <a:ext cx="1609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Step3 生成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最终 Road / Node</a:t>
            </a:r>
          </a:p>
        </p:txBody>
      </p:sp>
      <p:sp>
        <p:nvSpPr>
          <p:cNvPr id="27" name="p2-t06-exact-copy">
            <a:extLst xmlns:a="http://schemas.openxmlformats.org/drawingml/2006/main">
              <a:ext uri="{FF2B5EF4-FFF2-40B4-BE49-F238E27FC236}">
                <a16:creationId xmlns:a16="http://schemas.microsoft.com/office/drawing/2014/main" id="{D7429D12-24A4-481C-969E-829965EB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T06 消费 T01 Segment 与 T05 relation，判断 RCSD Segment 是否可被 SWSD 替换；输出 replacement plan，并在 Step3 生成 F-RCSD Road / Node。</a:t>
            </a:r>
          </a:p>
        </p:txBody>
      </p:sp>
      <p:sp>
        <p:nvSpPr>
          <p:cNvPr id="28" name="p2-evidence-label">
            <a:extLst xmlns:a="http://schemas.openxmlformats.org/drawingml/2006/main">
              <a:ext uri="{FF2B5EF4-FFF2-40B4-BE49-F238E27FC236}">
                <a16:creationId xmlns:a16="http://schemas.microsoft.com/office/drawing/2014/main" id="{86F6ABE6-92B6-4494-9954-94824AE3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668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现实锚定证据</a:t>
            </a:r>
          </a:p>
        </p:txBody>
      </p:sp>
      <p:sp>
        <p:nvSpPr>
          <p:cNvPr id="29" name="p2-evidence-frame">
            <a:extLst xmlns:a="http://schemas.openxmlformats.org/drawingml/2006/main">
              <a:ext uri="{FF2B5EF4-FFF2-40B4-BE49-F238E27FC236}">
                <a16:creationId xmlns:a16="http://schemas.microsoft.com/office/drawing/2014/main" id="{F75DA5A8-55A8-4F84-982D-DBFE274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52575"/>
            <a:ext cx="3333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0" name="p2-evidence-accent">
            <a:extLst xmlns:a="http://schemas.openxmlformats.org/drawingml/2006/main">
              <a:ext uri="{FF2B5EF4-FFF2-40B4-BE49-F238E27FC236}">
                <a16:creationId xmlns:a16="http://schemas.microsoft.com/office/drawing/2014/main" id="{999D22FA-ECC0-4B38-B3A7-F0FEBB7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1552575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1ef8fa97a4c36"/>
          <a:stretch xmlns:a="http://schemas.openxmlformats.org/drawingml/2006/main"/>
        </p:blipFill>
        <p:spPr>
          <a:xfrm xmlns:a="http://schemas.openxmlformats.org/drawingml/2006/main">
            <a:off x="8172450" y="1676995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32" name="p2-section-divider">
            <a:extLst xmlns:a="http://schemas.openxmlformats.org/drawingml/2006/main">
              <a:ext uri="{FF2B5EF4-FFF2-40B4-BE49-F238E27FC236}">
                <a16:creationId xmlns:a16="http://schemas.microsoft.com/office/drawing/2014/main" id="{BCE442BB-F306-4B4E-8717-F0D8529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82905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p2-p05-label">
            <a:extLst xmlns:a="http://schemas.openxmlformats.org/drawingml/2006/main">
              <a:ext uri="{FF2B5EF4-FFF2-40B4-BE49-F238E27FC236}">
                <a16:creationId xmlns:a16="http://schemas.microsoft.com/office/drawing/2014/main" id="{DF9243EE-A145-42C0-A612-7F98022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P05｜神经网络尝试</a:t>
            </a:r>
          </a:p>
        </p:txBody>
      </p:sp>
      <p:sp>
        <p:nvSpPr>
          <p:cNvPr id="34" name="p2-p05-accent">
            <a:extLst xmlns:a="http://schemas.openxmlformats.org/drawingml/2006/main">
              <a:ext uri="{FF2B5EF4-FFF2-40B4-BE49-F238E27FC236}">
                <a16:creationId xmlns:a16="http://schemas.microsoft.com/office/drawing/2014/main" id="{3CE97929-66CC-4060-808F-35BA7EF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p2-p05-status">
            <a:extLst xmlns:a="http://schemas.openxmlformats.org/drawingml/2006/main">
              <a:ext uri="{FF2B5EF4-FFF2-40B4-BE49-F238E27FC236}">
                <a16:creationId xmlns:a16="http://schemas.microsoft.com/office/drawing/2014/main" id="{EEAB1F6F-1B3F-4ECD-A351-945EE3F1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NO-GO</a:t>
            </a:r>
          </a:p>
        </p:txBody>
      </p:sp>
      <p:sp>
        <p:nvSpPr>
          <p:cNvPr id="36" name="p2-p05-summary">
            <a:extLst xmlns:a="http://schemas.openxmlformats.org/drawingml/2006/main">
              <a:ext uri="{FF2B5EF4-FFF2-40B4-BE49-F238E27FC236}">
                <a16:creationId xmlns:a16="http://schemas.microsoft.com/office/drawing/2014/main" id="{E2E14D9B-BA8E-4BBE-AF31-F4C9967E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053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冻结骨架，仅训练 carrier 选择；当前模型 NO-GO。</a:t>
            </a:r>
          </a:p>
        </p:txBody>
      </p:sp>
      <p:sp>
        <p:nvSpPr>
          <p:cNvPr id="37" name="p2-p05-boundary">
            <a:extLst xmlns:a="http://schemas.openxmlformats.org/drawingml/2006/main">
              <a:ext uri="{FF2B5EF4-FFF2-40B4-BE49-F238E27FC236}">
                <a16:creationId xmlns:a16="http://schemas.microsoft.com/office/drawing/2014/main" id="{352174ED-F2E9-466E-BF55-7231595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645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P05 冻结 Junction–Segment 骨架训练 carrier 选择，当前模型 NO-GO。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神经网络尝试尚未成功，不代表神经网络整体不适用。</a:t>
            </a:r>
          </a:p>
        </p:txBody>
      </p:sp>
      <p:sp>
        <p:nvSpPr>
          <p:cNvPr id="38" name="p2-p05-divider">
            <a:extLst xmlns:a="http://schemas.openxmlformats.org/drawingml/2006/main">
              <a:ext uri="{FF2B5EF4-FFF2-40B4-BE49-F238E27FC236}">
                <a16:creationId xmlns:a16="http://schemas.microsoft.com/office/drawing/2014/main" id="{F0B37FB7-BF9F-443D-808B-A1D30C4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2850" y="4314825"/>
            <a:ext cx="952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9" name="p2-p05-locked-label">
            <a:extLst xmlns:a="http://schemas.openxmlformats.org/drawingml/2006/main">
              <a:ext uri="{FF2B5EF4-FFF2-40B4-BE49-F238E27FC236}">
                <a16:creationId xmlns:a16="http://schemas.microsoft.com/office/drawing/2014/main" id="{E7D2EAF0-23EC-4E32-A7F5-FDF98D7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约束边界</a:t>
            </a:r>
          </a:p>
        </p:txBody>
      </p:sp>
      <p:sp>
        <p:nvSpPr>
          <p:cNvPr id="40" name="p2-p05-locked">
            <a:extLst xmlns:a="http://schemas.openxmlformats.org/drawingml/2006/main">
              <a:ext uri="{FF2B5EF4-FFF2-40B4-BE49-F238E27FC236}">
                <a16:creationId xmlns:a16="http://schemas.microsoft.com/office/drawing/2014/main" id="{275E9D4D-7545-427A-B1BF-A2C744E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9582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P05 不得改写既定 Junction–Segment 业务骨架。</a:t>
            </a:r>
          </a:p>
        </p:txBody>
      </p:sp>
      <p:sp>
        <p:nvSpPr>
          <p:cNvPr id="41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C679197B-0A73-4383-9E61-8A5E1E4F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2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3BA7D4F2-13CF-45AE-92CD-06AD3A3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3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FF862832-64DE-4E28-BBE8-3BB3309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44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75219812-3933-44CF-8D3A-7937C4F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 POC 已完成，确定当前算法上限。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T12 对路口、路段、方向与连通执行只读审计，具备短期上线潜力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3-input-label">
            <a:extLst xmlns:a="http://schemas.openxmlformats.org/drawingml/2006/main">
              <a:ext uri="{FF2B5EF4-FFF2-40B4-BE49-F238E27FC236}">
                <a16:creationId xmlns:a16="http://schemas.microsoft.com/office/drawing/2014/main" id="{B6AA7386-B42F-43F1-8C8D-BD2D401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5" name="p3-left-accent">
            <a:extLst xmlns:a="http://schemas.openxmlformats.org/drawingml/2006/main">
              <a:ext uri="{FF2B5EF4-FFF2-40B4-BE49-F238E27FC236}">
                <a16:creationId xmlns:a16="http://schemas.microsoft.com/office/drawing/2014/main" id="{25E03C60-7599-4ABB-A23B-158F931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562100"/>
            <a:ext cx="9525" cy="3400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6" name="p3-input-heading">
            <a:extLst xmlns:a="http://schemas.openxmlformats.org/drawingml/2006/main">
              <a:ext uri="{FF2B5EF4-FFF2-40B4-BE49-F238E27FC236}">
                <a16:creationId xmlns:a16="http://schemas.microsoft.com/office/drawing/2014/main" id="{D1D17B1E-102D-4560-B663-E7E94A3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 1V1 FRCSD Road/Node</a:t>
            </a:r>
          </a:p>
        </p:txBody>
      </p:sp>
      <p:sp>
        <p:nvSpPr>
          <p:cNvPr id="7" name="p3-input-copy">
            <a:extLst xmlns:a="http://schemas.openxmlformats.org/drawingml/2006/main">
              <a:ext uri="{FF2B5EF4-FFF2-40B4-BE49-F238E27FC236}">
                <a16:creationId xmlns:a16="http://schemas.microsoft.com/office/drawing/2014/main" id="{9ACA8BAF-B549-4A9B-9A19-70BC39D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T12 以 SWSD 语义拓扑为质量要求，检查发布的一层、二层路网。</a:t>
            </a:r>
          </a:p>
        </p:txBody>
      </p:sp>
      <p:sp>
        <p:nvSpPr>
          <p:cNvPr id="8" name="p3-input-divider">
            <a:extLst xmlns:a="http://schemas.openxmlformats.org/drawingml/2006/main">
              <a:ext uri="{FF2B5EF4-FFF2-40B4-BE49-F238E27FC236}">
                <a16:creationId xmlns:a16="http://schemas.microsoft.com/office/drawing/2014/main" id="{38CC38A5-AC99-42DD-BAE8-39D5AD65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" y="29718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9" name="p3-rule-heading">
            <a:extLst xmlns:a="http://schemas.openxmlformats.org/drawingml/2006/main">
              <a:ext uri="{FF2B5EF4-FFF2-40B4-BE49-F238E27FC236}">
                <a16:creationId xmlns:a16="http://schemas.microsoft.com/office/drawing/2014/main" id="{AC20C561-932E-4425-8833-4B022AC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Junction–Segment 基线</a:t>
            </a:r>
          </a:p>
        </p:txBody>
      </p:sp>
      <p:sp>
        <p:nvSpPr>
          <p:cNvPr id="10" name="p3-rule-copy">
            <a:extLst xmlns:a="http://schemas.openxmlformats.org/drawingml/2006/main">
              <a:ext uri="{FF2B5EF4-FFF2-40B4-BE49-F238E27FC236}">
                <a16:creationId xmlns:a16="http://schemas.microsoft.com/office/drawing/2014/main" id="{5F3C9C3A-6D52-4E85-9BDA-765ADC5E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38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审计对象包括 Junction、Segment、必需方向、连通与异常反向通行。</a:t>
            </a:r>
          </a:p>
        </p:txBody>
      </p:sp>
      <p:sp>
        <p:nvSpPr>
          <p:cNvPr id="11" name="p3-rule-foot">
            <a:extLst xmlns:a="http://schemas.openxmlformats.org/drawingml/2006/main">
              <a:ext uri="{FF2B5EF4-FFF2-40B4-BE49-F238E27FC236}">
                <a16:creationId xmlns:a16="http://schemas.microsoft.com/office/drawing/2014/main" id="{3E0DCD20-916A-4D05-952F-0562E5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输入  →  检查</a:t>
            </a:r>
          </a:p>
        </p:txBody>
      </p:sp>
      <p:sp>
        <p:nvSpPr>
          <p:cNvPr id="12" name="p3-arrow-left-to-evidence-shaft">
            <a:extLst xmlns:a="http://schemas.openxmlformats.org/drawingml/2006/main">
              <a:ext uri="{FF2B5EF4-FFF2-40B4-BE49-F238E27FC236}">
                <a16:creationId xmlns:a16="http://schemas.microsoft.com/office/drawing/2014/main" id="{B9C8EF64-F020-452A-8986-87D7D01A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3267075"/>
            <a:ext cx="76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3" name="p3-arrow-left-to-evidence-head">
            <a:extLst xmlns:a="http://schemas.openxmlformats.org/drawingml/2006/main">
              <a:ext uri="{FF2B5EF4-FFF2-40B4-BE49-F238E27FC236}">
                <a16:creationId xmlns:a16="http://schemas.microsoft.com/office/drawing/2014/main" id="{9137D4F8-A40D-4813-AAC9-EA47409B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765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p3-evidence-label">
            <a:extLst xmlns:a="http://schemas.openxmlformats.org/drawingml/2006/main">
              <a:ext uri="{FF2B5EF4-FFF2-40B4-BE49-F238E27FC236}">
                <a16:creationId xmlns:a16="http://schemas.microsoft.com/office/drawing/2014/main" id="{36419CDD-476B-465F-9F72-213CAEC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266825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 QA 案例</a:t>
            </a:r>
          </a:p>
        </p:txBody>
      </p:sp>
      <p:sp>
        <p:nvSpPr>
          <p:cNvPr id="15" name="p3-evidence-frame">
            <a:extLst xmlns:a="http://schemas.openxmlformats.org/drawingml/2006/main">
              <a:ext uri="{FF2B5EF4-FFF2-40B4-BE49-F238E27FC236}">
                <a16:creationId xmlns:a16="http://schemas.microsoft.com/office/drawing/2014/main" id="{CAE9BF5D-EC30-4052-977F-294C4AA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52575"/>
            <a:ext cx="39624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p3-evidence-accent">
            <a:extLst xmlns:a="http://schemas.openxmlformats.org/drawingml/2006/main">
              <a:ext uri="{FF2B5EF4-FFF2-40B4-BE49-F238E27FC236}">
                <a16:creationId xmlns:a16="http://schemas.microsoft.com/office/drawing/2014/main" id="{CBF608E0-9D23-4BCE-9644-C102F2B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1552575"/>
            <a:ext cx="396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d6cd792604147"/>
          <a:stretch xmlns:a="http://schemas.openxmlformats.org/drawingml/2006/main"/>
        </p:blipFill>
        <p:spPr>
          <a:xfrm xmlns:a="http://schemas.openxmlformats.org/drawingml/2006/main">
            <a:off x="3924300" y="1987153"/>
            <a:ext cx="3771900" cy="2121694"/>
          </a:xfrm>
          <a:prstGeom xmlns:a="http://schemas.openxmlformats.org/drawingml/2006/main" prst="rect">
            <a:avLst/>
          </a:prstGeom>
        </p:spPr>
      </p:pic>
      <p:sp>
        <p:nvSpPr>
          <p:cNvPr id="18" name="p3-evidence-flow">
            <a:extLst xmlns:a="http://schemas.openxmlformats.org/drawingml/2006/main">
              <a:ext uri="{FF2B5EF4-FFF2-40B4-BE49-F238E27FC236}">
                <a16:creationId xmlns:a16="http://schemas.microsoft.com/office/drawing/2014/main" id="{BE071AF0-EB3E-4B66-B1CB-ED3DCC8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57725"/>
            <a:ext cx="396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检查  →  空间证据  →  结论</a:t>
            </a:r>
          </a:p>
        </p:txBody>
      </p:sp>
      <p:sp>
        <p:nvSpPr>
          <p:cNvPr id="19" name="p3-arrow-evidence-to-output-shaft">
            <a:extLst xmlns:a="http://schemas.openxmlformats.org/drawingml/2006/main">
              <a:ext uri="{FF2B5EF4-FFF2-40B4-BE49-F238E27FC236}">
                <a16:creationId xmlns:a16="http://schemas.microsoft.com/office/drawing/2014/main" id="{D9ADA8E3-8477-42A0-BEE3-CCDB3DC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15275" y="32670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0" name="p3-arrow-evidence-to-output-head">
            <a:extLst xmlns:a="http://schemas.openxmlformats.org/drawingml/2006/main">
              <a:ext uri="{FF2B5EF4-FFF2-40B4-BE49-F238E27FC236}">
                <a16:creationId xmlns:a16="http://schemas.microsoft.com/office/drawing/2014/main" id="{6E35304F-CC03-49B4-85EB-9684027D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p3-output-label">
            <a:extLst xmlns:a="http://schemas.openxmlformats.org/drawingml/2006/main">
              <a:ext uri="{FF2B5EF4-FFF2-40B4-BE49-F238E27FC236}">
                <a16:creationId xmlns:a16="http://schemas.microsoft.com/office/drawing/2014/main" id="{BAFE9770-3C0E-46E5-97EC-E3C4145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668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22" name="p3-output-heading">
            <a:extLst xmlns:a="http://schemas.openxmlformats.org/drawingml/2006/main">
              <a:ext uri="{FF2B5EF4-FFF2-40B4-BE49-F238E27FC236}">
                <a16:creationId xmlns:a16="http://schemas.microsoft.com/office/drawing/2014/main" id="{84C655D7-3BA0-496E-BDA0-1E6F28B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97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23" name="p3-output-copy">
            <a:extLst xmlns:a="http://schemas.openxmlformats.org/drawingml/2006/main">
              <a:ext uri="{FF2B5EF4-FFF2-40B4-BE49-F238E27FC236}">
                <a16:creationId xmlns:a16="http://schemas.microsoft.com/office/drawing/2014/main" id="{03D65AD4-BA1A-4845-B125-CE7B85C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9775"/>
            <a:ext cx="3009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输出独立的候选、确认、排除和空间证据，输入、参数与结论可追溯。</a:t>
            </a:r>
          </a:p>
        </p:txBody>
      </p:sp>
      <p:sp>
        <p:nvSpPr>
          <p:cNvPr id="24" name="p3-output-divider">
            <a:extLst xmlns:a="http://schemas.openxmlformats.org/drawingml/2006/main">
              <a:ext uri="{FF2B5EF4-FFF2-40B4-BE49-F238E27FC236}">
                <a16:creationId xmlns:a16="http://schemas.microsoft.com/office/drawing/2014/main" id="{12B7DC02-D902-4741-9391-DA95BB1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0100" y="2952750"/>
            <a:ext cx="300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5" name="p3-boundary-heading">
            <a:extLst xmlns:a="http://schemas.openxmlformats.org/drawingml/2006/main">
              <a:ext uri="{FF2B5EF4-FFF2-40B4-BE49-F238E27FC236}">
                <a16:creationId xmlns:a16="http://schemas.microsoft.com/office/drawing/2014/main" id="{21319B43-C108-44B1-BAA7-856BF54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26" name="p3-boundary-copy">
            <a:extLst xmlns:a="http://schemas.openxmlformats.org/drawingml/2006/main">
              <a:ext uri="{FF2B5EF4-FFF2-40B4-BE49-F238E27FC236}">
                <a16:creationId xmlns:a16="http://schemas.microsoft.com/office/drawing/2014/main" id="{7C71D79F-BE19-49D9-85DA-34D01CC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52825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27" name="p3-output-foot">
            <a:extLst xmlns:a="http://schemas.openxmlformats.org/drawingml/2006/main">
              <a:ext uri="{FF2B5EF4-FFF2-40B4-BE49-F238E27FC236}">
                <a16:creationId xmlns:a16="http://schemas.microsoft.com/office/drawing/2014/main" id="{48954B34-ABF2-492F-B74B-62E48C5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815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输出  →  业务处置</a:t>
            </a:r>
          </a:p>
        </p:txBody>
      </p:sp>
      <p:sp>
        <p:nvSpPr>
          <p:cNvPr id="28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0C8734CE-3CD0-4F72-9FB8-E4827D2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9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04AAD728-EE02-4FD7-A9D1-AF8FACA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0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255DBAE-5B1F-4870-9178-847C73E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31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CB036C23-C186-4E95-ACF3-D106E9D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audit-only，不 silent fix，不修改 T06/T07/T09 行为。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 Road / Node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 Junction–Segment 牵引，Patch Vector 提供现实证据，面向 RCSD RoadGraph 直建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04-chain-label">
            <a:extLst xmlns:a="http://schemas.openxmlformats.org/drawingml/2006/main">
              <a:ext uri="{FF2B5EF4-FFF2-40B4-BE49-F238E27FC236}">
                <a16:creationId xmlns:a16="http://schemas.microsoft.com/office/drawing/2014/main" id="{737B8653-08F1-426F-B873-EB429DD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5" name="p04-spine">
            <a:extLst xmlns:a="http://schemas.openxmlformats.org/drawingml/2006/main">
              <a:ext uri="{FF2B5EF4-FFF2-40B4-BE49-F238E27FC236}">
                <a16:creationId xmlns:a16="http://schemas.microsoft.com/office/drawing/2014/main" id="{C17C6C33-41C6-46BF-B2B1-425631E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43075"/>
            <a:ext cx="9525" cy="326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p04-dot-1">
            <a:extLst xmlns:a="http://schemas.openxmlformats.org/drawingml/2006/main">
              <a:ext uri="{FF2B5EF4-FFF2-40B4-BE49-F238E27FC236}">
                <a16:creationId xmlns:a16="http://schemas.microsoft.com/office/drawing/2014/main" id="{01F07A88-8BAE-4478-9B47-9F17420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p04-num-1">
            <a:extLst xmlns:a="http://schemas.openxmlformats.org/drawingml/2006/main">
              <a:ext uri="{FF2B5EF4-FFF2-40B4-BE49-F238E27FC236}">
                <a16:creationId xmlns:a16="http://schemas.microsoft.com/office/drawing/2014/main" id="{592E1C90-117E-4AC7-A17C-EF7F4D5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04-title-1">
            <a:extLst xmlns:a="http://schemas.openxmlformats.org/drawingml/2006/main">
              <a:ext uri="{FF2B5EF4-FFF2-40B4-BE49-F238E27FC236}">
                <a16:creationId xmlns:a16="http://schemas.microsoft.com/office/drawing/2014/main" id="{4C9121A9-4BE1-4E93-B440-8B19F05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5525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9" name="p04-body-1">
            <a:extLst xmlns:a="http://schemas.openxmlformats.org/drawingml/2006/main">
              <a:ext uri="{FF2B5EF4-FFF2-40B4-BE49-F238E27FC236}">
                <a16:creationId xmlns:a16="http://schemas.microsoft.com/office/drawing/2014/main" id="{1FE7D34D-84F8-4C66-820D-997382F7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00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以一层路网中的 Junction–Segment 语义骨架为牵引。</a:t>
            </a:r>
          </a:p>
        </p:txBody>
      </p:sp>
      <p:sp>
        <p:nvSpPr>
          <p:cNvPr id="10" name="p04-dot-2">
            <a:extLst xmlns:a="http://schemas.openxmlformats.org/drawingml/2006/main">
              <a:ext uri="{FF2B5EF4-FFF2-40B4-BE49-F238E27FC236}">
                <a16:creationId xmlns:a16="http://schemas.microsoft.com/office/drawing/2014/main" id="{035AC28E-2B12-48DD-AF30-8E4A2EB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1" name="p04-num-2">
            <a:extLst xmlns:a="http://schemas.openxmlformats.org/drawingml/2006/main">
              <a:ext uri="{FF2B5EF4-FFF2-40B4-BE49-F238E27FC236}">
                <a16:creationId xmlns:a16="http://schemas.microsoft.com/office/drawing/2014/main" id="{39399C1F-4618-4038-A2F4-139DFA2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04-title-2">
            <a:extLst xmlns:a="http://schemas.openxmlformats.org/drawingml/2006/main">
              <a:ext uri="{FF2B5EF4-FFF2-40B4-BE49-F238E27FC236}">
                <a16:creationId xmlns:a16="http://schemas.microsoft.com/office/drawing/2014/main" id="{7A976665-95C5-4490-8F7D-97EABEBD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19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Patch 证据拟合</a:t>
            </a:r>
          </a:p>
        </p:txBody>
      </p:sp>
      <p:sp>
        <p:nvSpPr>
          <p:cNvPr id="13" name="p04-body-2">
            <a:extLst xmlns:a="http://schemas.openxmlformats.org/drawingml/2006/main">
              <a:ext uri="{FF2B5EF4-FFF2-40B4-BE49-F238E27FC236}">
                <a16:creationId xmlns:a16="http://schemas.microsoft.com/office/drawing/2014/main" id="{36B7F640-DE89-406C-81F8-C069CCE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669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Patch Road / Lane / LaneTopo 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Boundary / RoadSurface 为现实证据。</a:t>
            </a:r>
          </a:p>
        </p:txBody>
      </p:sp>
      <p:sp>
        <p:nvSpPr>
          <p:cNvPr id="14" name="p04-dot-3">
            <a:extLst xmlns:a="http://schemas.openxmlformats.org/drawingml/2006/main">
              <a:ext uri="{FF2B5EF4-FFF2-40B4-BE49-F238E27FC236}">
                <a16:creationId xmlns:a16="http://schemas.microsoft.com/office/drawing/2014/main" id="{246D4221-5AD5-4812-8B36-E1B57C7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p04-num-3">
            <a:extLst xmlns:a="http://schemas.openxmlformats.org/drawingml/2006/main">
              <a:ext uri="{FF2B5EF4-FFF2-40B4-BE49-F238E27FC236}">
                <a16:creationId xmlns:a16="http://schemas.microsoft.com/office/drawing/2014/main" id="{4836AF35-8328-4A53-AB72-2F47999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04-title-3">
            <a:extLst xmlns:a="http://schemas.openxmlformats.org/drawingml/2006/main">
              <a:ext uri="{FF2B5EF4-FFF2-40B4-BE49-F238E27FC236}">
                <a16:creationId xmlns:a16="http://schemas.microsoft.com/office/drawing/2014/main" id="{5C9DC4B1-1E22-4CD4-B4AC-5F16434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623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17" name="p04-body-3">
            <a:extLst xmlns:a="http://schemas.openxmlformats.org/drawingml/2006/main">
              <a:ext uri="{FF2B5EF4-FFF2-40B4-BE49-F238E27FC236}">
                <a16:creationId xmlns:a16="http://schemas.microsoft.com/office/drawing/2014/main" id="{2D0A6157-3DED-44EF-9B3C-EFE53C5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99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构建高精 Road / Node / RoadNextRoad，</a:t>
            </a:r>
          </a:p>
        </p:txBody>
      </p:sp>
      <p:sp>
        <p:nvSpPr>
          <p:cNvPr id="18" name="p04-dot-4">
            <a:extLst xmlns:a="http://schemas.openxmlformats.org/drawingml/2006/main">
              <a:ext uri="{FF2B5EF4-FFF2-40B4-BE49-F238E27FC236}">
                <a16:creationId xmlns:a16="http://schemas.microsoft.com/office/drawing/2014/main" id="{E3A0170C-8A1C-43FA-8998-D2100A11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p04-num-4">
            <a:extLst xmlns:a="http://schemas.openxmlformats.org/drawingml/2006/main">
              <a:ext uri="{FF2B5EF4-FFF2-40B4-BE49-F238E27FC236}">
                <a16:creationId xmlns:a16="http://schemas.microsoft.com/office/drawing/2014/main" id="{9F250AFF-F5F0-41AF-84B3-77A52A7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p04-title-4">
            <a:extLst xmlns:a="http://schemas.openxmlformats.org/drawingml/2006/main">
              <a:ext uri="{FF2B5EF4-FFF2-40B4-BE49-F238E27FC236}">
                <a16:creationId xmlns:a16="http://schemas.microsoft.com/office/drawing/2014/main" id="{7C4D2A93-B3A2-44A7-B999-C6102F75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21" name="p04-body-4">
            <a:extLst xmlns:a="http://schemas.openxmlformats.org/drawingml/2006/main">
              <a:ext uri="{FF2B5EF4-FFF2-40B4-BE49-F238E27FC236}">
                <a16:creationId xmlns:a16="http://schemas.microsoft.com/office/drawing/2014/main" id="{DE0817CD-D899-4BCD-A219-BD590CB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并投影为 RCSD RoadGraph 候选。</a:t>
            </a:r>
          </a:p>
        </p:txBody>
      </p:sp>
      <p:sp>
        <p:nvSpPr>
          <p:cNvPr id="22" name="p04-arrow-1-shaft">
            <a:extLst xmlns:a="http://schemas.openxmlformats.org/drawingml/2006/main">
              <a:ext uri="{FF2B5EF4-FFF2-40B4-BE49-F238E27FC236}">
                <a16:creationId xmlns:a16="http://schemas.microsoft.com/office/drawing/2014/main" id="{F255E7C5-96FD-4114-82F4-6F55AE4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09775"/>
            <a:ext cx="952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p04-arrow-1-head">
            <a:extLst xmlns:a="http://schemas.openxmlformats.org/drawingml/2006/main">
              <a:ext uri="{FF2B5EF4-FFF2-40B4-BE49-F238E27FC236}">
                <a16:creationId xmlns:a16="http://schemas.microsoft.com/office/drawing/2014/main" id="{350B61F2-507D-4855-BE17-135044C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p04-arrow-2-shaft">
            <a:extLst xmlns:a="http://schemas.openxmlformats.org/drawingml/2006/main">
              <a:ext uri="{FF2B5EF4-FFF2-40B4-BE49-F238E27FC236}">
                <a16:creationId xmlns:a16="http://schemas.microsoft.com/office/drawing/2014/main" id="{583EC269-EB9A-4BB1-8388-B31AF1B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76550"/>
            <a:ext cx="95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p04-arrow-2-head">
            <a:extLst xmlns:a="http://schemas.openxmlformats.org/drawingml/2006/main">
              <a:ext uri="{FF2B5EF4-FFF2-40B4-BE49-F238E27FC236}">
                <a16:creationId xmlns:a16="http://schemas.microsoft.com/office/drawing/2014/main" id="{B975DFE7-BECE-491F-9341-15BCFC6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p04-arrow-3-shaft">
            <a:extLst xmlns:a="http://schemas.openxmlformats.org/drawingml/2006/main">
              <a:ext uri="{FF2B5EF4-FFF2-40B4-BE49-F238E27FC236}">
                <a16:creationId xmlns:a16="http://schemas.microsoft.com/office/drawing/2014/main" id="{7AF269DE-B62F-423E-BA3D-DFF05CAF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819525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p04-arrow-3-head">
            <a:extLst xmlns:a="http://schemas.openxmlformats.org/drawingml/2006/main">
              <a:ext uri="{FF2B5EF4-FFF2-40B4-BE49-F238E27FC236}">
                <a16:creationId xmlns:a16="http://schemas.microsoft.com/office/drawing/2014/main" id="{F7AF1A7B-3378-4552-8BD7-DEF40FB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p04-evidence-label">
            <a:extLst xmlns:a="http://schemas.openxmlformats.org/drawingml/2006/main">
              <a:ext uri="{FF2B5EF4-FFF2-40B4-BE49-F238E27FC236}">
                <a16:creationId xmlns:a16="http://schemas.microsoft.com/office/drawing/2014/main" id="{5D3A8556-A00A-498D-B67C-CD248AA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66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29" name="p04-evidence-frame">
            <a:extLst xmlns:a="http://schemas.openxmlformats.org/drawingml/2006/main">
              <a:ext uri="{FF2B5EF4-FFF2-40B4-BE49-F238E27FC236}">
                <a16:creationId xmlns:a16="http://schemas.microsoft.com/office/drawing/2014/main" id="{DB201E6C-F598-4556-A7CA-CB301F9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5219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88b15b36d46e4"/>
          <a:stretch xmlns:a="http://schemas.openxmlformats.org/drawingml/2006/main"/>
        </p:blipFill>
        <p:spPr>
          <a:xfrm xmlns:a="http://schemas.openxmlformats.org/drawingml/2006/main">
            <a:off x="6589183" y="16764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31" name="p04-caption-bg">
            <a:extLst xmlns:a="http://schemas.openxmlformats.org/drawingml/2006/main">
              <a:ext uri="{FF2B5EF4-FFF2-40B4-BE49-F238E27FC236}">
                <a16:creationId xmlns:a16="http://schemas.microsoft.com/office/drawing/2014/main" id="{D3C30776-07DC-406B-AF7E-017672E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2" name="p04-caption">
            <a:extLst xmlns:a="http://schemas.openxmlformats.org/drawingml/2006/main">
              <a:ext uri="{FF2B5EF4-FFF2-40B4-BE49-F238E27FC236}">
                <a16:creationId xmlns:a16="http://schemas.microsoft.com/office/drawing/2014/main" id="{C543A0E6-CA93-4F65-A0BE-13B3BB5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局部实验完成，证明 Segment-first 路径可行。</a:t>
            </a:r>
          </a:p>
        </p:txBody>
      </p:sp>
      <p:sp>
        <p:nvSpPr>
          <p:cNvPr id="33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79CE4C80-19FC-42B7-ABEA-8CB6350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5450"/>
            <a:ext cx="11055096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54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0070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 边界</a:t>
            </a:r>
          </a:p>
        </p:txBody>
      </p:sp>
      <p:sp>
        <p:nvSpPr>
          <p:cNvPr id="3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816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P04 是 Active POC，不替代 T01–T12，不宣称生产 F-RCSD。</a:t>
            </a:r>
          </a:p>
        </p:txBody>
      </p:sp>
    </p:spTree>
    <p:extLst>
      <p:ext uri="{BB962C8B-B14F-4D97-AF65-F5344CB8AC3E}">
        <p14:creationId xmlns:p14="http://schemas.microsoft.com/office/powerpoint/2010/main" val="1214607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F0C3B25-7B13-4EA0-B91E-9A14030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 把需求点转译为上下车候选，车端确认当次执行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69004D5-1A6D-41FF-AB31-A806488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技术方案已形成；源稿未提供上线范围、覆盖率、命中率或安全效果数据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A8D4A0-2B0C-47F8-9733-8DA133F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boarding-problem-accent">
            <a:extLst xmlns:a="http://schemas.openxmlformats.org/drawingml/2006/main">
              <a:ext uri="{FF2B5EF4-FFF2-40B4-BE49-F238E27FC236}">
                <a16:creationId xmlns:a16="http://schemas.microsoft.com/office/drawing/2014/main" id="{89CE7B19-D908-462B-AAC1-C924D34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5" name="boarding-problem">
            <a:extLst xmlns:a="http://schemas.openxmlformats.org/drawingml/2006/main">
              <a:ext uri="{FF2B5EF4-FFF2-40B4-BE49-F238E27FC236}">
                <a16:creationId xmlns:a16="http://schemas.microsoft.com/office/drawing/2014/main" id="{4DB0DCCB-274B-4722-B48A-E3EBECB2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需求点不等于可停车点，也不直接等于可候客或可执行位置。</a:t>
            </a:r>
          </a:p>
        </p:txBody>
      </p:sp>
      <p:sp>
        <p:nvSpPr>
          <p:cNvPr id="6" name="boarding-title-1">
            <a:extLst xmlns:a="http://schemas.openxmlformats.org/drawingml/2006/main">
              <a:ext uri="{FF2B5EF4-FFF2-40B4-BE49-F238E27FC236}">
                <a16:creationId xmlns:a16="http://schemas.microsoft.com/office/drawing/2014/main" id="{CEFCF6B3-698F-4E90-B87D-F4F456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需求锚点</a:t>
            </a:r>
          </a:p>
        </p:txBody>
      </p:sp>
      <p:sp>
        <p:nvSpPr>
          <p:cNvPr id="7" name="boarding-node-1">
            <a:extLst xmlns:a="http://schemas.openxmlformats.org/drawingml/2006/main">
              <a:ext uri="{FF2B5EF4-FFF2-40B4-BE49-F238E27FC236}">
                <a16:creationId xmlns:a16="http://schemas.microsoft.com/office/drawing/2014/main" id="{75FB4B22-3D9B-46CF-8723-56D6A4F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8" name="boarding-number-1">
            <a:extLst xmlns:a="http://schemas.openxmlformats.org/drawingml/2006/main">
              <a:ext uri="{FF2B5EF4-FFF2-40B4-BE49-F238E27FC236}">
                <a16:creationId xmlns:a16="http://schemas.microsoft.com/office/drawing/2014/main" id="{92940C24-7EBF-49C5-9633-B5459A8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oarding-body-1">
            <a:extLst xmlns:a="http://schemas.openxmlformats.org/drawingml/2006/main">
              <a:ext uri="{FF2B5EF4-FFF2-40B4-BE49-F238E27FC236}">
                <a16:creationId xmlns:a16="http://schemas.microsoft.com/office/drawing/2014/main" id="{883F24EC-0260-41D3-8FE4-0A879EA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位置语义｜POI / 出入口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步行可达｜园区 / 枢纽语义</a:t>
            </a:r>
          </a:p>
        </p:txBody>
      </p:sp>
      <p:sp>
        <p:nvSpPr>
          <p:cNvPr id="10" name="boarding-title-2">
            <a:extLst xmlns:a="http://schemas.openxmlformats.org/drawingml/2006/main">
              <a:ext uri="{FF2B5EF4-FFF2-40B4-BE49-F238E27FC236}">
                <a16:creationId xmlns:a16="http://schemas.microsoft.com/office/drawing/2014/main" id="{5F787EEC-9A4D-49EE-A07C-19AE263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空间锚定</a:t>
            </a:r>
          </a:p>
        </p:txBody>
      </p:sp>
      <p:sp>
        <p:nvSpPr>
          <p:cNvPr id="11" name="boarding-node-2">
            <a:extLst xmlns:a="http://schemas.openxmlformats.org/drawingml/2006/main">
              <a:ext uri="{FF2B5EF4-FFF2-40B4-BE49-F238E27FC236}">
                <a16:creationId xmlns:a16="http://schemas.microsoft.com/office/drawing/2014/main" id="{26D737D8-1519-46E0-80EE-E7D7AB1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12" name="boarding-number-2">
            <a:extLst xmlns:a="http://schemas.openxmlformats.org/drawingml/2006/main">
              <a:ext uri="{FF2B5EF4-FFF2-40B4-BE49-F238E27FC236}">
                <a16:creationId xmlns:a16="http://schemas.microsoft.com/office/drawing/2014/main" id="{018D4A1E-99DA-496C-BEE7-7787D29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boarding-body-2">
            <a:extLst xmlns:a="http://schemas.openxmlformats.org/drawingml/2006/main">
              <a:ext uri="{FF2B5EF4-FFF2-40B4-BE49-F238E27FC236}">
                <a16:creationId xmlns:a16="http://schemas.microsoft.com/office/drawing/2014/main" id="{27096546-7FD5-4B40-A64D-863DCA8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Road / Segment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方向 × 侧别 × 局部区间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枢纽补充入口与停车设施</a:t>
            </a:r>
          </a:p>
        </p:txBody>
      </p:sp>
      <p:sp>
        <p:nvSpPr>
          <p:cNvPr id="14" name="boarding-title-3">
            <a:extLst xmlns:a="http://schemas.openxmlformats.org/drawingml/2006/main">
              <a:ext uri="{FF2B5EF4-FFF2-40B4-BE49-F238E27FC236}">
                <a16:creationId xmlns:a16="http://schemas.microsoft.com/office/drawing/2014/main" id="{5CC1BB47-FDEF-4A4C-8428-17E2F6B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静态权限合成</a:t>
            </a:r>
          </a:p>
        </p:txBody>
      </p:sp>
      <p:sp>
        <p:nvSpPr>
          <p:cNvPr id="15" name="boarding-node-3">
            <a:extLst xmlns:a="http://schemas.openxmlformats.org/drawingml/2006/main">
              <a:ext uri="{FF2B5EF4-FFF2-40B4-BE49-F238E27FC236}">
                <a16:creationId xmlns:a16="http://schemas.microsoft.com/office/drawing/2014/main" id="{24598F62-B466-4162-903E-F3E71CF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6" name="boarding-number-3">
            <a:extLst xmlns:a="http://schemas.openxmlformats.org/drawingml/2006/main">
              <a:ext uri="{FF2B5EF4-FFF2-40B4-BE49-F238E27FC236}">
                <a16:creationId xmlns:a16="http://schemas.microsoft.com/office/drawing/2014/main" id="{C63CCA0E-D74C-4A12-9838-85EF4B4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boarding-body-3">
            <a:extLst xmlns:a="http://schemas.openxmlformats.org/drawingml/2006/main">
              <a:ext uri="{FF2B5EF4-FFF2-40B4-BE49-F238E27FC236}">
                <a16:creationId xmlns:a16="http://schemas.microsoft.com/office/drawing/2014/main" id="{8A6A06A2-3420-4665-9235-9718223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道路停靠属性＋空间控制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禁止停车 ＞ 即停即走 ＞ 临停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按最严格结果合并</a:t>
            </a:r>
          </a:p>
        </p:txBody>
      </p:sp>
      <p:sp>
        <p:nvSpPr>
          <p:cNvPr id="18" name="boarding-title-4">
            <a:extLst xmlns:a="http://schemas.openxmlformats.org/drawingml/2006/main">
              <a:ext uri="{FF2B5EF4-FFF2-40B4-BE49-F238E27FC236}">
                <a16:creationId xmlns:a16="http://schemas.microsoft.com/office/drawing/2014/main" id="{DE3901F1-B306-4EAB-A401-6870966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车端当次执行</a:t>
            </a:r>
          </a:p>
        </p:txBody>
      </p:sp>
      <p:sp>
        <p:nvSpPr>
          <p:cNvPr id="19" name="boarding-node-4">
            <a:extLst xmlns:a="http://schemas.openxmlformats.org/drawingml/2006/main">
              <a:ext uri="{FF2B5EF4-FFF2-40B4-BE49-F238E27FC236}">
                <a16:creationId xmlns:a16="http://schemas.microsoft.com/office/drawing/2014/main" id="{E2750F7E-5650-4CD8-9325-7E8C3DD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20" name="boarding-number-4">
            <a:extLst xmlns:a="http://schemas.openxmlformats.org/drawingml/2006/main">
              <a:ext uri="{FF2B5EF4-FFF2-40B4-BE49-F238E27FC236}">
                <a16:creationId xmlns:a16="http://schemas.microsoft.com/office/drawing/2014/main" id="{A09DB789-7868-456A-B475-5184B2D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boarding-body-4">
            <a:extLst xmlns:a="http://schemas.openxmlformats.org/drawingml/2006/main">
              <a:ext uri="{FF2B5EF4-FFF2-40B4-BE49-F238E27FC236}">
                <a16:creationId xmlns:a16="http://schemas.microsoft.com/office/drawing/2014/main" id="{E0A85CA5-F522-4897-B699-32BECE4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候选前筛选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 / 开门前再次复核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执行｜重选｜改点｜最小巡航</a:t>
            </a:r>
          </a:p>
        </p:txBody>
      </p:sp>
      <p:sp>
        <p:nvSpPr>
          <p:cNvPr id="22" name="boarding-arrow-1-shaft">
            <a:extLst xmlns:a="http://schemas.openxmlformats.org/drawingml/2006/main">
              <a:ext uri="{FF2B5EF4-FFF2-40B4-BE49-F238E27FC236}">
                <a16:creationId xmlns:a16="http://schemas.microsoft.com/office/drawing/2014/main" id="{457166CC-5A9E-4DF2-9DC7-BD90831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2562225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3" name="boarding-arrow-1-head">
            <a:extLst xmlns:a="http://schemas.openxmlformats.org/drawingml/2006/main">
              <a:ext uri="{FF2B5EF4-FFF2-40B4-BE49-F238E27FC236}">
                <a16:creationId xmlns:a16="http://schemas.microsoft.com/office/drawing/2014/main" id="{A0E577DE-DE7F-4827-B312-3860CDB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boarding-arrow-2-shaft">
            <a:extLst xmlns:a="http://schemas.openxmlformats.org/drawingml/2006/main">
              <a:ext uri="{FF2B5EF4-FFF2-40B4-BE49-F238E27FC236}">
                <a16:creationId xmlns:a16="http://schemas.microsoft.com/office/drawing/2014/main" id="{A612AD6B-CD02-416E-B929-2B922C5C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2562225"/>
            <a:ext cx="182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5" name="boarding-arrow-2-head">
            <a:extLst xmlns:a="http://schemas.openxmlformats.org/drawingml/2006/main">
              <a:ext uri="{FF2B5EF4-FFF2-40B4-BE49-F238E27FC236}">
                <a16:creationId xmlns:a16="http://schemas.microsoft.com/office/drawing/2014/main" id="{8DF03BC9-CA9E-48B3-9FB6-BB254A1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boarding-arrow-3-shaft">
            <a:extLst xmlns:a="http://schemas.openxmlformats.org/drawingml/2006/main">
              <a:ext uri="{FF2B5EF4-FFF2-40B4-BE49-F238E27FC236}">
                <a16:creationId xmlns:a16="http://schemas.microsoft.com/office/drawing/2014/main" id="{EEECFAEA-268D-4384-982C-AC6B938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25622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7" name="boarding-arrow-3-head">
            <a:extLst xmlns:a="http://schemas.openxmlformats.org/drawingml/2006/main">
              <a:ext uri="{FF2B5EF4-FFF2-40B4-BE49-F238E27FC236}">
                <a16:creationId xmlns:a16="http://schemas.microsoft.com/office/drawing/2014/main" id="{226FB562-B729-4486-B38D-BBEA0B2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boarding-output-label">
            <a:extLst xmlns:a="http://schemas.openxmlformats.org/drawingml/2006/main">
              <a:ext uri="{FF2B5EF4-FFF2-40B4-BE49-F238E27FC236}">
                <a16:creationId xmlns:a16="http://schemas.microsoft.com/office/drawing/2014/main" id="{00C0E011-7360-4752-AD29-CF5DCF3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链路输出包括普通道路上车、交通枢纽上车和下车。</a:t>
            </a:r>
          </a:p>
        </p:txBody>
      </p:sp>
      <p:sp>
        <p:nvSpPr>
          <p:cNvPr id="29" name="boarding-output-spine">
            <a:extLst xmlns:a="http://schemas.openxmlformats.org/drawingml/2006/main">
              <a:ext uri="{FF2B5EF4-FFF2-40B4-BE49-F238E27FC236}">
                <a16:creationId xmlns:a16="http://schemas.microsoft.com/office/drawing/2014/main" id="{05800DF8-FFC8-400F-9F30-536C547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457700"/>
            <a:ext cx="948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D0C7"/>
            </a:solidFill>
            <a:prstDash val="solid"/>
          </a:ln>
        </p:spPr>
      </p:sp>
      <p:sp>
        <p:nvSpPr>
          <p:cNvPr id="30" name="boarding-output-dot-1">
            <a:extLst xmlns:a="http://schemas.openxmlformats.org/drawingml/2006/main">
              <a:ext uri="{FF2B5EF4-FFF2-40B4-BE49-F238E27FC236}">
                <a16:creationId xmlns:a16="http://schemas.microsoft.com/office/drawing/2014/main" id="{E684C310-D1A7-4A42-8BE4-4C38232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1" name="boarding-output-title-1">
            <a:extLst xmlns:a="http://schemas.openxmlformats.org/drawingml/2006/main">
              <a:ext uri="{FF2B5EF4-FFF2-40B4-BE49-F238E27FC236}">
                <a16:creationId xmlns:a16="http://schemas.microsoft.com/office/drawing/2014/main" id="{46B65916-DE88-4645-9DB1-75D27F9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32" name="boarding-output-body-1">
            <a:extLst xmlns:a="http://schemas.openxmlformats.org/drawingml/2006/main">
              <a:ext uri="{FF2B5EF4-FFF2-40B4-BE49-F238E27FC236}">
                <a16:creationId xmlns:a16="http://schemas.microsoft.com/office/drawing/2014/main" id="{459AC60D-4833-4419-BD51-46F8D010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候客范围内优先车等人；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不可停则重选、改点或最小巡航</a:t>
            </a:r>
          </a:p>
        </p:txBody>
      </p:sp>
      <p:sp>
        <p:nvSpPr>
          <p:cNvPr id="33" name="boarding-output-dot-2">
            <a:extLst xmlns:a="http://schemas.openxmlformats.org/drawingml/2006/main">
              <a:ext uri="{FF2B5EF4-FFF2-40B4-BE49-F238E27FC236}">
                <a16:creationId xmlns:a16="http://schemas.microsoft.com/office/drawing/2014/main" id="{05314224-E3EE-4FAC-80C5-EF84947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4" name="boarding-output-title-2">
            <a:extLst xmlns:a="http://schemas.openxmlformats.org/drawingml/2006/main">
              <a:ext uri="{FF2B5EF4-FFF2-40B4-BE49-F238E27FC236}">
                <a16:creationId xmlns:a16="http://schemas.microsoft.com/office/drawing/2014/main" id="{381AE1A8-A312-4069-B746-20FA250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35" name="boarding-output-body-2">
            <a:extLst xmlns:a="http://schemas.openxmlformats.org/drawingml/2006/main">
              <a:ext uri="{FF2B5EF4-FFF2-40B4-BE49-F238E27FC236}">
                <a16:creationId xmlns:a16="http://schemas.microsoft.com/office/drawing/2014/main" id="{39267D58-A6A7-436C-A7B9-A54FC24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停车位 / 候车区组织等待；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乘客找车或召唤车辆</a:t>
            </a:r>
          </a:p>
        </p:txBody>
      </p:sp>
      <p:sp>
        <p:nvSpPr>
          <p:cNvPr id="36" name="boarding-output-dot-3">
            <a:extLst xmlns:a="http://schemas.openxmlformats.org/drawingml/2006/main">
              <a:ext uri="{FF2B5EF4-FFF2-40B4-BE49-F238E27FC236}">
                <a16:creationId xmlns:a16="http://schemas.microsoft.com/office/drawing/2014/main" id="{227BF67A-271B-4652-989A-69A951D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37" name="boarding-output-title-3">
            <a:extLst xmlns:a="http://schemas.openxmlformats.org/drawingml/2006/main">
              <a:ext uri="{FF2B5EF4-FFF2-40B4-BE49-F238E27FC236}">
                <a16:creationId xmlns:a16="http://schemas.microsoft.com/office/drawing/2014/main" id="{A62DEF31-29D3-4A6F-98D3-BEF23BA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下车</a:t>
            </a:r>
          </a:p>
        </p:txBody>
      </p:sp>
      <p:sp>
        <p:nvSpPr>
          <p:cNvPr id="38" name="boarding-output-body-3">
            <a:extLst xmlns:a="http://schemas.openxmlformats.org/drawingml/2006/main">
              <a:ext uri="{FF2B5EF4-FFF2-40B4-BE49-F238E27FC236}">
                <a16:creationId xmlns:a16="http://schemas.microsoft.com/office/drawing/2014/main" id="{73DE5405-F1BD-4977-BB1D-21EDF78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可下客位置短停；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完成下客后立即驶离</a:t>
            </a:r>
          </a:p>
        </p:txBody>
      </p:sp>
      <p:sp>
        <p:nvSpPr>
          <p:cNvPr id="3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0C026B0-819F-4A72-84F5-FDD725C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00700"/>
            <a:ext cx="11055096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0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1AC60FF-4465-4580-9E86-7AF8123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007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53E40C50-8198-46AD-BBE6-ED263D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95950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4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CC9CA1F-6CA9-46D0-9690-2D45E81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RCSD 决定最多允许做什么；车端决定这一次能不能做、具体停在哪里。</a:t>
            </a:r>
          </a:p>
        </p:txBody>
      </p:sp>
    </p:spTree>
    <p:extLst>
      <p:ext uri="{BB962C8B-B14F-4D97-AF65-F5344CB8AC3E}">
        <p14:creationId xmlns:p14="http://schemas.microsoft.com/office/powerpoint/2010/main" val="491640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84E015-7CE4-4938-BCD8-B520337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越野地图：用大模型压缩需求澄清到可发布原型的迭代周期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6006C85-07D8-4C44-9AA4-5067C50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真实素材与业务输入经数据契约、交互原型、人工评审和冻结发布形成敏捷闭环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959260D-EF2B-46B6-B561-37B9727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loop-label">
            <a:extLst xmlns:a="http://schemas.openxmlformats.org/drawingml/2006/main">
              <a:ext uri="{FF2B5EF4-FFF2-40B4-BE49-F238E27FC236}">
                <a16:creationId xmlns:a16="http://schemas.microsoft.com/office/drawing/2014/main" id="{527D1CEB-1C83-47EC-AD1B-AEC0C79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四阶段敏捷闭环</a:t>
            </a:r>
          </a:p>
        </p:txBody>
      </p:sp>
      <p:sp>
        <p:nvSpPr>
          <p:cNvPr id="5" name="offroad-spine">
            <a:extLst xmlns:a="http://schemas.openxmlformats.org/drawingml/2006/main">
              <a:ext uri="{FF2B5EF4-FFF2-40B4-BE49-F238E27FC236}">
                <a16:creationId xmlns:a16="http://schemas.microsoft.com/office/drawing/2014/main" id="{6F27898C-1E5C-42F0-897F-D075F9C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24025"/>
            <a:ext cx="9525" cy="3152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offroad-dot-1">
            <a:extLst xmlns:a="http://schemas.openxmlformats.org/drawingml/2006/main">
              <a:ext uri="{FF2B5EF4-FFF2-40B4-BE49-F238E27FC236}">
                <a16:creationId xmlns:a16="http://schemas.microsoft.com/office/drawing/2014/main" id="{B04F95D5-6D5C-461E-AE08-26C04C6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offroad-num-1">
            <a:extLst xmlns:a="http://schemas.openxmlformats.org/drawingml/2006/main">
              <a:ext uri="{FF2B5EF4-FFF2-40B4-BE49-F238E27FC236}">
                <a16:creationId xmlns:a16="http://schemas.microsoft.com/office/drawing/2014/main" id="{CA641382-4B00-476F-BCFA-02D8E0F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offroad-title-1">
            <a:extLst xmlns:a="http://schemas.openxmlformats.org/drawingml/2006/main">
              <a:ext uri="{FF2B5EF4-FFF2-40B4-BE49-F238E27FC236}">
                <a16:creationId xmlns:a16="http://schemas.microsoft.com/office/drawing/2014/main" id="{9F3BED3E-20E5-4856-A4E3-E9D5FD8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6097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9" name="offroad-body-1">
            <a:extLst xmlns:a="http://schemas.openxmlformats.org/drawingml/2006/main">
              <a:ext uri="{FF2B5EF4-FFF2-40B4-BE49-F238E27FC236}">
                <a16:creationId xmlns:a16="http://schemas.microsoft.com/office/drawing/2014/main" id="{E0DF2B7D-F21A-4E50-8B74-2442A3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真实素材与业务输入</a:t>
            </a:r>
          </a:p>
        </p:txBody>
      </p:sp>
      <p:sp>
        <p:nvSpPr>
          <p:cNvPr id="10" name="offroad-dot-2">
            <a:extLst xmlns:a="http://schemas.openxmlformats.org/drawingml/2006/main">
              <a:ext uri="{FF2B5EF4-FFF2-40B4-BE49-F238E27FC236}">
                <a16:creationId xmlns:a16="http://schemas.microsoft.com/office/drawing/2014/main" id="{2F4CFCD8-47BC-4262-877B-2CE952E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1" name="offroad-num-2">
            <a:extLst xmlns:a="http://schemas.openxmlformats.org/drawingml/2006/main">
              <a:ext uri="{FF2B5EF4-FFF2-40B4-BE49-F238E27FC236}">
                <a16:creationId xmlns:a16="http://schemas.microsoft.com/office/drawing/2014/main" id="{EF4B4478-262B-4347-992A-29401FB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offroad-title-2">
            <a:extLst xmlns:a="http://schemas.openxmlformats.org/drawingml/2006/main">
              <a:ext uri="{FF2B5EF4-FFF2-40B4-BE49-F238E27FC236}">
                <a16:creationId xmlns:a16="http://schemas.microsoft.com/office/drawing/2014/main" id="{F5307149-C39E-4CBC-A2E8-11C7DB9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38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大模型澄清 / 数据契约</a:t>
            </a:r>
          </a:p>
        </p:txBody>
      </p:sp>
      <p:sp>
        <p:nvSpPr>
          <p:cNvPr id="13" name="offroad-body-2">
            <a:extLst xmlns:a="http://schemas.openxmlformats.org/drawingml/2006/main">
              <a:ext uri="{FF2B5EF4-FFF2-40B4-BE49-F238E27FC236}">
                <a16:creationId xmlns:a16="http://schemas.microsoft.com/office/drawing/2014/main" id="{2B5CADBB-77F1-4424-BBAA-7856C87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大模型辅助拆分场景、澄清需求并形成可审计数据契约。</a:t>
            </a:r>
          </a:p>
        </p:txBody>
      </p:sp>
      <p:sp>
        <p:nvSpPr>
          <p:cNvPr id="14" name="offroad-dot-3">
            <a:extLst xmlns:a="http://schemas.openxmlformats.org/drawingml/2006/main">
              <a:ext uri="{FF2B5EF4-FFF2-40B4-BE49-F238E27FC236}">
                <a16:creationId xmlns:a16="http://schemas.microsoft.com/office/drawing/2014/main" id="{949224BF-D564-45EA-8B06-FA3F258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offroad-num-3">
            <a:extLst xmlns:a="http://schemas.openxmlformats.org/drawingml/2006/main">
              <a:ext uri="{FF2B5EF4-FFF2-40B4-BE49-F238E27FC236}">
                <a16:creationId xmlns:a16="http://schemas.microsoft.com/office/drawing/2014/main" id="{A35E26DF-775E-4BE0-BD9C-4DFAA06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offroad-title-3">
            <a:extLst xmlns:a="http://schemas.openxmlformats.org/drawingml/2006/main">
              <a:ext uri="{FF2B5EF4-FFF2-40B4-BE49-F238E27FC236}">
                <a16:creationId xmlns:a16="http://schemas.microsoft.com/office/drawing/2014/main" id="{D458F0F5-15D6-4186-8917-F659292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快速原型</a:t>
            </a:r>
          </a:p>
        </p:txBody>
      </p:sp>
      <p:sp>
        <p:nvSpPr>
          <p:cNvPr id="17" name="offroad-body-3">
            <a:extLst xmlns:a="http://schemas.openxmlformats.org/drawingml/2006/main">
              <a:ext uri="{FF2B5EF4-FFF2-40B4-BE49-F238E27FC236}">
                <a16:creationId xmlns:a16="http://schemas.microsoft.com/office/drawing/2014/main" id="{F96458C7-FB42-438C-BFC7-A07C653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ImageGen 多轮视觉草案与 Vite + React + TypeScript 快速形成可点击原型。</a:t>
            </a:r>
          </a:p>
        </p:txBody>
      </p:sp>
      <p:sp>
        <p:nvSpPr>
          <p:cNvPr id="18" name="offroad-dot-4">
            <a:extLst xmlns:a="http://schemas.openxmlformats.org/drawingml/2006/main">
              <a:ext uri="{FF2B5EF4-FFF2-40B4-BE49-F238E27FC236}">
                <a16:creationId xmlns:a16="http://schemas.microsoft.com/office/drawing/2014/main" id="{0C0FD775-01EE-4292-81AF-A4A298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offroad-num-4">
            <a:extLst xmlns:a="http://schemas.openxmlformats.org/drawingml/2006/main">
              <a:ext uri="{FF2B5EF4-FFF2-40B4-BE49-F238E27FC236}">
                <a16:creationId xmlns:a16="http://schemas.microsoft.com/office/drawing/2014/main" id="{247E3DCE-3DBA-4CF9-9784-E34D310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0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offroad-title-4">
            <a:extLst xmlns:a="http://schemas.openxmlformats.org/drawingml/2006/main">
              <a:ext uri="{FF2B5EF4-FFF2-40B4-BE49-F238E27FC236}">
                <a16:creationId xmlns:a16="http://schemas.microsoft.com/office/drawing/2014/main" id="{4273732E-267E-4E98-8260-FD25759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767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人工评审冻结发布</a:t>
            </a:r>
          </a:p>
        </p:txBody>
      </p:sp>
      <p:sp>
        <p:nvSpPr>
          <p:cNvPr id="21" name="offroad-body-4">
            <a:extLst xmlns:a="http://schemas.openxmlformats.org/drawingml/2006/main">
              <a:ext uri="{FF2B5EF4-FFF2-40B4-BE49-F238E27FC236}">
                <a16:creationId xmlns:a16="http://schemas.microsoft.com/office/drawing/2014/main" id="{7A41AEF3-0F0A-45D6-A04A-666F037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原型已通过 GPT Sites 与 Vercel 发布，并依据评审反馈继续迭代。</a:t>
            </a:r>
          </a:p>
        </p:txBody>
      </p:sp>
      <p:sp>
        <p:nvSpPr>
          <p:cNvPr id="22" name="offroad-arrow-1-shaft">
            <a:extLst xmlns:a="http://schemas.openxmlformats.org/drawingml/2006/main">
              <a:ext uri="{FF2B5EF4-FFF2-40B4-BE49-F238E27FC236}">
                <a16:creationId xmlns:a16="http://schemas.microsoft.com/office/drawing/2014/main" id="{AFC26A35-FFE5-4FDF-8BB3-6AD0E5D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66925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offroad-arrow-1-head">
            <a:extLst xmlns:a="http://schemas.openxmlformats.org/drawingml/2006/main">
              <a:ext uri="{FF2B5EF4-FFF2-40B4-BE49-F238E27FC236}">
                <a16:creationId xmlns:a16="http://schemas.microsoft.com/office/drawing/2014/main" id="{113EE98C-0532-4C0C-908B-017450F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offroad-arrow-2-shaft">
            <a:extLst xmlns:a="http://schemas.openxmlformats.org/drawingml/2006/main">
              <a:ext uri="{FF2B5EF4-FFF2-40B4-BE49-F238E27FC236}">
                <a16:creationId xmlns:a16="http://schemas.microsoft.com/office/drawing/2014/main" id="{242AC2E3-96F7-4203-8ACF-3BC8DC2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956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offroad-arrow-2-head">
            <a:extLst xmlns:a="http://schemas.openxmlformats.org/drawingml/2006/main">
              <a:ext uri="{FF2B5EF4-FFF2-40B4-BE49-F238E27FC236}">
                <a16:creationId xmlns:a16="http://schemas.microsoft.com/office/drawing/2014/main" id="{688AC545-666D-4307-B82B-3DF59C3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offroad-arrow-3-shaft">
            <a:extLst xmlns:a="http://schemas.openxmlformats.org/drawingml/2006/main">
              <a:ext uri="{FF2B5EF4-FFF2-40B4-BE49-F238E27FC236}">
                <a16:creationId xmlns:a16="http://schemas.microsoft.com/office/drawing/2014/main" id="{A1A3DEB3-001C-4430-823B-FA69867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781425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offroad-arrow-3-head">
            <a:extLst xmlns:a="http://schemas.openxmlformats.org/drawingml/2006/main">
              <a:ext uri="{FF2B5EF4-FFF2-40B4-BE49-F238E27FC236}">
                <a16:creationId xmlns:a16="http://schemas.microsoft.com/office/drawing/2014/main" id="{AF8ABCA6-BBE8-43EF-8E09-DED1DE5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offroad-feedback">
            <a:extLst xmlns:a="http://schemas.openxmlformats.org/drawingml/2006/main">
              <a:ext uri="{FF2B5EF4-FFF2-40B4-BE49-F238E27FC236}">
                <a16:creationId xmlns:a16="http://schemas.microsoft.com/office/drawing/2014/main" id="{02130017-B133-4039-BB37-3C091AD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  评审反馈进入下一轮需求澄清</a:t>
            </a:r>
          </a:p>
        </p:txBody>
      </p:sp>
      <p:sp>
        <p:nvSpPr>
          <p:cNvPr id="29" name="offroad-shot-label">
            <a:extLst xmlns:a="http://schemas.openxmlformats.org/drawingml/2006/main">
              <a:ext uri="{FF2B5EF4-FFF2-40B4-BE49-F238E27FC236}">
                <a16:creationId xmlns:a16="http://schemas.microsoft.com/office/drawing/2014/main" id="{CD978EC5-3075-4D08-A1C6-F3A345D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真实原型截图｜老掌沟</a:t>
            </a:r>
          </a:p>
        </p:txBody>
      </p:sp>
      <p:sp>
        <p:nvSpPr>
          <p:cNvPr id="30" name="offroad-shot-frame">
            <a:extLst xmlns:a="http://schemas.openxmlformats.org/drawingml/2006/main">
              <a:ext uri="{FF2B5EF4-FFF2-40B4-BE49-F238E27FC236}">
                <a16:creationId xmlns:a16="http://schemas.microsoft.com/office/drawing/2014/main" id="{E1ECB119-B0F4-444C-BE96-1AB7FC1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684847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4d82d8b4d418f"/>
          <a:stretch xmlns:a="http://schemas.openxmlformats.org/drawingml/2006/main"/>
        </p:blipFill>
        <p:spPr>
          <a:xfrm xmlns:a="http://schemas.openxmlformats.org/drawingml/2006/main">
            <a:off x="4772025" y="1576488"/>
            <a:ext cx="6848475" cy="3295450"/>
          </a:xfrm>
          <a:prstGeom xmlns:a="http://schemas.openxmlformats.org/drawingml/2006/main" prst="rect">
            <a:avLst/>
          </a:prstGeom>
        </p:spPr>
      </p:pic>
      <p:sp>
        <p:nvSpPr>
          <p:cNvPr id="32" name="offroad-freeze-bg">
            <a:extLst xmlns:a="http://schemas.openxmlformats.org/drawingml/2006/main">
              <a:ext uri="{FF2B5EF4-FFF2-40B4-BE49-F238E27FC236}">
                <a16:creationId xmlns:a16="http://schemas.microsoft.com/office/drawing/2014/main" id="{0A13F1CE-D64D-4290-A73B-2361536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6848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offroad-freeze">
            <a:extLst xmlns:a="http://schemas.openxmlformats.org/drawingml/2006/main">
              <a:ext uri="{FF2B5EF4-FFF2-40B4-BE49-F238E27FC236}">
                <a16:creationId xmlns:a16="http://schemas.microsoft.com/office/drawing/2014/main" id="{817D9B7F-AB2A-4CD6-90C8-6006DB1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648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固定演示脚本、构建检查、截图、JSON 与 SHA-256 形成冻结证据。</a:t>
            </a:r>
          </a:p>
        </p:txBody>
      </p:sp>
      <p:sp>
        <p:nvSpPr>
          <p:cNvPr id="34" name="offroad-human-gate">
            <a:extLst xmlns:a="http://schemas.openxmlformats.org/drawingml/2006/main">
              <a:ext uri="{FF2B5EF4-FFF2-40B4-BE49-F238E27FC236}">
                <a16:creationId xmlns:a16="http://schemas.microsoft.com/office/drawing/2014/main" id="{E519E289-31C4-48F4-9917-A47FCBF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104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D2633"/>
            </a:solidFill>
            <a:prstDash val="solid"/>
          </a:ln>
        </p:spPr>
      </p:sp>
      <p:sp>
        <p:nvSpPr>
          <p:cNvPr id="35" name="offroad-human-gate-text">
            <a:extLst xmlns:a="http://schemas.openxmlformats.org/drawingml/2006/main">
              <a:ext uri="{FF2B5EF4-FFF2-40B4-BE49-F238E27FC236}">
                <a16:creationId xmlns:a16="http://schemas.microsoft.com/office/drawing/2014/main" id="{3C825D01-8920-4204-88E9-40C41D8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大模型负责生成候选工件，事实、边界和冻结版本由人确认。</a:t>
            </a:r>
          </a:p>
        </p:txBody>
      </p:sp>
      <p:sp>
        <p:nvSpPr>
          <p:cNvPr id="36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91821837-DA75-49CC-A843-760F2F60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19800"/>
            <a:ext cx="11055096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7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553B7455-21E9-4D97-A9FB-06FD70C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19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8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C646ECC5-D0ED-44B3-A7D7-85C930E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150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3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62094355-6661-4FDD-B1F1-D10F5EE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096000"/>
            <a:ext cx="947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 POI、路线和媒体资料只作为候选线索，不用于导航、救援或车辆控制。</a:t>
            </a:r>
          </a:p>
        </p:txBody>
      </p:sp>
    </p:spTree>
    <p:extLst>
      <p:ext uri="{BB962C8B-B14F-4D97-AF65-F5344CB8AC3E}">
        <p14:creationId xmlns:p14="http://schemas.microsoft.com/office/powerpoint/2010/main" val="85356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2026-08-03T01:12:06.7460000Z</dcterms:created>
  <dcterms:modified xsi:type="dcterms:W3CDTF">2026-08-03T01:12:06.7460000Z</dcterms:modified>
</coreProperties>
</file>