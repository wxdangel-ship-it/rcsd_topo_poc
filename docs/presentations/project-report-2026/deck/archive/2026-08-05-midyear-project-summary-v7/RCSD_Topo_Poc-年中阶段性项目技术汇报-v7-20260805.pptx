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e0c438c43c4103" /><Relationship Type="http://schemas.openxmlformats.org/officeDocument/2006/relationships/extended-properties" Target="/docProps/app.xml" Id="R11b02cfe0c9c4cbb" /><Relationship Type="http://schemas.openxmlformats.org/officeDocument/2006/relationships/officeDocument" Target="/ppt/presentation.xml" Id="R2fad1ffbaf9a4f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b0c8f6f24470e"/>
  </p:sldMasterIdLst>
  <p:notesMasterIdLst>
    <p:notesMasterId xmlns:r="http://schemas.openxmlformats.org/officeDocument/2006/relationships" r:id="R22f86858a9e74418"/>
  </p:notesMasterIdLst>
  <p:sldIdLst>
    <p:sldId xmlns:r="http://schemas.openxmlformats.org/officeDocument/2006/relationships" id="256" r:id="R15801fc5cf2740a6"/>
    <p:sldId xmlns:r="http://schemas.openxmlformats.org/officeDocument/2006/relationships" id="257" r:id="Re2545c4e9e174b86"/>
    <p:sldId xmlns:r="http://schemas.openxmlformats.org/officeDocument/2006/relationships" id="258" r:id="Re715731c0334440b"/>
    <p:sldId xmlns:r="http://schemas.openxmlformats.org/officeDocument/2006/relationships" id="259" r:id="Rb989266b93d24480"/>
    <p:sldId xmlns:r="http://schemas.openxmlformats.org/officeDocument/2006/relationships" id="260" r:id="R8aca06b087ea4404"/>
    <p:sldId xmlns:r="http://schemas.openxmlformats.org/officeDocument/2006/relationships" id="261" r:id="Rc2c2bf8fb8e440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45b2eb030d441e" /><Relationship Type="http://schemas.openxmlformats.org/officeDocument/2006/relationships/slideMaster" Target="/ppt/slideMasters/slideMaster1.xml" Id="Rf11b0c8f6f24470e" /><Relationship Type="http://schemas.openxmlformats.org/officeDocument/2006/relationships/notesMaster" Target="/ppt/notesMasters/notesMaster1.xml" Id="R22f86858a9e74418" /><Relationship Type="http://schemas.openxmlformats.org/officeDocument/2006/relationships/presProps" Target="/ppt/presProps.xml" Id="Rde8ff831734b4f15" /><Relationship Type="http://schemas.openxmlformats.org/officeDocument/2006/relationships/tableStyles" Target="/ppt/tableStyles.xml" Id="R913ecd32940f4337" /><Relationship Type="http://schemas.openxmlformats.org/officeDocument/2006/relationships/slide" Target="/ppt/slides/slide1.xml" Id="R15801fc5cf2740a6" /><Relationship Type="http://schemas.openxmlformats.org/officeDocument/2006/relationships/slide" Target="/ppt/slides/slide2.xml" Id="Re2545c4e9e174b86" /><Relationship Type="http://schemas.openxmlformats.org/officeDocument/2006/relationships/slide" Target="/ppt/slides/slide3.xml" Id="Re715731c0334440b" /><Relationship Type="http://schemas.openxmlformats.org/officeDocument/2006/relationships/slide" Target="/ppt/slides/slide4.xml" Id="Rb989266b93d24480" /><Relationship Type="http://schemas.openxmlformats.org/officeDocument/2006/relationships/slide" Target="/ppt/slides/slide5.xml" Id="R8aca06b087ea4404" /><Relationship Type="http://schemas.openxmlformats.org/officeDocument/2006/relationships/slide" Target="/ppt/slides/slide6.xml" Id="Rc2c2bf8fb8e440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7161f3b1743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9d346ad8f14c4e" /><Relationship Type="http://schemas.openxmlformats.org/officeDocument/2006/relationships/notesMaster" Target="/ppt/notesMasters/notesMaster1.xml" Id="Rbc61091c5e0645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3692802da477a" /><Relationship Type="http://schemas.openxmlformats.org/officeDocument/2006/relationships/notesMaster" Target="/ppt/notesMasters/notesMaster1.xml" Id="R70454f3be93f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caf13ac7d48a7" /><Relationship Type="http://schemas.openxmlformats.org/officeDocument/2006/relationships/notesMaster" Target="/ppt/notesMasters/notesMaster1.xml" Id="R3d8a43010a67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987a1c087249db" /><Relationship Type="http://schemas.openxmlformats.org/officeDocument/2006/relationships/notesMaster" Target="/ppt/notesMasters/notesMaster1.xml" Id="R06dc36784d4c41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33fbe94bac4028" /><Relationship Type="http://schemas.openxmlformats.org/officeDocument/2006/relationships/notesMaster" Target="/ppt/notesMasters/notesMaster1.xml" Id="R2617cd7cadf24c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7efd8d2bcd410d" /><Relationship Type="http://schemas.openxmlformats.org/officeDocument/2006/relationships/notesMaster" Target="/ppt/notesMasters/notesMaster1.xml" Id="Rb1398b39024544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docs/PROJECT_REQUIREMENTS.md</a:t>
            </a:r>
          </a:p>
          <a:p xmlns:a="http://schemas.openxmlformats.org/drawingml/2006/main">
            <a:r>
              <a:t>- docs/doc-governance/module-lifecycle.md</a:t>
            </a:r>
          </a:p>
          <a:p xmlns:a="http://schemas.openxmlformats.org/drawingml/2006/main">
            <a:r>
              <a:t>- modules/t01_data_preprocess/SPEC.md</a:t>
            </a:r>
          </a:p>
          <a:p xmlns:a="http://schemas.openxmlformats.org/drawingml/2006/main">
            <a:r>
              <a:t>- modules/t07_semantic_junction_anchor/SPEC.md</a:t>
            </a:r>
          </a:p>
          <a:p xmlns:a="http://schemas.openxmlformats.org/drawingml/2006/main">
            <a:r>
              <a:t>- modules/t03_virtual_junction_anchor/SPEC.md</a:t>
            </a:r>
          </a:p>
          <a:p xmlns:a="http://schemas.openxmlformats.org/drawingml/2006/main">
            <a:r>
              <a:t>- modules/t04_divmerge_virtual_polygon/SPEC.md</a:t>
            </a:r>
          </a:p>
          <a:p xmlns:a="http://schemas.openxmlformats.org/drawingml/2006/main">
            <a:r>
              <a:t>- modules/t05_junction_surface_fusion/SPEC.md</a:t>
            </a:r>
          </a:p>
          <a:p xmlns:a="http://schemas.openxmlformats.org/drawingml/2006/main">
            <a:r>
              <a:t>- modules/t06_segment_fusion_precheck/INTERFACE_CONTRACT.md</a:t>
            </a:r>
          </a:p>
          <a:p xmlns:a="http://schemas.openxmlformats.org/drawingml/2006/main">
            <a:r>
              <a:t>- modules/t12_frcsd_quality_audit/INTERFACE_CONTRACT.md</a:t>
            </a:r>
          </a:p>
          <a:p xmlns:a="http://schemas.openxmlformats.org/drawingml/2006/main">
            <a:r>
              <a:t>- modules/p04_road_direct_generation/INTERFACE_CONTRACT.md</a:t>
            </a:r>
          </a:p>
          <a:p xmlns:a="http://schemas.openxmlformats.org/drawingml/2006/main">
            <a:r>
              <a:t>- modules/p05_neural_road_generation/INTERFACE_CONTRACT.md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V6 第 2 页：完整替换方案主体、真实锚定证据图及空间关系。</a:t>
            </a:r>
          </a:p>
          <a:p xmlns:a="http://schemas.openxmlformats.org/drawingml/2006/main">
            <a:r>
              <a:t>- 用户提供：95% 为路口自动锚定成功率业务统计。</a:t>
            </a:r>
          </a:p>
          <a:p xmlns:a="http://schemas.openxmlformats.org/drawingml/2006/main">
            <a:r>
              <a:t>- V6 正式内网实测：80.3760%、108,732 条 RCSD 道路、10,386.319 公里。</a:t>
            </a:r>
          </a:p>
          <a:p xmlns:a="http://schemas.openxmlformats.org/drawingml/2006/main">
            <a:r>
              <a:t>- 用户提供：85% 为全量路口锚定后的条件预估；剩余约 15% 转入 1V1 匹配补充处理。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V6 第 3 页：审计目标与准则、现实质检案例、输出与边界三段式。</a:t>
            </a:r>
          </a:p>
          <a:p xmlns:a="http://schemas.openxmlformats.org/drawingml/2006/main">
            <a:r>
              <a:t>- 用例 1885118：V6 已确认真实本地图；现有证据仅来自替换前置检查，状态为候选。</a:t>
            </a:r>
          </a:p>
          <a:p xmlns:a="http://schemas.openxmlformats.org/drawingml/2006/main">
            <a:r>
              <a:t>- 用例 522806716：E:/TestData/POC_QA/T03_Error/522806716；当前质量审计输入快照已确认，QGIS/PyQGIS 渲染，silent_fix=false。</a:t>
            </a:r>
          </a:p>
          <a:p xmlns:a="http://schemas.openxmlformats.org/drawingml/2006/main">
            <a:r>
              <a:t>- 用例 26219553_1026960：E:/Work/RCSD_Topo_Poc/outputs/_work/t12_unexpected_reverse_qgis_audit_20260730/preview_26219553_1026960.png。</a:t>
            </a:r>
          </a:p>
          <a:p xmlns:a="http://schemas.openxmlformats.org/drawingml/2006/main">
            <a:r>
              <a:t>- 最新排除结论：E:/Work/RCSD_Topo_Poc/outputs/_work/t12_quality_taxonomy_step2_source_20260801/real_qgis_audit_v10_release/t12_frcsd_quality_candidates.csv；反向道路更属于相邻路段，当前排除。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modules/p04_road_direct_generation/SPEC.md</a:t>
            </a:r>
          </a:p>
          <a:p xmlns:a="http://schemas.openxmlformats.org/drawingml/2006/main">
            <a:r>
              <a:t>- modules/p04_road_direct_generation/architecture/05-quality-requirements.md</a:t>
            </a:r>
          </a:p>
          <a:p xmlns:a="http://schemas.openxmlformats.org/drawingml/2006/main"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C:\Users\admin\Downloads\L4上下车点技术方案_6页最终发布版_返璞归真视觉_第1页标题统一.pptx</a:t>
            </a:r>
          </a:p>
          <a:p xmlns:a="http://schemas.openxmlformats.org/drawingml/2006/main">
            <a:r>
              <a:t>- The source deck provides the responsibility chain but no production coverage, hit-rate, or safety-effect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E:\Work\Off_Road_Map\modules\p01_phase2_map_prototype\MAP_DATA_STRUCTURE.md</a:t>
            </a:r>
          </a:p>
          <a:p xmlns:a="http://schemas.openxmlformats.org/drawingml/2006/main">
            <a:r>
              <a:t>- E:\Work\Off_Road_Map\docs\reviews\20260801_p01_m9_vehicle_ui_alignment_archive.md</a:t>
            </a:r>
          </a:p>
          <a:p xmlns:a="http://schemas.openxmlformats.org/drawingml/2006/main">
            <a:r>
              <a:t>- E:\Work\Off_Road_Map\docs\reviews\20260801_p01_m9_vehicle_ui_alignment_publish.md</a:t>
            </a:r>
          </a:p>
          <a:p xmlns:a="http://schemas.openxmlformats.org/drawingml/2006/main">
            <a:r>
              <a:t>- Embedded screenshot is frozen prototype evidence; public POIs and route descriptions remain candidate context, not navigation-grade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791992eb144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b606b38a9a4a4c" /><Relationship Type="http://schemas.openxmlformats.org/officeDocument/2006/relationships/slideLayout" Target="/ppt/slideLayouts/slideLayout1.xml" Id="R4a1dab45bd0f4f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1dab45bd0f4f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98bdaf2d04058" /><Relationship Type="http://schemas.openxmlformats.org/officeDocument/2006/relationships/notesSlide" Target="/ppt/notesSlides/notesSlide1.xml" Id="R31a1bb19d4b342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0373740b8413e" /><Relationship Type="http://schemas.openxmlformats.org/officeDocument/2006/relationships/image" Target="/ppt/media/image.png" Id="Rf91d328507a345f5" /><Relationship Type="http://schemas.openxmlformats.org/officeDocument/2006/relationships/notesSlide" Target="/ppt/notesSlides/notesSlide2.xml" Id="Ra1cae7d5ca88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8788a97934bc8" /><Relationship Type="http://schemas.openxmlformats.org/officeDocument/2006/relationships/image" Target="/ppt/media/image2.png" Id="R72400bfad4b44e41" /><Relationship Type="http://schemas.openxmlformats.org/officeDocument/2006/relationships/image" Target="/ppt/media/image3.png" Id="R4c8da37dde884ccd" /><Relationship Type="http://schemas.openxmlformats.org/officeDocument/2006/relationships/image" Target="/ppt/media/image4.png" Id="Rce0b3a2ceec14e74" /><Relationship Type="http://schemas.openxmlformats.org/officeDocument/2006/relationships/notesSlide" Target="/ppt/notesSlides/notesSlide3.xml" Id="R8802eacbcda34c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7eeaab4814e34" /><Relationship Type="http://schemas.openxmlformats.org/officeDocument/2006/relationships/image" Target="/ppt/media/image5.png" Id="Rd9ac98dbb36d4079" /><Relationship Type="http://schemas.openxmlformats.org/officeDocument/2006/relationships/notesSlide" Target="/ppt/notesSlides/notesSlide4.xml" Id="Rb29a79836ea842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746137f9c4380" /><Relationship Type="http://schemas.openxmlformats.org/officeDocument/2006/relationships/notesSlide" Target="/ppt/notesSlides/notesSlide5.xml" Id="R255e38039e7f4d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f12b621ba4012" /><Relationship Type="http://schemas.openxmlformats.org/officeDocument/2006/relationships/image" Target="/ppt/media/image6.png" Id="R1f79a7b15af6494d" /><Relationship Type="http://schemas.openxmlformats.org/officeDocument/2006/relationships/notesSlide" Target="/ppt/notesSlides/notesSlide6.xml" Id="R9cfd52362ae44b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77F19B6-4BED-48CA-9BA7-B00CB4D6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道路业务全貌：从结构认知到四条业务路径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B2B1350-3A8A-4542-9DC6-89076FB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先建立稳定的路口—路段认知，再锚定现实证据并形成替换、质检、构建与变更识别闭环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6361FF2-D17F-4FB3-8FF8-E4B4DEA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0" name="p1-第一层-accent">
            <a:extLst xmlns:a="http://schemas.openxmlformats.org/drawingml/2006/main">
              <a:ext uri="{FF2B5EF4-FFF2-40B4-BE49-F238E27FC236}">
                <a16:creationId xmlns:a16="http://schemas.microsoft.com/office/drawing/2014/main" id="{23A0D839-DFF1-4043-9F79-5A6A1017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1-第一层-index">
            <a:extLst xmlns:a="http://schemas.openxmlformats.org/drawingml/2006/main">
              <a:ext uri="{FF2B5EF4-FFF2-40B4-BE49-F238E27FC236}">
                <a16:creationId xmlns:a16="http://schemas.microsoft.com/office/drawing/2014/main" id="{B3079566-79CF-40D0-AF42-7B8DE5B0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第一层</a:t>
            </a:r>
          </a:p>
        </p:txBody>
      </p:sp>
      <p:sp>
        <p:nvSpPr>
          <p:cNvPr id="52" name="p1-第一层-topic">
            <a:extLst xmlns:a="http://schemas.openxmlformats.org/drawingml/2006/main">
              <a:ext uri="{FF2B5EF4-FFF2-40B4-BE49-F238E27FC236}">
                <a16:creationId xmlns:a16="http://schemas.microsoft.com/office/drawing/2014/main" id="{97F23B13-7FD1-47D1-B2D9-3C52117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28587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道路结构认知</a:t>
            </a:r>
          </a:p>
        </p:txBody>
      </p:sp>
      <p:sp>
        <p:nvSpPr>
          <p:cNvPr id="53" name="p1-layer1-heading-divider">
            <a:extLst xmlns:a="http://schemas.openxmlformats.org/drawingml/2006/main">
              <a:ext uri="{FF2B5EF4-FFF2-40B4-BE49-F238E27FC236}">
                <a16:creationId xmlns:a16="http://schemas.microsoft.com/office/drawing/2014/main" id="{A29215D0-9E39-4CB5-A933-A7C9AF1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4" name="p1-layer1-left-bg">
            <a:extLst xmlns:a="http://schemas.openxmlformats.org/drawingml/2006/main">
              <a:ext uri="{FF2B5EF4-FFF2-40B4-BE49-F238E27FC236}">
                <a16:creationId xmlns:a16="http://schemas.microsoft.com/office/drawing/2014/main" id="{F07AAAE9-484F-4EAC-BEE2-4D2C991C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09725"/>
            <a:ext cx="586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1-layer1-left-accent">
            <a:extLst xmlns:a="http://schemas.openxmlformats.org/drawingml/2006/main">
              <a:ext uri="{FF2B5EF4-FFF2-40B4-BE49-F238E27FC236}">
                <a16:creationId xmlns:a16="http://schemas.microsoft.com/office/drawing/2014/main" id="{D89E87D9-03C7-4391-80E4-DA5E0229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1-layer1-bottom-divider">
            <a:extLst xmlns:a="http://schemas.openxmlformats.org/drawingml/2006/main">
              <a:ext uri="{FF2B5EF4-FFF2-40B4-BE49-F238E27FC236}">
                <a16:creationId xmlns:a16="http://schemas.microsoft.com/office/drawing/2014/main" id="{93CF1CF6-5066-41BF-A742-0439A040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7" name="p1-layer1-column-divider">
            <a:extLst xmlns:a="http://schemas.openxmlformats.org/drawingml/2006/main">
              <a:ext uri="{FF2B5EF4-FFF2-40B4-BE49-F238E27FC236}">
                <a16:creationId xmlns:a16="http://schemas.microsoft.com/office/drawing/2014/main" id="{A3015D2A-CFFF-4869-8A65-441ED1B1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57350"/>
            <a:ext cx="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8" name="p1-foundation-label">
            <a:extLst xmlns:a="http://schemas.openxmlformats.org/drawingml/2006/main">
              <a:ext uri="{FF2B5EF4-FFF2-40B4-BE49-F238E27FC236}">
                <a16:creationId xmlns:a16="http://schemas.microsoft.com/office/drawing/2014/main" id="{621B571C-C739-4FDD-BD58-F10E23A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rPr>
              <a:t>稳定业务骨架</a:t>
            </a:r>
          </a:p>
        </p:txBody>
      </p:sp>
      <p:sp>
        <p:nvSpPr>
          <p:cNvPr id="59" name="p1-foundation-line-left">
            <a:extLst xmlns:a="http://schemas.openxmlformats.org/drawingml/2006/main">
              <a:ext uri="{FF2B5EF4-FFF2-40B4-BE49-F238E27FC236}">
                <a16:creationId xmlns:a16="http://schemas.microsoft.com/office/drawing/2014/main" id="{F8E44481-747F-48CD-AFB8-7A4DB3A6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1907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0" name="p1-foundation-line-right">
            <a:extLst xmlns:a="http://schemas.openxmlformats.org/drawingml/2006/main">
              <a:ext uri="{FF2B5EF4-FFF2-40B4-BE49-F238E27FC236}">
                <a16:creationId xmlns:a16="http://schemas.microsoft.com/office/drawing/2014/main" id="{C3DC4C64-7DC8-44BC-9CCE-99A52E5A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90750"/>
            <a:ext cx="1019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1" name="p1-junction-left">
            <a:extLst xmlns:a="http://schemas.openxmlformats.org/drawingml/2006/main">
              <a:ext uri="{FF2B5EF4-FFF2-40B4-BE49-F238E27FC236}">
                <a16:creationId xmlns:a16="http://schemas.microsoft.com/office/drawing/2014/main" id="{F04CFBBC-CCAC-42B7-9172-1295ECDB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71675"/>
            <a:ext cx="981075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62" name="p1-segment">
            <a:extLst xmlns:a="http://schemas.openxmlformats.org/drawingml/2006/main">
              <a:ext uri="{FF2B5EF4-FFF2-40B4-BE49-F238E27FC236}">
                <a16:creationId xmlns:a16="http://schemas.microsoft.com/office/drawing/2014/main" id="{62E2E64A-3DBB-45DD-819D-9B7FD66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71675"/>
            <a:ext cx="1143000" cy="447675"/>
          </a:xfrm>
          <a:prstGeom xmlns:a="http://schemas.openxmlformats.org/drawingml/2006/main" prst="roundRect">
            <a:avLst>
              <a:gd name="adj" fmla="val 46809"/>
            </a:avLst>
          </a:prstGeom>
          <a:solidFill xmlns:a="http://schemas.openxmlformats.org/drawingml/2006/main">
            <a:srgbClr val="7D2633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</a:t>
            </a:r>
          </a:p>
        </p:txBody>
      </p:sp>
      <p:sp>
        <p:nvSpPr>
          <p:cNvPr id="63" name="p1-junction-right">
            <a:extLst xmlns:a="http://schemas.openxmlformats.org/drawingml/2006/main">
              <a:ext uri="{FF2B5EF4-FFF2-40B4-BE49-F238E27FC236}">
                <a16:creationId xmlns:a16="http://schemas.microsoft.com/office/drawing/2014/main" id="{3C8685CB-76BC-4BB9-85DF-59445B69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71675"/>
            <a:ext cx="981075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64" name="p1-foundation-ontology">
            <a:extLst xmlns:a="http://schemas.openxmlformats.org/drawingml/2006/main">
              <a:ext uri="{FF2B5EF4-FFF2-40B4-BE49-F238E27FC236}">
                <a16:creationId xmlns:a16="http://schemas.microsoft.com/office/drawing/2014/main" id="{27C301C9-1B25-4CBB-A90C-B73D82E0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43175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路口—路段—路口</a:t>
            </a:r>
          </a:p>
        </p:txBody>
      </p:sp>
      <p:sp>
        <p:nvSpPr>
          <p:cNvPr id="65" name="p1-definition-row1-divider">
            <a:extLst xmlns:a="http://schemas.openxmlformats.org/drawingml/2006/main">
              <a:ext uri="{FF2B5EF4-FFF2-40B4-BE49-F238E27FC236}">
                <a16:creationId xmlns:a16="http://schemas.microsoft.com/office/drawing/2014/main" id="{E1A7A36F-A770-4CE7-BDED-3FAF87D8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66" name="p1-definition-row2-divider">
            <a:extLst xmlns:a="http://schemas.openxmlformats.org/drawingml/2006/main">
              <a:ext uri="{FF2B5EF4-FFF2-40B4-BE49-F238E27FC236}">
                <a16:creationId xmlns:a16="http://schemas.microsoft.com/office/drawing/2014/main" id="{B1E0516B-E163-453F-9417-FC9734CE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67" name="p1-definition-1-number">
            <a:extLst xmlns:a="http://schemas.openxmlformats.org/drawingml/2006/main">
              <a:ext uri="{FF2B5EF4-FFF2-40B4-BE49-F238E27FC236}">
                <a16:creationId xmlns:a16="http://schemas.microsoft.com/office/drawing/2014/main" id="{DABC362E-8DD4-48ED-940E-712E56E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04975"/>
            <a:ext cx="238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68" name="p1-definition-1-label">
            <a:extLst xmlns:a="http://schemas.openxmlformats.org/drawingml/2006/main">
              <a:ext uri="{FF2B5EF4-FFF2-40B4-BE49-F238E27FC236}">
                <a16:creationId xmlns:a16="http://schemas.microsoft.com/office/drawing/2014/main" id="{CC377FC7-21C0-417D-AECC-BA86BE75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04975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路口：</a:t>
            </a:r>
          </a:p>
        </p:txBody>
      </p:sp>
      <p:sp>
        <p:nvSpPr>
          <p:cNvPr id="69" name="p1-definition-1-text">
            <a:extLst xmlns:a="http://schemas.openxmlformats.org/drawingml/2006/main">
              <a:ext uri="{FF2B5EF4-FFF2-40B4-BE49-F238E27FC236}">
                <a16:creationId xmlns:a16="http://schemas.microsoft.com/office/drawing/2014/main" id="{128F23BF-CC49-450F-A914-6F40A5C9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04975"/>
            <a:ext cx="3781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道路汇聚、分流与连接关系发生的空间单元。</a:t>
            </a:r>
          </a:p>
        </p:txBody>
      </p:sp>
      <p:sp>
        <p:nvSpPr>
          <p:cNvPr id="70" name="p1-definition-2-number">
            <a:extLst xmlns:a="http://schemas.openxmlformats.org/drawingml/2006/main">
              <a:ext uri="{FF2B5EF4-FFF2-40B4-BE49-F238E27FC236}">
                <a16:creationId xmlns:a16="http://schemas.microsoft.com/office/drawing/2014/main" id="{ADB0FDEA-FFC4-45C8-81D1-B438290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66925"/>
            <a:ext cx="238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71" name="p1-definition-2-label">
            <a:extLst xmlns:a="http://schemas.openxmlformats.org/drawingml/2006/main">
              <a:ext uri="{FF2B5EF4-FFF2-40B4-BE49-F238E27FC236}">
                <a16:creationId xmlns:a16="http://schemas.microsoft.com/office/drawing/2014/main" id="{C245F77F-B0ED-442A-B980-3A099E2C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66925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路段：</a:t>
            </a:r>
          </a:p>
        </p:txBody>
      </p:sp>
      <p:sp>
        <p:nvSpPr>
          <p:cNvPr id="72" name="p1-definition-2-text">
            <a:extLst xmlns:a="http://schemas.openxmlformats.org/drawingml/2006/main">
              <a:ext uri="{FF2B5EF4-FFF2-40B4-BE49-F238E27FC236}">
                <a16:creationId xmlns:a16="http://schemas.microsoft.com/office/drawing/2014/main" id="{73CA7953-D889-40E3-8D0C-4EF7F95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66925"/>
            <a:ext cx="3781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连接相邻路口、承载连续通行的道路单元。</a:t>
            </a:r>
          </a:p>
        </p:txBody>
      </p:sp>
      <p:sp>
        <p:nvSpPr>
          <p:cNvPr id="73" name="p1-definition-3-number">
            <a:extLst xmlns:a="http://schemas.openxmlformats.org/drawingml/2006/main">
              <a:ext uri="{FF2B5EF4-FFF2-40B4-BE49-F238E27FC236}">
                <a16:creationId xmlns:a16="http://schemas.microsoft.com/office/drawing/2014/main" id="{88769A1A-17DF-440A-9125-8DE82CF0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288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74" name="p1-definition-3-label">
            <a:extLst xmlns:a="http://schemas.openxmlformats.org/drawingml/2006/main">
              <a:ext uri="{FF2B5EF4-FFF2-40B4-BE49-F238E27FC236}">
                <a16:creationId xmlns:a16="http://schemas.microsoft.com/office/drawing/2014/main" id="{BB83882A-1112-4BE0-9BFF-00C00460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288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价值：</a:t>
            </a:r>
          </a:p>
        </p:txBody>
      </p:sp>
      <p:sp>
        <p:nvSpPr>
          <p:cNvPr id="75" name="p1-definition-3-text">
            <a:extLst xmlns:a="http://schemas.openxmlformats.org/drawingml/2006/main">
              <a:ext uri="{FF2B5EF4-FFF2-40B4-BE49-F238E27FC236}">
                <a16:creationId xmlns:a16="http://schemas.microsoft.com/office/drawing/2014/main" id="{F5C02221-C635-4320-AA71-5341F7BD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3781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以稳定业务语义屏蔽节点增减、道路切分和数据来源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差异。</a:t>
            </a:r>
          </a:p>
        </p:txBody>
      </p:sp>
      <p:sp>
        <p:nvSpPr>
          <p:cNvPr id="76" name="p1-layer1-to-layer2-shaft">
            <a:extLst xmlns:a="http://schemas.openxmlformats.org/drawingml/2006/main">
              <a:ext uri="{FF2B5EF4-FFF2-40B4-BE49-F238E27FC236}">
                <a16:creationId xmlns:a16="http://schemas.microsoft.com/office/drawing/2014/main" id="{1C4BC455-1EE0-48EC-AB47-35D7BC79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77" name="p1-layer1-to-layer2-head-left">
            <a:extLst xmlns:a="http://schemas.openxmlformats.org/drawingml/2006/main">
              <a:ext uri="{FF2B5EF4-FFF2-40B4-BE49-F238E27FC236}">
                <a16:creationId xmlns:a16="http://schemas.microsoft.com/office/drawing/2014/main" id="{DBBD3CC3-79EA-4428-AF74-2A6D8B9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67050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78" name="p1-layer1-to-layer2-head-right">
            <a:extLst xmlns:a="http://schemas.openxmlformats.org/drawingml/2006/main">
              <a:ext uri="{FF2B5EF4-FFF2-40B4-BE49-F238E27FC236}">
                <a16:creationId xmlns:a16="http://schemas.microsoft.com/office/drawing/2014/main" id="{47642ABD-64CA-4D02-B0FD-D5CCEACF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3067050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79" name="p1-第二层-accent">
            <a:extLst xmlns:a="http://schemas.openxmlformats.org/drawingml/2006/main">
              <a:ext uri="{FF2B5EF4-FFF2-40B4-BE49-F238E27FC236}">
                <a16:creationId xmlns:a16="http://schemas.microsoft.com/office/drawing/2014/main" id="{C7CE88E0-842A-4BF7-9586-5A85AD2F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1-第二层-index">
            <a:extLst xmlns:a="http://schemas.openxmlformats.org/drawingml/2006/main">
              <a:ext uri="{FF2B5EF4-FFF2-40B4-BE49-F238E27FC236}">
                <a16:creationId xmlns:a16="http://schemas.microsoft.com/office/drawing/2014/main" id="{C4EDEDCB-0FBA-456B-AF7C-BB312EC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第二层</a:t>
            </a:r>
          </a:p>
        </p:txBody>
      </p:sp>
      <p:sp>
        <p:nvSpPr>
          <p:cNvPr id="81" name="p1-第二层-topic">
            <a:extLst xmlns:a="http://schemas.openxmlformats.org/drawingml/2006/main">
              <a:ext uri="{FF2B5EF4-FFF2-40B4-BE49-F238E27FC236}">
                <a16:creationId xmlns:a16="http://schemas.microsoft.com/office/drawing/2014/main" id="{C304E2A5-24A2-4E58-A06D-89710122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82" name="p1-layer2-heading-divider">
            <a:extLst xmlns:a="http://schemas.openxmlformats.org/drawingml/2006/main">
              <a:ext uri="{FF2B5EF4-FFF2-40B4-BE49-F238E27FC236}">
                <a16:creationId xmlns:a16="http://schemas.microsoft.com/office/drawing/2014/main" id="{4815EB10-088A-40F8-8E8A-71B365C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3" name="p1-layer2-bottom-divider">
            <a:extLst xmlns:a="http://schemas.openxmlformats.org/drawingml/2006/main">
              <a:ext uri="{FF2B5EF4-FFF2-40B4-BE49-F238E27FC236}">
                <a16:creationId xmlns:a16="http://schemas.microsoft.com/office/drawing/2014/main" id="{4DA4C404-4148-4440-B810-1BF1695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4" name="p1-tech-reality">
            <a:extLst xmlns:a="http://schemas.openxmlformats.org/drawingml/2006/main">
              <a:ext uri="{FF2B5EF4-FFF2-40B4-BE49-F238E27FC236}">
                <a16:creationId xmlns:a16="http://schemas.microsoft.com/office/drawing/2014/main" id="{CAB3D270-9F68-4AC3-B7CA-884DB4B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933825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rPr>
              <a:t>现实空间证据</a:t>
            </a:r>
          </a:p>
        </p:txBody>
      </p:sp>
      <p:sp>
        <p:nvSpPr>
          <p:cNvPr id="85" name="p1-tech-arrow-1-shaft">
            <a:extLst xmlns:a="http://schemas.openxmlformats.org/drawingml/2006/main">
              <a:ext uri="{FF2B5EF4-FFF2-40B4-BE49-F238E27FC236}">
                <a16:creationId xmlns:a16="http://schemas.microsoft.com/office/drawing/2014/main" id="{4B80D816-700C-4C8F-A9BD-8C5D330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576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86" name="p1-tech-arrow-1-head-top">
            <a:extLst xmlns:a="http://schemas.openxmlformats.org/drawingml/2006/main">
              <a:ext uri="{FF2B5EF4-FFF2-40B4-BE49-F238E27FC236}">
                <a16:creationId xmlns:a16="http://schemas.microsoft.com/office/drawing/2014/main" id="{6924D0BB-73CB-49C0-BA64-057615A8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9814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87" name="p1-tech-arrow-1-head-bottom">
            <a:extLst xmlns:a="http://schemas.openxmlformats.org/drawingml/2006/main">
              <a:ext uri="{FF2B5EF4-FFF2-40B4-BE49-F238E27FC236}">
                <a16:creationId xmlns:a16="http://schemas.microsoft.com/office/drawing/2014/main" id="{B84D5FE1-5201-44A3-82EE-EFC2594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38425" y="40576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88" name="p1-tech-anchor">
            <a:extLst xmlns:a="http://schemas.openxmlformats.org/drawingml/2006/main">
              <a:ext uri="{FF2B5EF4-FFF2-40B4-BE49-F238E27FC236}">
                <a16:creationId xmlns:a16="http://schemas.microsoft.com/office/drawing/2014/main" id="{554413B1-9566-4F9D-8717-ED760F35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67150"/>
            <a:ext cx="1219200" cy="371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路口锚定</a:t>
            </a:r>
          </a:p>
        </p:txBody>
      </p:sp>
      <p:sp>
        <p:nvSpPr>
          <p:cNvPr id="89" name="p1-tech-arrow-2-shaft">
            <a:extLst xmlns:a="http://schemas.openxmlformats.org/drawingml/2006/main">
              <a:ext uri="{FF2B5EF4-FFF2-40B4-BE49-F238E27FC236}">
                <a16:creationId xmlns:a16="http://schemas.microsoft.com/office/drawing/2014/main" id="{F567F706-AA56-47B0-BB6F-5AC4D80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0" name="p1-tech-arrow-2-head-top">
            <a:extLst xmlns:a="http://schemas.openxmlformats.org/drawingml/2006/main">
              <a:ext uri="{FF2B5EF4-FFF2-40B4-BE49-F238E27FC236}">
                <a16:creationId xmlns:a16="http://schemas.microsoft.com/office/drawing/2014/main" id="{F635A8E3-FFB7-482B-BA2A-D4DB06F5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1" name="p1-tech-arrow-2-head-bottom">
            <a:extLst xmlns:a="http://schemas.openxmlformats.org/drawingml/2006/main">
              <a:ext uri="{FF2B5EF4-FFF2-40B4-BE49-F238E27FC236}">
                <a16:creationId xmlns:a16="http://schemas.microsoft.com/office/drawing/2014/main" id="{42182A82-920A-4886-B22B-6ED7F01A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81550" y="40576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2" name="p1-tech-rcsd">
            <a:extLst xmlns:a="http://schemas.openxmlformats.org/drawingml/2006/main">
              <a:ext uri="{FF2B5EF4-FFF2-40B4-BE49-F238E27FC236}">
                <a16:creationId xmlns:a16="http://schemas.microsoft.com/office/drawing/2014/main" id="{71C39404-447B-4853-B09A-0657337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76675"/>
            <a:ext cx="12192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11430">
            <a:solidFill>
              <a:srgbClr val="D5D0C7"/>
            </a:solidFill>
            <a:prstDash val="solid"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对象</a:t>
            </a:r>
          </a:p>
        </p:txBody>
      </p:sp>
      <p:sp>
        <p:nvSpPr>
          <p:cNvPr id="93" name="p1-tech-arrow-3-shaft">
            <a:extLst xmlns:a="http://schemas.openxmlformats.org/drawingml/2006/main">
              <a:ext uri="{FF2B5EF4-FFF2-40B4-BE49-F238E27FC236}">
                <a16:creationId xmlns:a16="http://schemas.microsoft.com/office/drawing/2014/main" id="{EBB6F00D-DDA9-4746-882B-E8134E95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57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4" name="p1-tech-arrow-3-head-top">
            <a:extLst xmlns:a="http://schemas.openxmlformats.org/drawingml/2006/main">
              <a:ext uri="{FF2B5EF4-FFF2-40B4-BE49-F238E27FC236}">
                <a16:creationId xmlns:a16="http://schemas.microsoft.com/office/drawing/2014/main" id="{08858A9A-133A-4913-BD7D-E55B6C4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814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5" name="p1-tech-arrow-3-head-bottom">
            <a:extLst xmlns:a="http://schemas.openxmlformats.org/drawingml/2006/main">
              <a:ext uri="{FF2B5EF4-FFF2-40B4-BE49-F238E27FC236}">
                <a16:creationId xmlns:a16="http://schemas.microsoft.com/office/drawing/2014/main" id="{F9200F5F-4A3C-4AEC-90DC-854437E0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29425" y="40576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6" name="p1-tech-segment">
            <a:extLst xmlns:a="http://schemas.openxmlformats.org/drawingml/2006/main">
              <a:ext uri="{FF2B5EF4-FFF2-40B4-BE49-F238E27FC236}">
                <a16:creationId xmlns:a16="http://schemas.microsoft.com/office/drawing/2014/main" id="{ABD2A98D-24B1-43CA-8C98-A3F4C60E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67150"/>
            <a:ext cx="1219200" cy="371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路段构建</a:t>
            </a:r>
          </a:p>
        </p:txBody>
      </p:sp>
      <p:sp>
        <p:nvSpPr>
          <p:cNvPr id="97" name="p1-tech-arrow-4-shaft">
            <a:extLst xmlns:a="http://schemas.openxmlformats.org/drawingml/2006/main">
              <a:ext uri="{FF2B5EF4-FFF2-40B4-BE49-F238E27FC236}">
                <a16:creationId xmlns:a16="http://schemas.microsoft.com/office/drawing/2014/main" id="{9BB3E412-19C9-455A-A66B-0110114A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57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8" name="p1-tech-arrow-4-head-top">
            <a:extLst xmlns:a="http://schemas.openxmlformats.org/drawingml/2006/main">
              <a:ext uri="{FF2B5EF4-FFF2-40B4-BE49-F238E27FC236}">
                <a16:creationId xmlns:a16="http://schemas.microsoft.com/office/drawing/2014/main" id="{17A4F9D8-B1CC-43DE-B274-E5F79352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9" name="p1-tech-arrow-4-head-bottom">
            <a:extLst xmlns:a="http://schemas.openxmlformats.org/drawingml/2006/main">
              <a:ext uri="{FF2B5EF4-FFF2-40B4-BE49-F238E27FC236}">
                <a16:creationId xmlns:a16="http://schemas.microsoft.com/office/drawing/2014/main" id="{731263C3-0572-4A4D-852B-877076B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96350" y="40576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100" name="p1-tech-output">
            <a:extLst xmlns:a="http://schemas.openxmlformats.org/drawingml/2006/main">
              <a:ext uri="{FF2B5EF4-FFF2-40B4-BE49-F238E27FC236}">
                <a16:creationId xmlns:a16="http://schemas.microsoft.com/office/drawing/2014/main" id="{1165F880-6429-4BE1-8245-B08AFDDB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76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形成完整道路 / 节点承载</a:t>
            </a:r>
          </a:p>
        </p:txBody>
      </p:sp>
      <p:sp>
        <p:nvSpPr>
          <p:cNvPr id="101" name="p1-layer2-to-layer3-shaft">
            <a:extLst xmlns:a="http://schemas.openxmlformats.org/drawingml/2006/main">
              <a:ext uri="{FF2B5EF4-FFF2-40B4-BE49-F238E27FC236}">
                <a16:creationId xmlns:a16="http://schemas.microsoft.com/office/drawing/2014/main" id="{405ED6C4-11E0-4C0A-8F85-DBDAAF61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57725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102" name="p1-layer2-to-layer3-head-left">
            <a:extLst xmlns:a="http://schemas.openxmlformats.org/drawingml/2006/main">
              <a:ext uri="{FF2B5EF4-FFF2-40B4-BE49-F238E27FC236}">
                <a16:creationId xmlns:a16="http://schemas.microsoft.com/office/drawing/2014/main" id="{B37C0977-316A-4619-A1DC-95F3B14E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73392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103" name="p1-layer2-to-layer3-head-right">
            <a:extLst xmlns:a="http://schemas.openxmlformats.org/drawingml/2006/main">
              <a:ext uri="{FF2B5EF4-FFF2-40B4-BE49-F238E27FC236}">
                <a16:creationId xmlns:a16="http://schemas.microsoft.com/office/drawing/2014/main" id="{002706F0-5DCE-4A83-88C1-E06C7D45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473392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104" name="p1-第三层-accent">
            <a:extLst xmlns:a="http://schemas.openxmlformats.org/drawingml/2006/main">
              <a:ext uri="{FF2B5EF4-FFF2-40B4-BE49-F238E27FC236}">
                <a16:creationId xmlns:a16="http://schemas.microsoft.com/office/drawing/2014/main" id="{94E0D73B-64B9-4F39-8471-1BCCE7E6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1-第三层-index">
            <a:extLst xmlns:a="http://schemas.openxmlformats.org/drawingml/2006/main">
              <a:ext uri="{FF2B5EF4-FFF2-40B4-BE49-F238E27FC236}">
                <a16:creationId xmlns:a16="http://schemas.microsoft.com/office/drawing/2014/main" id="{2080CD6B-41D2-46FB-9186-2108706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第三层</a:t>
            </a:r>
          </a:p>
        </p:txBody>
      </p:sp>
      <p:sp>
        <p:nvSpPr>
          <p:cNvPr id="106" name="p1-第三层-topic">
            <a:extLst xmlns:a="http://schemas.openxmlformats.org/drawingml/2006/main">
              <a:ext uri="{FF2B5EF4-FFF2-40B4-BE49-F238E27FC236}">
                <a16:creationId xmlns:a16="http://schemas.microsoft.com/office/drawing/2014/main" id="{23510ABB-07FD-4D1A-B296-E626115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6727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四条业务路径</a:t>
            </a:r>
          </a:p>
        </p:txBody>
      </p:sp>
      <p:sp>
        <p:nvSpPr>
          <p:cNvPr id="107" name="p1-layer3-heading-divider">
            <a:extLst xmlns:a="http://schemas.openxmlformats.org/drawingml/2006/main">
              <a:ext uri="{FF2B5EF4-FFF2-40B4-BE49-F238E27FC236}">
                <a16:creationId xmlns:a16="http://schemas.microsoft.com/office/drawing/2014/main" id="{8FC1D71E-8583-4F16-8DDC-0CCD7F26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8" name="p1-layer3-bottom-divider">
            <a:extLst xmlns:a="http://schemas.openxmlformats.org/drawingml/2006/main">
              <a:ext uri="{FF2B5EF4-FFF2-40B4-BE49-F238E27FC236}">
                <a16:creationId xmlns:a16="http://schemas.microsoft.com/office/drawing/2014/main" id="{5961A1B0-71BD-484E-83C8-A974240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9" name="p1-path-divider-1">
            <a:extLst xmlns:a="http://schemas.openxmlformats.org/drawingml/2006/main">
              <a:ext uri="{FF2B5EF4-FFF2-40B4-BE49-F238E27FC236}">
                <a16:creationId xmlns:a16="http://schemas.microsoft.com/office/drawing/2014/main" id="{958FA70F-37C8-4715-8FAF-281106C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53816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110" name="p1-path-divider-2">
            <a:extLst xmlns:a="http://schemas.openxmlformats.org/drawingml/2006/main">
              <a:ext uri="{FF2B5EF4-FFF2-40B4-BE49-F238E27FC236}">
                <a16:creationId xmlns:a16="http://schemas.microsoft.com/office/drawing/2014/main" id="{858B4F57-8FC3-4C36-B2E9-A74A73DB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3816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111" name="p1-path-timeline">
            <a:extLst xmlns:a="http://schemas.openxmlformats.org/drawingml/2006/main">
              <a:ext uri="{FF2B5EF4-FFF2-40B4-BE49-F238E27FC236}">
                <a16:creationId xmlns:a16="http://schemas.microsoft.com/office/drawing/2014/main" id="{C390CA60-59B9-4724-BB8A-F29F0B22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292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0C7"/>
            </a:solidFill>
            <a:prstDash val="solid"/>
          </a:ln>
        </p:spPr>
      </p:sp>
      <p:sp>
        <p:nvSpPr>
          <p:cNvPr id="112" name="p1-path-node-1-outer">
            <a:extLst xmlns:a="http://schemas.openxmlformats.org/drawingml/2006/main">
              <a:ext uri="{FF2B5EF4-FFF2-40B4-BE49-F238E27FC236}">
                <a16:creationId xmlns:a16="http://schemas.microsoft.com/office/drawing/2014/main" id="{F77CA3F6-A6B2-4717-B393-1E061474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856" y="554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3" name="p1-path-node-1-inner">
            <a:extLst xmlns:a="http://schemas.openxmlformats.org/drawingml/2006/main">
              <a:ext uri="{FF2B5EF4-FFF2-40B4-BE49-F238E27FC236}">
                <a16:creationId xmlns:a16="http://schemas.microsoft.com/office/drawing/2014/main" id="{09FAECFA-9F6D-4274-B742-8D1FA96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481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4" name="p1-path-node-2-outer">
            <a:extLst xmlns:a="http://schemas.openxmlformats.org/drawingml/2006/main">
              <a:ext uri="{FF2B5EF4-FFF2-40B4-BE49-F238E27FC236}">
                <a16:creationId xmlns:a16="http://schemas.microsoft.com/office/drawing/2014/main" id="{39775646-84BD-4584-9C45-C76D6EF0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819" y="554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5" name="p1-path-node-2-inner">
            <a:extLst xmlns:a="http://schemas.openxmlformats.org/drawingml/2006/main">
              <a:ext uri="{FF2B5EF4-FFF2-40B4-BE49-F238E27FC236}">
                <a16:creationId xmlns:a16="http://schemas.microsoft.com/office/drawing/2014/main" id="{061121BB-DAED-4F5C-B223-B839D654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444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6" name="p1-path-node-3-outer">
            <a:extLst xmlns:a="http://schemas.openxmlformats.org/drawingml/2006/main">
              <a:ext uri="{FF2B5EF4-FFF2-40B4-BE49-F238E27FC236}">
                <a16:creationId xmlns:a16="http://schemas.microsoft.com/office/drawing/2014/main" id="{2CD23124-4427-4050-81BD-8A78CCC4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81" y="554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7" name="p1-path-node-3-inner">
            <a:extLst xmlns:a="http://schemas.openxmlformats.org/drawingml/2006/main">
              <a:ext uri="{FF2B5EF4-FFF2-40B4-BE49-F238E27FC236}">
                <a16:creationId xmlns:a16="http://schemas.microsoft.com/office/drawing/2014/main" id="{149B27FD-074A-457E-BB99-65A402E6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406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8" name="p1-path-safe-replace-title">
            <a:extLst xmlns:a="http://schemas.openxmlformats.org/drawingml/2006/main">
              <a:ext uri="{FF2B5EF4-FFF2-40B4-BE49-F238E27FC236}">
                <a16:creationId xmlns:a16="http://schemas.microsoft.com/office/drawing/2014/main" id="{38DB6606-6140-4039-907F-C65353E5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274796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安全替换</a:t>
            </a:r>
          </a:p>
        </p:txBody>
      </p:sp>
      <p:sp>
        <p:nvSpPr>
          <p:cNvPr id="119" name="p1-path-safe-replace-desc">
            <a:extLst xmlns:a="http://schemas.openxmlformats.org/drawingml/2006/main">
              <a:ext uri="{FF2B5EF4-FFF2-40B4-BE49-F238E27FC236}">
                <a16:creationId xmlns:a16="http://schemas.microsoft.com/office/drawing/2014/main" id="{2531C5BA-D1D1-4017-A42F-C935A4C0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2633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锚定可信 · 关系可审计 ·</a:t>
            </a:r>
          </a:p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替换有边界</a:t>
            </a:r>
          </a:p>
        </p:txBody>
      </p:sp>
      <p:sp>
        <p:nvSpPr>
          <p:cNvPr id="120" name="p1-path-quality-check-title">
            <a:extLst xmlns:a="http://schemas.openxmlformats.org/drawingml/2006/main">
              <a:ext uri="{FF2B5EF4-FFF2-40B4-BE49-F238E27FC236}">
                <a16:creationId xmlns:a16="http://schemas.microsoft.com/office/drawing/2014/main" id="{FA068D4A-0702-4A0B-B27A-BBB1CF9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5753100"/>
            <a:ext cx="274796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21" name="p1-path-quality-check-desc">
            <a:extLst xmlns:a="http://schemas.openxmlformats.org/drawingml/2006/main">
              <a:ext uri="{FF2B5EF4-FFF2-40B4-BE49-F238E27FC236}">
                <a16:creationId xmlns:a16="http://schemas.microsoft.com/office/drawing/2014/main" id="{E15730DA-27D8-4904-8FDC-A97E86F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6048375"/>
            <a:ext cx="2633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问题可定位 · 证据可追溯 ·</a:t>
            </a:r>
          </a:p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不自动修复</a:t>
            </a:r>
          </a:p>
        </p:txBody>
      </p:sp>
      <p:sp>
        <p:nvSpPr>
          <p:cNvPr id="122" name="p1-path-top-down-build-title">
            <a:extLst xmlns:a="http://schemas.openxmlformats.org/drawingml/2006/main">
              <a:ext uri="{FF2B5EF4-FFF2-40B4-BE49-F238E27FC236}">
                <a16:creationId xmlns:a16="http://schemas.microsoft.com/office/drawing/2014/main" id="{757231C5-C8BD-4814-B041-4A36B7E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753100"/>
            <a:ext cx="274796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自上而下构建</a:t>
            </a:r>
          </a:p>
        </p:txBody>
      </p:sp>
      <p:sp>
        <p:nvSpPr>
          <p:cNvPr id="123" name="p1-path-top-down-build-desc">
            <a:extLst xmlns:a="http://schemas.openxmlformats.org/drawingml/2006/main">
              <a:ext uri="{FF2B5EF4-FFF2-40B4-BE49-F238E27FC236}">
                <a16:creationId xmlns:a16="http://schemas.microsoft.com/office/drawing/2014/main" id="{7492F0CD-E40E-4CCB-A5FC-CD3328B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048375"/>
            <a:ext cx="2633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现实证据起步 ·</a:t>
            </a:r>
          </a:p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道路与节点完整承载</a:t>
            </a:r>
          </a:p>
        </p:txBody>
      </p:sp>
      <p:sp>
        <p:nvSpPr>
          <p:cNvPr id="124" name="p1-path-divider-3">
            <a:extLst xmlns:a="http://schemas.openxmlformats.org/drawingml/2006/main">
              <a:ext uri="{FF2B5EF4-FFF2-40B4-BE49-F238E27FC236}">
                <a16:creationId xmlns:a16="http://schemas.microsoft.com/office/drawing/2014/main" id="{4257D7F4-AEA4-489C-A477-98E71D3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3816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125" name="p1-path-node-4-outer">
            <a:extLst xmlns:a="http://schemas.openxmlformats.org/drawingml/2006/main">
              <a:ext uri="{FF2B5EF4-FFF2-40B4-BE49-F238E27FC236}">
                <a16:creationId xmlns:a16="http://schemas.microsoft.com/office/drawing/2014/main" id="{F5117B46-C3E5-4D09-9203-2E8267F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744" y="554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26" name="p1-path-node-4-inner">
            <a:extLst xmlns:a="http://schemas.openxmlformats.org/drawingml/2006/main">
              <a:ext uri="{FF2B5EF4-FFF2-40B4-BE49-F238E27FC236}">
                <a16:creationId xmlns:a16="http://schemas.microsoft.com/office/drawing/2014/main" id="{F85E9CCF-3FB9-4C3F-8165-3BB6D57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369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27" name="p1-path-reality-change-title">
            <a:extLst xmlns:a="http://schemas.openxmlformats.org/drawingml/2006/main">
              <a:ext uri="{FF2B5EF4-FFF2-40B4-BE49-F238E27FC236}">
                <a16:creationId xmlns:a16="http://schemas.microsoft.com/office/drawing/2014/main" id="{8553DB0E-3F8E-4FFE-B363-1A9162AD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753100"/>
            <a:ext cx="274796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现实变更</a:t>
            </a:r>
          </a:p>
        </p:txBody>
      </p:sp>
      <p:sp>
        <p:nvSpPr>
          <p:cNvPr id="128" name="p1-path-reality-change-desc">
            <a:extLst xmlns:a="http://schemas.openxmlformats.org/drawingml/2006/main">
              <a:ext uri="{FF2B5EF4-FFF2-40B4-BE49-F238E27FC236}">
                <a16:creationId xmlns:a16="http://schemas.microsoft.com/office/drawing/2014/main" id="{788AF771-665E-4415-8706-3E2915BD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6048375"/>
            <a:ext cx="2633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路口新增或形态变化 ·</a:t>
            </a:r>
          </a:p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路口间通行关系变化</a:t>
            </a:r>
          </a:p>
        </p:txBody>
      </p:sp>
    </p:spTree>
    <p:extLst>
      <p:ext uri="{BB962C8B-B14F-4D97-AF65-F5344CB8AC3E}">
        <p14:creationId xmlns:p14="http://schemas.microsoft.com/office/powerpoint/2010/main" val="1437893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title">
            <a:extLst xmlns:a="http://schemas.openxmlformats.org/drawingml/2006/main">
              <a:ext uri="{FF2B5EF4-FFF2-40B4-BE49-F238E27FC236}">
                <a16:creationId xmlns:a16="http://schemas.microsoft.com/office/drawing/2014/main" id="{7A22530E-8EF0-4301-A82B-F1870D2C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方案一：基于路口锚定的路段安全替换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13C5BB2-F73C-4870-9847-CD64031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以可信路口关系圈定替换范围，只有方向、连通、覆盖与拓扑审计全部通过，才写入融合路网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A9DCDDB-08C6-4732-A0D9-71455F4E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9" name="p2-scheme-heading-v03">
            <a:extLst xmlns:a="http://schemas.openxmlformats.org/drawingml/2006/main">
              <a:ext uri="{FF2B5EF4-FFF2-40B4-BE49-F238E27FC236}">
                <a16:creationId xmlns:a16="http://schemas.microsoft.com/office/drawing/2014/main" id="{FD120FBE-551C-4039-BB8C-9A9E456F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替换方案</a:t>
            </a:r>
          </a:p>
        </p:txBody>
      </p:sp>
      <p:sp>
        <p:nvSpPr>
          <p:cNvPr id="90" name="p2-scheme-baseline-v03">
            <a:extLst xmlns:a="http://schemas.openxmlformats.org/drawingml/2006/main">
              <a:ext uri="{FF2B5EF4-FFF2-40B4-BE49-F238E27FC236}">
                <a16:creationId xmlns:a16="http://schemas.microsoft.com/office/drawing/2014/main" id="{26396359-16CC-44D9-8671-92B7AAE8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91" name="p2-anchor-entry-left-v03">
            <a:extLst xmlns:a="http://schemas.openxmlformats.org/drawingml/2006/main">
              <a:ext uri="{FF2B5EF4-FFF2-40B4-BE49-F238E27FC236}">
                <a16:creationId xmlns:a16="http://schemas.microsoft.com/office/drawing/2014/main" id="{39177277-7522-4324-906B-6220E86C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71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p2-anchor-entry-right-v03">
            <a:extLst xmlns:a="http://schemas.openxmlformats.org/drawingml/2006/main">
              <a:ext uri="{FF2B5EF4-FFF2-40B4-BE49-F238E27FC236}">
                <a16:creationId xmlns:a16="http://schemas.microsoft.com/office/drawing/2014/main" id="{0657E3FD-A1D9-469A-A1CC-36A60907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71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3" name="p2-anchor-entry-out-v03">
            <a:extLst xmlns:a="http://schemas.openxmlformats.org/drawingml/2006/main">
              <a:ext uri="{FF2B5EF4-FFF2-40B4-BE49-F238E27FC236}">
                <a16:creationId xmlns:a16="http://schemas.microsoft.com/office/drawing/2014/main" id="{D34C34ED-6046-48D2-B8DD-370C1353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p2-anchor-evidence-in-v03">
            <a:extLst xmlns:a="http://schemas.openxmlformats.org/drawingml/2006/main">
              <a:ext uri="{FF2B5EF4-FFF2-40B4-BE49-F238E27FC236}">
                <a16:creationId xmlns:a16="http://schemas.microsoft.com/office/drawing/2014/main" id="{711903CB-4BC4-4F30-B030-23C6952F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5" name="p2-anchor-evidence-out-v03">
            <a:extLst xmlns:a="http://schemas.openxmlformats.org/drawingml/2006/main">
              <a:ext uri="{FF2B5EF4-FFF2-40B4-BE49-F238E27FC236}">
                <a16:creationId xmlns:a16="http://schemas.microsoft.com/office/drawing/2014/main" id="{BDBC63BA-5C1B-4BD4-A719-76035AB7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6" name="p2-anchor-audit-in-v03">
            <a:extLst xmlns:a="http://schemas.openxmlformats.org/drawingml/2006/main">
              <a:ext uri="{FF2B5EF4-FFF2-40B4-BE49-F238E27FC236}">
                <a16:creationId xmlns:a16="http://schemas.microsoft.com/office/drawing/2014/main" id="{8A7AE9FD-44B6-4004-A125-4B81859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p2-anchor-audit-out-v03">
            <a:extLst xmlns:a="http://schemas.openxmlformats.org/drawingml/2006/main">
              <a:ext uri="{FF2B5EF4-FFF2-40B4-BE49-F238E27FC236}">
                <a16:creationId xmlns:a16="http://schemas.microsoft.com/office/drawing/2014/main" id="{D89EEE53-6986-4886-ACB5-F160FE5B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8" name="p2-anchor-branch-v03">
            <a:extLst xmlns:a="http://schemas.openxmlformats.org/drawingml/2006/main">
              <a:ext uri="{FF2B5EF4-FFF2-40B4-BE49-F238E27FC236}">
                <a16:creationId xmlns:a16="http://schemas.microsoft.com/office/drawing/2014/main" id="{58040C16-39A9-4FB7-B62D-2332C7AD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9" name="p2-anchor-pass-v03">
            <a:extLst xmlns:a="http://schemas.openxmlformats.org/drawingml/2006/main">
              <a:ext uri="{FF2B5EF4-FFF2-40B4-BE49-F238E27FC236}">
                <a16:creationId xmlns:a16="http://schemas.microsoft.com/office/drawing/2014/main" id="{02913051-8FF2-4E66-85A3-E03E385B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33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p2-anchor-fail-v03">
            <a:extLst xmlns:a="http://schemas.openxmlformats.org/drawingml/2006/main">
              <a:ext uri="{FF2B5EF4-FFF2-40B4-BE49-F238E27FC236}">
                <a16:creationId xmlns:a16="http://schemas.microsoft.com/office/drawing/2014/main" id="{ADE48991-7344-4658-9A4D-A15FD90F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43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4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809625" y="2381250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D2A26"/>
            </a:solidFill>
            <a:prstDash val="solid"/>
          </a:ln>
        </p:spPr>
      </p:cxnSp>
      <p:cxnSp>
        <p:nvCxnSpPr>
          <p:cNvPr id="415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222885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16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621030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1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8782050" y="2619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1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 flipV="1">
            <a:off x="9144000" y="2143125"/>
            <a:ext cx="447675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19" name=""/>
          <p:cNvCxnSpPr>
            <a:stCxn xmlns:a="http://schemas.openxmlformats.org/drawingml/2006/main" id="98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9144000" y="2619375"/>
            <a:ext cx="447675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E6A64"/>
            </a:solidFill>
            <a:prstDash val="solid"/>
            <a:tailEnd type="arrow" w="med" len="med"/>
          </a:ln>
        </p:spPr>
      </p:cxnSp>
      <p:sp>
        <p:nvSpPr>
          <p:cNvPr id="107" name="p2-audit-axis-v03">
            <a:extLst xmlns:a="http://schemas.openxmlformats.org/drawingml/2006/main">
              <a:ext uri="{FF2B5EF4-FFF2-40B4-BE49-F238E27FC236}">
                <a16:creationId xmlns:a16="http://schemas.microsoft.com/office/drawing/2014/main" id="{97CC01B9-8F71-4299-9CD6-98CBDABF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526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D0C7"/>
            </a:solidFill>
            <a:prstDash val="solid"/>
          </a:ln>
        </p:spPr>
      </p:sp>
      <p:sp>
        <p:nvSpPr>
          <p:cNvPr id="108" name="p2-entry-accent-v03">
            <a:extLst xmlns:a="http://schemas.openxmlformats.org/drawingml/2006/main">
              <a:ext uri="{FF2B5EF4-FFF2-40B4-BE49-F238E27FC236}">
                <a16:creationId xmlns:a16="http://schemas.microsoft.com/office/drawing/2014/main" id="{92E9BCC5-16C1-41FE-96B1-A6E3B34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09" name="p2-entry-title-v03">
            <a:extLst xmlns:a="http://schemas.openxmlformats.org/drawingml/2006/main">
              <a:ext uri="{FF2B5EF4-FFF2-40B4-BE49-F238E27FC236}">
                <a16:creationId xmlns:a16="http://schemas.microsoft.com/office/drawing/2014/main" id="{87C3E92B-390F-418B-BAF3-1FD793D1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可信路口关系</a:t>
            </a:r>
          </a:p>
        </p:txBody>
      </p:sp>
      <p:sp>
        <p:nvSpPr>
          <p:cNvPr id="110" name="p2-entry-left-outer-v03">
            <a:extLst xmlns:a="http://schemas.openxmlformats.org/drawingml/2006/main">
              <a:ext uri="{FF2B5EF4-FFF2-40B4-BE49-F238E27FC236}">
                <a16:creationId xmlns:a16="http://schemas.microsoft.com/office/drawing/2014/main" id="{D2574B7A-BE2D-43D0-BB98-770BC843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1" name="p2-entry-left-inner-v03">
            <a:extLst xmlns:a="http://schemas.openxmlformats.org/drawingml/2006/main">
              <a:ext uri="{FF2B5EF4-FFF2-40B4-BE49-F238E27FC236}">
                <a16:creationId xmlns:a16="http://schemas.microsoft.com/office/drawing/2014/main" id="{AEF657E0-A0BF-422E-BFB1-099BF19D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2" name="p2-entry-right-outer-v03">
            <a:extLst xmlns:a="http://schemas.openxmlformats.org/drawingml/2006/main">
              <a:ext uri="{FF2B5EF4-FFF2-40B4-BE49-F238E27FC236}">
                <a16:creationId xmlns:a16="http://schemas.microsoft.com/office/drawing/2014/main" id="{F107EFCE-E225-4CF0-9AB2-11AC9E8A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3" name="p2-entry-right-inner-v03">
            <a:extLst xmlns:a="http://schemas.openxmlformats.org/drawingml/2006/main">
              <a:ext uri="{FF2B5EF4-FFF2-40B4-BE49-F238E27FC236}">
                <a16:creationId xmlns:a16="http://schemas.microsoft.com/office/drawing/2014/main" id="{650D17DA-B0BD-4B0C-BEFE-0B0128A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4" name="p2-entry-copy-v03">
            <a:extLst xmlns:a="http://schemas.openxmlformats.org/drawingml/2006/main">
              <a:ext uri="{FF2B5EF4-FFF2-40B4-BE49-F238E27FC236}">
                <a16:creationId xmlns:a16="http://schemas.microsoft.com/office/drawing/2014/main" id="{AE85CFC7-A193-4674-8567-982058B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两端路口均有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唯一、可解释的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RCSD 锚点</a:t>
            </a:r>
          </a:p>
        </p:txBody>
      </p:sp>
      <p:sp>
        <p:nvSpPr>
          <p:cNvPr id="115" name="p2-evidence-stage-accent-v03">
            <a:extLst xmlns:a="http://schemas.openxmlformats.org/drawingml/2006/main">
              <a:ext uri="{FF2B5EF4-FFF2-40B4-BE49-F238E27FC236}">
                <a16:creationId xmlns:a16="http://schemas.microsoft.com/office/drawing/2014/main" id="{7B06A1D9-8162-444E-BCBC-0B9B788E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16" name="p2-evidence-stage-title-v03">
            <a:extLst xmlns:a="http://schemas.openxmlformats.org/drawingml/2006/main">
              <a:ext uri="{FF2B5EF4-FFF2-40B4-BE49-F238E27FC236}">
                <a16:creationId xmlns:a16="http://schemas.microsoft.com/office/drawing/2014/main" id="{EAECCDE9-5091-4E6F-B75B-6C67C63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候选道路走廊</a:t>
            </a:r>
          </a:p>
        </p:txBody>
      </p:sp>
      <p:sp>
        <p:nvSpPr>
          <p:cNvPr id="117" name="p2-evidence-heading-v03">
            <a:extLst xmlns:a="http://schemas.openxmlformats.org/drawingml/2006/main">
              <a:ext uri="{FF2B5EF4-FFF2-40B4-BE49-F238E27FC236}">
                <a16:creationId xmlns:a16="http://schemas.microsoft.com/office/drawing/2014/main" id="{1890703E-7787-41B7-8BF8-96599588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真实锚定证据</a:t>
            </a:r>
          </a:p>
        </p:txBody>
      </p:sp>
      <p:sp>
        <p:nvSpPr>
          <p:cNvPr id="118" name="p2-evidence-copy-v03">
            <a:extLst xmlns:a="http://schemas.openxmlformats.org/drawingml/2006/main">
              <a:ext uri="{FF2B5EF4-FFF2-40B4-BE49-F238E27FC236}">
                <a16:creationId xmlns:a16="http://schemas.microsoft.com/office/drawing/2014/main" id="{AB9E5904-ECBA-4D52-97A5-06B68DD4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81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以路段范围约束候选 RCSD 道路，避免跨范围替换</a:t>
            </a:r>
          </a:p>
        </p:txBody>
      </p:sp>
      <p:sp>
        <p:nvSpPr>
          <p:cNvPr id="119" name="p2-evidence-frame-v03">
            <a:extLst xmlns:a="http://schemas.openxmlformats.org/drawingml/2006/main">
              <a:ext uri="{FF2B5EF4-FFF2-40B4-BE49-F238E27FC236}">
                <a16:creationId xmlns:a16="http://schemas.microsoft.com/office/drawing/2014/main" id="{70B7913F-5A1A-45C6-844F-8AA9FCA5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33147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120" name="p2-evidence-accent-v03">
            <a:extLst xmlns:a="http://schemas.openxmlformats.org/drawingml/2006/main">
              <a:ext uri="{FF2B5EF4-FFF2-40B4-BE49-F238E27FC236}">
                <a16:creationId xmlns:a16="http://schemas.microsoft.com/office/drawing/2014/main" id="{CD907BC7-229E-4D4D-A9DE-7CEF479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381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1905">
            <a:solidFill>
              <a:srgbClr val="7D2633"/>
            </a:solidFill>
            <a:prstDash val="solid"/>
          </a:ln>
        </p:spPr>
      </p:sp>
      <p:pic>
        <p:nvPicPr>
          <p:cNvPr id="434" name="p2-real-evidence-image-v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d328507a345f5"/>
          <a:stretch xmlns:a="http://schemas.openxmlformats.org/drawingml/2006/main"/>
        </p:blipFill>
        <p:spPr>
          <a:xfrm xmlns:a="http://schemas.openxmlformats.org/drawingml/2006/main">
            <a:off x="3119967" y="2209800"/>
            <a:ext cx="2523067" cy="1419225"/>
          </a:xfrm>
          <a:prstGeom xmlns:a="http://schemas.openxmlformats.org/drawingml/2006/main" prst="rect">
            <a:avLst/>
          </a:prstGeom>
        </p:spPr>
      </p:pic>
      <p:sp>
        <p:nvSpPr>
          <p:cNvPr id="122" name="p2-evidence-caption-v03">
            <a:extLst xmlns:a="http://schemas.openxmlformats.org/drawingml/2006/main">
              <a:ext uri="{FF2B5EF4-FFF2-40B4-BE49-F238E27FC236}">
                <a16:creationId xmlns:a16="http://schemas.microsoft.com/office/drawing/2014/main" id="{D5615987-1082-4559-9639-28D70DA1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861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以两端路口锚点约束道路走廊，替换范围可解释、可追溯</a:t>
            </a:r>
          </a:p>
        </p:txBody>
      </p:sp>
      <p:sp>
        <p:nvSpPr>
          <p:cNvPr id="123" name="p2-audit-accent-v03">
            <a:extLst xmlns:a="http://schemas.openxmlformats.org/drawingml/2006/main">
              <a:ext uri="{FF2B5EF4-FFF2-40B4-BE49-F238E27FC236}">
                <a16:creationId xmlns:a16="http://schemas.microsoft.com/office/drawing/2014/main" id="{90624BAB-7539-45D4-96D0-58241393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24" name="p2-audit-title-v03">
            <a:extLst xmlns:a="http://schemas.openxmlformats.org/drawingml/2006/main">
              <a:ext uri="{FF2B5EF4-FFF2-40B4-BE49-F238E27FC236}">
                <a16:creationId xmlns:a16="http://schemas.microsoft.com/office/drawing/2014/main" id="{C5E15039-1FDD-4C02-B760-3844D25A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替换条件审计</a:t>
            </a:r>
          </a:p>
        </p:txBody>
      </p:sp>
      <p:sp>
        <p:nvSpPr>
          <p:cNvPr id="125" name="p2-audit-marker-1-v03">
            <a:extLst xmlns:a="http://schemas.openxmlformats.org/drawingml/2006/main">
              <a:ext uri="{FF2B5EF4-FFF2-40B4-BE49-F238E27FC236}">
                <a16:creationId xmlns:a16="http://schemas.microsoft.com/office/drawing/2014/main" id="{5C7B6B84-65F5-4D0B-ADB9-D15C9A2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14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26" name="p2-audit-row-1-v03">
            <a:extLst xmlns:a="http://schemas.openxmlformats.org/drawingml/2006/main">
              <a:ext uri="{FF2B5EF4-FFF2-40B4-BE49-F238E27FC236}">
                <a16:creationId xmlns:a16="http://schemas.microsoft.com/office/drawing/2014/main" id="{EF78D298-C613-4DCF-AF4F-F57A7E0B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57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方向一致 ·</a:t>
            </a:r>
          </a:p>
        </p:txBody>
      </p:sp>
      <p:sp>
        <p:nvSpPr>
          <p:cNvPr id="127" name="p2-audit-marker-2-v03">
            <a:extLst xmlns:a="http://schemas.openxmlformats.org/drawingml/2006/main">
              <a:ext uri="{FF2B5EF4-FFF2-40B4-BE49-F238E27FC236}">
                <a16:creationId xmlns:a16="http://schemas.microsoft.com/office/drawing/2014/main" id="{CADE0C42-7E7D-43F2-87D2-19022337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28" name="p2-audit-row-2-v03">
            <a:extLst xmlns:a="http://schemas.openxmlformats.org/drawingml/2006/main">
              <a:ext uri="{FF2B5EF4-FFF2-40B4-BE49-F238E27FC236}">
                <a16:creationId xmlns:a16="http://schemas.microsoft.com/office/drawing/2014/main" id="{4330A2A5-C3B2-4746-ADC9-BF8AD0F6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38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路径连通 ·</a:t>
            </a:r>
          </a:p>
        </p:txBody>
      </p:sp>
      <p:sp>
        <p:nvSpPr>
          <p:cNvPr id="129" name="p2-audit-marker-3-v03">
            <a:extLst xmlns:a="http://schemas.openxmlformats.org/drawingml/2006/main">
              <a:ext uri="{FF2B5EF4-FFF2-40B4-BE49-F238E27FC236}">
                <a16:creationId xmlns:a16="http://schemas.microsoft.com/office/drawing/2014/main" id="{213013B2-F27D-4A2C-A7D2-3A36176E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76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30" name="p2-audit-row-3-v03">
            <a:extLst xmlns:a="http://schemas.openxmlformats.org/drawingml/2006/main">
              <a:ext uri="{FF2B5EF4-FFF2-40B4-BE49-F238E27FC236}">
                <a16:creationId xmlns:a16="http://schemas.microsoft.com/office/drawing/2014/main" id="{25C8F55A-659D-458E-B2AC-4E9C11A6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19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几何覆盖 ·</a:t>
            </a:r>
          </a:p>
        </p:txBody>
      </p:sp>
      <p:sp>
        <p:nvSpPr>
          <p:cNvPr id="131" name="p2-audit-marker-4-v03">
            <a:extLst xmlns:a="http://schemas.openxmlformats.org/drawingml/2006/main">
              <a:ext uri="{FF2B5EF4-FFF2-40B4-BE49-F238E27FC236}">
                <a16:creationId xmlns:a16="http://schemas.microsoft.com/office/drawing/2014/main" id="{6D4A6A8D-7D1E-4DE8-ABD0-023FB860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32" name="p2-audit-row-4-v03">
            <a:extLst xmlns:a="http://schemas.openxmlformats.org/drawingml/2006/main">
              <a:ext uri="{FF2B5EF4-FFF2-40B4-BE49-F238E27FC236}">
                <a16:creationId xmlns:a16="http://schemas.microsoft.com/office/drawing/2014/main" id="{871073B6-5325-4B9F-97B7-AC3C028C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00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拓扑闭合</a:t>
            </a:r>
          </a:p>
        </p:txBody>
      </p:sp>
      <p:sp>
        <p:nvSpPr>
          <p:cNvPr id="133" name="p2-result-accent-v03">
            <a:extLst xmlns:a="http://schemas.openxmlformats.org/drawingml/2006/main">
              <a:ext uri="{FF2B5EF4-FFF2-40B4-BE49-F238E27FC236}">
                <a16:creationId xmlns:a16="http://schemas.microsoft.com/office/drawing/2014/main" id="{EDB8AEBD-8EA4-46E8-A60F-5575E42F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34" name="p2-result-title-v03">
            <a:extLst xmlns:a="http://schemas.openxmlformats.org/drawingml/2006/main">
              <a:ext uri="{FF2B5EF4-FFF2-40B4-BE49-F238E27FC236}">
                <a16:creationId xmlns:a16="http://schemas.microsoft.com/office/drawing/2014/main" id="{BA67383A-58A4-4474-BA26-1B71C35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形成替换结果</a:t>
            </a:r>
          </a:p>
        </p:txBody>
      </p:sp>
      <p:sp>
        <p:nvSpPr>
          <p:cNvPr id="135" name="p2-branch-node-v03">
            <a:extLst xmlns:a="http://schemas.openxmlformats.org/drawingml/2006/main">
              <a:ext uri="{FF2B5EF4-FFF2-40B4-BE49-F238E27FC236}">
                <a16:creationId xmlns:a16="http://schemas.microsoft.com/office/drawing/2014/main" id="{DFA0B511-4FDD-4603-97AB-BBF156D8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36" name="p2-pass-node-v03">
            <a:extLst xmlns:a="http://schemas.openxmlformats.org/drawingml/2006/main">
              <a:ext uri="{FF2B5EF4-FFF2-40B4-BE49-F238E27FC236}">
                <a16:creationId xmlns:a16="http://schemas.microsoft.com/office/drawing/2014/main" id="{A7F1B3DD-2C25-44FD-87E0-15FDA85C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37" name="p2-pass-text-v03">
            <a:extLst xmlns:a="http://schemas.openxmlformats.org/drawingml/2006/main">
              <a:ext uri="{FF2B5EF4-FFF2-40B4-BE49-F238E27FC236}">
                <a16:creationId xmlns:a16="http://schemas.microsoft.com/office/drawing/2014/main" id="{CC17A142-AD2F-4FBF-BE58-06F58F16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716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通过则替换主干</a:t>
            </a:r>
          </a:p>
        </p:txBody>
      </p:sp>
      <p:sp>
        <p:nvSpPr>
          <p:cNvPr id="138" name="p2-fail-node-v03">
            <a:extLst xmlns:a="http://schemas.openxmlformats.org/drawingml/2006/main">
              <a:ext uri="{FF2B5EF4-FFF2-40B4-BE49-F238E27FC236}">
                <a16:creationId xmlns:a16="http://schemas.microsoft.com/office/drawing/2014/main" id="{982A3E7E-B902-4C69-BC42-320D7FC3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E6A64"/>
            </a:solidFill>
            <a:prstDash val="solid"/>
          </a:ln>
        </p:spPr>
      </p:sp>
      <p:sp>
        <p:nvSpPr>
          <p:cNvPr id="139" name="p2-fail-text-v03">
            <a:extLst xmlns:a="http://schemas.openxmlformats.org/drawingml/2006/main">
              <a:ext uri="{FF2B5EF4-FFF2-40B4-BE49-F238E27FC236}">
                <a16:creationId xmlns:a16="http://schemas.microsoft.com/office/drawing/2014/main" id="{756AD171-054C-47BE-89B4-4666F118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765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不能证明则保留 SWSD，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并登记问题证据</a:t>
            </a:r>
          </a:p>
        </p:txBody>
      </p:sp>
      <p:sp>
        <p:nvSpPr>
          <p:cNvPr id="312" name="p2-v03-section-divider">
            <a:extLst xmlns:a="http://schemas.openxmlformats.org/drawingml/2006/main">
              <a:ext uri="{FF2B5EF4-FFF2-40B4-BE49-F238E27FC236}">
                <a16:creationId xmlns:a16="http://schemas.microsoft.com/office/drawing/2014/main" id="{4C9056AA-3983-4937-9792-74BF9B47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9FCD299-12D1-4B61-A28B-6F545F24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能力结论与替换边界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0F03A586-CB6C-4E82-8551-FD849103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95C2F5F-A863-40BF-8B7F-C44D8003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624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EE1764F3-DDAD-4B85-A569-D5B94A94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3045671-C7AC-456A-B8DD-DD6CC3EA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156A6701-037C-46AC-A8F4-2C3F88DB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路口自动锚定成功率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64E25130-8E58-4F7C-A323-AF3FFF68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业务统计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BBE61A1-67AA-4157-B8BB-21F07097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529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80.3760%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9DD9BF3-357C-4389-98F9-DD29B5DA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529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当前实测里程替换率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4587E50-30E9-47BD-A4FF-3FE5D254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101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108,732 条 RCSD 道路 / 10,386.319 公里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B4114FCF-E834-4D5B-BDB5-4808972B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529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EDBAFE3-D00D-4C20-A491-7342BADE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529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全量路口锚定后的预计替换率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08276174-761C-47B7-ACD5-83B35341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条件预估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1639C4D-48FF-408B-A2D8-980E575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48871D25-00BA-49E2-8660-785FBB2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剩余约 15%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124B4421-074E-43D1-960B-B7FF4C70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38775"/>
            <a:ext cx="909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受 RCSD 路段级连通性不完整限制，转入 1V1 匹配补充处理。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CD688306-8633-4592-A477-266CC46B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24525"/>
            <a:ext cx="909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不能暗示剩余部分已经全部可替换。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EE7E5CF-D728-43DA-98D9-CE3E76A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9317D5E-63E8-47E6-8D7B-5941C2A6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口径结论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0CFE243-52E8-4F73-AE6E-6C39C74A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960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80.3760% 为当前实测，85% 为全量路口锚定后的条件预估，两者不可混用。</a:t>
            </a:r>
          </a:p>
        </p:txBody>
      </p:sp>
    </p:spTree>
    <p:extLst>
      <p:ext uri="{BB962C8B-B14F-4D97-AF65-F5344CB8AC3E}">
        <p14:creationId xmlns:p14="http://schemas.microsoft.com/office/powerpoint/2010/main" val="478021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title">
            <a:extLst xmlns:a="http://schemas.openxmlformats.org/drawingml/2006/main">
              <a:ext uri="{FF2B5EF4-FFF2-40B4-BE49-F238E27FC236}">
                <a16:creationId xmlns:a16="http://schemas.microsoft.com/office/drawing/2014/main" id="{D4658438-C051-4BDF-9B88-8FC17E57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方案二：复用认知底座，审计一层与二层路网质量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2C5F64F-592E-4F74-9E2D-F3C30D22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对路口、路段、方向与连通执行只读审计，具备短期上线潜力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83CA74F-DC60-49E7-BD43-876451E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2CB746-C45B-4553-A072-4BB20AE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审计目标与准则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A10114-452D-4C3A-8464-16D6611D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A923A2-666F-43FB-93DB-7401834B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B2A383-9492-42BA-8FC2-581409D4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4CE765-E697-4ECE-B783-FDA1BBA3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 1V1 路网的 RCSD 道路 / 节点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607301-4A3A-4148-9739-FA6C00E5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 SWSD 路口—路段语义为基准，逐道路、端点与方向重验。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21B8A5-4449-4BD1-B3E9-F8DD5B98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97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21ED9B-98E6-48C1-A9AE-486A7BCA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路段级 + 路口级质量识别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F29217-6D45-42C5-AB61-6038090B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35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路段：检查必需方向、连通与非预期反向通行。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96A5A8-FA31-4435-A2A8-E0F94C0B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路口：通行缺失回到原始 1V1 路网重验；最终一对多、多对一锚定失败经一致性核验后直接发布。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7A623B-90C6-44FB-AEF4-CEBB1E62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三个真实审计案例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793119-2F15-4539-B216-6DB52B3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646B3C-7140-4737-A861-133D26B8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0350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8E843F-8BDE-4CAF-BA14-C7E3DE6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2B6B7B-8666-4CF3-907D-547442E7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1885118｜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路段连通候选异常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00bfad4b44e41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209925"/>
            <a:ext cx="3238500" cy="16192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5B0BEC-B3BB-42EC-95ED-9C720518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C700F4-9AEA-4D3F-9C96-9E4486C7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候选｜待原始 1V1 路网重验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BC9FE3-2AF8-4515-A20D-D8168411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522806716｜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路口必需通行关系缺失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da37dde884ccd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3209925"/>
            <a:ext cx="3238500" cy="16192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801DD3-3A23-4A4C-A259-E4D2299F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99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0FFF41-0BE1-4D11-A174-59144AC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67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确认｜当前质量审计输入快照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A8A05A-B8C8-4062-9D46-EF900DD0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26219553_1026960｜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单向路段反向载体候选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b3a2ceec14e74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3209925"/>
            <a:ext cx="3238500" cy="161925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68DE99-F0A2-4990-A56D-0493A87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DBE7A4-C975-4AFE-B51D-726EB641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67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排除｜反向道路归属相邻路段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F036BE-E04F-41AF-8060-389B5A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输出与边界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EF206F-C551-4513-B79B-AD6ADF6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输出 → 业务处置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F6DB55-0440-4BC6-BE5C-0BD7C51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18552B-2879-4EA9-AE35-E3CC24EB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387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E42121-3F43-4C2B-82C3-63468423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696DAB-4009-423D-8B81-1BBDB3C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可追溯问题输出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124D29-6AC9-43B9-B1A7-7A2A8396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路段与路口独立发布候选、确认、排除结果，并保留几何、方向与根因证据。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0156AF-A5B9-4C8A-AD2F-F2411A54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578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E85EAC-ED26-4037-8C8C-CFC4BC03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149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上线判断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4DDA53-C75F-4834-BACE-BA03343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43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具备短期上线潜力，但当前汇报不宣称已经生产部署。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E5EEA2-3E04-477B-9F85-2D72907B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9924AF-1405-41A3-AEDC-2F3FF526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只读审计，不修复、不回写；距离或几何现象不能单独形成质量结论。</a:t>
            </a:r>
          </a:p>
        </p:txBody>
      </p:sp>
    </p:spTree>
    <p:extLst>
      <p:ext uri="{BB962C8B-B14F-4D97-AF65-F5344CB8AC3E}">
        <p14:creationId xmlns:p14="http://schemas.microsoft.com/office/powerpoint/2010/main" val="576510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ge-title">
            <a:extLst xmlns:a="http://schemas.openxmlformats.org/drawingml/2006/main">
              <a:ext uri="{FF2B5EF4-FFF2-40B4-BE49-F238E27FC236}">
                <a16:creationId xmlns:a16="http://schemas.microsoft.com/office/drawing/2014/main" id="{714BF2E4-E8F8-49C5-8059-ADBBDCC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方案三：自上而下直建二层道路与节点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DEFA9B2-D79A-4EB1-9FF8-56E2BFD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一层路口—路段牵引，分片矢量提供现实证据，面向 RCSD 路网图直建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FD36043-13A4-424F-9821-C049AEA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4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89336F1-130E-4956-B69A-23F07D8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43FEEF74-A421-4826-A99B-0094B6AC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36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4AFF781-9822-45B5-8F4C-CB57F587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81650"/>
            <a:ext cx="9401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当前仍是局部概念验证，不替代既有正式主链，也不宣称已形成生产级融合路网。</a:t>
            </a:r>
          </a:p>
        </p:txBody>
      </p:sp>
      <p:sp>
        <p:nvSpPr>
          <p:cNvPr id="38" name="p4-chain-label-v04a3">
            <a:extLst xmlns:a="http://schemas.openxmlformats.org/drawingml/2006/main">
              <a:ext uri="{FF2B5EF4-FFF2-40B4-BE49-F238E27FC236}">
                <a16:creationId xmlns:a16="http://schemas.microsoft.com/office/drawing/2014/main" id="{C832CED4-E814-4DF4-9826-84F2CA7A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自上而下四阶段构建主链</a:t>
            </a:r>
          </a:p>
        </p:txBody>
      </p:sp>
      <p:sp>
        <p:nvSpPr>
          <p:cNvPr id="39" name="p4-chain-baseline-v04a3">
            <a:extLst xmlns:a="http://schemas.openxmlformats.org/drawingml/2006/main">
              <a:ext uri="{FF2B5EF4-FFF2-40B4-BE49-F238E27FC236}">
                <a16:creationId xmlns:a16="http://schemas.microsoft.com/office/drawing/2014/main" id="{8696697E-85E2-4B7B-BB84-8B3CFFFB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40" name="p4-01-accent-v04a3">
            <a:extLst xmlns:a="http://schemas.openxmlformats.org/drawingml/2006/main">
              <a:ext uri="{FF2B5EF4-FFF2-40B4-BE49-F238E27FC236}">
                <a16:creationId xmlns:a16="http://schemas.microsoft.com/office/drawing/2014/main" id="{C3F178C0-DCB1-400D-9D23-4A6927EA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41" name="p4-01-num-v04a3">
            <a:extLst xmlns:a="http://schemas.openxmlformats.org/drawingml/2006/main">
              <a:ext uri="{FF2B5EF4-FFF2-40B4-BE49-F238E27FC236}">
                <a16:creationId xmlns:a16="http://schemas.microsoft.com/office/drawing/2014/main" id="{EB4E0A45-1F47-4B46-96DD-D6489995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2" name="p4-01-title-v04a3">
            <a:extLst xmlns:a="http://schemas.openxmlformats.org/drawingml/2006/main">
              <a:ext uri="{FF2B5EF4-FFF2-40B4-BE49-F238E27FC236}">
                <a16:creationId xmlns:a16="http://schemas.microsoft.com/office/drawing/2014/main" id="{382D375B-D738-45CE-BA29-F6E955C7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一层语义骨架</a:t>
            </a:r>
          </a:p>
        </p:txBody>
      </p:sp>
      <p:sp>
        <p:nvSpPr>
          <p:cNvPr id="43" name="p4-01-body-v04a3">
            <a:extLst xmlns:a="http://schemas.openxmlformats.org/drawingml/2006/main">
              <a:ext uri="{FF2B5EF4-FFF2-40B4-BE49-F238E27FC236}">
                <a16:creationId xmlns:a16="http://schemas.microsoft.com/office/drawing/2014/main" id="{05A2E898-AAD6-4AE8-ACA7-936271CD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383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以一层路网中的路口—路段语义骨架为牵引。</a:t>
            </a:r>
          </a:p>
        </p:txBody>
      </p:sp>
      <p:sp>
        <p:nvSpPr>
          <p:cNvPr id="44" name="p4-01-rule-v04a3">
            <a:extLst xmlns:a="http://schemas.openxmlformats.org/drawingml/2006/main">
              <a:ext uri="{FF2B5EF4-FFF2-40B4-BE49-F238E27FC236}">
                <a16:creationId xmlns:a16="http://schemas.microsoft.com/office/drawing/2014/main" id="{DCC53ABB-FB6A-4D59-94C8-77FD0D2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45" name="p4-down-1-v04a3-from">
            <a:extLst xmlns:a="http://schemas.openxmlformats.org/drawingml/2006/main">
              <a:ext uri="{FF2B5EF4-FFF2-40B4-BE49-F238E27FC236}">
                <a16:creationId xmlns:a16="http://schemas.microsoft.com/office/drawing/2014/main" id="{FBA734CB-8B08-4798-95FC-DAE8B008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28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p4-down-1-v04a3-to">
            <a:extLst xmlns:a="http://schemas.openxmlformats.org/drawingml/2006/main">
              <a:ext uri="{FF2B5EF4-FFF2-40B4-BE49-F238E27FC236}">
                <a16:creationId xmlns:a16="http://schemas.microsoft.com/office/drawing/2014/main" id="{658B465F-9072-4F8A-8CB5-5B691E0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145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8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6096000" y="2047875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48" name="p4-02-accent-v04a3">
            <a:extLst xmlns:a="http://schemas.openxmlformats.org/drawingml/2006/main">
              <a:ext uri="{FF2B5EF4-FFF2-40B4-BE49-F238E27FC236}">
                <a16:creationId xmlns:a16="http://schemas.microsoft.com/office/drawing/2014/main" id="{F14F23D1-FF63-4CA9-AC7D-DFAAD8FC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49" name="p4-02-num-v04a3">
            <a:extLst xmlns:a="http://schemas.openxmlformats.org/drawingml/2006/main">
              <a:ext uri="{FF2B5EF4-FFF2-40B4-BE49-F238E27FC236}">
                <a16:creationId xmlns:a16="http://schemas.microsoft.com/office/drawing/2014/main" id="{448FF851-9819-43AF-8C61-4AE14C48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p4-02-title-v04a3">
            <a:extLst xmlns:a="http://schemas.openxmlformats.org/drawingml/2006/main">
              <a:ext uri="{FF2B5EF4-FFF2-40B4-BE49-F238E27FC236}">
                <a16:creationId xmlns:a16="http://schemas.microsoft.com/office/drawing/2014/main" id="{D65BED95-55EE-4563-930F-B30690AA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分片证据拟合</a:t>
            </a:r>
          </a:p>
        </p:txBody>
      </p:sp>
      <p:sp>
        <p:nvSpPr>
          <p:cNvPr id="51" name="p4-02-body-v04a3">
            <a:extLst xmlns:a="http://schemas.openxmlformats.org/drawingml/2006/main">
              <a:ext uri="{FF2B5EF4-FFF2-40B4-BE49-F238E27FC236}">
                <a16:creationId xmlns:a16="http://schemas.microsoft.com/office/drawing/2014/main" id="{B437A1AB-E469-4A0A-A514-990CCD8D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以分片道路、车道、车道拓扑、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边界与道路面拟合现实证据。</a:t>
            </a:r>
          </a:p>
        </p:txBody>
      </p:sp>
      <p:sp>
        <p:nvSpPr>
          <p:cNvPr id="52" name="p4-evidence-frame-v04a3">
            <a:extLst xmlns:a="http://schemas.openxmlformats.org/drawingml/2006/main">
              <a:ext uri="{FF2B5EF4-FFF2-40B4-BE49-F238E27FC236}">
                <a16:creationId xmlns:a16="http://schemas.microsoft.com/office/drawing/2014/main" id="{CE65D795-23C4-4869-BFA4-7EDE2A6D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3429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pic>
        <p:nvPicPr>
          <p:cNvPr id="284" name="p4-local-experiment-image-v04a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c98dbb36d4079"/>
          <a:stretch xmlns:a="http://schemas.openxmlformats.org/drawingml/2006/main"/>
        </p:blipFill>
        <p:spPr>
          <a:xfrm xmlns:a="http://schemas.openxmlformats.org/drawingml/2006/main">
            <a:off x="4097867" y="2190750"/>
            <a:ext cx="3234267" cy="1819275"/>
          </a:xfrm>
          <a:prstGeom xmlns:a="http://schemas.openxmlformats.org/drawingml/2006/main" prst="rect">
            <a:avLst/>
          </a:prstGeom>
        </p:spPr>
      </p:pic>
      <p:sp>
        <p:nvSpPr>
          <p:cNvPr id="54" name="p4-evidence-label-v04a3">
            <a:extLst xmlns:a="http://schemas.openxmlformats.org/drawingml/2006/main">
              <a:ext uri="{FF2B5EF4-FFF2-40B4-BE49-F238E27FC236}">
                <a16:creationId xmlns:a16="http://schemas.microsoft.com/office/drawing/2014/main" id="{9A7F14AD-F86C-407F-9160-85CA25F7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真实局部实验图</a:t>
            </a:r>
          </a:p>
        </p:txBody>
      </p:sp>
      <p:sp>
        <p:nvSpPr>
          <p:cNvPr id="55" name="p4-evidence-caption-v04a3">
            <a:extLst xmlns:a="http://schemas.openxmlformats.org/drawingml/2006/main">
              <a:ext uri="{FF2B5EF4-FFF2-40B4-BE49-F238E27FC236}">
                <a16:creationId xmlns:a16="http://schemas.microsoft.com/office/drawing/2014/main" id="{29866005-BF80-4BD1-8B6B-1B6E88DC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局部实验完成，证明路段优先的构建路径可行。</a:t>
            </a:r>
          </a:p>
        </p:txBody>
      </p:sp>
      <p:sp>
        <p:nvSpPr>
          <p:cNvPr id="56" name="p4-02-rule-v04a3">
            <a:extLst xmlns:a="http://schemas.openxmlformats.org/drawingml/2006/main">
              <a:ext uri="{FF2B5EF4-FFF2-40B4-BE49-F238E27FC236}">
                <a16:creationId xmlns:a16="http://schemas.microsoft.com/office/drawing/2014/main" id="{91E029B2-4505-4CF6-A9A4-DC2676C8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57" name="p4-down-2-v04a3-from">
            <a:extLst xmlns:a="http://schemas.openxmlformats.org/drawingml/2006/main">
              <a:ext uri="{FF2B5EF4-FFF2-40B4-BE49-F238E27FC236}">
                <a16:creationId xmlns:a16="http://schemas.microsoft.com/office/drawing/2014/main" id="{94817DA0-07A3-4106-95AD-9087C8F1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481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p4-down-2-v04a3-to">
            <a:extLst xmlns:a="http://schemas.openxmlformats.org/drawingml/2006/main">
              <a:ext uri="{FF2B5EF4-FFF2-40B4-BE49-F238E27FC236}">
                <a16:creationId xmlns:a16="http://schemas.microsoft.com/office/drawing/2014/main" id="{33FB2A4A-B924-4D2A-BA9F-E41207A9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152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0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6096000" y="40671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60" name="p4-03-accent-v04a3">
            <a:extLst xmlns:a="http://schemas.openxmlformats.org/drawingml/2006/main">
              <a:ext uri="{FF2B5EF4-FFF2-40B4-BE49-F238E27FC236}">
                <a16:creationId xmlns:a16="http://schemas.microsoft.com/office/drawing/2014/main" id="{3035946E-8805-4965-A58F-E99810E1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1" name="p4-03-num-v04a3">
            <a:extLst xmlns:a="http://schemas.openxmlformats.org/drawingml/2006/main">
              <a:ext uri="{FF2B5EF4-FFF2-40B4-BE49-F238E27FC236}">
                <a16:creationId xmlns:a16="http://schemas.microsoft.com/office/drawing/2014/main" id="{9A4E6820-3242-4473-A9AA-CDD8660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2" name="p4-03-title-v04a3">
            <a:extLst xmlns:a="http://schemas.openxmlformats.org/drawingml/2006/main">
              <a:ext uri="{FF2B5EF4-FFF2-40B4-BE49-F238E27FC236}">
                <a16:creationId xmlns:a16="http://schemas.microsoft.com/office/drawing/2014/main" id="{6760E155-B461-4DB8-BE18-B2741869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高精对象构建</a:t>
            </a:r>
          </a:p>
        </p:txBody>
      </p:sp>
      <p:sp>
        <p:nvSpPr>
          <p:cNvPr id="63" name="p4-03-body-v04a3">
            <a:extLst xmlns:a="http://schemas.openxmlformats.org/drawingml/2006/main">
              <a:ext uri="{FF2B5EF4-FFF2-40B4-BE49-F238E27FC236}">
                <a16:creationId xmlns:a16="http://schemas.microsoft.com/office/drawing/2014/main" id="{D491A112-F09C-4C78-BEF4-66EFEC2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481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构建高精道路、节点与道路衔接关系。</a:t>
            </a:r>
          </a:p>
        </p:txBody>
      </p:sp>
      <p:sp>
        <p:nvSpPr>
          <p:cNvPr id="64" name="p4-03-rule-v04a3">
            <a:extLst xmlns:a="http://schemas.openxmlformats.org/drawingml/2006/main">
              <a:ext uri="{FF2B5EF4-FFF2-40B4-BE49-F238E27FC236}">
                <a16:creationId xmlns:a16="http://schemas.microsoft.com/office/drawing/2014/main" id="{6EED5C78-2CD0-4684-8A5D-AEA43B24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65" name="p4-down-3-v04a3-from">
            <a:extLst xmlns:a="http://schemas.openxmlformats.org/drawingml/2006/main">
              <a:ext uri="{FF2B5EF4-FFF2-40B4-BE49-F238E27FC236}">
                <a16:creationId xmlns:a16="http://schemas.microsoft.com/office/drawing/2014/main" id="{DFF21D06-50D4-4CCB-B043-EE0ACC8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638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p4-down-3-v04a3-to">
            <a:extLst xmlns:a="http://schemas.openxmlformats.org/drawingml/2006/main">
              <a:ext uri="{FF2B5EF4-FFF2-40B4-BE49-F238E27FC236}">
                <a16:creationId xmlns:a16="http://schemas.microsoft.com/office/drawing/2014/main" id="{0946B7E2-411A-454B-A824-569B217D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743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8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6096000" y="46577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68" name="p4-04-accent-v04a3">
            <a:extLst xmlns:a="http://schemas.openxmlformats.org/drawingml/2006/main">
              <a:ext uri="{FF2B5EF4-FFF2-40B4-BE49-F238E27FC236}">
                <a16:creationId xmlns:a16="http://schemas.microsoft.com/office/drawing/2014/main" id="{4C06B717-E51E-4312-BEE5-40D966E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9" name="p4-04-num-v04a3">
            <a:extLst xmlns:a="http://schemas.openxmlformats.org/drawingml/2006/main">
              <a:ext uri="{FF2B5EF4-FFF2-40B4-BE49-F238E27FC236}">
                <a16:creationId xmlns:a16="http://schemas.microsoft.com/office/drawing/2014/main" id="{3D8953F2-CCE6-465B-B2C1-1C76BE9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0" name="p4-04-title-v04a3">
            <a:extLst xmlns:a="http://schemas.openxmlformats.org/drawingml/2006/main">
              <a:ext uri="{FF2B5EF4-FFF2-40B4-BE49-F238E27FC236}">
                <a16:creationId xmlns:a16="http://schemas.microsoft.com/office/drawing/2014/main" id="{5A3A0F1F-46BE-40F9-9340-E9EB4B18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目标输出</a:t>
            </a:r>
          </a:p>
        </p:txBody>
      </p:sp>
      <p:sp>
        <p:nvSpPr>
          <p:cNvPr id="71" name="p4-04-body-v04a3">
            <a:extLst xmlns:a="http://schemas.openxmlformats.org/drawingml/2006/main">
              <a:ext uri="{FF2B5EF4-FFF2-40B4-BE49-F238E27FC236}">
                <a16:creationId xmlns:a16="http://schemas.microsoft.com/office/drawing/2014/main" id="{4CE72BCE-3FF2-44DF-BE43-37431506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38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并形成 RCSD 路网图候选。</a:t>
            </a:r>
          </a:p>
        </p:txBody>
      </p:sp>
      <p:sp>
        <p:nvSpPr>
          <p:cNvPr id="72" name="p4-04-rule-v04a3">
            <a:extLst xmlns:a="http://schemas.openxmlformats.org/drawingml/2006/main">
              <a:ext uri="{FF2B5EF4-FFF2-40B4-BE49-F238E27FC236}">
                <a16:creationId xmlns:a16="http://schemas.microsoft.com/office/drawing/2014/main" id="{969486B2-D260-4392-A56C-08635C61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4607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F0C3B25-7B13-4EA0-B91E-9A14030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 把需求点转译为上下车候选，车端确认当次执行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69004D5-1A6D-41FF-AB31-A806488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技术方案已形成；源稿未提供上线范围、覆盖率、命中率或安全效果数据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AA8D4A0-2B0C-47F8-9733-8DA133FE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boarding-problem-accent">
            <a:extLst xmlns:a="http://schemas.openxmlformats.org/drawingml/2006/main">
              <a:ext uri="{FF2B5EF4-FFF2-40B4-BE49-F238E27FC236}">
                <a16:creationId xmlns:a16="http://schemas.microsoft.com/office/drawing/2014/main" id="{89CE7B19-D908-462B-AAC1-C924D34D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5" name="boarding-problem">
            <a:extLst xmlns:a="http://schemas.openxmlformats.org/drawingml/2006/main">
              <a:ext uri="{FF2B5EF4-FFF2-40B4-BE49-F238E27FC236}">
                <a16:creationId xmlns:a16="http://schemas.microsoft.com/office/drawing/2014/main" id="{4DB0DCCB-274B-4722-B48A-E3EBECB2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需求点不等于可停车点，也不直接等于可候客或可执行位置。</a:t>
            </a:r>
          </a:p>
        </p:txBody>
      </p:sp>
      <p:sp>
        <p:nvSpPr>
          <p:cNvPr id="6" name="boarding-title-1">
            <a:extLst xmlns:a="http://schemas.openxmlformats.org/drawingml/2006/main">
              <a:ext uri="{FF2B5EF4-FFF2-40B4-BE49-F238E27FC236}">
                <a16:creationId xmlns:a16="http://schemas.microsoft.com/office/drawing/2014/main" id="{CEFCF6B3-698F-4E90-B87D-F4F4568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需求锚点</a:t>
            </a:r>
          </a:p>
        </p:txBody>
      </p:sp>
      <p:sp>
        <p:nvSpPr>
          <p:cNvPr id="7" name="boarding-node-1">
            <a:extLst xmlns:a="http://schemas.openxmlformats.org/drawingml/2006/main">
              <a:ext uri="{FF2B5EF4-FFF2-40B4-BE49-F238E27FC236}">
                <a16:creationId xmlns:a16="http://schemas.microsoft.com/office/drawing/2014/main" id="{75FB4B22-3D9B-46CF-8723-56D6A4F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8" name="boarding-number-1">
            <a:extLst xmlns:a="http://schemas.openxmlformats.org/drawingml/2006/main">
              <a:ext uri="{FF2B5EF4-FFF2-40B4-BE49-F238E27FC236}">
                <a16:creationId xmlns:a16="http://schemas.microsoft.com/office/drawing/2014/main" id="{92940C24-7EBF-49C5-9633-B5459A8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oarding-body-1">
            <a:extLst xmlns:a="http://schemas.openxmlformats.org/drawingml/2006/main">
              <a:ext uri="{FF2B5EF4-FFF2-40B4-BE49-F238E27FC236}">
                <a16:creationId xmlns:a16="http://schemas.microsoft.com/office/drawing/2014/main" id="{883F24EC-0260-41D3-8FE4-0A879EA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位置语义｜兴趣点 / 出入口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步行可达｜园区 / 枢纽语义</a:t>
            </a:r>
          </a:p>
        </p:txBody>
      </p:sp>
      <p:sp>
        <p:nvSpPr>
          <p:cNvPr id="10" name="boarding-title-2">
            <a:extLst xmlns:a="http://schemas.openxmlformats.org/drawingml/2006/main">
              <a:ext uri="{FF2B5EF4-FFF2-40B4-BE49-F238E27FC236}">
                <a16:creationId xmlns:a16="http://schemas.microsoft.com/office/drawing/2014/main" id="{5F787EEC-9A4D-49EE-A07C-19AE263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空间锚定</a:t>
            </a:r>
          </a:p>
        </p:txBody>
      </p:sp>
      <p:sp>
        <p:nvSpPr>
          <p:cNvPr id="11" name="boarding-node-2">
            <a:extLst xmlns:a="http://schemas.openxmlformats.org/drawingml/2006/main">
              <a:ext uri="{FF2B5EF4-FFF2-40B4-BE49-F238E27FC236}">
                <a16:creationId xmlns:a16="http://schemas.microsoft.com/office/drawing/2014/main" id="{26D737D8-1519-46E0-80EE-E7D7AB18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12" name="boarding-number-2">
            <a:extLst xmlns:a="http://schemas.openxmlformats.org/drawingml/2006/main">
              <a:ext uri="{FF2B5EF4-FFF2-40B4-BE49-F238E27FC236}">
                <a16:creationId xmlns:a16="http://schemas.microsoft.com/office/drawing/2014/main" id="{018D4A1E-99DA-496C-BEE7-7787D29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boarding-body-2">
            <a:extLst xmlns:a="http://schemas.openxmlformats.org/drawingml/2006/main">
              <a:ext uri="{FF2B5EF4-FFF2-40B4-BE49-F238E27FC236}">
                <a16:creationId xmlns:a16="http://schemas.microsoft.com/office/drawing/2014/main" id="{27096546-7FD5-4B40-A64D-863DCA8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 / 路段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方向 × 侧别 × 局部区间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枢纽补充入口与停车设施</a:t>
            </a:r>
          </a:p>
        </p:txBody>
      </p:sp>
      <p:sp>
        <p:nvSpPr>
          <p:cNvPr id="14" name="boarding-title-3">
            <a:extLst xmlns:a="http://schemas.openxmlformats.org/drawingml/2006/main">
              <a:ext uri="{FF2B5EF4-FFF2-40B4-BE49-F238E27FC236}">
                <a16:creationId xmlns:a16="http://schemas.microsoft.com/office/drawing/2014/main" id="{5CC1BB47-FDEF-4A4C-8428-17E2F6B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静态权限合成</a:t>
            </a:r>
          </a:p>
        </p:txBody>
      </p:sp>
      <p:sp>
        <p:nvSpPr>
          <p:cNvPr id="15" name="boarding-node-3">
            <a:extLst xmlns:a="http://schemas.openxmlformats.org/drawingml/2006/main">
              <a:ext uri="{FF2B5EF4-FFF2-40B4-BE49-F238E27FC236}">
                <a16:creationId xmlns:a16="http://schemas.microsoft.com/office/drawing/2014/main" id="{24598F62-B466-4162-903E-F3E71CF8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16" name="boarding-number-3">
            <a:extLst xmlns:a="http://schemas.openxmlformats.org/drawingml/2006/main">
              <a:ext uri="{FF2B5EF4-FFF2-40B4-BE49-F238E27FC236}">
                <a16:creationId xmlns:a16="http://schemas.microsoft.com/office/drawing/2014/main" id="{C63CCA0E-D74C-4A12-9838-85EF4B47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boarding-body-3">
            <a:extLst xmlns:a="http://schemas.openxmlformats.org/drawingml/2006/main">
              <a:ext uri="{FF2B5EF4-FFF2-40B4-BE49-F238E27FC236}">
                <a16:creationId xmlns:a16="http://schemas.microsoft.com/office/drawing/2014/main" id="{8A6A06A2-3420-4665-9235-9718223B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道路停靠属性＋空间控制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禁止停车 ＞ 即停即走 ＞ 临停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按最严格结果合并</a:t>
            </a:r>
          </a:p>
        </p:txBody>
      </p:sp>
      <p:sp>
        <p:nvSpPr>
          <p:cNvPr id="18" name="boarding-title-4">
            <a:extLst xmlns:a="http://schemas.openxmlformats.org/drawingml/2006/main">
              <a:ext uri="{FF2B5EF4-FFF2-40B4-BE49-F238E27FC236}">
                <a16:creationId xmlns:a16="http://schemas.microsoft.com/office/drawing/2014/main" id="{DE3901F1-B306-4EAB-A401-6870966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车端当次执行</a:t>
            </a:r>
          </a:p>
        </p:txBody>
      </p:sp>
      <p:sp>
        <p:nvSpPr>
          <p:cNvPr id="19" name="boarding-node-4">
            <a:extLst xmlns:a="http://schemas.openxmlformats.org/drawingml/2006/main">
              <a:ext uri="{FF2B5EF4-FFF2-40B4-BE49-F238E27FC236}">
                <a16:creationId xmlns:a16="http://schemas.microsoft.com/office/drawing/2014/main" id="{E2750F7E-5650-4CD8-9325-7E8C3DD3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20" name="boarding-number-4">
            <a:extLst xmlns:a="http://schemas.openxmlformats.org/drawingml/2006/main">
              <a:ext uri="{FF2B5EF4-FFF2-40B4-BE49-F238E27FC236}">
                <a16:creationId xmlns:a16="http://schemas.microsoft.com/office/drawing/2014/main" id="{A09DB789-7868-456A-B475-5184B2D6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boarding-body-4">
            <a:extLst xmlns:a="http://schemas.openxmlformats.org/drawingml/2006/main">
              <a:ext uri="{FF2B5EF4-FFF2-40B4-BE49-F238E27FC236}">
                <a16:creationId xmlns:a16="http://schemas.microsoft.com/office/drawing/2014/main" id="{E0A85CA5-F522-4897-B699-32BECE4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候选前筛选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停车 / 开门前再次复核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执行｜重选｜改点｜最小巡航</a:t>
            </a:r>
          </a:p>
        </p:txBody>
      </p:sp>
      <p:sp>
        <p:nvSpPr>
          <p:cNvPr id="22" name="boarding-arrow-1-shaft">
            <a:extLst xmlns:a="http://schemas.openxmlformats.org/drawingml/2006/main">
              <a:ext uri="{FF2B5EF4-FFF2-40B4-BE49-F238E27FC236}">
                <a16:creationId xmlns:a16="http://schemas.microsoft.com/office/drawing/2014/main" id="{457166CC-5A9E-4DF2-9DC7-BD908313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85950" y="2562225"/>
            <a:ext cx="1790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3" name="boarding-arrow-1-head">
            <a:extLst xmlns:a="http://schemas.openxmlformats.org/drawingml/2006/main">
              <a:ext uri="{FF2B5EF4-FFF2-40B4-BE49-F238E27FC236}">
                <a16:creationId xmlns:a16="http://schemas.microsoft.com/office/drawing/2014/main" id="{A0E577DE-DE7F-4827-B312-3860CDB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boarding-arrow-2-shaft">
            <a:extLst xmlns:a="http://schemas.openxmlformats.org/drawingml/2006/main">
              <a:ext uri="{FF2B5EF4-FFF2-40B4-BE49-F238E27FC236}">
                <a16:creationId xmlns:a16="http://schemas.microsoft.com/office/drawing/2014/main" id="{A612AD6B-CD02-416E-B929-2B922C5C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8650" y="2562225"/>
            <a:ext cx="1828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5" name="boarding-arrow-2-head">
            <a:extLst xmlns:a="http://schemas.openxmlformats.org/drawingml/2006/main">
              <a:ext uri="{FF2B5EF4-FFF2-40B4-BE49-F238E27FC236}">
                <a16:creationId xmlns:a16="http://schemas.microsoft.com/office/drawing/2014/main" id="{8DF03BC9-CA9E-48B3-9FB6-BB254A1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boarding-arrow-3-shaft">
            <a:extLst xmlns:a="http://schemas.openxmlformats.org/drawingml/2006/main">
              <a:ext uri="{FF2B5EF4-FFF2-40B4-BE49-F238E27FC236}">
                <a16:creationId xmlns:a16="http://schemas.microsoft.com/office/drawing/2014/main" id="{EEECFAEA-268D-4384-982C-AC6B938C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9450" y="25622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7" name="boarding-arrow-3-head">
            <a:extLst xmlns:a="http://schemas.openxmlformats.org/drawingml/2006/main">
              <a:ext uri="{FF2B5EF4-FFF2-40B4-BE49-F238E27FC236}">
                <a16:creationId xmlns:a16="http://schemas.microsoft.com/office/drawing/2014/main" id="{226FB562-B729-4486-B38D-BBEA0B2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8" name="boarding-output-label">
            <a:extLst xmlns:a="http://schemas.openxmlformats.org/drawingml/2006/main">
              <a:ext uri="{FF2B5EF4-FFF2-40B4-BE49-F238E27FC236}">
                <a16:creationId xmlns:a16="http://schemas.microsoft.com/office/drawing/2014/main" id="{00C0E011-7360-4752-AD29-CF5DCF3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链路输出包括普通道路上车、交通枢纽上车和下车。</a:t>
            </a:r>
          </a:p>
        </p:txBody>
      </p:sp>
      <p:sp>
        <p:nvSpPr>
          <p:cNvPr id="29" name="boarding-output-spine">
            <a:extLst xmlns:a="http://schemas.openxmlformats.org/drawingml/2006/main">
              <a:ext uri="{FF2B5EF4-FFF2-40B4-BE49-F238E27FC236}">
                <a16:creationId xmlns:a16="http://schemas.microsoft.com/office/drawing/2014/main" id="{05800DF8-FFC8-400F-9F30-536C547A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457700"/>
            <a:ext cx="948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D0C7"/>
            </a:solidFill>
            <a:prstDash val="solid"/>
          </a:ln>
        </p:spPr>
      </p:sp>
      <p:sp>
        <p:nvSpPr>
          <p:cNvPr id="30" name="boarding-output-dot-1">
            <a:extLst xmlns:a="http://schemas.openxmlformats.org/drawingml/2006/main">
              <a:ext uri="{FF2B5EF4-FFF2-40B4-BE49-F238E27FC236}">
                <a16:creationId xmlns:a16="http://schemas.microsoft.com/office/drawing/2014/main" id="{E684C310-D1A7-4A42-8BE4-4C38232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1" name="boarding-output-title-1">
            <a:extLst xmlns:a="http://schemas.openxmlformats.org/drawingml/2006/main">
              <a:ext uri="{FF2B5EF4-FFF2-40B4-BE49-F238E27FC236}">
                <a16:creationId xmlns:a16="http://schemas.microsoft.com/office/drawing/2014/main" id="{46B65916-DE88-4645-9DB1-75D27F95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普通道路上车</a:t>
            </a:r>
          </a:p>
        </p:txBody>
      </p:sp>
      <p:sp>
        <p:nvSpPr>
          <p:cNvPr id="32" name="boarding-output-body-1">
            <a:extLst xmlns:a="http://schemas.openxmlformats.org/drawingml/2006/main">
              <a:ext uri="{FF2B5EF4-FFF2-40B4-BE49-F238E27FC236}">
                <a16:creationId xmlns:a16="http://schemas.microsoft.com/office/drawing/2014/main" id="{459AC60D-4833-4419-BD51-46F8D010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候客范围内优先车等人；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不可停则重选、改点或最小巡航</a:t>
            </a:r>
          </a:p>
        </p:txBody>
      </p:sp>
      <p:sp>
        <p:nvSpPr>
          <p:cNvPr id="33" name="boarding-output-dot-2">
            <a:extLst xmlns:a="http://schemas.openxmlformats.org/drawingml/2006/main">
              <a:ext uri="{FF2B5EF4-FFF2-40B4-BE49-F238E27FC236}">
                <a16:creationId xmlns:a16="http://schemas.microsoft.com/office/drawing/2014/main" id="{05314224-E3EE-4FAC-80C5-EF849478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solidFill>
              <a:srgbClr val="927B62"/>
            </a:solidFill>
            <a:prstDash val="solid"/>
          </a:ln>
        </p:spPr>
      </p:sp>
      <p:sp>
        <p:nvSpPr>
          <p:cNvPr id="34" name="boarding-output-title-2">
            <a:extLst xmlns:a="http://schemas.openxmlformats.org/drawingml/2006/main">
              <a:ext uri="{FF2B5EF4-FFF2-40B4-BE49-F238E27FC236}">
                <a16:creationId xmlns:a16="http://schemas.microsoft.com/office/drawing/2014/main" id="{381AE1A8-A312-4069-B746-20FA2505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交通枢纽上车</a:t>
            </a:r>
          </a:p>
        </p:txBody>
      </p:sp>
      <p:sp>
        <p:nvSpPr>
          <p:cNvPr id="35" name="boarding-output-body-2">
            <a:extLst xmlns:a="http://schemas.openxmlformats.org/drawingml/2006/main">
              <a:ext uri="{FF2B5EF4-FFF2-40B4-BE49-F238E27FC236}">
                <a16:creationId xmlns:a16="http://schemas.microsoft.com/office/drawing/2014/main" id="{39267D58-A6A7-436C-A7B9-A54FC24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停车位 / 候车区组织等待；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乘客找车或召唤车辆</a:t>
            </a:r>
          </a:p>
        </p:txBody>
      </p:sp>
      <p:sp>
        <p:nvSpPr>
          <p:cNvPr id="36" name="boarding-output-dot-3">
            <a:extLst xmlns:a="http://schemas.openxmlformats.org/drawingml/2006/main">
              <a:ext uri="{FF2B5EF4-FFF2-40B4-BE49-F238E27FC236}">
                <a16:creationId xmlns:a16="http://schemas.microsoft.com/office/drawing/2014/main" id="{227BF67A-271B-4652-989A-69A951DD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37" name="boarding-output-title-3">
            <a:extLst xmlns:a="http://schemas.openxmlformats.org/drawingml/2006/main">
              <a:ext uri="{FF2B5EF4-FFF2-40B4-BE49-F238E27FC236}">
                <a16:creationId xmlns:a16="http://schemas.microsoft.com/office/drawing/2014/main" id="{A62DEF31-29D3-4A6F-98D3-BEF23BA2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下车</a:t>
            </a:r>
          </a:p>
        </p:txBody>
      </p:sp>
      <p:sp>
        <p:nvSpPr>
          <p:cNvPr id="38" name="boarding-output-body-3">
            <a:extLst xmlns:a="http://schemas.openxmlformats.org/drawingml/2006/main">
              <a:ext uri="{FF2B5EF4-FFF2-40B4-BE49-F238E27FC236}">
                <a16:creationId xmlns:a16="http://schemas.microsoft.com/office/drawing/2014/main" id="{73DE5405-F1BD-4977-BB1D-21EDF78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可下客位置短停；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完成下客后立即驶离</a:t>
            </a:r>
          </a:p>
        </p:txBody>
      </p:sp>
      <p:sp>
        <p:nvSpPr>
          <p:cNvPr id="40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1AC60FF-4465-4580-9E86-7AF81232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53E40C50-8198-46AD-BBE6-ED263DF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4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CC9CA1F-6CA9-46D0-9690-2D45E81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76900"/>
            <a:ext cx="9401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决定最多允许做什么；车端决定这一次能不能做、具体停在哪里。</a:t>
            </a:r>
          </a:p>
        </p:txBody>
      </p:sp>
    </p:spTree>
    <p:extLst>
      <p:ext uri="{BB962C8B-B14F-4D97-AF65-F5344CB8AC3E}">
        <p14:creationId xmlns:p14="http://schemas.microsoft.com/office/powerpoint/2010/main" val="491640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title">
            <a:extLst xmlns:a="http://schemas.openxmlformats.org/drawingml/2006/main">
              <a:ext uri="{FF2B5EF4-FFF2-40B4-BE49-F238E27FC236}">
                <a16:creationId xmlns:a16="http://schemas.microsoft.com/office/drawing/2014/main" id="{5784E015-7CE4-4938-BCD8-B520337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越野地图：用大模型压缩需求澄清到可发布原型的迭代周期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6006C85-07D8-4C44-9AA4-5067C50D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真实素材与业务输入经数据契约、交互原型、人工评审和冻结发布形成敏捷闭环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959260D-EF2B-46B6-B561-37B9727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offroad-loop-label">
            <a:extLst xmlns:a="http://schemas.openxmlformats.org/drawingml/2006/main">
              <a:ext uri="{FF2B5EF4-FFF2-40B4-BE49-F238E27FC236}">
                <a16:creationId xmlns:a16="http://schemas.microsoft.com/office/drawing/2014/main" id="{527D1CEB-1C83-47EC-AD1B-AEC0C79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四阶段敏捷闭环</a:t>
            </a:r>
          </a:p>
        </p:txBody>
      </p:sp>
      <p:sp>
        <p:nvSpPr>
          <p:cNvPr id="5" name="offroad-spine">
            <a:extLst xmlns:a="http://schemas.openxmlformats.org/drawingml/2006/main">
              <a:ext uri="{FF2B5EF4-FFF2-40B4-BE49-F238E27FC236}">
                <a16:creationId xmlns:a16="http://schemas.microsoft.com/office/drawing/2014/main" id="{6F27898C-1E5C-42F0-897F-D075F9C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724025"/>
            <a:ext cx="9525" cy="3152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C7"/>
            </a:solidFill>
            <a:prstDash val="solid"/>
          </a:ln>
        </p:spPr>
      </p:sp>
      <p:sp>
        <p:nvSpPr>
          <p:cNvPr id="6" name="offroad-dot-1">
            <a:extLst xmlns:a="http://schemas.openxmlformats.org/drawingml/2006/main">
              <a:ext uri="{FF2B5EF4-FFF2-40B4-BE49-F238E27FC236}">
                <a16:creationId xmlns:a16="http://schemas.microsoft.com/office/drawing/2014/main" id="{B04F95D5-6D5C-461E-AE08-26C04C6B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24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7" name="offroad-num-1">
            <a:extLst xmlns:a="http://schemas.openxmlformats.org/drawingml/2006/main">
              <a:ext uri="{FF2B5EF4-FFF2-40B4-BE49-F238E27FC236}">
                <a16:creationId xmlns:a16="http://schemas.microsoft.com/office/drawing/2014/main" id="{CA641382-4B00-476F-BCFA-02D8E0F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offroad-title-1">
            <a:extLst xmlns:a="http://schemas.openxmlformats.org/drawingml/2006/main">
              <a:ext uri="{FF2B5EF4-FFF2-40B4-BE49-F238E27FC236}">
                <a16:creationId xmlns:a16="http://schemas.microsoft.com/office/drawing/2014/main" id="{9F3BED3E-20E5-4856-A4E3-E9D5FD82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6097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业务输入</a:t>
            </a:r>
          </a:p>
        </p:txBody>
      </p:sp>
      <p:sp>
        <p:nvSpPr>
          <p:cNvPr id="9" name="offroad-body-1">
            <a:extLst xmlns:a="http://schemas.openxmlformats.org/drawingml/2006/main">
              <a:ext uri="{FF2B5EF4-FFF2-40B4-BE49-F238E27FC236}">
                <a16:creationId xmlns:a16="http://schemas.microsoft.com/office/drawing/2014/main" id="{E0DF2B7D-F21A-4E50-8B74-2442A3A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97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真实素材与业务输入</a:t>
            </a:r>
          </a:p>
        </p:txBody>
      </p:sp>
      <p:sp>
        <p:nvSpPr>
          <p:cNvPr id="10" name="offroad-dot-2">
            <a:extLst xmlns:a="http://schemas.openxmlformats.org/drawingml/2006/main">
              <a:ext uri="{FF2B5EF4-FFF2-40B4-BE49-F238E27FC236}">
                <a16:creationId xmlns:a16="http://schemas.microsoft.com/office/drawing/2014/main" id="{2F4CFCD8-47BC-4262-877B-2CE952E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1" name="offroad-num-2">
            <a:extLst xmlns:a="http://schemas.openxmlformats.org/drawingml/2006/main">
              <a:ext uri="{FF2B5EF4-FFF2-40B4-BE49-F238E27FC236}">
                <a16:creationId xmlns:a16="http://schemas.microsoft.com/office/drawing/2014/main" id="{EF4B4478-262B-4347-992A-29401FB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offroad-title-2">
            <a:extLst xmlns:a="http://schemas.openxmlformats.org/drawingml/2006/main">
              <a:ext uri="{FF2B5EF4-FFF2-40B4-BE49-F238E27FC236}">
                <a16:creationId xmlns:a16="http://schemas.microsoft.com/office/drawing/2014/main" id="{F5307149-C39E-4CBC-A2E8-11C7DB9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38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大模型澄清 / 数据契约</a:t>
            </a:r>
          </a:p>
        </p:txBody>
      </p:sp>
      <p:sp>
        <p:nvSpPr>
          <p:cNvPr id="13" name="offroad-body-2">
            <a:extLst xmlns:a="http://schemas.openxmlformats.org/drawingml/2006/main">
              <a:ext uri="{FF2B5EF4-FFF2-40B4-BE49-F238E27FC236}">
                <a16:creationId xmlns:a16="http://schemas.microsoft.com/office/drawing/2014/main" id="{2B5CADBB-77F1-4424-BBAA-7856C87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大模型辅助拆分场景、澄清需求，
形成可追溯的数据契约。</a:t>
            </a:r>
          </a:p>
        </p:txBody>
      </p:sp>
      <p:sp>
        <p:nvSpPr>
          <p:cNvPr id="14" name="offroad-dot-3">
            <a:extLst xmlns:a="http://schemas.openxmlformats.org/drawingml/2006/main">
              <a:ext uri="{FF2B5EF4-FFF2-40B4-BE49-F238E27FC236}">
                <a16:creationId xmlns:a16="http://schemas.microsoft.com/office/drawing/2014/main" id="{949224BF-D564-45EA-8B06-FA3F258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5" name="offroad-num-3">
            <a:extLst xmlns:a="http://schemas.openxmlformats.org/drawingml/2006/main">
              <a:ext uri="{FF2B5EF4-FFF2-40B4-BE49-F238E27FC236}">
                <a16:creationId xmlns:a16="http://schemas.microsoft.com/office/drawing/2014/main" id="{A35E26DF-775E-4BE0-BD9C-4DFAA062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offroad-title-3">
            <a:extLst xmlns:a="http://schemas.openxmlformats.org/drawingml/2006/main">
              <a:ext uri="{FF2B5EF4-FFF2-40B4-BE49-F238E27FC236}">
                <a16:creationId xmlns:a16="http://schemas.microsoft.com/office/drawing/2014/main" id="{D458F0F5-15D6-4186-8917-F659292E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快速原型</a:t>
            </a:r>
          </a:p>
        </p:txBody>
      </p:sp>
      <p:sp>
        <p:nvSpPr>
          <p:cNvPr id="17" name="offroad-body-3">
            <a:extLst xmlns:a="http://schemas.openxmlformats.org/drawingml/2006/main">
              <a:ext uri="{FF2B5EF4-FFF2-40B4-BE49-F238E27FC236}">
                <a16:creationId xmlns:a16="http://schemas.microsoft.com/office/drawing/2014/main" id="{F96458C7-FB42-438C-BFC7-A07C653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多轮打磨视觉草案，快速形成可点击原型。</a:t>
            </a:r>
          </a:p>
        </p:txBody>
      </p:sp>
      <p:sp>
        <p:nvSpPr>
          <p:cNvPr id="18" name="offroad-dot-4">
            <a:extLst xmlns:a="http://schemas.openxmlformats.org/drawingml/2006/main">
              <a:ext uri="{FF2B5EF4-FFF2-40B4-BE49-F238E27FC236}">
                <a16:creationId xmlns:a16="http://schemas.microsoft.com/office/drawing/2014/main" id="{0C0FD775-01EE-4292-81AF-A4A2983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9" name="offroad-num-4">
            <a:extLst xmlns:a="http://schemas.openxmlformats.org/drawingml/2006/main">
              <a:ext uri="{FF2B5EF4-FFF2-40B4-BE49-F238E27FC236}">
                <a16:creationId xmlns:a16="http://schemas.microsoft.com/office/drawing/2014/main" id="{247E3DCE-3DBA-4CF9-9784-E34D310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10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offroad-title-4">
            <a:extLst xmlns:a="http://schemas.openxmlformats.org/drawingml/2006/main">
              <a:ext uri="{FF2B5EF4-FFF2-40B4-BE49-F238E27FC236}">
                <a16:creationId xmlns:a16="http://schemas.microsoft.com/office/drawing/2014/main" id="{4273732E-267E-4E98-8260-FD257594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767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人工评审冻结发布</a:t>
            </a:r>
          </a:p>
        </p:txBody>
      </p:sp>
      <p:sp>
        <p:nvSpPr>
          <p:cNvPr id="21" name="offroad-body-4">
            <a:extLst xmlns:a="http://schemas.openxmlformats.org/drawingml/2006/main">
              <a:ext uri="{FF2B5EF4-FFF2-40B4-BE49-F238E27FC236}">
                <a16:creationId xmlns:a16="http://schemas.microsoft.com/office/drawing/2014/main" id="{7A41AEF3-0F0A-45D6-A04A-666F037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原型已发布为可访问网页，并依据评审反馈持续迭代。</a:t>
            </a:r>
          </a:p>
        </p:txBody>
      </p:sp>
      <p:sp>
        <p:nvSpPr>
          <p:cNvPr id="22" name="offroad-arrow-1-shaft">
            <a:extLst xmlns:a="http://schemas.openxmlformats.org/drawingml/2006/main">
              <a:ext uri="{FF2B5EF4-FFF2-40B4-BE49-F238E27FC236}">
                <a16:creationId xmlns:a16="http://schemas.microsoft.com/office/drawing/2014/main" id="{AFC26A35-FFE5-4FDF-8BB3-6AD0E5D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066925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3" name="offroad-arrow-1-head">
            <a:extLst xmlns:a="http://schemas.openxmlformats.org/drawingml/2006/main">
              <a:ext uri="{FF2B5EF4-FFF2-40B4-BE49-F238E27FC236}">
                <a16:creationId xmlns:a16="http://schemas.microsoft.com/office/drawing/2014/main" id="{113EE98C-0532-4C0C-908B-017450F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offroad-arrow-2-shaft">
            <a:extLst xmlns:a="http://schemas.openxmlformats.org/drawingml/2006/main">
              <a:ext uri="{FF2B5EF4-FFF2-40B4-BE49-F238E27FC236}">
                <a16:creationId xmlns:a16="http://schemas.microsoft.com/office/drawing/2014/main" id="{242AC2E3-96F7-4203-8ACF-3BC8DC2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895600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5" name="offroad-arrow-2-head">
            <a:extLst xmlns:a="http://schemas.openxmlformats.org/drawingml/2006/main">
              <a:ext uri="{FF2B5EF4-FFF2-40B4-BE49-F238E27FC236}">
                <a16:creationId xmlns:a16="http://schemas.microsoft.com/office/drawing/2014/main" id="{688AC545-666D-4307-B82B-3DF59C3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offroad-arrow-3-shaft">
            <a:extLst xmlns:a="http://schemas.openxmlformats.org/drawingml/2006/main">
              <a:ext uri="{FF2B5EF4-FFF2-40B4-BE49-F238E27FC236}">
                <a16:creationId xmlns:a16="http://schemas.microsoft.com/office/drawing/2014/main" id="{A1A3DEB3-001C-4430-823B-FA69867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781425"/>
            <a:ext cx="95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7" name="offroad-arrow-3-head">
            <a:extLst xmlns:a="http://schemas.openxmlformats.org/drawingml/2006/main">
              <a:ext uri="{FF2B5EF4-FFF2-40B4-BE49-F238E27FC236}">
                <a16:creationId xmlns:a16="http://schemas.microsoft.com/office/drawing/2014/main" id="{AF8ABCA6-BBE8-43EF-8E09-DED1DE52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offroad-feedback">
            <a:extLst xmlns:a="http://schemas.openxmlformats.org/drawingml/2006/main">
              <a:ext uri="{FF2B5EF4-FFF2-40B4-BE49-F238E27FC236}">
                <a16:creationId xmlns:a16="http://schemas.microsoft.com/office/drawing/2014/main" id="{02130017-B133-4039-BB37-3C091ADE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↺  评审反馈进入下一轮需求澄清</a:t>
            </a:r>
          </a:p>
        </p:txBody>
      </p:sp>
      <p:sp>
        <p:nvSpPr>
          <p:cNvPr id="29" name="offroad-shot-label">
            <a:extLst xmlns:a="http://schemas.openxmlformats.org/drawingml/2006/main">
              <a:ext uri="{FF2B5EF4-FFF2-40B4-BE49-F238E27FC236}">
                <a16:creationId xmlns:a16="http://schemas.microsoft.com/office/drawing/2014/main" id="{CD978EC5-3075-4D08-A1C6-F3A345D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真实原型截图｜老掌沟</a:t>
            </a:r>
          </a:p>
        </p:txBody>
      </p:sp>
      <p:sp>
        <p:nvSpPr>
          <p:cNvPr id="30" name="offroad-shot-frame">
            <a:extLst xmlns:a="http://schemas.openxmlformats.org/drawingml/2006/main">
              <a:ext uri="{FF2B5EF4-FFF2-40B4-BE49-F238E27FC236}">
                <a16:creationId xmlns:a16="http://schemas.microsoft.com/office/drawing/2014/main" id="{E1ECB119-B0F4-444C-BE96-1AB7FC19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684847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9a7b15af6494d"/>
          <a:stretch xmlns:a="http://schemas.openxmlformats.org/drawingml/2006/main"/>
        </p:blipFill>
        <p:spPr>
          <a:xfrm xmlns:a="http://schemas.openxmlformats.org/drawingml/2006/main">
            <a:off x="4772025" y="1576488"/>
            <a:ext cx="6848475" cy="3295450"/>
          </a:xfrm>
          <a:prstGeom xmlns:a="http://schemas.openxmlformats.org/drawingml/2006/main" prst="rect">
            <a:avLst/>
          </a:prstGeom>
        </p:spPr>
      </p:pic>
      <p:sp>
        <p:nvSpPr>
          <p:cNvPr id="32" name="offroad-freeze-bg">
            <a:extLst xmlns:a="http://schemas.openxmlformats.org/drawingml/2006/main">
              <a:ext uri="{FF2B5EF4-FFF2-40B4-BE49-F238E27FC236}">
                <a16:creationId xmlns:a16="http://schemas.microsoft.com/office/drawing/2014/main" id="{0A13F1CE-D64D-4290-A73B-2361536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6848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offroad-freeze">
            <a:extLst xmlns:a="http://schemas.openxmlformats.org/drawingml/2006/main">
              <a:ext uri="{FF2B5EF4-FFF2-40B4-BE49-F238E27FC236}">
                <a16:creationId xmlns:a16="http://schemas.microsoft.com/office/drawing/2014/main" id="{817D9B7F-AB2A-4CD6-90C8-6006DB1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648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演示脚本、构建检查、截图、结构化记录与校验值共同冻结证据。</a:t>
            </a:r>
          </a:p>
        </p:txBody>
      </p:sp>
      <p:sp>
        <p:nvSpPr>
          <p:cNvPr id="34" name="offroad-human-gate">
            <a:extLst xmlns:a="http://schemas.openxmlformats.org/drawingml/2006/main">
              <a:ext uri="{FF2B5EF4-FFF2-40B4-BE49-F238E27FC236}">
                <a16:creationId xmlns:a16="http://schemas.microsoft.com/office/drawing/2014/main" id="{E519E289-31C4-48F4-9917-A47FCBF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1104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D2633"/>
            </a:solidFill>
            <a:prstDash val="solid"/>
          </a:ln>
        </p:spPr>
      </p:sp>
      <p:sp>
        <p:nvSpPr>
          <p:cNvPr id="35" name="offroad-human-gate-text">
            <a:extLst xmlns:a="http://schemas.openxmlformats.org/drawingml/2006/main">
              <a:ext uri="{FF2B5EF4-FFF2-40B4-BE49-F238E27FC236}">
                <a16:creationId xmlns:a16="http://schemas.microsoft.com/office/drawing/2014/main" id="{3C825D01-8920-4204-88E9-40C41D8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大模型负责生成候选工件，事实、边界和冻结版本由人确认。</a:t>
            </a:r>
          </a:p>
        </p:txBody>
      </p:sp>
      <p:sp>
        <p:nvSpPr>
          <p:cNvPr id="37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553B7455-21E9-4D97-A9FB-06FD70C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C646ECC5-D0ED-44B3-A7D7-85C930E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15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39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62094355-6661-4FDD-B1F1-D10F5EE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96000"/>
            <a:ext cx="940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公开兴趣点、路线和媒体资料只作为候选线索，不用于导航、救援或车辆控制。</a:t>
            </a:r>
          </a:p>
        </p:txBody>
      </p:sp>
    </p:spTree>
    <p:extLst>
      <p:ext uri="{BB962C8B-B14F-4D97-AF65-F5344CB8AC3E}">
        <p14:creationId xmlns:p14="http://schemas.microsoft.com/office/powerpoint/2010/main" val="85356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2026-08-05T00:38:28.3450000Z</dcterms:created>
  <dcterms:modified xsi:type="dcterms:W3CDTF">2026-08-05T00:38:28.3450000Z</dcterms:modified>
</coreProperties>
</file>