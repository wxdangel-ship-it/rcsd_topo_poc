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8f8cff8e304d4ae7" /><Relationship Type="http://schemas.openxmlformats.org/officeDocument/2006/relationships/extended-properties" Target="/docProps/app.xml" Id="R923e06fea88c4d23" /><Relationship Type="http://schemas.openxmlformats.org/officeDocument/2006/relationships/officeDocument" Target="/ppt/presentation.xml" Id="Rf23e1cb83e64449c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0f5fe4902ca447fc"/>
  </p:sldMasterIdLst>
  <p:notesMasterIdLst>
    <p:notesMasterId xmlns:r="http://schemas.openxmlformats.org/officeDocument/2006/relationships" r:id="Rc8dad4577fb3482c"/>
  </p:notesMasterIdLst>
  <p:sldIdLst>
    <p:sldId xmlns:r="http://schemas.openxmlformats.org/officeDocument/2006/relationships" id="256" r:id="R3921d2a5f4bd4625"/>
    <p:sldId xmlns:r="http://schemas.openxmlformats.org/officeDocument/2006/relationships" id="257" r:id="Rc6a1073f0d364f76"/>
    <p:sldId xmlns:r="http://schemas.openxmlformats.org/officeDocument/2006/relationships" id="258" r:id="R3f36ae6661e147f2"/>
    <p:sldId xmlns:r="http://schemas.openxmlformats.org/officeDocument/2006/relationships" id="259" r:id="R98619c597ff84a12"/>
    <p:sldId xmlns:r="http://schemas.openxmlformats.org/officeDocument/2006/relationships" id="260" r:id="R108e227a81e34e3e"/>
    <p:sldId xmlns:r="http://schemas.openxmlformats.org/officeDocument/2006/relationships" id="261" r:id="Rc50f564d12a34ffa"/>
    <p:sldId xmlns:r="http://schemas.openxmlformats.org/officeDocument/2006/relationships" id="262" r:id="R468c14c221d9422a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30bc1649162b4521" /><Relationship Type="http://schemas.openxmlformats.org/officeDocument/2006/relationships/slideMaster" Target="/ppt/slideMasters/slideMaster1.xml" Id="R0f5fe4902ca447fc" /><Relationship Type="http://schemas.openxmlformats.org/officeDocument/2006/relationships/notesMaster" Target="/ppt/notesMasters/notesMaster1.xml" Id="Rc8dad4577fb3482c" /><Relationship Type="http://schemas.openxmlformats.org/officeDocument/2006/relationships/presProps" Target="/ppt/presProps.xml" Id="R778a248318854f4e" /><Relationship Type="http://schemas.openxmlformats.org/officeDocument/2006/relationships/tableStyles" Target="/ppt/tableStyles.xml" Id="Rfe995009099e4154" /><Relationship Type="http://schemas.openxmlformats.org/officeDocument/2006/relationships/slide" Target="/ppt/slides/slide1.xml" Id="R3921d2a5f4bd4625" /><Relationship Type="http://schemas.openxmlformats.org/officeDocument/2006/relationships/slide" Target="/ppt/slides/slide2.xml" Id="Rc6a1073f0d364f76" /><Relationship Type="http://schemas.openxmlformats.org/officeDocument/2006/relationships/slide" Target="/ppt/slides/slide3.xml" Id="R3f36ae6661e147f2" /><Relationship Type="http://schemas.openxmlformats.org/officeDocument/2006/relationships/slide" Target="/ppt/slides/slide4.xml" Id="R98619c597ff84a12" /><Relationship Type="http://schemas.openxmlformats.org/officeDocument/2006/relationships/slide" Target="/ppt/slides/slide5.xml" Id="R108e227a81e34e3e" /><Relationship Type="http://schemas.openxmlformats.org/officeDocument/2006/relationships/slide" Target="/ppt/slides/slide6.xml" Id="Rc50f564d12a34ffa" /><Relationship Type="http://schemas.openxmlformats.org/officeDocument/2006/relationships/slide" Target="/ppt/slides/slide7.xml" Id="R468c14c221d9422a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79c6907effb7415a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242c560d5730450a" /><Relationship Type="http://schemas.openxmlformats.org/officeDocument/2006/relationships/notesMaster" Target="/ppt/notesMasters/notesMaster1.xml" Id="Re781e33c3ab84a21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3c20ac6d2c5248af" /><Relationship Type="http://schemas.openxmlformats.org/officeDocument/2006/relationships/notesMaster" Target="/ppt/notesMasters/notesMaster1.xml" Id="Rf7c79cce789347b2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b89a2e8a88eb4e50" /><Relationship Type="http://schemas.openxmlformats.org/officeDocument/2006/relationships/notesMaster" Target="/ppt/notesMasters/notesMaster1.xml" Id="R0796115935ec44f9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d5c0644a0a5041b7" /><Relationship Type="http://schemas.openxmlformats.org/officeDocument/2006/relationships/notesMaster" Target="/ppt/notesMasters/notesMaster1.xml" Id="R4188c9a520f14bfd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57b7c6b78caa4f8c" /><Relationship Type="http://schemas.openxmlformats.org/officeDocument/2006/relationships/notesMaster" Target="/ppt/notesMasters/notesMaster1.xml" Id="R7405d2c7e9d44f93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700b4f4e1e52482d" /><Relationship Type="http://schemas.openxmlformats.org/officeDocument/2006/relationships/notesMaster" Target="/ppt/notesMasters/notesMaster1.xml" Id="Rc29bd710887a4dae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eb27dbb814d1463d" /><Relationship Type="http://schemas.openxmlformats.org/officeDocument/2006/relationships/notesMaster" Target="/ppt/notesMasters/notesMaster1.xml" Id="R030d4bcdd1fd4ab2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 request in this Codex task; time scope adjusted to year-mid phase through 2026-08-01 so July/August prototype releases are not mislabeled as strict H1 achievements.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E:\Work\RCSD_Topo_Poc__wt_midyear_20260802\SPEC.md</a:t>
            </a:r>
          </a:p>
          <a:p xmlns:a="http://schemas.openxmlformats.org/drawingml/2006/main">
            <a:r>
              <a:t>- E:\Work\RCSD_Topo_Poc__wt_midyear_20260802\docs\PROJECT_REQUIREMENTS.md</a:t>
            </a:r>
          </a:p>
          <a:p xmlns:a="http://schemas.openxmlformats.org/drawingml/2006/main">
            <a:r>
              <a:t>- E:\Work\RCSD_Topo_Poc__wt_midyear_20260802\modules\t01_data_preprocess\SPEC.md</a:t>
            </a:r>
          </a:p>
          <a:p xmlns:a="http://schemas.openxmlformats.org/drawingml/2006/main">
            <a:r>
              <a:t>- E:\Work\RCSD_Topo_Poc__wt_midyear_20260802\modules\t07_semantic_junction_anchor\SPEC.md</a:t>
            </a:r>
          </a:p>
          <a:p xmlns:a="http://schemas.openxmlformats.org/drawingml/2006/main">
            <a:r>
              <a:t>- E:\Work\RCSD_Topo_Poc__wt_midyear_20260802\modules\t03_virtual_junction_anchor\SPEC.md</a:t>
            </a:r>
          </a:p>
          <a:p xmlns:a="http://schemas.openxmlformats.org/drawingml/2006/main">
            <a:r>
              <a:t>- E:\Work\RCSD_Topo_Poc__wt_midyear_20260802\modules\t04_divmerge_virtual_polygon\SPEC.md</a:t>
            </a:r>
          </a:p>
          <a:p xmlns:a="http://schemas.openxmlformats.org/drawingml/2006/main">
            <a:r>
              <a:t>- E:\Work\RCSD_Topo_Poc__wt_midyear_20260802\modules\t05_junction_surface_fusion\SPEC.md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E:\Work\RCSD_Topo_Poc__wt_midyear_20260802\SPEC.md</a:t>
            </a:r>
          </a:p>
          <a:p xmlns:a="http://schemas.openxmlformats.org/drawingml/2006/main">
            <a:r>
              <a:t>- E:\Work\RCSD_Topo_Poc__wt_midyear_20260802\modules\t06_segment_fusion_precheck\SPEC.md</a:t>
            </a:r>
          </a:p>
          <a:p xmlns:a="http://schemas.openxmlformats.org/drawingml/2006/main">
            <a:r>
              <a:t>- E:\Work\RCSD_Topo_Poc__wt_midyear_20260802\modules\t12_frcsd_quality_audit\SPEC.md</a:t>
            </a:r>
          </a:p>
          <a:p xmlns:a="http://schemas.openxmlformats.org/drawingml/2006/main">
            <a:r>
              <a:t>- E:\Work\RCSD_Topo_Poc__wt_midyear_20260802\modules\p04_road_direct_generation\SPEC.md</a:t>
            </a:r>
          </a:p>
          <a:p xmlns:a="http://schemas.openxmlformats.org/drawingml/2006/main">
            <a:r>
              <a:t>- E:\Work\RCSD_Topo_Poc__wt_midyear_20260802\modules\p05_neural_road_generation\SPEC.md</a:t>
            </a:r>
          </a:p>
          <a:p xmlns:a="http://schemas.openxmlformats.org/drawingml/2006/main">
            <a:r>
              <a:t>- User-provided report judgments: T06 POC has determined the algorithm upper bound; T12 has short-term launch potential.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E:\Work\RCSD_Topo_Poc__wt_midyear_20260802\SPEC.md</a:t>
            </a:r>
          </a:p>
          <a:p xmlns:a="http://schemas.openxmlformats.org/drawingml/2006/main">
            <a:r>
              <a:t>- E:\Work\RCSD_Topo_Poc__wt_midyear_20260802\docs\doc-governance\module-lifecycle.md</a:t>
            </a:r>
          </a:p>
          <a:p xmlns:a="http://schemas.openxmlformats.org/drawingml/2006/main">
            <a:r>
              <a:t>- No percentages from earlier concept slides are reused because current source-of-truth does not provide a unified cross-route percentage basis.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C:\Users\admin\Downloads\L4上下车点技术方案_6页最终发布版_返璞归真视觉_第1页标题统一.pptx — slide 2 core technical chain</a:t>
            </a:r>
          </a:p>
          <a:p xmlns:a="http://schemas.openxmlformats.org/drawingml/2006/main">
            <a:r>
              <a:t>- C:\Users\admin\Downloads\L4上下车点技术方案_6页最终发布版_返璞归真视觉_第1页标题统一.pptx — slide 4 RCSD/vehicle boundary</a:t>
            </a:r>
          </a:p>
          <a:p xmlns:a="http://schemas.openxmlformats.org/drawingml/2006/main">
            <a:r>
              <a:t>- C:\Users\admin\Downloads\L4上下车点技术方案_6页最终发布版_返璞归真视觉_第1页标题统一.pptx — slide 6 dual-model carrier</a:t>
            </a:r>
          </a:p>
          <a:p xmlns:a="http://schemas.openxmlformats.org/drawingml/2006/main">
            <a:r>
              <a:t>- Source PPT contains no deployment coverage, hit-rate, safety-effect, or scaled-operations evidence; the slide deliberately does not claim launch or quantified effects.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E:\Work\Off_Road_Map\docs\reviews\20260629_p01_offroad_map_design_language_archive.md</a:t>
            </a:r>
          </a:p>
          <a:p xmlns:a="http://schemas.openxmlformats.org/drawingml/2006/main">
            <a:r>
              <a:t>- E:\Work\Off_Road_Map\docs\reviews\20260706_p01_map_data_contract_v04_archive.md</a:t>
            </a:r>
          </a:p>
          <a:p xmlns:a="http://schemas.openxmlformats.org/drawingml/2006/main">
            <a:r>
              <a:t>- E:\Work\Off_Road_Map\modules\p01_phase2_map_prototype\BUSINESS_FLOW_ARCHITECTURE.md</a:t>
            </a:r>
          </a:p>
          <a:p xmlns:a="http://schemas.openxmlformats.org/drawingml/2006/main">
            <a:r>
              <a:t>- E:\Work\Off_Road_Map\outputs\_freeze\p01_abc_prototype_images_20260703\MANIFEST.md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E:\Work\Off_Road_Map\modules\p01_phase2_map_prototype\MAP_DATA_STRUCTURE.md</a:t>
            </a:r>
          </a:p>
          <a:p xmlns:a="http://schemas.openxmlformats.org/drawingml/2006/main">
            <a:r>
              <a:t>- E:\Work\Off_Road_Map\docs\reviews\20260801_p01_m9_vehicle_ui_alignment_archive.md</a:t>
            </a:r>
          </a:p>
          <a:p xmlns:a="http://schemas.openxmlformats.org/drawingml/2006/main">
            <a:r>
              <a:t>- E:\Work\Off_Road_Map\docs\reviews\20260801_p01_m9_vehicle_ui_alignment_publish.md</a:t>
            </a:r>
          </a:p>
          <a:p xmlns:a="http://schemas.openxmlformats.org/drawingml/2006/main">
            <a:r>
              <a:t>- E:\Work\Off_Road_Map\outputs\_freeze\p01_m9_vehicle_ui_aligned_prototype_20260801_v2\02_交互原型成品\report.json</a:t>
            </a:r>
          </a:p>
          <a:p xmlns:a="http://schemas.openxmlformats.org/drawingml/2006/main">
            <a:r>
              <a:t>- The two embedded screenshots are frozen local prototype evidence; public POIs and route descriptions remain candidate context, not navigation-grade truth.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b442d19501248ec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8d1d2259e54a477e" /><Relationship Type="http://schemas.openxmlformats.org/officeDocument/2006/relationships/slideLayout" Target="/ppt/slideLayouts/slideLayout1.xml" Id="R49ace92d66804ba5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49ace92d66804ba5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7cfa3078f164e53" /><Relationship Type="http://schemas.openxmlformats.org/officeDocument/2006/relationships/notesSlide" Target="/ppt/notesSlides/notesSlide1.xml" Id="R30571b00b07748ce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802ac09301e46e0" /><Relationship Type="http://schemas.openxmlformats.org/officeDocument/2006/relationships/image" Target="/ppt/media/image.png" Id="R6bcb95fb92bb419e" /><Relationship Type="http://schemas.openxmlformats.org/officeDocument/2006/relationships/notesSlide" Target="/ppt/notesSlides/notesSlide2.xml" Id="Rbe114a2c698a4ec1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8d79fd764064b36" /><Relationship Type="http://schemas.openxmlformats.org/officeDocument/2006/relationships/image" Target="/ppt/media/image2.png" Id="R717f4d9094eb423a" /><Relationship Type="http://schemas.openxmlformats.org/officeDocument/2006/relationships/image" Target="/ppt/media/image3.png" Id="R8f0e8bdede7941c3" /><Relationship Type="http://schemas.openxmlformats.org/officeDocument/2006/relationships/notesSlide" Target="/ppt/notesSlides/notesSlide3.xml" Id="R97e75fabf1b247bd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3608d0cdbf44609" /><Relationship Type="http://schemas.openxmlformats.org/officeDocument/2006/relationships/notesSlide" Target="/ppt/notesSlides/notesSlide4.xml" Id="Rb1d3b2f49eae4e97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9f244beec554fb6" /><Relationship Type="http://schemas.openxmlformats.org/officeDocument/2006/relationships/notesSlide" Target="/ppt/notesSlides/notesSlide5.xml" Id="R9f7b4bc7d15e44c7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58d723f9ac14e10" /><Relationship Type="http://schemas.openxmlformats.org/officeDocument/2006/relationships/notesSlide" Target="/ppt/notesSlides/notesSlide6.xml" Id="R8c98e3d8bca54bdf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c8f7d62e47448b4" /><Relationship Type="http://schemas.openxmlformats.org/officeDocument/2006/relationships/image" Target="/ppt/media/image4.png" Id="Ra2135887efc84133" /><Relationship Type="http://schemas.openxmlformats.org/officeDocument/2006/relationships/image" Target="/ppt/media/image5.png" Id="R290e879551c24312" /><Relationship Type="http://schemas.openxmlformats.org/officeDocument/2006/relationships/notesSlide" Target="/ppt/notesSlides/notesSlide7.xml" Id="R6a691cce50b54bcd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cover-red-rule">
            <a:extLst xmlns:a="http://schemas.openxmlformats.org/drawingml/2006/main">
              <a:ext uri="{FF2B5EF4-FFF2-40B4-BE49-F238E27FC236}">
                <a16:creationId xmlns:a16="http://schemas.microsoft.com/office/drawing/2014/main" id="{6638F705-1D2A-4F1D-950A-DE77F43B22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885825" y="1962150"/>
            <a:ext cx="24479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7D2633"/>
            </a:solidFill>
            <a:prstDash val="solid"/>
          </a:ln>
        </p:spPr>
      </p:sp>
      <p:sp>
        <p:nvSpPr>
          <p:cNvPr id="2" name="cover-title">
            <a:extLst xmlns:a="http://schemas.openxmlformats.org/drawingml/2006/main">
              <a:ext uri="{FF2B5EF4-FFF2-40B4-BE49-F238E27FC236}">
                <a16:creationId xmlns:a16="http://schemas.microsoft.com/office/drawing/2014/main" id="{078F5067-AAE1-4AD6-99A0-FD04040A4B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2266950"/>
            <a:ext cx="7810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5000" b="1">
                <a:solidFill>
                  <a:srgbClr val="7D26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5000" b="1">
                <a:solidFill>
                  <a:srgbClr val="7D2633"/>
                </a:solidFill>
                <a:latin typeface="Microsoft YaHei"/>
                <a:ea typeface="Microsoft YaHei"/>
                <a:cs typeface="Microsoft YaHei"/>
              </a:rPr>
              <a:t>年中阶段性项目技术汇报</a:t>
            </a:r>
          </a:p>
        </p:txBody>
      </p:sp>
      <p:sp>
        <p:nvSpPr>
          <p:cNvPr id="3" name="cover-subtitle">
            <a:extLst xmlns:a="http://schemas.openxmlformats.org/drawingml/2006/main">
              <a:ext uri="{FF2B5EF4-FFF2-40B4-BE49-F238E27FC236}">
                <a16:creationId xmlns:a16="http://schemas.microsoft.com/office/drawing/2014/main" id="{9C42BAA3-051C-421E-BE41-EC1E6D4E8F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3333750"/>
            <a:ext cx="74295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200" b="0">
                <a:solidFill>
                  <a:srgbClr val="24232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00" b="0">
                <a:solidFill>
                  <a:srgbClr val="242321"/>
                </a:solidFill>
                <a:latin typeface="Microsoft YaHei"/>
                <a:ea typeface="Microsoft YaHei"/>
                <a:cs typeface="Microsoft YaHei"/>
              </a:rPr>
              <a:t>道路数据架构｜上下车点｜越野原型</a:t>
            </a:r>
          </a:p>
        </p:txBody>
      </p:sp>
      <p:sp>
        <p:nvSpPr>
          <p:cNvPr id="4" name="cover-network-1">
            <a:extLst xmlns:a="http://schemas.openxmlformats.org/drawingml/2006/main">
              <a:ext uri="{FF2B5EF4-FFF2-40B4-BE49-F238E27FC236}">
                <a16:creationId xmlns:a16="http://schemas.microsoft.com/office/drawing/2014/main" id="{F5F13A13-8502-4ADB-9D43-04FDD32BB9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6572250" y="809625"/>
            <a:ext cx="43338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F0EDE7"/>
            </a:solidFill>
            <a:prstDash val="solid"/>
          </a:ln>
        </p:spPr>
      </p:sp>
      <p:sp>
        <p:nvSpPr>
          <p:cNvPr id="5" name="cover-network-2">
            <a:extLst xmlns:a="http://schemas.openxmlformats.org/drawingml/2006/main">
              <a:ext uri="{FF2B5EF4-FFF2-40B4-BE49-F238E27FC236}">
                <a16:creationId xmlns:a16="http://schemas.microsoft.com/office/drawing/2014/main" id="{ED3E018A-DFB5-47D1-843B-E5CD0FBA49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6762750" y="1190625"/>
            <a:ext cx="4524375" cy="5238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F0EDE7"/>
            </a:solidFill>
            <a:prstDash val="solid"/>
          </a:ln>
        </p:spPr>
      </p:sp>
      <p:sp>
        <p:nvSpPr>
          <p:cNvPr id="6" name="cover-network-3">
            <a:extLst xmlns:a="http://schemas.openxmlformats.org/drawingml/2006/main">
              <a:ext uri="{FF2B5EF4-FFF2-40B4-BE49-F238E27FC236}">
                <a16:creationId xmlns:a16="http://schemas.microsoft.com/office/drawing/2014/main" id="{5759D0C2-D28F-44DC-B187-089609381D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6381750" y="1905000"/>
            <a:ext cx="4238625" cy="571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F0EDE7"/>
            </a:solidFill>
            <a:prstDash val="solid"/>
          </a:ln>
        </p:spPr>
      </p:sp>
      <p:sp>
        <p:nvSpPr>
          <p:cNvPr id="7" name="cover-network-4">
            <a:extLst xmlns:a="http://schemas.openxmlformats.org/drawingml/2006/main">
              <a:ext uri="{FF2B5EF4-FFF2-40B4-BE49-F238E27FC236}">
                <a16:creationId xmlns:a16="http://schemas.microsoft.com/office/drawing/2014/main" id="{215AA786-6A0D-4C77-B5E4-9F9AE0EA92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7239000" y="2809875"/>
            <a:ext cx="4381500" cy="4286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F0EDE7"/>
            </a:solidFill>
            <a:prstDash val="solid"/>
          </a:ln>
        </p:spPr>
      </p:sp>
      <p:sp>
        <p:nvSpPr>
          <p:cNvPr id="8" name="cover-network-5">
            <a:extLst xmlns:a="http://schemas.openxmlformats.org/drawingml/2006/main">
              <a:ext uri="{FF2B5EF4-FFF2-40B4-BE49-F238E27FC236}">
                <a16:creationId xmlns:a16="http://schemas.microsoft.com/office/drawing/2014/main" id="{18AA578F-743C-4843-A46E-C43E72A0CB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6667500" y="4000500"/>
            <a:ext cx="4381500" cy="4762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F0EDE7"/>
            </a:solidFill>
            <a:prstDash val="solid"/>
          </a:ln>
        </p:spPr>
      </p:sp>
      <p:sp>
        <p:nvSpPr>
          <p:cNvPr id="9" name="cover-network-6">
            <a:extLst xmlns:a="http://schemas.openxmlformats.org/drawingml/2006/main">
              <a:ext uri="{FF2B5EF4-FFF2-40B4-BE49-F238E27FC236}">
                <a16:creationId xmlns:a16="http://schemas.microsoft.com/office/drawing/2014/main" id="{C8ED78A9-7A6E-4CFF-980C-BF3BE15B62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7715250" y="4953000"/>
            <a:ext cx="3905250" cy="381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F0EDE7"/>
            </a:solidFill>
            <a:prstDash val="solid"/>
          </a:ln>
        </p:spPr>
      </p:sp>
      <p:sp>
        <p:nvSpPr>
          <p:cNvPr id="10" name="cover-route-1">
            <a:extLst xmlns:a="http://schemas.openxmlformats.org/drawingml/2006/main">
              <a:ext uri="{FF2B5EF4-FFF2-40B4-BE49-F238E27FC236}">
                <a16:creationId xmlns:a16="http://schemas.microsoft.com/office/drawing/2014/main" id="{D7269443-EE08-4D41-8F0F-40A7538D71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1">
            <a:off x="6667500" y="4000500"/>
            <a:ext cx="1285875" cy="1143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5D0C7"/>
            </a:solidFill>
            <a:prstDash val="solid"/>
          </a:ln>
        </p:spPr>
      </p:sp>
      <p:sp>
        <p:nvSpPr>
          <p:cNvPr id="11" name="cover-route-2">
            <a:extLst xmlns:a="http://schemas.openxmlformats.org/drawingml/2006/main">
              <a:ext uri="{FF2B5EF4-FFF2-40B4-BE49-F238E27FC236}">
                <a16:creationId xmlns:a16="http://schemas.microsoft.com/office/drawing/2014/main" id="{35EB63D1-A4E8-428D-AAB6-5CC84853AA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1">
            <a:off x="7953375" y="3190875"/>
            <a:ext cx="1428750" cy="8096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5D0C7"/>
            </a:solidFill>
            <a:prstDash val="solid"/>
          </a:ln>
        </p:spPr>
      </p:sp>
      <p:sp>
        <p:nvSpPr>
          <p:cNvPr id="12" name="cover-route-3">
            <a:extLst xmlns:a="http://schemas.openxmlformats.org/drawingml/2006/main">
              <a:ext uri="{FF2B5EF4-FFF2-40B4-BE49-F238E27FC236}">
                <a16:creationId xmlns:a16="http://schemas.microsoft.com/office/drawing/2014/main" id="{199BFFCB-711C-48D8-B787-495EF23DED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1">
            <a:off x="9382125" y="1428750"/>
            <a:ext cx="1666875" cy="17621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5D0C7"/>
            </a:solidFill>
            <a:prstDash val="solid"/>
          </a:ln>
        </p:spPr>
      </p:sp>
      <p:sp>
        <p:nvSpPr>
          <p:cNvPr id="13" name="cover-node-1">
            <a:extLst xmlns:a="http://schemas.openxmlformats.org/drawingml/2006/main">
              <a:ext uri="{FF2B5EF4-FFF2-40B4-BE49-F238E27FC236}">
                <a16:creationId xmlns:a16="http://schemas.microsoft.com/office/drawing/2014/main" id="{A3CEBB65-4C8E-45C1-91F0-06F16B947A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00825" y="5076825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FEBE4"/>
          </a:solidFill>
          <a:ln xmlns:a="http://schemas.openxmlformats.org/drawingml/2006/main" w="0">
            <a:solidFill>
              <a:srgbClr val="EFEBE4"/>
            </a:solidFill>
            <a:prstDash val="solid"/>
          </a:ln>
        </p:spPr>
      </p:sp>
      <p:sp>
        <p:nvSpPr>
          <p:cNvPr id="14" name="cover-node-2">
            <a:extLst xmlns:a="http://schemas.openxmlformats.org/drawingml/2006/main">
              <a:ext uri="{FF2B5EF4-FFF2-40B4-BE49-F238E27FC236}">
                <a16:creationId xmlns:a16="http://schemas.microsoft.com/office/drawing/2014/main" id="{757F5482-406D-4516-9CF3-38242ECE9D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05925" y="3114675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FEBE4"/>
          </a:solidFill>
          <a:ln xmlns:a="http://schemas.openxmlformats.org/drawingml/2006/main" w="0">
            <a:solidFill>
              <a:srgbClr val="EFEBE4"/>
            </a:solidFill>
            <a:prstDash val="solid"/>
          </a:ln>
        </p:spPr>
      </p:sp>
      <p:sp>
        <p:nvSpPr>
          <p:cNvPr id="15" name="cover-node-3">
            <a:extLst xmlns:a="http://schemas.openxmlformats.org/drawingml/2006/main">
              <a:ext uri="{FF2B5EF4-FFF2-40B4-BE49-F238E27FC236}">
                <a16:creationId xmlns:a16="http://schemas.microsoft.com/office/drawing/2014/main" id="{23EBDC39-01A4-447F-A97C-F465A01C2F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13525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EC9CD"/>
          </a:solidFill>
          <a:ln xmlns:a="http://schemas.openxmlformats.org/drawingml/2006/main" w="0">
            <a:solidFill>
              <a:srgbClr val="DEC9CD"/>
            </a:solidFill>
            <a:prstDash val="solid"/>
          </a:ln>
        </p:spPr>
      </p:sp>
      <p:sp>
        <p:nvSpPr>
          <p:cNvPr id="16" name="cover-date">
            <a:extLst xmlns:a="http://schemas.openxmlformats.org/drawingml/2006/main">
              <a:ext uri="{FF2B5EF4-FFF2-40B4-BE49-F238E27FC236}">
                <a16:creationId xmlns:a16="http://schemas.microsoft.com/office/drawing/2014/main" id="{1F123D5C-E7FA-4989-A6BC-9687E74C77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5905500"/>
            <a:ext cx="304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00" b="0">
                <a:solidFill>
                  <a:srgbClr val="6E6A6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E6A64"/>
                </a:solidFill>
                <a:latin typeface="Microsoft YaHei"/>
                <a:ea typeface="Microsoft YaHei"/>
                <a:cs typeface="Microsoft YaHei"/>
              </a:rPr>
              <a:t>截至 2026-08-01</a:t>
            </a:r>
          </a:p>
        </p:txBody>
      </p:sp>
      <p:sp>
        <p:nvSpPr>
          <p:cNvPr id="17" name="cover-bottom-rule">
            <a:extLst xmlns:a="http://schemas.openxmlformats.org/drawingml/2006/main">
              <a:ext uri="{FF2B5EF4-FFF2-40B4-BE49-F238E27FC236}">
                <a16:creationId xmlns:a16="http://schemas.microsoft.com/office/drawing/2014/main" id="{9F5E1DC1-FAB6-4926-8DA3-25D1C7AC39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885825" y="6324600"/>
            <a:ext cx="104108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5D0C7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184390236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page-title">
            <a:extLst xmlns:a="http://schemas.openxmlformats.org/drawingml/2006/main">
              <a:ext uri="{FF2B5EF4-FFF2-40B4-BE49-F238E27FC236}">
                <a16:creationId xmlns:a16="http://schemas.microsoft.com/office/drawing/2014/main" id="{7360E9C8-2A63-4834-BB0F-20F9454044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320040"/>
            <a:ext cx="11055096" cy="42062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3100" b="1">
                <a:solidFill>
                  <a:srgbClr val="7D26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00" b="1">
                <a:solidFill>
                  <a:srgbClr val="7D2633"/>
                </a:solidFill>
                <a:latin typeface="Microsoft YaHei"/>
                <a:ea typeface="Microsoft YaHei"/>
                <a:cs typeface="Microsoft YaHei"/>
              </a:rPr>
              <a:t>路口—路段骨架，是三条道路技术路线的共同起点</a:t>
            </a:r>
          </a:p>
        </p:txBody>
      </p:sp>
      <p:sp>
        <p:nvSpPr>
          <p:cNvPr id="2" name="page-subtitle">
            <a:extLst xmlns:a="http://schemas.openxmlformats.org/drawingml/2006/main">
              <a:ext uri="{FF2B5EF4-FFF2-40B4-BE49-F238E27FC236}">
                <a16:creationId xmlns:a16="http://schemas.microsoft.com/office/drawing/2014/main" id="{9150DD19-C6F8-43CE-AE3F-5789DD2172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786384"/>
            <a:ext cx="11055096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00" b="0">
                <a:solidFill>
                  <a:srgbClr val="6E6A6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E6A64"/>
                </a:solidFill>
                <a:latin typeface="Microsoft YaHei"/>
                <a:ea typeface="Microsoft YaHei"/>
                <a:cs typeface="Microsoft YaHei"/>
              </a:rPr>
              <a:t>T01 建立 Segment；T07/T03/T04/T05 用道路面、路口面、导流带与 RCSD 形成可审计锚定关系</a:t>
            </a:r>
          </a:p>
        </p:txBody>
      </p:sp>
      <p:sp>
        <p:nvSpPr>
          <p:cNvPr id="3" name="title-divider">
            <a:extLst xmlns:a="http://schemas.openxmlformats.org/drawingml/2006/main">
              <a:ext uri="{FF2B5EF4-FFF2-40B4-BE49-F238E27FC236}">
                <a16:creationId xmlns:a16="http://schemas.microsoft.com/office/drawing/2014/main" id="{E4C5B2A3-25A2-4990-838A-5E9B1AB89C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566928" y="1097280"/>
            <a:ext cx="11055096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5D0C7"/>
            </a:solidFill>
            <a:prstDash val="solid"/>
          </a:ln>
        </p:spPr>
      </p:sp>
      <p:sp>
        <p:nvSpPr>
          <p:cNvPr id="4" name="gis-frame">
            <a:extLst xmlns:a="http://schemas.openxmlformats.org/drawingml/2006/main">
              <a:ext uri="{FF2B5EF4-FFF2-40B4-BE49-F238E27FC236}">
                <a16:creationId xmlns:a16="http://schemas.microsoft.com/office/drawing/2014/main" id="{0E05E8B7-AEAD-47F0-A73C-179660C107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381125"/>
            <a:ext cx="4286250" cy="3190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D0C7"/>
            </a:solidFill>
            <a:prstDash val="solid"/>
          </a:ln>
        </p:spPr>
      </p:sp>
      <p:pic>
        <p:nvPicPr>
          <p:cNvPr id="3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bcb95fb92bb419e"/>
          <a:stretch xmlns:a="http://schemas.openxmlformats.org/drawingml/2006/main"/>
        </p:blipFill>
        <p:spPr>
          <a:xfrm xmlns:a="http://schemas.openxmlformats.org/drawingml/2006/main">
            <a:off x="666750" y="1824633"/>
            <a:ext cx="4095750" cy="2303859"/>
          </a:xfrm>
          <a:prstGeom xmlns:a="http://schemas.openxmlformats.org/drawingml/2006/main" prst="rect">
            <a:avLst/>
          </a:prstGeom>
        </p:spPr>
      </p:pic>
      <p:sp>
        <p:nvSpPr>
          <p:cNvPr id="6" name="gis-caption">
            <a:extLst xmlns:a="http://schemas.openxmlformats.org/drawingml/2006/main">
              <a:ext uri="{FF2B5EF4-FFF2-40B4-BE49-F238E27FC236}">
                <a16:creationId xmlns:a16="http://schemas.microsoft.com/office/drawing/2014/main" id="{5F14DE02-A8CF-40EC-A2BC-D37A92A639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619625"/>
            <a:ext cx="4095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100" b="0">
                <a:solidFill>
                  <a:srgbClr val="6E6A6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00" b="0">
                <a:solidFill>
                  <a:srgbClr val="6E6A64"/>
                </a:solidFill>
                <a:latin typeface="Microsoft YaHei"/>
                <a:ea typeface="Microsoft YaHei"/>
                <a:cs typeface="Microsoft YaHei"/>
              </a:rPr>
              <a:t>真实 Case 1885118｜道路面、路口面与 RCSD 叠加证据</a:t>
            </a:r>
          </a:p>
        </p:txBody>
      </p:sp>
      <p:sp>
        <p:nvSpPr>
          <p:cNvPr id="7" name="evidence-label">
            <a:extLst xmlns:a="http://schemas.openxmlformats.org/drawingml/2006/main">
              <a:ext uri="{FF2B5EF4-FFF2-40B4-BE49-F238E27FC236}">
                <a16:creationId xmlns:a16="http://schemas.microsoft.com/office/drawing/2014/main" id="{7EA09731-8A6B-4FA4-88F8-D6344F2B7B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1125" y="1381125"/>
            <a:ext cx="1238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700" b="1">
                <a:solidFill>
                  <a:srgbClr val="7D26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00" b="1">
                <a:solidFill>
                  <a:srgbClr val="7D2633"/>
                </a:solidFill>
                <a:latin typeface="Microsoft YaHei"/>
                <a:ea typeface="Microsoft YaHei"/>
                <a:cs typeface="Microsoft YaHei"/>
              </a:rPr>
              <a:t>现实证据</a:t>
            </a:r>
          </a:p>
        </p:txBody>
      </p:sp>
      <p:sp>
        <p:nvSpPr>
          <p:cNvPr id="8" name="evidence-items">
            <a:extLst xmlns:a="http://schemas.openxmlformats.org/drawingml/2006/main">
              <a:ext uri="{FF2B5EF4-FFF2-40B4-BE49-F238E27FC236}">
                <a16:creationId xmlns:a16="http://schemas.microsoft.com/office/drawing/2014/main" id="{FF8DDF8F-5A75-411C-8960-18021BCBE1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1381125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00" b="0">
                <a:solidFill>
                  <a:srgbClr val="24232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242321"/>
                </a:solidFill>
                <a:latin typeface="Microsoft YaHei"/>
                <a:ea typeface="Microsoft YaHei"/>
                <a:cs typeface="Microsoft YaHei"/>
              </a:rPr>
              <a:t>道路面  ·  路口面  ·  导流带  ·  RCSD Road / Node</a:t>
            </a:r>
          </a:p>
        </p:txBody>
      </p:sp>
      <p:sp>
        <p:nvSpPr>
          <p:cNvPr id="9" name="evidence-line">
            <a:extLst xmlns:a="http://schemas.openxmlformats.org/drawingml/2006/main">
              <a:ext uri="{FF2B5EF4-FFF2-40B4-BE49-F238E27FC236}">
                <a16:creationId xmlns:a16="http://schemas.microsoft.com/office/drawing/2014/main" id="{F0AB1CBA-E8CD-44EB-A173-B74625E3FF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5191125" y="1724025"/>
            <a:ext cx="62007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5D0C7"/>
            </a:solidFill>
            <a:prstDash val="solid"/>
          </a:ln>
        </p:spPr>
      </p:sp>
      <p:sp>
        <p:nvSpPr>
          <p:cNvPr id="10" name="junction-unit">
            <a:extLst xmlns:a="http://schemas.openxmlformats.org/drawingml/2006/main">
              <a:ext uri="{FF2B5EF4-FFF2-40B4-BE49-F238E27FC236}">
                <a16:creationId xmlns:a16="http://schemas.microsoft.com/office/drawing/2014/main" id="{C25726BB-6E7C-4441-9EDC-29096DDFAF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1125" y="1952625"/>
            <a:ext cx="2809875" cy="904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5F0"/>
          </a:solidFill>
          <a:ln xmlns:a="http://schemas.openxmlformats.org/drawingml/2006/main" w="9525">
            <a:solidFill>
              <a:srgbClr val="D5D0C7"/>
            </a:solidFill>
            <a:prstDash val="solid"/>
          </a:ln>
        </p:spPr>
      </p:sp>
      <p:sp>
        <p:nvSpPr>
          <p:cNvPr id="11" name="junction-title">
            <a:extLst xmlns:a="http://schemas.openxmlformats.org/drawingml/2006/main">
              <a:ext uri="{FF2B5EF4-FFF2-40B4-BE49-F238E27FC236}">
                <a16:creationId xmlns:a16="http://schemas.microsoft.com/office/drawing/2014/main" id="{33A73802-63DA-4905-A14F-10BFC2BBAC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81625" y="2047875"/>
            <a:ext cx="2428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900" b="1">
                <a:solidFill>
                  <a:srgbClr val="24232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00" b="1">
                <a:solidFill>
                  <a:srgbClr val="242321"/>
                </a:solidFill>
                <a:latin typeface="Microsoft YaHei"/>
                <a:ea typeface="Microsoft YaHei"/>
                <a:cs typeface="Microsoft YaHei"/>
              </a:rPr>
              <a:t>Junction</a:t>
            </a:r>
          </a:p>
        </p:txBody>
      </p:sp>
      <p:sp>
        <p:nvSpPr>
          <p:cNvPr id="12" name="junction-desc">
            <a:extLst xmlns:a="http://schemas.openxmlformats.org/drawingml/2006/main">
              <a:ext uri="{FF2B5EF4-FFF2-40B4-BE49-F238E27FC236}">
                <a16:creationId xmlns:a16="http://schemas.microsoft.com/office/drawing/2014/main" id="{E9761E6D-ACCD-4109-A75A-3658A0A7FD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81625" y="2352675"/>
            <a:ext cx="242887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00" b="0">
                <a:solidFill>
                  <a:srgbClr val="6E6A6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00" b="0">
                <a:solidFill>
                  <a:srgbClr val="6E6A64"/>
                </a:solidFill>
                <a:latin typeface="Microsoft YaHei"/>
                <a:ea typeface="Microsoft YaHei"/>
                <a:cs typeface="Microsoft YaHei"/>
              </a:rPr>
              <a:t>解释路口范围、入口/出口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400" b="0">
                <a:solidFill>
                  <a:srgbClr val="6E6A6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00" b="0">
                <a:solidFill>
                  <a:srgbClr val="6E6A64"/>
                </a:solidFill>
                <a:latin typeface="Microsoft YaHei"/>
                <a:ea typeface="Microsoft YaHei"/>
                <a:cs typeface="Microsoft YaHei"/>
              </a:rPr>
              <a:t>与相邻道路关系</a:t>
            </a:r>
          </a:p>
        </p:txBody>
      </p:sp>
      <p:sp>
        <p:nvSpPr>
          <p:cNvPr id="13" name="segment-unit">
            <a:extLst xmlns:a="http://schemas.openxmlformats.org/drawingml/2006/main">
              <a:ext uri="{FF2B5EF4-FFF2-40B4-BE49-F238E27FC236}">
                <a16:creationId xmlns:a16="http://schemas.microsoft.com/office/drawing/2014/main" id="{330716C3-4387-40F8-8CDD-05C6F0078D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1952625"/>
            <a:ext cx="2809875" cy="904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5F0"/>
          </a:solidFill>
          <a:ln xmlns:a="http://schemas.openxmlformats.org/drawingml/2006/main" w="9525">
            <a:solidFill>
              <a:srgbClr val="D5D0C7"/>
            </a:solidFill>
            <a:prstDash val="solid"/>
          </a:ln>
        </p:spPr>
      </p:sp>
      <p:sp>
        <p:nvSpPr>
          <p:cNvPr id="14" name="segment-title">
            <a:extLst xmlns:a="http://schemas.openxmlformats.org/drawingml/2006/main">
              <a:ext uri="{FF2B5EF4-FFF2-40B4-BE49-F238E27FC236}">
                <a16:creationId xmlns:a16="http://schemas.microsoft.com/office/drawing/2014/main" id="{57F07A1B-22BF-4E60-9E5E-1DB1EFCF29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2047875"/>
            <a:ext cx="2428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900" b="1">
                <a:solidFill>
                  <a:srgbClr val="24232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00" b="1">
                <a:solidFill>
                  <a:srgbClr val="242321"/>
                </a:solidFill>
                <a:latin typeface="Microsoft YaHei"/>
                <a:ea typeface="Microsoft YaHei"/>
                <a:cs typeface="Microsoft YaHei"/>
              </a:rPr>
              <a:t>Segment</a:t>
            </a:r>
          </a:p>
        </p:txBody>
      </p:sp>
      <p:sp>
        <p:nvSpPr>
          <p:cNvPr id="15" name="segment-desc">
            <a:extLst xmlns:a="http://schemas.openxmlformats.org/drawingml/2006/main">
              <a:ext uri="{FF2B5EF4-FFF2-40B4-BE49-F238E27FC236}">
                <a16:creationId xmlns:a16="http://schemas.microsoft.com/office/drawing/2014/main" id="{27E4D0B4-5201-4508-8417-18714A9517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2352675"/>
            <a:ext cx="242887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00" b="0">
                <a:solidFill>
                  <a:srgbClr val="6E6A6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00" b="0">
                <a:solidFill>
                  <a:srgbClr val="6E6A64"/>
                </a:solidFill>
                <a:latin typeface="Microsoft YaHei"/>
                <a:ea typeface="Microsoft YaHei"/>
                <a:cs typeface="Microsoft YaHei"/>
              </a:rPr>
              <a:t>相邻 Junction 之间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400" b="0">
                <a:solidFill>
                  <a:srgbClr val="6E6A6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00" b="0">
                <a:solidFill>
                  <a:srgbClr val="6E6A64"/>
                </a:solidFill>
                <a:latin typeface="Microsoft YaHei"/>
                <a:ea typeface="Microsoft YaHei"/>
                <a:cs typeface="Microsoft YaHei"/>
              </a:rPr>
              <a:t>有方向的道路语义单元</a:t>
            </a:r>
          </a:p>
        </p:txBody>
      </p:sp>
      <p:sp>
        <p:nvSpPr>
          <p:cNvPr id="16" name="junction-segment-line">
            <a:extLst xmlns:a="http://schemas.openxmlformats.org/drawingml/2006/main">
              <a:ext uri="{FF2B5EF4-FFF2-40B4-BE49-F238E27FC236}">
                <a16:creationId xmlns:a16="http://schemas.microsoft.com/office/drawing/2014/main" id="{B907ADD7-9D65-43DB-AE62-EC85482BDC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8001000" y="2400300"/>
            <a:ext cx="571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7D2633"/>
            </a:solidFill>
            <a:prstDash val="solid"/>
          </a:ln>
        </p:spPr>
      </p:sp>
      <p:sp>
        <p:nvSpPr>
          <p:cNvPr id="17" name="junction-segment-arrow">
            <a:extLst xmlns:a="http://schemas.openxmlformats.org/drawingml/2006/main">
              <a:ext uri="{FF2B5EF4-FFF2-40B4-BE49-F238E27FC236}">
                <a16:creationId xmlns:a16="http://schemas.microsoft.com/office/drawing/2014/main" id="{FD7BC304-3CC6-4A1B-B06F-0B31F3A7D1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625" y="2162175"/>
            <a:ext cx="476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2200" b="1">
                <a:solidFill>
                  <a:srgbClr val="7D26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00" b="1">
                <a:solidFill>
                  <a:srgbClr val="7D2633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18" name="module-dot-1">
            <a:extLst xmlns:a="http://schemas.openxmlformats.org/drawingml/2006/main">
              <a:ext uri="{FF2B5EF4-FFF2-40B4-BE49-F238E27FC236}">
                <a16:creationId xmlns:a16="http://schemas.microsoft.com/office/drawing/2014/main" id="{45AB50C4-F663-405D-8EE8-E699711D0F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3267075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03634"/>
          </a:solidFill>
          <a:ln xmlns:a="http://schemas.openxmlformats.org/drawingml/2006/main" w="0">
            <a:solidFill>
              <a:srgbClr val="303634"/>
            </a:solidFill>
            <a:prstDash val="solid"/>
          </a:ln>
        </p:spPr>
      </p:sp>
      <p:sp>
        <p:nvSpPr>
          <p:cNvPr id="19" name="module-id-1">
            <a:extLst xmlns:a="http://schemas.openxmlformats.org/drawingml/2006/main">
              <a:ext uri="{FF2B5EF4-FFF2-40B4-BE49-F238E27FC236}">
                <a16:creationId xmlns:a16="http://schemas.microsoft.com/office/drawing/2014/main" id="{A8767E71-8F59-4111-A52C-DF16DA3D6C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3190875"/>
            <a:ext cx="1571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00" b="1">
                <a:solidFill>
                  <a:srgbClr val="24232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242321"/>
                </a:solidFill>
                <a:latin typeface="Microsoft YaHei"/>
                <a:ea typeface="Microsoft YaHei"/>
                <a:cs typeface="Microsoft YaHei"/>
              </a:rPr>
              <a:t>T01</a:t>
            </a:r>
          </a:p>
        </p:txBody>
      </p:sp>
      <p:sp>
        <p:nvSpPr>
          <p:cNvPr id="20" name="module-text-1">
            <a:extLst xmlns:a="http://schemas.openxmlformats.org/drawingml/2006/main">
              <a:ext uri="{FF2B5EF4-FFF2-40B4-BE49-F238E27FC236}">
                <a16:creationId xmlns:a16="http://schemas.microsoft.com/office/drawing/2014/main" id="{E6D6D4F7-CA1F-495A-82B8-ED29FD45C2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6125" y="3190875"/>
            <a:ext cx="42862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00" b="0">
                <a:solidFill>
                  <a:srgbClr val="24232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00" b="0">
                <a:solidFill>
                  <a:srgbClr val="242321"/>
                </a:solidFill>
                <a:latin typeface="Microsoft YaHei"/>
                <a:ea typeface="Microsoft YaHei"/>
                <a:cs typeface="Microsoft YaHei"/>
              </a:rPr>
              <a:t>把 SWSD Road/Node 组织为可替换、可审计的 Segment</a:t>
            </a:r>
          </a:p>
        </p:txBody>
      </p:sp>
      <p:sp>
        <p:nvSpPr>
          <p:cNvPr id="21" name="module-vline-1">
            <a:extLst xmlns:a="http://schemas.openxmlformats.org/drawingml/2006/main">
              <a:ext uri="{FF2B5EF4-FFF2-40B4-BE49-F238E27FC236}">
                <a16:creationId xmlns:a16="http://schemas.microsoft.com/office/drawing/2014/main" id="{3BDD491E-C7A9-422F-93B1-EF622ADAED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5305425" y="3448050"/>
            <a:ext cx="0" cy="4286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D5D0C7"/>
            </a:solidFill>
            <a:prstDash val="solid"/>
          </a:ln>
        </p:spPr>
      </p:sp>
      <p:sp>
        <p:nvSpPr>
          <p:cNvPr id="22" name="module-dot-2">
            <a:extLst xmlns:a="http://schemas.openxmlformats.org/drawingml/2006/main">
              <a:ext uri="{FF2B5EF4-FFF2-40B4-BE49-F238E27FC236}">
                <a16:creationId xmlns:a16="http://schemas.microsoft.com/office/drawing/2014/main" id="{6A51BFB1-CEEE-41C7-96EF-F27AA107BD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3952875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03634"/>
          </a:solidFill>
          <a:ln xmlns:a="http://schemas.openxmlformats.org/drawingml/2006/main" w="0">
            <a:solidFill>
              <a:srgbClr val="303634"/>
            </a:solidFill>
            <a:prstDash val="solid"/>
          </a:ln>
        </p:spPr>
      </p:sp>
      <p:sp>
        <p:nvSpPr>
          <p:cNvPr id="23" name="module-id-2">
            <a:extLst xmlns:a="http://schemas.openxmlformats.org/drawingml/2006/main">
              <a:ext uri="{FF2B5EF4-FFF2-40B4-BE49-F238E27FC236}">
                <a16:creationId xmlns:a16="http://schemas.microsoft.com/office/drawing/2014/main" id="{EF8FA824-6BAA-427A-958A-E0B9183D7B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3876675"/>
            <a:ext cx="1571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00" b="1">
                <a:solidFill>
                  <a:srgbClr val="24232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242321"/>
                </a:solidFill>
                <a:latin typeface="Microsoft YaHei"/>
                <a:ea typeface="Microsoft YaHei"/>
                <a:cs typeface="Microsoft YaHei"/>
              </a:rPr>
              <a:t>T07 / T03 / T04</a:t>
            </a:r>
          </a:p>
        </p:txBody>
      </p:sp>
      <p:sp>
        <p:nvSpPr>
          <p:cNvPr id="24" name="module-text-2">
            <a:extLst xmlns:a="http://schemas.openxmlformats.org/drawingml/2006/main">
              <a:ext uri="{FF2B5EF4-FFF2-40B4-BE49-F238E27FC236}">
                <a16:creationId xmlns:a16="http://schemas.microsoft.com/office/drawing/2014/main" id="{EECF08DE-27C1-41EE-AE10-0F0D50D632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6125" y="3876675"/>
            <a:ext cx="42862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00" b="0">
                <a:solidFill>
                  <a:srgbClr val="24232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00" b="0">
                <a:solidFill>
                  <a:srgbClr val="242321"/>
                </a:solidFill>
                <a:latin typeface="Microsoft YaHei"/>
                <a:ea typeface="Microsoft YaHei"/>
                <a:cs typeface="Microsoft YaHei"/>
              </a:rPr>
              <a:t>按不同路口类型，把现实路口特征锚定到 RCSD</a:t>
            </a:r>
          </a:p>
        </p:txBody>
      </p:sp>
      <p:sp>
        <p:nvSpPr>
          <p:cNvPr id="25" name="module-vline-2">
            <a:extLst xmlns:a="http://schemas.openxmlformats.org/drawingml/2006/main">
              <a:ext uri="{FF2B5EF4-FFF2-40B4-BE49-F238E27FC236}">
                <a16:creationId xmlns:a16="http://schemas.microsoft.com/office/drawing/2014/main" id="{8D485424-EA65-436D-9A20-A77DE7BDEA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5305425" y="4133850"/>
            <a:ext cx="0" cy="4286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D5D0C7"/>
            </a:solidFill>
            <a:prstDash val="solid"/>
          </a:ln>
        </p:spPr>
      </p:sp>
      <p:sp>
        <p:nvSpPr>
          <p:cNvPr id="26" name="module-dot-3">
            <a:extLst xmlns:a="http://schemas.openxmlformats.org/drawingml/2006/main">
              <a:ext uri="{FF2B5EF4-FFF2-40B4-BE49-F238E27FC236}">
                <a16:creationId xmlns:a16="http://schemas.microsoft.com/office/drawing/2014/main" id="{37650A8E-BF2F-4A7C-98A0-F135CD8F06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4638675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D2633"/>
          </a:solidFill>
          <a:ln xmlns:a="http://schemas.openxmlformats.org/drawingml/2006/main" w="0">
            <a:solidFill>
              <a:srgbClr val="7D2633"/>
            </a:solidFill>
            <a:prstDash val="solid"/>
          </a:ln>
        </p:spPr>
      </p:sp>
      <p:sp>
        <p:nvSpPr>
          <p:cNvPr id="27" name="module-id-3">
            <a:extLst xmlns:a="http://schemas.openxmlformats.org/drawingml/2006/main">
              <a:ext uri="{FF2B5EF4-FFF2-40B4-BE49-F238E27FC236}">
                <a16:creationId xmlns:a16="http://schemas.microsoft.com/office/drawing/2014/main" id="{D74136C2-48C9-4AE2-86EE-53E9289718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4562475"/>
            <a:ext cx="1571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00" b="1">
                <a:solidFill>
                  <a:srgbClr val="7D26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7D2633"/>
                </a:solidFill>
                <a:latin typeface="Microsoft YaHei"/>
                <a:ea typeface="Microsoft YaHei"/>
                <a:cs typeface="Microsoft YaHei"/>
              </a:rPr>
              <a:t>T05</a:t>
            </a:r>
          </a:p>
        </p:txBody>
      </p:sp>
      <p:sp>
        <p:nvSpPr>
          <p:cNvPr id="28" name="module-text-3">
            <a:extLst xmlns:a="http://schemas.openxmlformats.org/drawingml/2006/main">
              <a:ext uri="{FF2B5EF4-FFF2-40B4-BE49-F238E27FC236}">
                <a16:creationId xmlns:a16="http://schemas.microsoft.com/office/drawing/2014/main" id="{4FFF3D48-7128-43B4-8701-7294B8823A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6125" y="4562475"/>
            <a:ext cx="42862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00" b="0">
                <a:solidFill>
                  <a:srgbClr val="24232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00" b="0">
                <a:solidFill>
                  <a:srgbClr val="242321"/>
                </a:solidFill>
                <a:latin typeface="Microsoft YaHei"/>
                <a:ea typeface="Microsoft YaHei"/>
                <a:cs typeface="Microsoft YaHei"/>
              </a:rPr>
              <a:t>统一发布 SWSD–RCSD Junction relation</a:t>
            </a:r>
          </a:p>
        </p:txBody>
      </p:sp>
      <p:sp>
        <p:nvSpPr>
          <p:cNvPr id="29" name="conclusion-band">
            <a:extLst xmlns:a="http://schemas.openxmlformats.org/drawingml/2006/main">
              <a:ext uri="{FF2B5EF4-FFF2-40B4-BE49-F238E27FC236}">
                <a16:creationId xmlns:a16="http://schemas.microsoft.com/office/drawing/2014/main" id="{38215495-0DD2-4D84-97D9-48E02BB8CF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5953125"/>
            <a:ext cx="11055096" cy="55245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303634"/>
          </a:solidFill>
          <a:ln xmlns:a="http://schemas.openxmlformats.org/drawingml/2006/main" w="0">
            <a:solidFill>
              <a:srgbClr val="303634"/>
            </a:solidFill>
            <a:prstDash val="solid"/>
          </a:ln>
        </p:spPr>
      </p:sp>
      <p:sp>
        <p:nvSpPr>
          <p:cNvPr id="30" name="conclusion-accent">
            <a:extLst xmlns:a="http://schemas.openxmlformats.org/drawingml/2006/main">
              <a:ext uri="{FF2B5EF4-FFF2-40B4-BE49-F238E27FC236}">
                <a16:creationId xmlns:a16="http://schemas.microsoft.com/office/drawing/2014/main" id="{7CEA8897-088F-43A5-B13C-AE5B3F799C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5953125"/>
            <a:ext cx="10477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D2633"/>
          </a:solidFill>
          <a:ln xmlns:a="http://schemas.openxmlformats.org/drawingml/2006/main" w="0">
            <a:solidFill>
              <a:srgbClr val="7D2633"/>
            </a:solidFill>
            <a:prstDash val="solid"/>
          </a:ln>
        </p:spPr>
      </p:sp>
      <p:sp>
        <p:nvSpPr>
          <p:cNvPr id="31" name="conclusion-label">
            <a:extLst xmlns:a="http://schemas.openxmlformats.org/drawingml/2006/main">
              <a:ext uri="{FF2B5EF4-FFF2-40B4-BE49-F238E27FC236}">
                <a16:creationId xmlns:a16="http://schemas.microsoft.com/office/drawing/2014/main" id="{EAA1D4CC-1621-4B61-ACB3-8A9C2484EA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6048375"/>
            <a:ext cx="10001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3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共同底座</a:t>
            </a:r>
          </a:p>
        </p:txBody>
      </p:sp>
      <p:sp>
        <p:nvSpPr>
          <p:cNvPr id="32" name="conclusion-text">
            <a:extLst xmlns:a="http://schemas.openxmlformats.org/drawingml/2006/main">
              <a:ext uri="{FF2B5EF4-FFF2-40B4-BE49-F238E27FC236}">
                <a16:creationId xmlns:a16="http://schemas.microsoft.com/office/drawing/2014/main" id="{4C80785A-8D4C-4BA9-BBCC-29F52EC6FF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6029325"/>
            <a:ext cx="94773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先把路口与路段锚定到现实世界，替换、质检和自上而下构建才共享同一坐标系。</a:t>
            </a:r>
          </a:p>
        </p:txBody>
      </p:sp>
    </p:spTree>
    <p:extLst>
      <p:ext uri="{BB962C8B-B14F-4D97-AF65-F5344CB8AC3E}">
        <p14:creationId xmlns:p14="http://schemas.microsoft.com/office/powerpoint/2010/main" val="1879549069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6" name="page-title">
            <a:extLst xmlns:a="http://schemas.openxmlformats.org/drawingml/2006/main">
              <a:ext uri="{FF2B5EF4-FFF2-40B4-BE49-F238E27FC236}">
                <a16:creationId xmlns:a16="http://schemas.microsoft.com/office/drawing/2014/main" id="{57F50F7C-40D8-431C-A03C-240861FD6D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320040"/>
            <a:ext cx="11055096" cy="42062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3100" b="1">
                <a:solidFill>
                  <a:srgbClr val="7D26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00" b="1">
                <a:solidFill>
                  <a:srgbClr val="7D2633"/>
                </a:solidFill>
                <a:latin typeface="Microsoft YaHei"/>
                <a:ea typeface="Microsoft YaHei"/>
                <a:cs typeface="Microsoft YaHei"/>
              </a:rPr>
              <a:t>同一技术底座，分化为替换、质检与自上而下构建</a:t>
            </a:r>
          </a:p>
        </p:txBody>
      </p:sp>
      <p:sp>
        <p:nvSpPr>
          <p:cNvPr id="2" name="page-subtitle">
            <a:extLst xmlns:a="http://schemas.openxmlformats.org/drawingml/2006/main">
              <a:ext uri="{FF2B5EF4-FFF2-40B4-BE49-F238E27FC236}">
                <a16:creationId xmlns:a16="http://schemas.microsoft.com/office/drawing/2014/main" id="{0BC610ED-1160-4E33-B0C3-F104B15335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786384"/>
            <a:ext cx="11055096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00" b="0">
                <a:solidFill>
                  <a:srgbClr val="6E6A6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E6A64"/>
                </a:solidFill>
                <a:latin typeface="Microsoft YaHei"/>
                <a:ea typeface="Microsoft YaHei"/>
                <a:cs typeface="Microsoft YaHei"/>
              </a:rPr>
              <a:t>三条路径复用 Junction–Segment 认知，但目标、输出与成熟度不同</a:t>
            </a:r>
          </a:p>
        </p:txBody>
      </p:sp>
      <p:sp>
        <p:nvSpPr>
          <p:cNvPr id="3" name="title-divider">
            <a:extLst xmlns:a="http://schemas.openxmlformats.org/drawingml/2006/main">
              <a:ext uri="{FF2B5EF4-FFF2-40B4-BE49-F238E27FC236}">
                <a16:creationId xmlns:a16="http://schemas.microsoft.com/office/drawing/2014/main" id="{BB16AF08-D7D1-449D-9A3C-EB0CAD367A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566928" y="1097280"/>
            <a:ext cx="11055096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5D0C7"/>
            </a:solidFill>
            <a:prstDash val="solid"/>
          </a:ln>
        </p:spPr>
      </p:sp>
      <p:sp>
        <p:nvSpPr>
          <p:cNvPr id="4" name="skeleton-core">
            <a:extLst xmlns:a="http://schemas.openxmlformats.org/drawingml/2006/main">
              <a:ext uri="{FF2B5EF4-FFF2-40B4-BE49-F238E27FC236}">
                <a16:creationId xmlns:a16="http://schemas.microsoft.com/office/drawing/2014/main" id="{1AFD0F12-F2D8-4D0C-8A08-255EA8FB2A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000250"/>
            <a:ext cx="1952625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5F0"/>
          </a:solidFill>
          <a:ln xmlns:a="http://schemas.openxmlformats.org/drawingml/2006/main" w="11906">
            <a:solidFill>
              <a:srgbClr val="7D2633"/>
            </a:solidFill>
            <a:prstDash val="solid"/>
          </a:ln>
        </p:spPr>
      </p:sp>
      <p:sp>
        <p:nvSpPr>
          <p:cNvPr id="5" name="skeleton-core-text">
            <a:extLst xmlns:a="http://schemas.openxmlformats.org/drawingml/2006/main">
              <a:ext uri="{FF2B5EF4-FFF2-40B4-BE49-F238E27FC236}">
                <a16:creationId xmlns:a16="http://schemas.microsoft.com/office/drawing/2014/main" id="{B97D83FF-18CD-4C7E-9D0E-9331C753AF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143125"/>
            <a:ext cx="147637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2200" b="1">
                <a:solidFill>
                  <a:srgbClr val="7D26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00" b="1">
                <a:solidFill>
                  <a:srgbClr val="7D2633"/>
                </a:solidFill>
                <a:latin typeface="Microsoft YaHei"/>
                <a:ea typeface="Microsoft YaHei"/>
                <a:cs typeface="Microsoft YaHei"/>
              </a:rPr>
              <a:t>Junction–</a:t>
            </a:r>
          </a:p>
          <a:p xmlns:a="http://schemas.openxmlformats.org/drawingml/2006/main">
            <a:pPr algn="ctr">
              <a:lnSpc>
                <a:spcPct val="112000"/>
              </a:lnSpc>
              <a:buNone/>
              <a:defRPr sz="2200" b="1">
                <a:solidFill>
                  <a:srgbClr val="7D26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00" b="1">
                <a:solidFill>
                  <a:srgbClr val="7D2633"/>
                </a:solidFill>
                <a:latin typeface="Microsoft YaHei"/>
                <a:ea typeface="Microsoft YaHei"/>
                <a:cs typeface="Microsoft YaHei"/>
              </a:rPr>
              <a:t>Segment</a:t>
            </a:r>
          </a:p>
        </p:txBody>
      </p:sp>
      <p:sp>
        <p:nvSpPr>
          <p:cNvPr id="6" name="skeleton-spine">
            <a:extLst xmlns:a="http://schemas.openxmlformats.org/drawingml/2006/main">
              <a:ext uri="{FF2B5EF4-FFF2-40B4-BE49-F238E27FC236}">
                <a16:creationId xmlns:a16="http://schemas.microsoft.com/office/drawing/2014/main" id="{6CBF6BA6-BAA5-4EFB-806F-99E8D2B672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1543050" y="2952750"/>
            <a:ext cx="0" cy="11906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03634"/>
            </a:solidFill>
            <a:prstDash val="solid"/>
          </a:ln>
        </p:spPr>
      </p:sp>
      <p:sp>
        <p:nvSpPr>
          <p:cNvPr id="7" name="skeleton-junction">
            <a:extLst xmlns:a="http://schemas.openxmlformats.org/drawingml/2006/main">
              <a:ext uri="{FF2B5EF4-FFF2-40B4-BE49-F238E27FC236}">
                <a16:creationId xmlns:a16="http://schemas.microsoft.com/office/drawing/2014/main" id="{707FB93E-8E8A-48CA-93A7-81F042D4CF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8275" y="3190875"/>
            <a:ext cx="209550" cy="209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D2633"/>
          </a:solidFill>
          <a:ln xmlns:a="http://schemas.openxmlformats.org/drawingml/2006/main" w="0">
            <a:solidFill>
              <a:srgbClr val="7D2633"/>
            </a:solidFill>
            <a:prstDash val="solid"/>
          </a:ln>
        </p:spPr>
      </p:sp>
      <p:sp>
        <p:nvSpPr>
          <p:cNvPr id="8" name="skeleton-segment">
            <a:extLst xmlns:a="http://schemas.openxmlformats.org/drawingml/2006/main">
              <a:ext uri="{FF2B5EF4-FFF2-40B4-BE49-F238E27FC236}">
                <a16:creationId xmlns:a16="http://schemas.microsoft.com/office/drawing/2014/main" id="{E01C38A8-2E79-4DCB-8E07-8874BC410A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8275" y="3714750"/>
            <a:ext cx="209550" cy="209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303634"/>
            </a:solidFill>
            <a:prstDash val="solid"/>
          </a:ln>
        </p:spPr>
      </p:sp>
      <p:sp>
        <p:nvSpPr>
          <p:cNvPr id="9" name="skeleton-caption">
            <a:extLst xmlns:a="http://schemas.openxmlformats.org/drawingml/2006/main">
              <a:ext uri="{FF2B5EF4-FFF2-40B4-BE49-F238E27FC236}">
                <a16:creationId xmlns:a16="http://schemas.microsoft.com/office/drawing/2014/main" id="{5DDDF7B8-0F96-4C8B-8946-C7318C75C8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381500"/>
            <a:ext cx="1524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300" b="0">
                <a:solidFill>
                  <a:srgbClr val="6E6A6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00" b="0">
                <a:solidFill>
                  <a:srgbClr val="6E6A64"/>
                </a:solidFill>
                <a:latin typeface="Microsoft YaHei"/>
                <a:ea typeface="Microsoft YaHei"/>
                <a:cs typeface="Microsoft YaHei"/>
              </a:rPr>
              <a:t>同一业务认知</a:t>
            </a:r>
          </a:p>
          <a:p xmlns:a="http://schemas.openxmlformats.org/drawingml/2006/main">
            <a:pPr algn="ctr">
              <a:lnSpc>
                <a:spcPct val="112000"/>
              </a:lnSpc>
              <a:buNone/>
              <a:defRPr sz="1300" b="0">
                <a:solidFill>
                  <a:srgbClr val="6E6A6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00" b="0">
                <a:solidFill>
                  <a:srgbClr val="6E6A64"/>
                </a:solidFill>
                <a:latin typeface="Microsoft YaHei"/>
                <a:ea typeface="Microsoft YaHei"/>
                <a:cs typeface="Microsoft YaHei"/>
              </a:rPr>
              <a:t>支撑三条技术路径</a:t>
            </a:r>
          </a:p>
        </p:txBody>
      </p:sp>
      <p:sp>
        <p:nvSpPr>
          <p:cNvPr id="10" name="replacement-row">
            <a:extLst xmlns:a="http://schemas.openxmlformats.org/drawingml/2006/main">
              <a:ext uri="{FF2B5EF4-FFF2-40B4-BE49-F238E27FC236}">
                <a16:creationId xmlns:a16="http://schemas.microsoft.com/office/drawing/2014/main" id="{709F49A5-F59C-4E61-9FEA-D1366F3488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5125" y="1285875"/>
            <a:ext cx="8715375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D0C7"/>
            </a:solidFill>
            <a:prstDash val="solid"/>
          </a:ln>
        </p:spPr>
      </p:sp>
      <p:sp>
        <p:nvSpPr>
          <p:cNvPr id="11" name="audit-row">
            <a:extLst xmlns:a="http://schemas.openxmlformats.org/drawingml/2006/main">
              <a:ext uri="{FF2B5EF4-FFF2-40B4-BE49-F238E27FC236}">
                <a16:creationId xmlns:a16="http://schemas.microsoft.com/office/drawing/2014/main" id="{4807766A-16B6-4BF7-AF1A-D05649A189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5125" y="2762250"/>
            <a:ext cx="8715375" cy="1381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D0C7"/>
            </a:solidFill>
            <a:prstDash val="solid"/>
          </a:ln>
        </p:spPr>
      </p:sp>
      <p:sp>
        <p:nvSpPr>
          <p:cNvPr id="12" name="build-row">
            <a:extLst xmlns:a="http://schemas.openxmlformats.org/drawingml/2006/main">
              <a:ext uri="{FF2B5EF4-FFF2-40B4-BE49-F238E27FC236}">
                <a16:creationId xmlns:a16="http://schemas.microsoft.com/office/drawing/2014/main" id="{5DD5C51A-D2EE-4789-AC51-C0B535FC49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5125" y="4381500"/>
            <a:ext cx="8715375" cy="1381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D0C7"/>
            </a:solidFill>
            <a:prstDash val="solid"/>
          </a:ln>
        </p:spPr>
      </p:sp>
      <p:sp>
        <p:nvSpPr>
          <p:cNvPr id="13" name="skeleton-branch-in">
            <a:extLst xmlns:a="http://schemas.openxmlformats.org/drawingml/2006/main">
              <a:ext uri="{FF2B5EF4-FFF2-40B4-BE49-F238E27FC236}">
                <a16:creationId xmlns:a16="http://schemas.microsoft.com/office/drawing/2014/main" id="{3D44D5F9-624D-40C3-8BA1-CC36EC3D36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2524125" y="3571875"/>
            <a:ext cx="1809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7D2633"/>
            </a:solidFill>
            <a:prstDash val="solid"/>
          </a:ln>
        </p:spPr>
      </p:sp>
      <p:sp>
        <p:nvSpPr>
          <p:cNvPr id="14" name="skeleton-branch-spine">
            <a:extLst xmlns:a="http://schemas.openxmlformats.org/drawingml/2006/main">
              <a:ext uri="{FF2B5EF4-FFF2-40B4-BE49-F238E27FC236}">
                <a16:creationId xmlns:a16="http://schemas.microsoft.com/office/drawing/2014/main" id="{78DB3678-FC73-4993-9A8F-AF8698AE4C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2705100" y="1905000"/>
            <a:ext cx="0" cy="31718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7D2633"/>
            </a:solidFill>
            <a:prstDash val="solid"/>
          </a:ln>
        </p:spPr>
      </p:sp>
      <p:sp>
        <p:nvSpPr>
          <p:cNvPr id="15" name="skeleton-branch-out-1">
            <a:extLst xmlns:a="http://schemas.openxmlformats.org/drawingml/2006/main">
              <a:ext uri="{FF2B5EF4-FFF2-40B4-BE49-F238E27FC236}">
                <a16:creationId xmlns:a16="http://schemas.microsoft.com/office/drawing/2014/main" id="{6476A9B8-3929-4509-B7F2-87EC33E4F5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2705100" y="1905000"/>
            <a:ext cx="2000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7D2633"/>
            </a:solidFill>
            <a:prstDash val="solid"/>
          </a:ln>
        </p:spPr>
      </p:sp>
      <p:sp>
        <p:nvSpPr>
          <p:cNvPr id="16" name="skeleton-branch-arrow-1">
            <a:extLst xmlns:a="http://schemas.openxmlformats.org/drawingml/2006/main">
              <a:ext uri="{FF2B5EF4-FFF2-40B4-BE49-F238E27FC236}">
                <a16:creationId xmlns:a16="http://schemas.microsoft.com/office/drawing/2014/main" id="{60ADD2CC-D924-492C-B7BF-599616F5FB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19375" y="1733550"/>
            <a:ext cx="3429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700" b="1">
                <a:solidFill>
                  <a:srgbClr val="7D26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00" b="1">
                <a:solidFill>
                  <a:srgbClr val="7D2633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17" name="skeleton-branch-out-2">
            <a:extLst xmlns:a="http://schemas.openxmlformats.org/drawingml/2006/main">
              <a:ext uri="{FF2B5EF4-FFF2-40B4-BE49-F238E27FC236}">
                <a16:creationId xmlns:a16="http://schemas.microsoft.com/office/drawing/2014/main" id="{DA188D5A-B5E6-4D5A-88D4-8E3FF5BF3D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2705100" y="3457575"/>
            <a:ext cx="2000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7D2633"/>
            </a:solidFill>
            <a:prstDash val="solid"/>
          </a:ln>
        </p:spPr>
      </p:sp>
      <p:sp>
        <p:nvSpPr>
          <p:cNvPr id="18" name="skeleton-branch-arrow-2">
            <a:extLst xmlns:a="http://schemas.openxmlformats.org/drawingml/2006/main">
              <a:ext uri="{FF2B5EF4-FFF2-40B4-BE49-F238E27FC236}">
                <a16:creationId xmlns:a16="http://schemas.microsoft.com/office/drawing/2014/main" id="{2CBA2106-163F-49EA-BB13-7A629672C0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19375" y="3286125"/>
            <a:ext cx="3429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700" b="1">
                <a:solidFill>
                  <a:srgbClr val="7D26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00" b="1">
                <a:solidFill>
                  <a:srgbClr val="7D2633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19" name="skeleton-branch-out-3">
            <a:extLst xmlns:a="http://schemas.openxmlformats.org/drawingml/2006/main">
              <a:ext uri="{FF2B5EF4-FFF2-40B4-BE49-F238E27FC236}">
                <a16:creationId xmlns:a16="http://schemas.microsoft.com/office/drawing/2014/main" id="{9B6CD6C6-9DF3-4E31-BACA-EE1A88EC02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2705100" y="5076825"/>
            <a:ext cx="2000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7D2633"/>
            </a:solidFill>
            <a:prstDash val="solid"/>
          </a:ln>
        </p:spPr>
      </p:sp>
      <p:sp>
        <p:nvSpPr>
          <p:cNvPr id="20" name="skeleton-branch-arrow-3">
            <a:extLst xmlns:a="http://schemas.openxmlformats.org/drawingml/2006/main">
              <a:ext uri="{FF2B5EF4-FFF2-40B4-BE49-F238E27FC236}">
                <a16:creationId xmlns:a16="http://schemas.microsoft.com/office/drawing/2014/main" id="{4A8BEEDB-59C9-4AEF-B21B-A433F395EA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19375" y="4905375"/>
            <a:ext cx="3429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700" b="1">
                <a:solidFill>
                  <a:srgbClr val="7D26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00" b="1">
                <a:solidFill>
                  <a:srgbClr val="7D2633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21" name="t06-state">
            <a:extLst xmlns:a="http://schemas.openxmlformats.org/drawingml/2006/main">
              <a:ext uri="{FF2B5EF4-FFF2-40B4-BE49-F238E27FC236}">
                <a16:creationId xmlns:a16="http://schemas.microsoft.com/office/drawing/2014/main" id="{FDBF3F70-472F-4DB4-A121-3617D572D6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1428750"/>
            <a:ext cx="1714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900" b="1">
                <a:solidFill>
                  <a:srgbClr val="7D26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00" b="1">
                <a:solidFill>
                  <a:srgbClr val="7D2633"/>
                </a:solidFill>
                <a:latin typeface="Microsoft YaHei"/>
                <a:ea typeface="Microsoft YaHei"/>
                <a:cs typeface="Microsoft YaHei"/>
              </a:rPr>
              <a:t>T06 规则替换</a:t>
            </a:r>
          </a:p>
        </p:txBody>
      </p:sp>
      <p:sp>
        <p:nvSpPr>
          <p:cNvPr id="22" name="t06-desc">
            <a:extLst xmlns:a="http://schemas.openxmlformats.org/drawingml/2006/main">
              <a:ext uri="{FF2B5EF4-FFF2-40B4-BE49-F238E27FC236}">
                <a16:creationId xmlns:a16="http://schemas.microsoft.com/office/drawing/2014/main" id="{C93910C6-F589-41B1-9907-EC3E45AA84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1409700"/>
            <a:ext cx="6572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300" b="0">
                <a:solidFill>
                  <a:srgbClr val="24232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00" b="0">
                <a:solidFill>
                  <a:srgbClr val="242321"/>
                </a:solidFill>
                <a:latin typeface="Microsoft YaHei"/>
                <a:ea typeface="Microsoft YaHei"/>
                <a:cs typeface="Microsoft YaHei"/>
              </a:rPr>
              <a:t>锚定 relation 判断 RCSD Segment 能否由 SWSD 替换；POC 已完成。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300" b="0">
                <a:solidFill>
                  <a:srgbClr val="24232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00" b="0">
                <a:solidFill>
                  <a:srgbClr val="242321"/>
                </a:solidFill>
                <a:latin typeface="Microsoft YaHei"/>
                <a:ea typeface="Microsoft YaHei"/>
                <a:cs typeface="Microsoft YaHei"/>
              </a:rPr>
              <a:t>输出 F-RCSD；“算法上限”为用户确认的阶段汇报判断。</a:t>
            </a:r>
          </a:p>
        </p:txBody>
      </p:sp>
      <p:sp>
        <p:nvSpPr>
          <p:cNvPr id="23" name="replacement-sep">
            <a:extLst xmlns:a="http://schemas.openxmlformats.org/drawingml/2006/main">
              <a:ext uri="{FF2B5EF4-FFF2-40B4-BE49-F238E27FC236}">
                <a16:creationId xmlns:a16="http://schemas.microsoft.com/office/drawing/2014/main" id="{A8790118-6B0E-4D22-A45E-A6AE9F0190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3143250" y="1952625"/>
            <a:ext cx="8191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5D0C7"/>
            </a:solidFill>
            <a:prstDash val="solid"/>
          </a:ln>
        </p:spPr>
      </p:sp>
      <p:sp>
        <p:nvSpPr>
          <p:cNvPr id="24" name="p05-state">
            <a:extLst xmlns:a="http://schemas.openxmlformats.org/drawingml/2006/main">
              <a:ext uri="{FF2B5EF4-FFF2-40B4-BE49-F238E27FC236}">
                <a16:creationId xmlns:a16="http://schemas.microsoft.com/office/drawing/2014/main" id="{F4701AA8-40D5-4B9C-9A82-C41E17CF96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2047875"/>
            <a:ext cx="1714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700" b="1">
                <a:solidFill>
                  <a:srgbClr val="30363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00" b="1">
                <a:solidFill>
                  <a:srgbClr val="303634"/>
                </a:solidFill>
                <a:latin typeface="Microsoft YaHei"/>
                <a:ea typeface="Microsoft YaHei"/>
                <a:cs typeface="Microsoft YaHei"/>
              </a:rPr>
              <a:t>P05 神经尝试</a:t>
            </a:r>
          </a:p>
        </p:txBody>
      </p:sp>
      <p:sp>
        <p:nvSpPr>
          <p:cNvPr id="25" name="p05-desc">
            <a:extLst xmlns:a="http://schemas.openxmlformats.org/drawingml/2006/main">
              <a:ext uri="{FF2B5EF4-FFF2-40B4-BE49-F238E27FC236}">
                <a16:creationId xmlns:a16="http://schemas.microsoft.com/office/drawing/2014/main" id="{A8ACF9E3-2520-4A6C-8E9E-1E801965FA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2047875"/>
            <a:ext cx="6572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300" b="0">
                <a:solidFill>
                  <a:srgbClr val="6E6A6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00" b="0">
                <a:solidFill>
                  <a:srgbClr val="6E6A64"/>
                </a:solidFill>
                <a:latin typeface="Microsoft YaHei"/>
                <a:ea typeface="Microsoft YaHei"/>
                <a:cs typeface="Microsoft YaHei"/>
              </a:rPr>
              <a:t>冻结 T01 Junction–Segment 骨架，学习 carrier 选择；当前 NO-GO，无可发布模型。</a:t>
            </a:r>
          </a:p>
        </p:txBody>
      </p:sp>
      <p:sp>
        <p:nvSpPr>
          <p:cNvPr id="26" name="t12-state">
            <a:extLst xmlns:a="http://schemas.openxmlformats.org/drawingml/2006/main">
              <a:ext uri="{FF2B5EF4-FFF2-40B4-BE49-F238E27FC236}">
                <a16:creationId xmlns:a16="http://schemas.microsoft.com/office/drawing/2014/main" id="{25EA2C2A-B9DA-430E-86FD-0F644C0CBD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2952750"/>
            <a:ext cx="1809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900" b="1">
                <a:solidFill>
                  <a:srgbClr val="7D26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00" b="1">
                <a:solidFill>
                  <a:srgbClr val="7D2633"/>
                </a:solidFill>
                <a:latin typeface="Microsoft YaHei"/>
                <a:ea typeface="Microsoft YaHei"/>
                <a:cs typeface="Microsoft YaHei"/>
              </a:rPr>
              <a:t>T12 质量审计</a:t>
            </a:r>
          </a:p>
        </p:txBody>
      </p:sp>
      <p:sp>
        <p:nvSpPr>
          <p:cNvPr id="27" name="t12-desc">
            <a:extLst xmlns:a="http://schemas.openxmlformats.org/drawingml/2006/main">
              <a:ext uri="{FF2B5EF4-FFF2-40B4-BE49-F238E27FC236}">
                <a16:creationId xmlns:a16="http://schemas.microsoft.com/office/drawing/2014/main" id="{1B63E766-AE05-4691-9751-B75E23A4EF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971800"/>
            <a:ext cx="3905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300" b="0">
                <a:solidFill>
                  <a:srgbClr val="24232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00" b="0">
                <a:solidFill>
                  <a:srgbClr val="242321"/>
                </a:solidFill>
                <a:latin typeface="Microsoft YaHei"/>
                <a:ea typeface="Microsoft YaHei"/>
                <a:cs typeface="Microsoft YaHei"/>
              </a:rPr>
              <a:t>用同一语义检查一层/二层路网的路口、路段、方向与连通错误；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300" b="0">
                <a:solidFill>
                  <a:srgbClr val="24232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00" b="0">
                <a:solidFill>
                  <a:srgbClr val="242321"/>
                </a:solidFill>
                <a:latin typeface="Microsoft YaHei"/>
                <a:ea typeface="Microsoft YaHei"/>
                <a:cs typeface="Microsoft YaHei"/>
              </a:rPr>
              <a:t>audit-only，不 silent fix，具备短期落地潜力。</a:t>
            </a:r>
          </a:p>
        </p:txBody>
      </p:sp>
      <p:pic>
        <p:nvPicPr>
          <p:cNvPr id="6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17f4d9094eb423a"/>
          <a:stretch xmlns:a="http://schemas.openxmlformats.org/drawingml/2006/main"/>
        </p:blipFill>
        <p:spPr>
          <a:xfrm xmlns:a="http://schemas.openxmlformats.org/drawingml/2006/main">
            <a:off x="9218083" y="2905125"/>
            <a:ext cx="1947333" cy="1095375"/>
          </a:xfrm>
          <a:prstGeom xmlns:a="http://schemas.openxmlformats.org/drawingml/2006/main" prst="rect">
            <a:avLst/>
          </a:prstGeom>
        </p:spPr>
      </p:pic>
      <p:sp>
        <p:nvSpPr>
          <p:cNvPr id="29" name="p04-state">
            <a:extLst xmlns:a="http://schemas.openxmlformats.org/drawingml/2006/main">
              <a:ext uri="{FF2B5EF4-FFF2-40B4-BE49-F238E27FC236}">
                <a16:creationId xmlns:a16="http://schemas.microsoft.com/office/drawing/2014/main" id="{72944F63-53C9-407B-8C32-636FDADBFD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4572000"/>
            <a:ext cx="22383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900" b="1">
                <a:solidFill>
                  <a:srgbClr val="7D26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00" b="1">
                <a:solidFill>
                  <a:srgbClr val="7D2633"/>
                </a:solidFill>
                <a:latin typeface="Microsoft YaHei"/>
                <a:ea typeface="Microsoft YaHei"/>
                <a:cs typeface="Microsoft YaHei"/>
              </a:rPr>
              <a:t>P04 自上而下构建</a:t>
            </a:r>
          </a:p>
        </p:txBody>
      </p:sp>
      <p:sp>
        <p:nvSpPr>
          <p:cNvPr id="30" name="p04-desc">
            <a:extLst xmlns:a="http://schemas.openxmlformats.org/drawingml/2006/main">
              <a:ext uri="{FF2B5EF4-FFF2-40B4-BE49-F238E27FC236}">
                <a16:creationId xmlns:a16="http://schemas.microsoft.com/office/drawing/2014/main" id="{5F00F82F-DB4C-4610-AFA1-C7218293FB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6375" y="4591050"/>
            <a:ext cx="3571875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300" b="0">
                <a:solidFill>
                  <a:srgbClr val="24232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00" b="0">
                <a:solidFill>
                  <a:srgbClr val="242321"/>
                </a:solidFill>
                <a:latin typeface="Microsoft YaHei"/>
                <a:ea typeface="Microsoft YaHei"/>
                <a:cs typeface="Microsoft YaHei"/>
              </a:rPr>
              <a:t>一层路网牵引，Patch Vector 提供现实证据；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300" b="0">
                <a:solidFill>
                  <a:srgbClr val="24232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00" b="0">
                <a:solidFill>
                  <a:srgbClr val="242321"/>
                </a:solidFill>
                <a:latin typeface="Microsoft YaHei"/>
                <a:ea typeface="Microsoft YaHei"/>
                <a:cs typeface="Microsoft YaHei"/>
              </a:rPr>
              <a:t>独立构建 Road/Node → RCSD RoadGraph；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300" b="0">
                <a:solidFill>
                  <a:srgbClr val="24232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00" b="0">
                <a:solidFill>
                  <a:srgbClr val="242321"/>
                </a:solidFill>
                <a:latin typeface="Microsoft YaHei"/>
                <a:ea typeface="Microsoft YaHei"/>
                <a:cs typeface="Microsoft YaHei"/>
              </a:rPr>
              <a:t>局部实验完成。</a:t>
            </a:r>
          </a:p>
        </p:txBody>
      </p:sp>
      <p:pic>
        <p:nvPicPr>
          <p:cNvPr id="6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f0e8bdede7941c3"/>
          <a:stretch xmlns:a="http://schemas.openxmlformats.org/drawingml/2006/main"/>
        </p:blipFill>
        <p:spPr>
          <a:xfrm xmlns:a="http://schemas.openxmlformats.org/drawingml/2006/main">
            <a:off x="9218083" y="4524375"/>
            <a:ext cx="1947333" cy="1095375"/>
          </a:xfrm>
          <a:prstGeom xmlns:a="http://schemas.openxmlformats.org/drawingml/2006/main" prst="rect">
            <a:avLst/>
          </a:prstGeom>
        </p:spPr>
      </p:pic>
      <p:sp>
        <p:nvSpPr>
          <p:cNvPr id="32" name="conclusion-band">
            <a:extLst xmlns:a="http://schemas.openxmlformats.org/drawingml/2006/main">
              <a:ext uri="{FF2B5EF4-FFF2-40B4-BE49-F238E27FC236}">
                <a16:creationId xmlns:a16="http://schemas.microsoft.com/office/drawing/2014/main" id="{24CBFDC7-3107-4054-8EA7-C82B5D1752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5953125"/>
            <a:ext cx="11055096" cy="55245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303634"/>
          </a:solidFill>
          <a:ln xmlns:a="http://schemas.openxmlformats.org/drawingml/2006/main" w="0">
            <a:solidFill>
              <a:srgbClr val="303634"/>
            </a:solidFill>
            <a:prstDash val="solid"/>
          </a:ln>
        </p:spPr>
      </p:sp>
      <p:sp>
        <p:nvSpPr>
          <p:cNvPr id="33" name="conclusion-accent">
            <a:extLst xmlns:a="http://schemas.openxmlformats.org/drawingml/2006/main">
              <a:ext uri="{FF2B5EF4-FFF2-40B4-BE49-F238E27FC236}">
                <a16:creationId xmlns:a16="http://schemas.microsoft.com/office/drawing/2014/main" id="{364E7C8D-92DE-4916-920F-AAAAC674C1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5953125"/>
            <a:ext cx="10477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D2633"/>
          </a:solidFill>
          <a:ln xmlns:a="http://schemas.openxmlformats.org/drawingml/2006/main" w="0">
            <a:solidFill>
              <a:srgbClr val="7D2633"/>
            </a:solidFill>
            <a:prstDash val="solid"/>
          </a:ln>
        </p:spPr>
      </p:sp>
      <p:sp>
        <p:nvSpPr>
          <p:cNvPr id="34" name="conclusion-label">
            <a:extLst xmlns:a="http://schemas.openxmlformats.org/drawingml/2006/main">
              <a:ext uri="{FF2B5EF4-FFF2-40B4-BE49-F238E27FC236}">
                <a16:creationId xmlns:a16="http://schemas.microsoft.com/office/drawing/2014/main" id="{997634F3-2E59-460A-B11F-8845F275DC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6048375"/>
            <a:ext cx="10001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3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技术分化</a:t>
            </a:r>
          </a:p>
        </p:txBody>
      </p:sp>
      <p:sp>
        <p:nvSpPr>
          <p:cNvPr id="35" name="conclusion-text">
            <a:extLst xmlns:a="http://schemas.openxmlformats.org/drawingml/2006/main">
              <a:ext uri="{FF2B5EF4-FFF2-40B4-BE49-F238E27FC236}">
                <a16:creationId xmlns:a16="http://schemas.microsoft.com/office/drawing/2014/main" id="{0DEEE735-7A09-4847-9A11-88293ECEF3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6029325"/>
            <a:ext cx="94773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共同本体不等于共同成熟度：规则替换、质量审计与直建 POC 分别沿自己的门禁推进。</a:t>
            </a:r>
          </a:p>
        </p:txBody>
      </p:sp>
    </p:spTree>
    <p:extLst>
      <p:ext uri="{BB962C8B-B14F-4D97-AF65-F5344CB8AC3E}">
        <p14:creationId xmlns:p14="http://schemas.microsoft.com/office/powerpoint/2010/main" val="1496012102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9" name="page-title">
            <a:extLst xmlns:a="http://schemas.openxmlformats.org/drawingml/2006/main">
              <a:ext uri="{FF2B5EF4-FFF2-40B4-BE49-F238E27FC236}">
                <a16:creationId xmlns:a16="http://schemas.microsoft.com/office/drawing/2014/main" id="{774A2E85-ACCE-4771-BD34-439027810D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320040"/>
            <a:ext cx="11055096" cy="42062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3100" b="1">
                <a:solidFill>
                  <a:srgbClr val="7D26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00" b="1">
                <a:solidFill>
                  <a:srgbClr val="7D2633"/>
                </a:solidFill>
                <a:latin typeface="Microsoft YaHei"/>
                <a:ea typeface="Microsoft YaHei"/>
                <a:cs typeface="Microsoft YaHei"/>
              </a:rPr>
              <a:t>阶段性成果收敛了技术边界，三条路线仍处于不同成熟度</a:t>
            </a:r>
          </a:p>
        </p:txBody>
      </p:sp>
      <p:sp>
        <p:nvSpPr>
          <p:cNvPr id="2" name="page-subtitle">
            <a:extLst xmlns:a="http://schemas.openxmlformats.org/drawingml/2006/main">
              <a:ext uri="{FF2B5EF4-FFF2-40B4-BE49-F238E27FC236}">
                <a16:creationId xmlns:a16="http://schemas.microsoft.com/office/drawing/2014/main" id="{A0BF2E39-12EE-437E-A2B6-700AFED964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786384"/>
            <a:ext cx="11055096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00" b="0">
                <a:solidFill>
                  <a:srgbClr val="6E6A6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E6A64"/>
                </a:solidFill>
                <a:latin typeface="Microsoft YaHei"/>
                <a:ea typeface="Microsoft YaHei"/>
                <a:cs typeface="Microsoft YaHei"/>
              </a:rPr>
              <a:t>规则上限、可落地质检、局部直建与模型 NO-GO 都是可复用的工程结论</a:t>
            </a:r>
          </a:p>
        </p:txBody>
      </p:sp>
      <p:sp>
        <p:nvSpPr>
          <p:cNvPr id="3" name="title-divider">
            <a:extLst xmlns:a="http://schemas.openxmlformats.org/drawingml/2006/main">
              <a:ext uri="{FF2B5EF4-FFF2-40B4-BE49-F238E27FC236}">
                <a16:creationId xmlns:a16="http://schemas.microsoft.com/office/drawing/2014/main" id="{963E2842-1D1C-4B9C-81A5-5DBEB21C36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566928" y="1097280"/>
            <a:ext cx="11055096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5D0C7"/>
            </a:solidFill>
            <a:prstDash val="solid"/>
          </a:ln>
        </p:spPr>
      </p:sp>
      <p:sp>
        <p:nvSpPr>
          <p:cNvPr id="4" name="maturity-axis-left">
            <a:extLst xmlns:a="http://schemas.openxmlformats.org/drawingml/2006/main">
              <a:ext uri="{FF2B5EF4-FFF2-40B4-BE49-F238E27FC236}">
                <a16:creationId xmlns:a16="http://schemas.microsoft.com/office/drawing/2014/main" id="{5AD2E28B-A1DF-412C-98BD-925949A045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2125" y="1381125"/>
            <a:ext cx="142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00" b="1">
                <a:solidFill>
                  <a:srgbClr val="6E6A6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6E6A64"/>
                </a:solidFill>
                <a:latin typeface="Microsoft YaHei"/>
                <a:ea typeface="Microsoft YaHei"/>
                <a:cs typeface="Microsoft YaHei"/>
              </a:rPr>
              <a:t>已形成证据</a:t>
            </a:r>
          </a:p>
        </p:txBody>
      </p:sp>
      <p:sp>
        <p:nvSpPr>
          <p:cNvPr id="5" name="maturity-axis-right">
            <a:extLst xmlns:a="http://schemas.openxmlformats.org/drawingml/2006/main">
              <a:ext uri="{FF2B5EF4-FFF2-40B4-BE49-F238E27FC236}">
                <a16:creationId xmlns:a16="http://schemas.microsoft.com/office/drawing/2014/main" id="{4686DA44-9321-4E14-A5A9-C1BF7D762E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1381125"/>
            <a:ext cx="1238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200" b="1">
                <a:solidFill>
                  <a:srgbClr val="6E6A6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6E6A64"/>
                </a:solidFill>
                <a:latin typeface="Microsoft YaHei"/>
                <a:ea typeface="Microsoft YaHei"/>
                <a:cs typeface="Microsoft YaHei"/>
              </a:rPr>
              <a:t>下一门禁</a:t>
            </a:r>
          </a:p>
        </p:txBody>
      </p:sp>
      <p:sp>
        <p:nvSpPr>
          <p:cNvPr id="6" name="maturity-axis">
            <a:extLst xmlns:a="http://schemas.openxmlformats.org/drawingml/2006/main">
              <a:ext uri="{FF2B5EF4-FFF2-40B4-BE49-F238E27FC236}">
                <a16:creationId xmlns:a16="http://schemas.microsoft.com/office/drawing/2014/main" id="{1605F4E5-3D64-4647-8FD8-E458FA7331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1762125" y="1714500"/>
            <a:ext cx="9048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5D0C7"/>
            </a:solidFill>
            <a:prstDash val="solid"/>
          </a:ln>
        </p:spPr>
      </p:sp>
      <p:sp>
        <p:nvSpPr>
          <p:cNvPr id="7" name="maturity-id-0">
            <a:extLst xmlns:a="http://schemas.openxmlformats.org/drawingml/2006/main">
              <a:ext uri="{FF2B5EF4-FFF2-40B4-BE49-F238E27FC236}">
                <a16:creationId xmlns:a16="http://schemas.microsoft.com/office/drawing/2014/main" id="{2655C7CB-B682-4EEF-B0F0-3E25038B56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095500"/>
            <a:ext cx="66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700" b="1">
                <a:solidFill>
                  <a:srgbClr val="7D26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00" b="1">
                <a:solidFill>
                  <a:srgbClr val="7D2633"/>
                </a:solidFill>
                <a:latin typeface="Microsoft YaHei"/>
                <a:ea typeface="Microsoft YaHei"/>
                <a:cs typeface="Microsoft YaHei"/>
              </a:rPr>
              <a:t>T06</a:t>
            </a:r>
          </a:p>
        </p:txBody>
      </p:sp>
      <p:sp>
        <p:nvSpPr>
          <p:cNvPr id="8" name="maturity-name-0">
            <a:extLst xmlns:a="http://schemas.openxmlformats.org/drawingml/2006/main">
              <a:ext uri="{FF2B5EF4-FFF2-40B4-BE49-F238E27FC236}">
                <a16:creationId xmlns:a16="http://schemas.microsoft.com/office/drawing/2014/main" id="{5594C5AE-5EC7-4AAC-9E9A-FD6A73EA5F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2095500"/>
            <a:ext cx="1619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00" b="1">
                <a:solidFill>
                  <a:srgbClr val="24232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242321"/>
                </a:solidFill>
                <a:latin typeface="Microsoft YaHei"/>
                <a:ea typeface="Microsoft YaHei"/>
                <a:cs typeface="Microsoft YaHei"/>
              </a:rPr>
              <a:t>规则链</a:t>
            </a:r>
          </a:p>
        </p:txBody>
      </p:sp>
      <p:sp>
        <p:nvSpPr>
          <p:cNvPr id="9" name="maturity-track-0">
            <a:extLst xmlns:a="http://schemas.openxmlformats.org/drawingml/2006/main">
              <a:ext uri="{FF2B5EF4-FFF2-40B4-BE49-F238E27FC236}">
                <a16:creationId xmlns:a16="http://schemas.microsoft.com/office/drawing/2014/main" id="{D9EB53CC-13C7-418D-8108-261871A09F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3000375" y="2247900"/>
            <a:ext cx="7810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D5D0C7"/>
            </a:solidFill>
            <a:prstDash val="solid"/>
          </a:ln>
        </p:spPr>
      </p:sp>
      <p:sp>
        <p:nvSpPr>
          <p:cNvPr id="10" name="maturity-marker-0">
            <a:extLst xmlns:a="http://schemas.openxmlformats.org/drawingml/2006/main">
              <a:ext uri="{FF2B5EF4-FFF2-40B4-BE49-F238E27FC236}">
                <a16:creationId xmlns:a16="http://schemas.microsoft.com/office/drawing/2014/main" id="{E02004EF-3BF3-430A-911A-6AB83C0E77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162175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D2633"/>
          </a:solidFill>
          <a:ln xmlns:a="http://schemas.openxmlformats.org/drawingml/2006/main" w="0">
            <a:solidFill>
              <a:srgbClr val="7D2633"/>
            </a:solidFill>
            <a:prstDash val="solid"/>
          </a:ln>
        </p:spPr>
      </p:sp>
      <p:sp>
        <p:nvSpPr>
          <p:cNvPr id="11" name="maturity-status-0">
            <a:extLst xmlns:a="http://schemas.openxmlformats.org/drawingml/2006/main">
              <a:ext uri="{FF2B5EF4-FFF2-40B4-BE49-F238E27FC236}">
                <a16:creationId xmlns:a16="http://schemas.microsoft.com/office/drawing/2014/main" id="{86349851-ED8F-4F64-A18B-23F8D54AD2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2371725"/>
            <a:ext cx="3238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00" b="1">
                <a:solidFill>
                  <a:srgbClr val="24232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242321"/>
                </a:solidFill>
                <a:latin typeface="Microsoft YaHei"/>
                <a:ea typeface="Microsoft YaHei"/>
                <a:cs typeface="Microsoft YaHei"/>
              </a:rPr>
              <a:t>POC 已完成／有可审计基线</a:t>
            </a:r>
          </a:p>
        </p:txBody>
      </p:sp>
      <p:sp>
        <p:nvSpPr>
          <p:cNvPr id="12" name="maturity-value-0">
            <a:extLst xmlns:a="http://schemas.openxmlformats.org/drawingml/2006/main">
              <a:ext uri="{FF2B5EF4-FFF2-40B4-BE49-F238E27FC236}">
                <a16:creationId xmlns:a16="http://schemas.microsoft.com/office/drawing/2014/main" id="{14784C73-9FA6-415A-B2DB-2D1F1F866F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2600325"/>
            <a:ext cx="3714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100" b="0">
                <a:solidFill>
                  <a:srgbClr val="6E6A6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00" b="0">
                <a:solidFill>
                  <a:srgbClr val="6E6A64"/>
                </a:solidFill>
                <a:latin typeface="Microsoft YaHei"/>
                <a:ea typeface="Microsoft YaHei"/>
                <a:cs typeface="Microsoft YaHei"/>
              </a:rPr>
              <a:t>工程价值｜明确规则算法可达边界</a:t>
            </a:r>
          </a:p>
        </p:txBody>
      </p:sp>
      <p:sp>
        <p:nvSpPr>
          <p:cNvPr id="13" name="maturity-next-0">
            <a:extLst xmlns:a="http://schemas.openxmlformats.org/drawingml/2006/main">
              <a:ext uri="{FF2B5EF4-FFF2-40B4-BE49-F238E27FC236}">
                <a16:creationId xmlns:a16="http://schemas.microsoft.com/office/drawing/2014/main" id="{D7AE6077-17DC-46E8-8CAC-9018C65CBF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2419350"/>
            <a:ext cx="32861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200" b="0">
                <a:solidFill>
                  <a:srgbClr val="24232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242321"/>
                </a:solidFill>
                <a:latin typeface="Microsoft YaHei"/>
                <a:ea typeface="Microsoft YaHei"/>
                <a:cs typeface="Microsoft YaHei"/>
              </a:rPr>
              <a:t>稳定生产化条件</a:t>
            </a:r>
          </a:p>
        </p:txBody>
      </p:sp>
      <p:sp>
        <p:nvSpPr>
          <p:cNvPr id="14" name="maturity-id-1">
            <a:extLst xmlns:a="http://schemas.openxmlformats.org/drawingml/2006/main">
              <a:ext uri="{FF2B5EF4-FFF2-40B4-BE49-F238E27FC236}">
                <a16:creationId xmlns:a16="http://schemas.microsoft.com/office/drawing/2014/main" id="{013F2CCA-C802-4E46-8ED0-FE8B69D487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933700"/>
            <a:ext cx="66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700" b="1">
                <a:solidFill>
                  <a:srgbClr val="7D26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00" b="1">
                <a:solidFill>
                  <a:srgbClr val="7D2633"/>
                </a:solidFill>
                <a:latin typeface="Microsoft YaHei"/>
                <a:ea typeface="Microsoft YaHei"/>
                <a:cs typeface="Microsoft YaHei"/>
              </a:rPr>
              <a:t>P05</a:t>
            </a:r>
          </a:p>
        </p:txBody>
      </p:sp>
      <p:sp>
        <p:nvSpPr>
          <p:cNvPr id="15" name="maturity-name-1">
            <a:extLst xmlns:a="http://schemas.openxmlformats.org/drawingml/2006/main">
              <a:ext uri="{FF2B5EF4-FFF2-40B4-BE49-F238E27FC236}">
                <a16:creationId xmlns:a16="http://schemas.microsoft.com/office/drawing/2014/main" id="{903A3133-AEA2-45F4-8537-21BD74E601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2933700"/>
            <a:ext cx="1619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00" b="1">
                <a:solidFill>
                  <a:srgbClr val="24232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242321"/>
                </a:solidFill>
                <a:latin typeface="Microsoft YaHei"/>
                <a:ea typeface="Microsoft YaHei"/>
                <a:cs typeface="Microsoft YaHei"/>
              </a:rPr>
              <a:t>神经尝试</a:t>
            </a:r>
          </a:p>
        </p:txBody>
      </p:sp>
      <p:sp>
        <p:nvSpPr>
          <p:cNvPr id="16" name="maturity-track-1">
            <a:extLst xmlns:a="http://schemas.openxmlformats.org/drawingml/2006/main">
              <a:ext uri="{FF2B5EF4-FFF2-40B4-BE49-F238E27FC236}">
                <a16:creationId xmlns:a16="http://schemas.microsoft.com/office/drawing/2014/main" id="{A23F7962-989E-4C0A-8CE8-417CA7D7F8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3000375" y="3086100"/>
            <a:ext cx="7810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D5D0C7"/>
            </a:solidFill>
            <a:prstDash val="solid"/>
          </a:ln>
        </p:spPr>
      </p:sp>
      <p:sp>
        <p:nvSpPr>
          <p:cNvPr id="17" name="maturity-marker-1">
            <a:extLst xmlns:a="http://schemas.openxmlformats.org/drawingml/2006/main">
              <a:ext uri="{FF2B5EF4-FFF2-40B4-BE49-F238E27FC236}">
                <a16:creationId xmlns:a16="http://schemas.microsoft.com/office/drawing/2014/main" id="{BF7539A6-0606-415B-81D0-846FDA770D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3000375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D2633"/>
          </a:solidFill>
          <a:ln xmlns:a="http://schemas.openxmlformats.org/drawingml/2006/main" w="0">
            <a:solidFill>
              <a:srgbClr val="7D2633"/>
            </a:solidFill>
            <a:prstDash val="solid"/>
          </a:ln>
        </p:spPr>
      </p:sp>
      <p:sp>
        <p:nvSpPr>
          <p:cNvPr id="18" name="maturity-status-1">
            <a:extLst xmlns:a="http://schemas.openxmlformats.org/drawingml/2006/main">
              <a:ext uri="{FF2B5EF4-FFF2-40B4-BE49-F238E27FC236}">
                <a16:creationId xmlns:a16="http://schemas.microsoft.com/office/drawing/2014/main" id="{4AE6273A-A30E-4F2D-BBB1-5C5BDA317E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3209925"/>
            <a:ext cx="3238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00" b="1">
                <a:solidFill>
                  <a:srgbClr val="24232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242321"/>
                </a:solidFill>
                <a:latin typeface="Microsoft YaHei"/>
                <a:ea typeface="Microsoft YaHei"/>
                <a:cs typeface="Microsoft YaHei"/>
              </a:rPr>
              <a:t>当前模型 NO-GO</a:t>
            </a:r>
          </a:p>
        </p:txBody>
      </p:sp>
      <p:sp>
        <p:nvSpPr>
          <p:cNvPr id="19" name="maturity-value-1">
            <a:extLst xmlns:a="http://schemas.openxmlformats.org/drawingml/2006/main">
              <a:ext uri="{FF2B5EF4-FFF2-40B4-BE49-F238E27FC236}">
                <a16:creationId xmlns:a16="http://schemas.microsoft.com/office/drawing/2014/main" id="{EF8CBDF5-575C-4029-A9D6-4E48DCF8E8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3438525"/>
            <a:ext cx="3714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100" b="0">
                <a:solidFill>
                  <a:srgbClr val="6E6A6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00" b="0">
                <a:solidFill>
                  <a:srgbClr val="6E6A64"/>
                </a:solidFill>
                <a:latin typeface="Microsoft YaHei"/>
                <a:ea typeface="Microsoft YaHei"/>
                <a:cs typeface="Microsoft YaHei"/>
              </a:rPr>
              <a:t>工程价值｜排除不成立的表征与选择路径</a:t>
            </a:r>
          </a:p>
        </p:txBody>
      </p:sp>
      <p:sp>
        <p:nvSpPr>
          <p:cNvPr id="20" name="maturity-next-1">
            <a:extLst xmlns:a="http://schemas.openxmlformats.org/drawingml/2006/main">
              <a:ext uri="{FF2B5EF4-FFF2-40B4-BE49-F238E27FC236}">
                <a16:creationId xmlns:a16="http://schemas.microsoft.com/office/drawing/2014/main" id="{5824DABB-6684-4CF9-AC1D-45E21E41DF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3257550"/>
            <a:ext cx="32861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200" b="0">
                <a:solidFill>
                  <a:srgbClr val="24232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242321"/>
                </a:solidFill>
                <a:latin typeface="Microsoft YaHei"/>
                <a:ea typeface="Microsoft YaHei"/>
                <a:cs typeface="Microsoft YaHei"/>
              </a:rPr>
              <a:t>新证据与新方案授权</a:t>
            </a:r>
          </a:p>
        </p:txBody>
      </p:sp>
      <p:sp>
        <p:nvSpPr>
          <p:cNvPr id="21" name="maturity-id-2">
            <a:extLst xmlns:a="http://schemas.openxmlformats.org/drawingml/2006/main">
              <a:ext uri="{FF2B5EF4-FFF2-40B4-BE49-F238E27FC236}">
                <a16:creationId xmlns:a16="http://schemas.microsoft.com/office/drawing/2014/main" id="{4654BEFD-5157-413B-9E8A-CF5389649A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771900"/>
            <a:ext cx="66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700" b="1">
                <a:solidFill>
                  <a:srgbClr val="6F7B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00" b="1">
                <a:solidFill>
                  <a:srgbClr val="6F7B72"/>
                </a:solidFill>
                <a:latin typeface="Microsoft YaHei"/>
                <a:ea typeface="Microsoft YaHei"/>
                <a:cs typeface="Microsoft YaHei"/>
              </a:rPr>
              <a:t>T12</a:t>
            </a:r>
          </a:p>
        </p:txBody>
      </p:sp>
      <p:sp>
        <p:nvSpPr>
          <p:cNvPr id="22" name="maturity-name-2">
            <a:extLst xmlns:a="http://schemas.openxmlformats.org/drawingml/2006/main">
              <a:ext uri="{FF2B5EF4-FFF2-40B4-BE49-F238E27FC236}">
                <a16:creationId xmlns:a16="http://schemas.microsoft.com/office/drawing/2014/main" id="{E4CE0D3B-376D-4836-9742-A69FE650E3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3771900"/>
            <a:ext cx="1619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00" b="1">
                <a:solidFill>
                  <a:srgbClr val="24232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242321"/>
                </a:solidFill>
                <a:latin typeface="Microsoft YaHei"/>
                <a:ea typeface="Microsoft YaHei"/>
                <a:cs typeface="Microsoft YaHei"/>
              </a:rPr>
              <a:t>质量审计</a:t>
            </a:r>
          </a:p>
        </p:txBody>
      </p:sp>
      <p:sp>
        <p:nvSpPr>
          <p:cNvPr id="23" name="maturity-track-2">
            <a:extLst xmlns:a="http://schemas.openxmlformats.org/drawingml/2006/main">
              <a:ext uri="{FF2B5EF4-FFF2-40B4-BE49-F238E27FC236}">
                <a16:creationId xmlns:a16="http://schemas.microsoft.com/office/drawing/2014/main" id="{8F8FEAAB-BD2D-4B4E-9394-79A4C5A25D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3000375" y="3924300"/>
            <a:ext cx="7810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D5D0C7"/>
            </a:solidFill>
            <a:prstDash val="solid"/>
          </a:ln>
        </p:spPr>
      </p:sp>
      <p:sp>
        <p:nvSpPr>
          <p:cNvPr id="24" name="maturity-marker-2">
            <a:extLst xmlns:a="http://schemas.openxmlformats.org/drawingml/2006/main">
              <a:ext uri="{FF2B5EF4-FFF2-40B4-BE49-F238E27FC236}">
                <a16:creationId xmlns:a16="http://schemas.microsoft.com/office/drawing/2014/main" id="{4A2C841D-0951-4929-A084-D4F506859E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3838575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F7B72"/>
          </a:solidFill>
          <a:ln xmlns:a="http://schemas.openxmlformats.org/drawingml/2006/main" w="0">
            <a:solidFill>
              <a:srgbClr val="6F7B72"/>
            </a:solidFill>
            <a:prstDash val="solid"/>
          </a:ln>
        </p:spPr>
      </p:sp>
      <p:sp>
        <p:nvSpPr>
          <p:cNvPr id="25" name="maturity-status-2">
            <a:extLst xmlns:a="http://schemas.openxmlformats.org/drawingml/2006/main">
              <a:ext uri="{FF2B5EF4-FFF2-40B4-BE49-F238E27FC236}">
                <a16:creationId xmlns:a16="http://schemas.microsoft.com/office/drawing/2014/main" id="{82E72FBD-EB97-4B2A-8132-D6D6CFE0FB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4048125"/>
            <a:ext cx="3238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00" b="1">
                <a:solidFill>
                  <a:srgbClr val="24232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242321"/>
                </a:solidFill>
                <a:latin typeface="Microsoft YaHei"/>
                <a:ea typeface="Microsoft YaHei"/>
                <a:cs typeface="Microsoft YaHei"/>
              </a:rPr>
              <a:t>Active audit-only／高置信输出</a:t>
            </a:r>
          </a:p>
        </p:txBody>
      </p:sp>
      <p:sp>
        <p:nvSpPr>
          <p:cNvPr id="26" name="maturity-value-2">
            <a:extLst xmlns:a="http://schemas.openxmlformats.org/drawingml/2006/main">
              <a:ext uri="{FF2B5EF4-FFF2-40B4-BE49-F238E27FC236}">
                <a16:creationId xmlns:a16="http://schemas.microsoft.com/office/drawing/2014/main" id="{DFAAAFCE-F75C-4D8C-981A-047E0E7E56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4276725"/>
            <a:ext cx="3714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100" b="0">
                <a:solidFill>
                  <a:srgbClr val="6E6A6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00" b="0">
                <a:solidFill>
                  <a:srgbClr val="6E6A64"/>
                </a:solidFill>
                <a:latin typeface="Microsoft YaHei"/>
                <a:ea typeface="Microsoft YaHei"/>
                <a:cs typeface="Microsoft YaHei"/>
              </a:rPr>
              <a:t>工程价值｜短期落地潜力</a:t>
            </a:r>
          </a:p>
        </p:txBody>
      </p:sp>
      <p:sp>
        <p:nvSpPr>
          <p:cNvPr id="27" name="maturity-next-2">
            <a:extLst xmlns:a="http://schemas.openxmlformats.org/drawingml/2006/main">
              <a:ext uri="{FF2B5EF4-FFF2-40B4-BE49-F238E27FC236}">
                <a16:creationId xmlns:a16="http://schemas.microsoft.com/office/drawing/2014/main" id="{E13357F2-3358-4320-B50A-E08255F1A0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4095750"/>
            <a:ext cx="32861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200" b="0">
                <a:solidFill>
                  <a:srgbClr val="24232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242321"/>
                </a:solidFill>
                <a:latin typeface="Microsoft YaHei"/>
                <a:ea typeface="Microsoft YaHei"/>
                <a:cs typeface="Microsoft YaHei"/>
              </a:rPr>
              <a:t>全量指标与上线闭环</a:t>
            </a:r>
          </a:p>
        </p:txBody>
      </p:sp>
      <p:sp>
        <p:nvSpPr>
          <p:cNvPr id="28" name="maturity-id-3">
            <a:extLst xmlns:a="http://schemas.openxmlformats.org/drawingml/2006/main">
              <a:ext uri="{FF2B5EF4-FFF2-40B4-BE49-F238E27FC236}">
                <a16:creationId xmlns:a16="http://schemas.microsoft.com/office/drawing/2014/main" id="{BEF93A3C-C132-405E-837D-3C1F9939F8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610100"/>
            <a:ext cx="66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700" b="1">
                <a:solidFill>
                  <a:srgbClr val="927B6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00" b="1">
                <a:solidFill>
                  <a:srgbClr val="927B62"/>
                </a:solidFill>
                <a:latin typeface="Microsoft YaHei"/>
                <a:ea typeface="Microsoft YaHei"/>
                <a:cs typeface="Microsoft YaHei"/>
              </a:rPr>
              <a:t>P04</a:t>
            </a:r>
          </a:p>
        </p:txBody>
      </p:sp>
      <p:sp>
        <p:nvSpPr>
          <p:cNvPr id="29" name="maturity-name-3">
            <a:extLst xmlns:a="http://schemas.openxmlformats.org/drawingml/2006/main">
              <a:ext uri="{FF2B5EF4-FFF2-40B4-BE49-F238E27FC236}">
                <a16:creationId xmlns:a16="http://schemas.microsoft.com/office/drawing/2014/main" id="{30F6A130-112C-4D2E-B580-F4AAA4BD2E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4610100"/>
            <a:ext cx="1619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00" b="1">
                <a:solidFill>
                  <a:srgbClr val="24232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242321"/>
                </a:solidFill>
                <a:latin typeface="Microsoft YaHei"/>
                <a:ea typeface="Microsoft YaHei"/>
                <a:cs typeface="Microsoft YaHei"/>
              </a:rPr>
              <a:t>自上而下直建</a:t>
            </a:r>
          </a:p>
        </p:txBody>
      </p:sp>
      <p:sp>
        <p:nvSpPr>
          <p:cNvPr id="30" name="maturity-track-3">
            <a:extLst xmlns:a="http://schemas.openxmlformats.org/drawingml/2006/main">
              <a:ext uri="{FF2B5EF4-FFF2-40B4-BE49-F238E27FC236}">
                <a16:creationId xmlns:a16="http://schemas.microsoft.com/office/drawing/2014/main" id="{73BCF1F7-70F0-43B6-B2F1-5C6A299D66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3000375" y="4762500"/>
            <a:ext cx="7810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D5D0C7"/>
            </a:solidFill>
            <a:prstDash val="solid"/>
          </a:ln>
        </p:spPr>
      </p:sp>
      <p:sp>
        <p:nvSpPr>
          <p:cNvPr id="31" name="maturity-marker-3">
            <a:extLst xmlns:a="http://schemas.openxmlformats.org/drawingml/2006/main">
              <a:ext uri="{FF2B5EF4-FFF2-40B4-BE49-F238E27FC236}">
                <a16:creationId xmlns:a16="http://schemas.microsoft.com/office/drawing/2014/main" id="{C0F08C46-ADAB-4FAE-B1C5-042E5AC92A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4676775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27B62"/>
          </a:solidFill>
          <a:ln xmlns:a="http://schemas.openxmlformats.org/drawingml/2006/main" w="0">
            <a:solidFill>
              <a:srgbClr val="927B62"/>
            </a:solidFill>
            <a:prstDash val="solid"/>
          </a:ln>
        </p:spPr>
      </p:sp>
      <p:sp>
        <p:nvSpPr>
          <p:cNvPr id="32" name="maturity-status-3">
            <a:extLst xmlns:a="http://schemas.openxmlformats.org/drawingml/2006/main">
              <a:ext uri="{FF2B5EF4-FFF2-40B4-BE49-F238E27FC236}">
                <a16:creationId xmlns:a16="http://schemas.microsoft.com/office/drawing/2014/main" id="{89EDBE67-9CBC-4AED-B829-7C73505266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4886325"/>
            <a:ext cx="3238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00" b="1">
                <a:solidFill>
                  <a:srgbClr val="24232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242321"/>
                </a:solidFill>
                <a:latin typeface="Microsoft YaHei"/>
                <a:ea typeface="Microsoft YaHei"/>
                <a:cs typeface="Microsoft YaHei"/>
              </a:rPr>
              <a:t>Active POC／局部实验完成</a:t>
            </a:r>
          </a:p>
        </p:txBody>
      </p:sp>
      <p:sp>
        <p:nvSpPr>
          <p:cNvPr id="33" name="maturity-value-3">
            <a:extLst xmlns:a="http://schemas.openxmlformats.org/drawingml/2006/main">
              <a:ext uri="{FF2B5EF4-FFF2-40B4-BE49-F238E27FC236}">
                <a16:creationId xmlns:a16="http://schemas.microsoft.com/office/drawing/2014/main" id="{9B8D02DB-D27D-46D8-9A73-CEFD907AE7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5114925"/>
            <a:ext cx="3714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100" b="0">
                <a:solidFill>
                  <a:srgbClr val="6E6A6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00" b="0">
                <a:solidFill>
                  <a:srgbClr val="6E6A64"/>
                </a:solidFill>
                <a:latin typeface="Microsoft YaHei"/>
                <a:ea typeface="Microsoft YaHei"/>
                <a:cs typeface="Microsoft YaHei"/>
              </a:rPr>
              <a:t>工程价值｜证明 Segment-first 路径可行</a:t>
            </a:r>
          </a:p>
        </p:txBody>
      </p:sp>
      <p:sp>
        <p:nvSpPr>
          <p:cNvPr id="34" name="maturity-next-3">
            <a:extLst xmlns:a="http://schemas.openxmlformats.org/drawingml/2006/main">
              <a:ext uri="{FF2B5EF4-FFF2-40B4-BE49-F238E27FC236}">
                <a16:creationId xmlns:a16="http://schemas.microsoft.com/office/drawing/2014/main" id="{87BAAB31-BD20-403F-B9B3-21553CCC4F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4933950"/>
            <a:ext cx="32861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200" b="0">
                <a:solidFill>
                  <a:srgbClr val="24232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242321"/>
                </a:solidFill>
                <a:latin typeface="Microsoft YaHei"/>
                <a:ea typeface="Microsoft YaHei"/>
                <a:cs typeface="Microsoft YaHei"/>
              </a:rPr>
              <a:t>多 Case 真值／movement 合法性／审批</a:t>
            </a:r>
          </a:p>
        </p:txBody>
      </p:sp>
      <p:sp>
        <p:nvSpPr>
          <p:cNvPr id="35" name="conclusion-band">
            <a:extLst xmlns:a="http://schemas.openxmlformats.org/drawingml/2006/main">
              <a:ext uri="{FF2B5EF4-FFF2-40B4-BE49-F238E27FC236}">
                <a16:creationId xmlns:a16="http://schemas.microsoft.com/office/drawing/2014/main" id="{3CB7B12B-774F-43DC-9372-D45F8978E4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5953125"/>
            <a:ext cx="11055096" cy="55245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303634"/>
          </a:solidFill>
          <a:ln xmlns:a="http://schemas.openxmlformats.org/drawingml/2006/main" w="0">
            <a:solidFill>
              <a:srgbClr val="303634"/>
            </a:solidFill>
            <a:prstDash val="solid"/>
          </a:ln>
        </p:spPr>
      </p:sp>
      <p:sp>
        <p:nvSpPr>
          <p:cNvPr id="36" name="conclusion-accent">
            <a:extLst xmlns:a="http://schemas.openxmlformats.org/drawingml/2006/main">
              <a:ext uri="{FF2B5EF4-FFF2-40B4-BE49-F238E27FC236}">
                <a16:creationId xmlns:a16="http://schemas.microsoft.com/office/drawing/2014/main" id="{32A38532-68EF-439D-A1AB-F9C32CB269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5953125"/>
            <a:ext cx="10477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D2633"/>
          </a:solidFill>
          <a:ln xmlns:a="http://schemas.openxmlformats.org/drawingml/2006/main" w="0">
            <a:solidFill>
              <a:srgbClr val="7D2633"/>
            </a:solidFill>
            <a:prstDash val="solid"/>
          </a:ln>
        </p:spPr>
      </p:sp>
      <p:sp>
        <p:nvSpPr>
          <p:cNvPr id="37" name="conclusion-label">
            <a:extLst xmlns:a="http://schemas.openxmlformats.org/drawingml/2006/main">
              <a:ext uri="{FF2B5EF4-FFF2-40B4-BE49-F238E27FC236}">
                <a16:creationId xmlns:a16="http://schemas.microsoft.com/office/drawing/2014/main" id="{4067C251-75C6-4CDC-8031-6C58F41A64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6048375"/>
            <a:ext cx="10001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3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共同价值</a:t>
            </a:r>
          </a:p>
        </p:txBody>
      </p:sp>
      <p:sp>
        <p:nvSpPr>
          <p:cNvPr id="38" name="conclusion-text">
            <a:extLst xmlns:a="http://schemas.openxmlformats.org/drawingml/2006/main">
              <a:ext uri="{FF2B5EF4-FFF2-40B4-BE49-F238E27FC236}">
                <a16:creationId xmlns:a16="http://schemas.microsoft.com/office/drawing/2014/main" id="{8AC9C529-3BFE-47A5-BBF6-5D0C75B06F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6029325"/>
            <a:ext cx="94773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同一 Junction–Segment 本体，让替换结果、质检问题和直建输出能够互相对照、共享证据。</a:t>
            </a:r>
          </a:p>
        </p:txBody>
      </p:sp>
    </p:spTree>
    <p:extLst>
      <p:ext uri="{BB962C8B-B14F-4D97-AF65-F5344CB8AC3E}">
        <p14:creationId xmlns:p14="http://schemas.microsoft.com/office/powerpoint/2010/main" val="2004696763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2" name="page-title">
            <a:extLst xmlns:a="http://schemas.openxmlformats.org/drawingml/2006/main">
              <a:ext uri="{FF2B5EF4-FFF2-40B4-BE49-F238E27FC236}">
                <a16:creationId xmlns:a16="http://schemas.microsoft.com/office/drawing/2014/main" id="{BF892F17-26A4-463E-8F1B-16521B34CE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320040"/>
            <a:ext cx="11055096" cy="42062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3100" b="1">
                <a:solidFill>
                  <a:srgbClr val="7D26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00" b="1">
                <a:solidFill>
                  <a:srgbClr val="7D2633"/>
                </a:solidFill>
                <a:latin typeface="Microsoft YaHei"/>
                <a:ea typeface="Microsoft YaHei"/>
                <a:cs typeface="Microsoft YaHei"/>
              </a:rPr>
              <a:t>RCSD把需求点转译为上下车候选，车端确认当次执行</a:t>
            </a:r>
          </a:p>
        </p:txBody>
      </p:sp>
      <p:sp>
        <p:nvSpPr>
          <p:cNvPr id="2" name="page-subtitle">
            <a:extLst xmlns:a="http://schemas.openxmlformats.org/drawingml/2006/main">
              <a:ext uri="{FF2B5EF4-FFF2-40B4-BE49-F238E27FC236}">
                <a16:creationId xmlns:a16="http://schemas.microsoft.com/office/drawing/2014/main" id="{25AA8D3A-025A-4E84-8A8A-6697C485CD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786384"/>
            <a:ext cx="11055096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00" b="0">
                <a:solidFill>
                  <a:srgbClr val="6E6A6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E6A64"/>
                </a:solidFill>
                <a:latin typeface="Microsoft YaHei"/>
                <a:ea typeface="Microsoft YaHei"/>
                <a:cs typeface="Microsoft YaHei"/>
              </a:rPr>
              <a:t>技术方案已形成；源稿未提供上线范围、覆盖率、命中率或安全效果数据</a:t>
            </a:r>
          </a:p>
        </p:txBody>
      </p:sp>
      <p:sp>
        <p:nvSpPr>
          <p:cNvPr id="3" name="title-divider">
            <a:extLst xmlns:a="http://schemas.openxmlformats.org/drawingml/2006/main">
              <a:ext uri="{FF2B5EF4-FFF2-40B4-BE49-F238E27FC236}">
                <a16:creationId xmlns:a16="http://schemas.microsoft.com/office/drawing/2014/main" id="{A0289A5D-1A6F-4B6F-A438-1D26B0E628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566928" y="1097280"/>
            <a:ext cx="11055096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5D0C7"/>
            </a:solidFill>
            <a:prstDash val="solid"/>
          </a:ln>
        </p:spPr>
      </p:sp>
      <p:sp>
        <p:nvSpPr>
          <p:cNvPr id="4" name="boarding-problem">
            <a:extLst xmlns:a="http://schemas.openxmlformats.org/drawingml/2006/main">
              <a:ext uri="{FF2B5EF4-FFF2-40B4-BE49-F238E27FC236}">
                <a16:creationId xmlns:a16="http://schemas.microsoft.com/office/drawing/2014/main" id="{5DAADE15-CBD4-4400-ACF1-0030C432D1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257300"/>
            <a:ext cx="11049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700" b="1">
                <a:solidFill>
                  <a:srgbClr val="24232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00" b="1">
                <a:solidFill>
                  <a:srgbClr val="242321"/>
                </a:solidFill>
                <a:latin typeface="Microsoft YaHei"/>
                <a:ea typeface="Microsoft YaHei"/>
                <a:cs typeface="Microsoft YaHei"/>
              </a:rPr>
              <a:t>需求点 ≠ 可停车点，也不直接等于可候客或可执行位置</a:t>
            </a:r>
          </a:p>
        </p:txBody>
      </p:sp>
      <p:sp>
        <p:nvSpPr>
          <p:cNvPr id="5" name="boarding-problem-accent">
            <a:extLst xmlns:a="http://schemas.openxmlformats.org/drawingml/2006/main">
              <a:ext uri="{FF2B5EF4-FFF2-40B4-BE49-F238E27FC236}">
                <a16:creationId xmlns:a16="http://schemas.microsoft.com/office/drawing/2014/main" id="{3D1BB5B1-B93C-4E15-853A-21B01A58E5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257300"/>
            <a:ext cx="57150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D2633"/>
          </a:solidFill>
          <a:ln xmlns:a="http://schemas.openxmlformats.org/drawingml/2006/main" w="0">
            <a:solidFill>
              <a:srgbClr val="7D2633"/>
            </a:solidFill>
            <a:prstDash val="solid"/>
          </a:ln>
        </p:spPr>
      </p:sp>
      <p:sp>
        <p:nvSpPr>
          <p:cNvPr id="6" name="boarding-node-1">
            <a:extLst xmlns:a="http://schemas.openxmlformats.org/drawingml/2006/main">
              <a:ext uri="{FF2B5EF4-FFF2-40B4-BE49-F238E27FC236}">
                <a16:creationId xmlns:a16="http://schemas.microsoft.com/office/drawing/2014/main" id="{26D67FA7-001C-4831-9523-B8DE8FD7EA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2543175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03634"/>
          </a:solidFill>
          <a:ln xmlns:a="http://schemas.openxmlformats.org/drawingml/2006/main" w="0">
            <a:solidFill>
              <a:srgbClr val="303634"/>
            </a:solidFill>
            <a:prstDash val="solid"/>
          </a:ln>
        </p:spPr>
      </p:sp>
      <p:sp>
        <p:nvSpPr>
          <p:cNvPr id="7" name="boarding-node-number-1">
            <a:extLst xmlns:a="http://schemas.openxmlformats.org/drawingml/2006/main">
              <a:ext uri="{FF2B5EF4-FFF2-40B4-BE49-F238E27FC236}">
                <a16:creationId xmlns:a16="http://schemas.microsoft.com/office/drawing/2014/main" id="{C2C9E032-9D64-4751-B186-EB8FA7525A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2571750"/>
            <a:ext cx="4381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6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  <p:sp>
        <p:nvSpPr>
          <p:cNvPr id="8" name="boarding-stage-title-1">
            <a:extLst xmlns:a="http://schemas.openxmlformats.org/drawingml/2006/main">
              <a:ext uri="{FF2B5EF4-FFF2-40B4-BE49-F238E27FC236}">
                <a16:creationId xmlns:a16="http://schemas.microsoft.com/office/drawing/2014/main" id="{4A9805B3-846A-4D2E-A065-B02C541B82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1952625"/>
            <a:ext cx="19526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900" b="1">
                <a:solidFill>
                  <a:srgbClr val="24232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00" b="1">
                <a:solidFill>
                  <a:srgbClr val="242321"/>
                </a:solidFill>
                <a:latin typeface="Microsoft YaHei"/>
                <a:ea typeface="Microsoft YaHei"/>
                <a:cs typeface="Microsoft YaHei"/>
              </a:rPr>
              <a:t>需求锚点</a:t>
            </a:r>
          </a:p>
        </p:txBody>
      </p:sp>
      <p:sp>
        <p:nvSpPr>
          <p:cNvPr id="9" name="boarding-node-2">
            <a:extLst xmlns:a="http://schemas.openxmlformats.org/drawingml/2006/main">
              <a:ext uri="{FF2B5EF4-FFF2-40B4-BE49-F238E27FC236}">
                <a16:creationId xmlns:a16="http://schemas.microsoft.com/office/drawing/2014/main" id="{75504926-0A46-41EF-9C86-8E4FE580C0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2543175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F7B72"/>
          </a:solidFill>
          <a:ln xmlns:a="http://schemas.openxmlformats.org/drawingml/2006/main" w="0">
            <a:solidFill>
              <a:srgbClr val="6F7B72"/>
            </a:solidFill>
            <a:prstDash val="solid"/>
          </a:ln>
        </p:spPr>
      </p:sp>
      <p:sp>
        <p:nvSpPr>
          <p:cNvPr id="10" name="boarding-node-number-2">
            <a:extLst xmlns:a="http://schemas.openxmlformats.org/drawingml/2006/main">
              <a:ext uri="{FF2B5EF4-FFF2-40B4-BE49-F238E27FC236}">
                <a16:creationId xmlns:a16="http://schemas.microsoft.com/office/drawing/2014/main" id="{28E5535B-BF08-40D3-95BB-60DA55CB5C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2571750"/>
            <a:ext cx="4381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6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  <p:sp>
        <p:nvSpPr>
          <p:cNvPr id="11" name="boarding-stage-title-2">
            <a:extLst xmlns:a="http://schemas.openxmlformats.org/drawingml/2006/main">
              <a:ext uri="{FF2B5EF4-FFF2-40B4-BE49-F238E27FC236}">
                <a16:creationId xmlns:a16="http://schemas.microsoft.com/office/drawing/2014/main" id="{83139980-8499-4C50-9A8D-7DF21B16FD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1952625"/>
            <a:ext cx="19526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900" b="1">
                <a:solidFill>
                  <a:srgbClr val="24232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00" b="1">
                <a:solidFill>
                  <a:srgbClr val="242321"/>
                </a:solidFill>
                <a:latin typeface="Microsoft YaHei"/>
                <a:ea typeface="Microsoft YaHei"/>
                <a:cs typeface="Microsoft YaHei"/>
              </a:rPr>
              <a:t>RCSD 空间锚定</a:t>
            </a:r>
          </a:p>
        </p:txBody>
      </p:sp>
      <p:sp>
        <p:nvSpPr>
          <p:cNvPr id="12" name="boarding-node-3">
            <a:extLst xmlns:a="http://schemas.openxmlformats.org/drawingml/2006/main">
              <a:ext uri="{FF2B5EF4-FFF2-40B4-BE49-F238E27FC236}">
                <a16:creationId xmlns:a16="http://schemas.microsoft.com/office/drawing/2014/main" id="{7AAB1514-42CC-45E5-8273-C05DA6736D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0375" y="2543175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03634"/>
          </a:solidFill>
          <a:ln xmlns:a="http://schemas.openxmlformats.org/drawingml/2006/main" w="0">
            <a:solidFill>
              <a:srgbClr val="303634"/>
            </a:solidFill>
            <a:prstDash val="solid"/>
          </a:ln>
        </p:spPr>
      </p:sp>
      <p:sp>
        <p:nvSpPr>
          <p:cNvPr id="13" name="boarding-node-number-3">
            <a:extLst xmlns:a="http://schemas.openxmlformats.org/drawingml/2006/main">
              <a:ext uri="{FF2B5EF4-FFF2-40B4-BE49-F238E27FC236}">
                <a16:creationId xmlns:a16="http://schemas.microsoft.com/office/drawing/2014/main" id="{D0D3E573-85A1-4A2E-B2C8-9C0F84F993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0375" y="2571750"/>
            <a:ext cx="4381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6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  <p:sp>
        <p:nvSpPr>
          <p:cNvPr id="14" name="boarding-stage-title-3">
            <a:extLst xmlns:a="http://schemas.openxmlformats.org/drawingml/2006/main">
              <a:ext uri="{FF2B5EF4-FFF2-40B4-BE49-F238E27FC236}">
                <a16:creationId xmlns:a16="http://schemas.microsoft.com/office/drawing/2014/main" id="{AB9DBE6A-3CB4-4266-8BBA-C6A5083CE9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952625"/>
            <a:ext cx="19526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900" b="1">
                <a:solidFill>
                  <a:srgbClr val="24232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00" b="1">
                <a:solidFill>
                  <a:srgbClr val="242321"/>
                </a:solidFill>
                <a:latin typeface="Microsoft YaHei"/>
                <a:ea typeface="Microsoft YaHei"/>
                <a:cs typeface="Microsoft YaHei"/>
              </a:rPr>
              <a:t>静态权限合成</a:t>
            </a:r>
          </a:p>
        </p:txBody>
      </p:sp>
      <p:sp>
        <p:nvSpPr>
          <p:cNvPr id="15" name="boarding-node-4">
            <a:extLst xmlns:a="http://schemas.openxmlformats.org/drawingml/2006/main">
              <a:ext uri="{FF2B5EF4-FFF2-40B4-BE49-F238E27FC236}">
                <a16:creationId xmlns:a16="http://schemas.microsoft.com/office/drawing/2014/main" id="{EE2D28E7-FF63-4739-8213-A7811453F2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72625" y="2543175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D2633"/>
          </a:solidFill>
          <a:ln xmlns:a="http://schemas.openxmlformats.org/drawingml/2006/main" w="0">
            <a:solidFill>
              <a:srgbClr val="7D2633"/>
            </a:solidFill>
            <a:prstDash val="solid"/>
          </a:ln>
        </p:spPr>
      </p:sp>
      <p:sp>
        <p:nvSpPr>
          <p:cNvPr id="16" name="boarding-node-number-4">
            <a:extLst xmlns:a="http://schemas.openxmlformats.org/drawingml/2006/main">
              <a:ext uri="{FF2B5EF4-FFF2-40B4-BE49-F238E27FC236}">
                <a16:creationId xmlns:a16="http://schemas.microsoft.com/office/drawing/2014/main" id="{24030F34-71D7-4E75-80F1-6F29F82B51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72625" y="2571750"/>
            <a:ext cx="4381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6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4</a:t>
            </a:r>
          </a:p>
        </p:txBody>
      </p:sp>
      <p:sp>
        <p:nvSpPr>
          <p:cNvPr id="17" name="boarding-stage-title-4">
            <a:extLst xmlns:a="http://schemas.openxmlformats.org/drawingml/2006/main">
              <a:ext uri="{FF2B5EF4-FFF2-40B4-BE49-F238E27FC236}">
                <a16:creationId xmlns:a16="http://schemas.microsoft.com/office/drawing/2014/main" id="{0CF46B4E-18A3-43C5-B6F3-18E3010653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1952625"/>
            <a:ext cx="19526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900" b="1">
                <a:solidFill>
                  <a:srgbClr val="24232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00" b="1">
                <a:solidFill>
                  <a:srgbClr val="242321"/>
                </a:solidFill>
                <a:latin typeface="Microsoft YaHei"/>
                <a:ea typeface="Microsoft YaHei"/>
                <a:cs typeface="Microsoft YaHei"/>
              </a:rPr>
              <a:t>车端当次执行</a:t>
            </a:r>
          </a:p>
        </p:txBody>
      </p:sp>
      <p:cxnSp>
        <p:nvCxnSpPr>
          <p:cNvPr id="59" name=""/>
          <p:cNvCxnSpPr>
            <a:stCxn xmlns:a="http://schemas.openxmlformats.org/drawingml/2006/main" id="6" idx="6"/>
            <a:endCxn xmlns:a="http://schemas.openxmlformats.org/drawingml/2006/main" id="9" idx="2"/>
          </p:cNvCxnSpPr>
          <p:nvPr/>
        </p:nvCxnSpPr>
        <p:spPr>
          <a:xfrm xmlns:a="http://schemas.openxmlformats.org/drawingml/2006/main">
            <a:off x="1962150" y="2762250"/>
            <a:ext cx="2133600" cy="0"/>
          </a:xfrm>
          <a:prstGeom xmlns:a="http://schemas.openxmlformats.org/drawingml/2006/main" prst="straightConnector1">
            <a:avLst/>
          </a:prstGeom>
          <a:ln xmlns:a="http://schemas.openxmlformats.org/drawingml/2006/main" w="16669">
            <a:solidFill>
              <a:srgbClr val="6E6A64"/>
            </a:solidFill>
            <a:prstDash val="solid"/>
            <a:headEnd type="none" w="med" len="med"/>
          </a:ln>
        </p:spPr>
      </p:cxnSp>
      <p:cxnSp>
        <p:nvCxnSpPr>
          <p:cNvPr id="60" name=""/>
          <p:cNvCxnSpPr>
            <a:stCxn xmlns:a="http://schemas.openxmlformats.org/drawingml/2006/main" id="9" idx="6"/>
            <a:endCxn xmlns:a="http://schemas.openxmlformats.org/drawingml/2006/main" id="12" idx="2"/>
          </p:cNvCxnSpPr>
          <p:nvPr/>
        </p:nvCxnSpPr>
        <p:spPr>
          <a:xfrm xmlns:a="http://schemas.openxmlformats.org/drawingml/2006/main">
            <a:off x="4533900" y="2762250"/>
            <a:ext cx="2276475" cy="0"/>
          </a:xfrm>
          <a:prstGeom xmlns:a="http://schemas.openxmlformats.org/drawingml/2006/main" prst="straightConnector1">
            <a:avLst/>
          </a:prstGeom>
          <a:ln xmlns:a="http://schemas.openxmlformats.org/drawingml/2006/main" w="16669">
            <a:solidFill>
              <a:srgbClr val="6E6A64"/>
            </a:solidFill>
            <a:prstDash val="solid"/>
            <a:headEnd type="none" w="med" len="med"/>
          </a:ln>
        </p:spPr>
      </p:cxnSp>
      <p:cxnSp>
        <p:nvCxnSpPr>
          <p:cNvPr id="61" name=""/>
          <p:cNvCxnSpPr>
            <a:stCxn xmlns:a="http://schemas.openxmlformats.org/drawingml/2006/main" id="12" idx="6"/>
            <a:endCxn xmlns:a="http://schemas.openxmlformats.org/drawingml/2006/main" id="15" idx="2"/>
          </p:cNvCxnSpPr>
          <p:nvPr/>
        </p:nvCxnSpPr>
        <p:spPr>
          <a:xfrm xmlns:a="http://schemas.openxmlformats.org/drawingml/2006/main">
            <a:off x="7248525" y="2762250"/>
            <a:ext cx="2324100" cy="0"/>
          </a:xfrm>
          <a:prstGeom xmlns:a="http://schemas.openxmlformats.org/drawingml/2006/main" prst="straightConnector1">
            <a:avLst/>
          </a:prstGeom>
          <a:ln xmlns:a="http://schemas.openxmlformats.org/drawingml/2006/main" w="16669">
            <a:solidFill>
              <a:srgbClr val="6E6A64"/>
            </a:solidFill>
            <a:prstDash val="solid"/>
            <a:headEnd type="none" w="med" len="med"/>
          </a:ln>
        </p:spPr>
      </p:cxnSp>
      <p:sp>
        <p:nvSpPr>
          <p:cNvPr id="21" name="boarding-flow-arrow">
            <a:extLst xmlns:a="http://schemas.openxmlformats.org/drawingml/2006/main">
              <a:ext uri="{FF2B5EF4-FFF2-40B4-BE49-F238E27FC236}">
                <a16:creationId xmlns:a16="http://schemas.microsoft.com/office/drawing/2014/main" id="{4BF9C0AB-2295-494B-AB6C-347CB7A457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2552700"/>
            <a:ext cx="5238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2000" b="1">
                <a:solidFill>
                  <a:srgbClr val="6E6A6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00" b="1">
                <a:solidFill>
                  <a:srgbClr val="6E6A64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22" name="boarding-stage-1">
            <a:extLst xmlns:a="http://schemas.openxmlformats.org/drawingml/2006/main">
              <a:ext uri="{FF2B5EF4-FFF2-40B4-BE49-F238E27FC236}">
                <a16:creationId xmlns:a16="http://schemas.microsoft.com/office/drawing/2014/main" id="{56F875C7-5A6E-4613-BD39-6AC9964B6D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3143250"/>
            <a:ext cx="233362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400" b="0">
                <a:solidFill>
                  <a:srgbClr val="24232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00" b="0">
                <a:solidFill>
                  <a:srgbClr val="242321"/>
                </a:solidFill>
                <a:latin typeface="Microsoft YaHei"/>
                <a:ea typeface="Microsoft YaHei"/>
                <a:cs typeface="Microsoft YaHei"/>
              </a:rPr>
              <a:t>位置语义｜POI / 出入口</a:t>
            </a:r>
          </a:p>
          <a:p xmlns:a="http://schemas.openxmlformats.org/drawingml/2006/main">
            <a:pPr algn="ctr">
              <a:lnSpc>
                <a:spcPct val="112000"/>
              </a:lnSpc>
              <a:buNone/>
              <a:defRPr sz="1400" b="0">
                <a:solidFill>
                  <a:srgbClr val="24232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00" b="0">
                <a:solidFill>
                  <a:srgbClr val="242321"/>
                </a:solidFill>
                <a:latin typeface="Microsoft YaHei"/>
                <a:ea typeface="Microsoft YaHei"/>
                <a:cs typeface="Microsoft YaHei"/>
              </a:rPr>
              <a:t>步行可达｜园区 / 枢纽语义</a:t>
            </a:r>
          </a:p>
        </p:txBody>
      </p:sp>
      <p:sp>
        <p:nvSpPr>
          <p:cNvPr id="23" name="boarding-stage-2">
            <a:extLst xmlns:a="http://schemas.openxmlformats.org/drawingml/2006/main">
              <a:ext uri="{FF2B5EF4-FFF2-40B4-BE49-F238E27FC236}">
                <a16:creationId xmlns:a16="http://schemas.microsoft.com/office/drawing/2014/main" id="{DEB142A7-EE27-4CE5-9B39-F27AB2C6F5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6125" y="3143250"/>
            <a:ext cx="2333625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400" b="0">
                <a:solidFill>
                  <a:srgbClr val="24232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00" b="0">
                <a:solidFill>
                  <a:srgbClr val="242321"/>
                </a:solidFill>
                <a:latin typeface="Microsoft YaHei"/>
                <a:ea typeface="Microsoft YaHei"/>
                <a:cs typeface="Microsoft YaHei"/>
              </a:rPr>
              <a:t>Road / Segment</a:t>
            </a:r>
          </a:p>
          <a:p xmlns:a="http://schemas.openxmlformats.org/drawingml/2006/main">
            <a:pPr algn="ctr">
              <a:lnSpc>
                <a:spcPct val="112000"/>
              </a:lnSpc>
              <a:buNone/>
              <a:defRPr sz="1400" b="0">
                <a:solidFill>
                  <a:srgbClr val="24232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00" b="0">
                <a:solidFill>
                  <a:srgbClr val="242321"/>
                </a:solidFill>
                <a:latin typeface="Microsoft YaHei"/>
                <a:ea typeface="Microsoft YaHei"/>
                <a:cs typeface="Microsoft YaHei"/>
              </a:rPr>
              <a:t>方向 × 侧别 × 局部区间</a:t>
            </a:r>
          </a:p>
          <a:p xmlns:a="http://schemas.openxmlformats.org/drawingml/2006/main">
            <a:pPr algn="ctr">
              <a:lnSpc>
                <a:spcPct val="112000"/>
              </a:lnSpc>
              <a:buNone/>
              <a:defRPr sz="1400" b="0">
                <a:solidFill>
                  <a:srgbClr val="24232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00" b="0">
                <a:solidFill>
                  <a:srgbClr val="242321"/>
                </a:solidFill>
                <a:latin typeface="Microsoft YaHei"/>
                <a:ea typeface="Microsoft YaHei"/>
                <a:cs typeface="Microsoft YaHei"/>
              </a:rPr>
              <a:t>枢纽补充入口与停车设施</a:t>
            </a:r>
          </a:p>
        </p:txBody>
      </p:sp>
      <p:sp>
        <p:nvSpPr>
          <p:cNvPr id="24" name="boarding-stage-3">
            <a:extLst xmlns:a="http://schemas.openxmlformats.org/drawingml/2006/main">
              <a:ext uri="{FF2B5EF4-FFF2-40B4-BE49-F238E27FC236}">
                <a16:creationId xmlns:a16="http://schemas.microsoft.com/office/drawing/2014/main" id="{73F7BA86-8898-4215-B2DB-AF949D8265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3143250"/>
            <a:ext cx="257175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400" b="0">
                <a:solidFill>
                  <a:srgbClr val="24232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00" b="0">
                <a:solidFill>
                  <a:srgbClr val="242321"/>
                </a:solidFill>
                <a:latin typeface="Microsoft YaHei"/>
                <a:ea typeface="Microsoft YaHei"/>
                <a:cs typeface="Microsoft YaHei"/>
              </a:rPr>
              <a:t>道路停靠属性＋空间控制</a:t>
            </a:r>
          </a:p>
          <a:p xmlns:a="http://schemas.openxmlformats.org/drawingml/2006/main">
            <a:pPr algn="ctr">
              <a:lnSpc>
                <a:spcPct val="112000"/>
              </a:lnSpc>
              <a:buNone/>
              <a:defRPr sz="1400" b="0">
                <a:solidFill>
                  <a:srgbClr val="24232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00" b="0">
                <a:solidFill>
                  <a:srgbClr val="242321"/>
                </a:solidFill>
                <a:latin typeface="Microsoft YaHei"/>
                <a:ea typeface="Microsoft YaHei"/>
                <a:cs typeface="Microsoft YaHei"/>
              </a:rPr>
              <a:t>禁止停车 ＞ 即停即走 ＞ 临停</a:t>
            </a:r>
          </a:p>
          <a:p xmlns:a="http://schemas.openxmlformats.org/drawingml/2006/main">
            <a:pPr algn="ctr">
              <a:lnSpc>
                <a:spcPct val="112000"/>
              </a:lnSpc>
              <a:buNone/>
              <a:defRPr sz="1400" b="0">
                <a:solidFill>
                  <a:srgbClr val="24232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00" b="0">
                <a:solidFill>
                  <a:srgbClr val="242321"/>
                </a:solidFill>
                <a:latin typeface="Microsoft YaHei"/>
                <a:ea typeface="Microsoft YaHei"/>
                <a:cs typeface="Microsoft YaHei"/>
              </a:rPr>
              <a:t>按最严格结果合并</a:t>
            </a:r>
          </a:p>
        </p:txBody>
      </p:sp>
      <p:sp>
        <p:nvSpPr>
          <p:cNvPr id="25" name="boarding-stage-4">
            <a:extLst xmlns:a="http://schemas.openxmlformats.org/drawingml/2006/main">
              <a:ext uri="{FF2B5EF4-FFF2-40B4-BE49-F238E27FC236}">
                <a16:creationId xmlns:a16="http://schemas.microsoft.com/office/drawing/2014/main" id="{440CA1FF-FAED-42CB-9278-169AEA3FC6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3143250"/>
            <a:ext cx="2524125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400" b="0">
                <a:solidFill>
                  <a:srgbClr val="24232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00" b="0">
                <a:solidFill>
                  <a:srgbClr val="242321"/>
                </a:solidFill>
                <a:latin typeface="Microsoft YaHei"/>
                <a:ea typeface="Microsoft YaHei"/>
                <a:cs typeface="Microsoft YaHei"/>
              </a:rPr>
              <a:t>候选前筛选</a:t>
            </a:r>
          </a:p>
          <a:p xmlns:a="http://schemas.openxmlformats.org/drawingml/2006/main">
            <a:pPr algn="ctr">
              <a:lnSpc>
                <a:spcPct val="112000"/>
              </a:lnSpc>
              <a:buNone/>
              <a:defRPr sz="1400" b="0">
                <a:solidFill>
                  <a:srgbClr val="24232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00" b="0">
                <a:solidFill>
                  <a:srgbClr val="242321"/>
                </a:solidFill>
                <a:latin typeface="Microsoft YaHei"/>
                <a:ea typeface="Microsoft YaHei"/>
                <a:cs typeface="Microsoft YaHei"/>
              </a:rPr>
              <a:t>停车 / 开门前再次复核</a:t>
            </a:r>
          </a:p>
          <a:p xmlns:a="http://schemas.openxmlformats.org/drawingml/2006/main">
            <a:pPr algn="ctr">
              <a:lnSpc>
                <a:spcPct val="112000"/>
              </a:lnSpc>
              <a:buNone/>
              <a:defRPr sz="1400" b="0">
                <a:solidFill>
                  <a:srgbClr val="24232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00" b="0">
                <a:solidFill>
                  <a:srgbClr val="242321"/>
                </a:solidFill>
                <a:latin typeface="Microsoft YaHei"/>
                <a:ea typeface="Microsoft YaHei"/>
                <a:cs typeface="Microsoft YaHei"/>
              </a:rPr>
              <a:t>执行｜重选｜改点｜最小巡航</a:t>
            </a:r>
          </a:p>
        </p:txBody>
      </p:sp>
      <p:sp>
        <p:nvSpPr>
          <p:cNvPr id="26" name="boarding-output-spine">
            <a:extLst xmlns:a="http://schemas.openxmlformats.org/drawingml/2006/main">
              <a:ext uri="{FF2B5EF4-FFF2-40B4-BE49-F238E27FC236}">
                <a16:creationId xmlns:a16="http://schemas.microsoft.com/office/drawing/2014/main" id="{8975E8A5-C969-474F-BEFC-184A8DDA69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1428750" y="4257675"/>
            <a:ext cx="9334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D5D0C7"/>
            </a:solidFill>
            <a:prstDash val="solid"/>
          </a:ln>
        </p:spPr>
      </p:sp>
      <p:sp>
        <p:nvSpPr>
          <p:cNvPr id="27" name="boarding-output-label">
            <a:extLst xmlns:a="http://schemas.openxmlformats.org/drawingml/2006/main">
              <a:ext uri="{FF2B5EF4-FFF2-40B4-BE49-F238E27FC236}">
                <a16:creationId xmlns:a16="http://schemas.microsoft.com/office/drawing/2014/main" id="{B95BCDE9-9E50-4EF5-BC7B-6B3BDE1A6C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114800"/>
            <a:ext cx="114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00" b="1">
                <a:solidFill>
                  <a:srgbClr val="7D26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7D2633"/>
                </a:solidFill>
                <a:latin typeface="Microsoft YaHei"/>
                <a:ea typeface="Microsoft YaHei"/>
                <a:cs typeface="Microsoft YaHei"/>
              </a:rPr>
              <a:t>链路输出</a:t>
            </a:r>
          </a:p>
        </p:txBody>
      </p:sp>
      <p:sp>
        <p:nvSpPr>
          <p:cNvPr id="28" name="boarding-output-dot-0">
            <a:extLst xmlns:a="http://schemas.openxmlformats.org/drawingml/2006/main">
              <a:ext uri="{FF2B5EF4-FFF2-40B4-BE49-F238E27FC236}">
                <a16:creationId xmlns:a16="http://schemas.microsoft.com/office/drawing/2014/main" id="{2BD44DA5-6920-431A-815D-1C5AFF9AC4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4191000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03634"/>
          </a:solidFill>
          <a:ln xmlns:a="http://schemas.openxmlformats.org/drawingml/2006/main" w="0">
            <a:solidFill>
              <a:srgbClr val="303634"/>
            </a:solidFill>
            <a:prstDash val="solid"/>
          </a:ln>
        </p:spPr>
      </p:sp>
      <p:sp>
        <p:nvSpPr>
          <p:cNvPr id="29" name="boarding-output-title-0">
            <a:extLst xmlns:a="http://schemas.openxmlformats.org/drawingml/2006/main">
              <a:ext uri="{FF2B5EF4-FFF2-40B4-BE49-F238E27FC236}">
                <a16:creationId xmlns:a16="http://schemas.microsoft.com/office/drawing/2014/main" id="{CC98324B-4580-49C9-9BD4-524E875D00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4476750"/>
            <a:ext cx="20478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500" b="1">
                <a:solidFill>
                  <a:srgbClr val="24232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242321"/>
                </a:solidFill>
                <a:latin typeface="Microsoft YaHei"/>
                <a:ea typeface="Microsoft YaHei"/>
                <a:cs typeface="Microsoft YaHei"/>
              </a:rPr>
              <a:t>普通道路上车</a:t>
            </a:r>
          </a:p>
        </p:txBody>
      </p:sp>
      <p:sp>
        <p:nvSpPr>
          <p:cNvPr id="30" name="boarding-output-desc-0">
            <a:extLst xmlns:a="http://schemas.openxmlformats.org/drawingml/2006/main">
              <a:ext uri="{FF2B5EF4-FFF2-40B4-BE49-F238E27FC236}">
                <a16:creationId xmlns:a16="http://schemas.microsoft.com/office/drawing/2014/main" id="{77DA9A69-D1AE-40D6-A702-D45C88CBD8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4762500"/>
            <a:ext cx="242887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200" b="0">
                <a:solidFill>
                  <a:srgbClr val="6E6A6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E6A64"/>
                </a:solidFill>
                <a:latin typeface="Microsoft YaHei"/>
                <a:ea typeface="Microsoft YaHei"/>
                <a:cs typeface="Microsoft YaHei"/>
              </a:rPr>
              <a:t>候客范围内优先车等人；</a:t>
            </a:r>
          </a:p>
          <a:p xmlns:a="http://schemas.openxmlformats.org/drawingml/2006/main">
            <a:pPr algn="ctr">
              <a:lnSpc>
                <a:spcPct val="112000"/>
              </a:lnSpc>
              <a:buNone/>
              <a:defRPr sz="1200" b="0">
                <a:solidFill>
                  <a:srgbClr val="6E6A6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E6A64"/>
                </a:solidFill>
                <a:latin typeface="Microsoft YaHei"/>
                <a:ea typeface="Microsoft YaHei"/>
                <a:cs typeface="Microsoft YaHei"/>
              </a:rPr>
              <a:t>不可停则重选、改点或最小巡航</a:t>
            </a:r>
          </a:p>
        </p:txBody>
      </p:sp>
      <p:sp>
        <p:nvSpPr>
          <p:cNvPr id="31" name="boarding-output-dot-1">
            <a:extLst xmlns:a="http://schemas.openxmlformats.org/drawingml/2006/main">
              <a:ext uri="{FF2B5EF4-FFF2-40B4-BE49-F238E27FC236}">
                <a16:creationId xmlns:a16="http://schemas.microsoft.com/office/drawing/2014/main" id="{4CDCC4D9-CDCE-4FE1-895E-577DE3AB3E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4191000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27B62"/>
          </a:solidFill>
          <a:ln xmlns:a="http://schemas.openxmlformats.org/drawingml/2006/main" w="0">
            <a:solidFill>
              <a:srgbClr val="927B62"/>
            </a:solidFill>
            <a:prstDash val="solid"/>
          </a:ln>
        </p:spPr>
      </p:sp>
      <p:sp>
        <p:nvSpPr>
          <p:cNvPr id="32" name="boarding-output-title-1">
            <a:extLst xmlns:a="http://schemas.openxmlformats.org/drawingml/2006/main">
              <a:ext uri="{FF2B5EF4-FFF2-40B4-BE49-F238E27FC236}">
                <a16:creationId xmlns:a16="http://schemas.microsoft.com/office/drawing/2014/main" id="{1D757611-27C0-4A4D-89AD-17B350D3B7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81625" y="4476750"/>
            <a:ext cx="20478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500" b="1">
                <a:solidFill>
                  <a:srgbClr val="24232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242321"/>
                </a:solidFill>
                <a:latin typeface="Microsoft YaHei"/>
                <a:ea typeface="Microsoft YaHei"/>
                <a:cs typeface="Microsoft YaHei"/>
              </a:rPr>
              <a:t>交通枢纽上车</a:t>
            </a:r>
          </a:p>
        </p:txBody>
      </p:sp>
      <p:sp>
        <p:nvSpPr>
          <p:cNvPr id="33" name="boarding-output-desc-1">
            <a:extLst xmlns:a="http://schemas.openxmlformats.org/drawingml/2006/main">
              <a:ext uri="{FF2B5EF4-FFF2-40B4-BE49-F238E27FC236}">
                <a16:creationId xmlns:a16="http://schemas.microsoft.com/office/drawing/2014/main" id="{B5D2FA0F-D830-4C56-AE88-43B12290BB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1125" y="4762500"/>
            <a:ext cx="242887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200" b="0">
                <a:solidFill>
                  <a:srgbClr val="6E6A6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E6A64"/>
                </a:solidFill>
                <a:latin typeface="Microsoft YaHei"/>
                <a:ea typeface="Microsoft YaHei"/>
                <a:cs typeface="Microsoft YaHei"/>
              </a:rPr>
              <a:t>停车位 / 候车区组织等待；</a:t>
            </a:r>
          </a:p>
          <a:p xmlns:a="http://schemas.openxmlformats.org/drawingml/2006/main">
            <a:pPr algn="ctr">
              <a:lnSpc>
                <a:spcPct val="112000"/>
              </a:lnSpc>
              <a:buNone/>
              <a:defRPr sz="1200" b="0">
                <a:solidFill>
                  <a:srgbClr val="6E6A6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E6A64"/>
                </a:solidFill>
                <a:latin typeface="Microsoft YaHei"/>
                <a:ea typeface="Microsoft YaHei"/>
                <a:cs typeface="Microsoft YaHei"/>
              </a:rPr>
              <a:t>乘客找车或召唤车辆</a:t>
            </a:r>
          </a:p>
        </p:txBody>
      </p:sp>
      <p:sp>
        <p:nvSpPr>
          <p:cNvPr id="34" name="boarding-output-dot-2">
            <a:extLst xmlns:a="http://schemas.openxmlformats.org/drawingml/2006/main">
              <a:ext uri="{FF2B5EF4-FFF2-40B4-BE49-F238E27FC236}">
                <a16:creationId xmlns:a16="http://schemas.microsoft.com/office/drawing/2014/main" id="{D887C895-46AC-446E-AC3F-F4D38F4BB9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77375" y="4191000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F7B72"/>
          </a:solidFill>
          <a:ln xmlns:a="http://schemas.openxmlformats.org/drawingml/2006/main" w="0">
            <a:solidFill>
              <a:srgbClr val="6F7B72"/>
            </a:solidFill>
            <a:prstDash val="solid"/>
          </a:ln>
        </p:spPr>
      </p:sp>
      <p:sp>
        <p:nvSpPr>
          <p:cNvPr id="35" name="boarding-output-title-2">
            <a:extLst xmlns:a="http://schemas.openxmlformats.org/drawingml/2006/main">
              <a:ext uri="{FF2B5EF4-FFF2-40B4-BE49-F238E27FC236}">
                <a16:creationId xmlns:a16="http://schemas.microsoft.com/office/drawing/2014/main" id="{4A26FC2B-69A5-4439-AD2B-88234530E7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4476750"/>
            <a:ext cx="20478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500" b="1">
                <a:solidFill>
                  <a:srgbClr val="24232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242321"/>
                </a:solidFill>
                <a:latin typeface="Microsoft YaHei"/>
                <a:ea typeface="Microsoft YaHei"/>
                <a:cs typeface="Microsoft YaHei"/>
              </a:rPr>
              <a:t>下车</a:t>
            </a:r>
          </a:p>
        </p:txBody>
      </p:sp>
      <p:sp>
        <p:nvSpPr>
          <p:cNvPr id="36" name="boarding-output-desc-2">
            <a:extLst xmlns:a="http://schemas.openxmlformats.org/drawingml/2006/main">
              <a:ext uri="{FF2B5EF4-FFF2-40B4-BE49-F238E27FC236}">
                <a16:creationId xmlns:a16="http://schemas.microsoft.com/office/drawing/2014/main" id="{7EE8400A-A338-46EE-B167-4796F57978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4762500"/>
            <a:ext cx="242887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200" b="0">
                <a:solidFill>
                  <a:srgbClr val="6E6A6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E6A64"/>
                </a:solidFill>
                <a:latin typeface="Microsoft YaHei"/>
                <a:ea typeface="Microsoft YaHei"/>
                <a:cs typeface="Microsoft YaHei"/>
              </a:rPr>
              <a:t>可下客位置短停；</a:t>
            </a:r>
          </a:p>
          <a:p xmlns:a="http://schemas.openxmlformats.org/drawingml/2006/main">
            <a:pPr algn="ctr">
              <a:lnSpc>
                <a:spcPct val="112000"/>
              </a:lnSpc>
              <a:buNone/>
              <a:defRPr sz="1200" b="0">
                <a:solidFill>
                  <a:srgbClr val="6E6A6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E6A64"/>
                </a:solidFill>
                <a:latin typeface="Microsoft YaHei"/>
                <a:ea typeface="Microsoft YaHei"/>
                <a:cs typeface="Microsoft YaHei"/>
              </a:rPr>
              <a:t>完成下客后立即驶离</a:t>
            </a:r>
          </a:p>
        </p:txBody>
      </p:sp>
      <p:sp>
        <p:nvSpPr>
          <p:cNvPr id="37" name="boarding-business-value">
            <a:extLst xmlns:a="http://schemas.openxmlformats.org/drawingml/2006/main">
              <a:ext uri="{FF2B5EF4-FFF2-40B4-BE49-F238E27FC236}">
                <a16:creationId xmlns:a16="http://schemas.microsoft.com/office/drawing/2014/main" id="{786FA9B4-91B8-4E5B-B829-7C8C6097C3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476875"/>
            <a:ext cx="11049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00" b="1">
                <a:solidFill>
                  <a:srgbClr val="24232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00" b="1">
                <a:solidFill>
                  <a:srgbClr val="242321"/>
                </a:solidFill>
                <a:latin typeface="Microsoft YaHei"/>
                <a:ea typeface="Microsoft YaHei"/>
                <a:cs typeface="Microsoft YaHei"/>
              </a:rPr>
              <a:t>业务价值｜把单点需求转成有方向、有侧别、有区间、有权限且可追溯的候选空间</a:t>
            </a:r>
          </a:p>
        </p:txBody>
      </p:sp>
      <p:sp>
        <p:nvSpPr>
          <p:cNvPr id="38" name="conclusion-band">
            <a:extLst xmlns:a="http://schemas.openxmlformats.org/drawingml/2006/main">
              <a:ext uri="{FF2B5EF4-FFF2-40B4-BE49-F238E27FC236}">
                <a16:creationId xmlns:a16="http://schemas.microsoft.com/office/drawing/2014/main" id="{347CD08F-93FE-4678-9BFC-D833183CBD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5953125"/>
            <a:ext cx="11055096" cy="55245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303634"/>
          </a:solidFill>
          <a:ln xmlns:a="http://schemas.openxmlformats.org/drawingml/2006/main" w="0">
            <a:solidFill>
              <a:srgbClr val="303634"/>
            </a:solidFill>
            <a:prstDash val="solid"/>
          </a:ln>
        </p:spPr>
      </p:sp>
      <p:sp>
        <p:nvSpPr>
          <p:cNvPr id="39" name="conclusion-accent">
            <a:extLst xmlns:a="http://schemas.openxmlformats.org/drawingml/2006/main">
              <a:ext uri="{FF2B5EF4-FFF2-40B4-BE49-F238E27FC236}">
                <a16:creationId xmlns:a16="http://schemas.microsoft.com/office/drawing/2014/main" id="{8E0A168B-31DF-409C-8809-9AAF69C2F1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5953125"/>
            <a:ext cx="10477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D2633"/>
          </a:solidFill>
          <a:ln xmlns:a="http://schemas.openxmlformats.org/drawingml/2006/main" w="0">
            <a:solidFill>
              <a:srgbClr val="7D2633"/>
            </a:solidFill>
            <a:prstDash val="solid"/>
          </a:ln>
        </p:spPr>
      </p:sp>
      <p:sp>
        <p:nvSpPr>
          <p:cNvPr id="40" name="conclusion-label">
            <a:extLst xmlns:a="http://schemas.openxmlformats.org/drawingml/2006/main">
              <a:ext uri="{FF2B5EF4-FFF2-40B4-BE49-F238E27FC236}">
                <a16:creationId xmlns:a16="http://schemas.microsoft.com/office/drawing/2014/main" id="{F78BB21F-7F48-4132-9B2D-49096D958B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6048375"/>
            <a:ext cx="10001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3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责任边界</a:t>
            </a:r>
          </a:p>
        </p:txBody>
      </p:sp>
      <p:sp>
        <p:nvSpPr>
          <p:cNvPr id="41" name="conclusion-text">
            <a:extLst xmlns:a="http://schemas.openxmlformats.org/drawingml/2006/main">
              <a:ext uri="{FF2B5EF4-FFF2-40B4-BE49-F238E27FC236}">
                <a16:creationId xmlns:a16="http://schemas.microsoft.com/office/drawing/2014/main" id="{D5F75809-C4D0-4873-A62E-41B2838C87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6029325"/>
            <a:ext cx="94773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RCSD 决定“最多允许做什么”；车端决定“这一次能不能做、具体停在哪里”。</a:t>
            </a:r>
          </a:p>
        </p:txBody>
      </p:sp>
    </p:spTree>
    <p:extLst>
      <p:ext uri="{BB962C8B-B14F-4D97-AF65-F5344CB8AC3E}">
        <p14:creationId xmlns:p14="http://schemas.microsoft.com/office/powerpoint/2010/main" val="534867299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7" name="page-title">
            <a:extLst xmlns:a="http://schemas.openxmlformats.org/drawingml/2006/main">
              <a:ext uri="{FF2B5EF4-FFF2-40B4-BE49-F238E27FC236}">
                <a16:creationId xmlns:a16="http://schemas.microsoft.com/office/drawing/2014/main" id="{369DF688-30E3-423D-9F01-09C829B005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320040"/>
            <a:ext cx="11055096" cy="42062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3100" b="1">
                <a:solidFill>
                  <a:srgbClr val="7D26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00" b="1">
                <a:solidFill>
                  <a:srgbClr val="7D2633"/>
                </a:solidFill>
                <a:latin typeface="Microsoft YaHei"/>
                <a:ea typeface="Microsoft YaHei"/>
                <a:cs typeface="Microsoft YaHei"/>
              </a:rPr>
              <a:t>越野地图：大模型驱动的需求—原型敏捷闭环</a:t>
            </a:r>
          </a:p>
        </p:txBody>
      </p:sp>
      <p:sp>
        <p:nvSpPr>
          <p:cNvPr id="2" name="page-subtitle">
            <a:extLst xmlns:a="http://schemas.openxmlformats.org/drawingml/2006/main">
              <a:ext uri="{FF2B5EF4-FFF2-40B4-BE49-F238E27FC236}">
                <a16:creationId xmlns:a16="http://schemas.microsoft.com/office/drawing/2014/main" id="{A4C25C2A-5E56-442C-AB73-DDCA251674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786384"/>
            <a:ext cx="11055096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00" b="0">
                <a:solidFill>
                  <a:srgbClr val="6E6A6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E6A64"/>
                </a:solidFill>
                <a:latin typeface="Microsoft YaHei"/>
                <a:ea typeface="Microsoft YaHei"/>
                <a:cs typeface="Microsoft YaHei"/>
              </a:rPr>
              <a:t>6 月底形成设计语言与数据基础，7—8 月完成交互化、评审冻结与公开发布</a:t>
            </a:r>
          </a:p>
        </p:txBody>
      </p:sp>
      <p:sp>
        <p:nvSpPr>
          <p:cNvPr id="3" name="title-divider">
            <a:extLst xmlns:a="http://schemas.openxmlformats.org/drawingml/2006/main">
              <a:ext uri="{FF2B5EF4-FFF2-40B4-BE49-F238E27FC236}">
                <a16:creationId xmlns:a16="http://schemas.microsoft.com/office/drawing/2014/main" id="{134344ED-977B-44C1-A386-E8E8A94D63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566928" y="1097280"/>
            <a:ext cx="11055096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5D0C7"/>
            </a:solidFill>
            <a:prstDash val="solid"/>
          </a:ln>
        </p:spPr>
      </p:sp>
      <p:sp>
        <p:nvSpPr>
          <p:cNvPr id="4" name="offroad-loop-thesis">
            <a:extLst xmlns:a="http://schemas.openxmlformats.org/drawingml/2006/main">
              <a:ext uri="{FF2B5EF4-FFF2-40B4-BE49-F238E27FC236}">
                <a16:creationId xmlns:a16="http://schemas.microsoft.com/office/drawing/2014/main" id="{289D3A28-1F99-465D-8A4F-7594C7006E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362075"/>
            <a:ext cx="7239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600" b="1">
                <a:solidFill>
                  <a:srgbClr val="24232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00" b="1">
                <a:solidFill>
                  <a:srgbClr val="242321"/>
                </a:solidFill>
                <a:latin typeface="Microsoft YaHei"/>
                <a:ea typeface="Microsoft YaHei"/>
                <a:cs typeface="Microsoft YaHei"/>
              </a:rPr>
              <a:t>把自然语言与真实素材，转化为可评审、可冻结、可复现的工作链</a:t>
            </a:r>
          </a:p>
        </p:txBody>
      </p:sp>
      <p:sp>
        <p:nvSpPr>
          <p:cNvPr id="5" name="offroad-loop-time">
            <a:extLst xmlns:a="http://schemas.openxmlformats.org/drawingml/2006/main">
              <a:ext uri="{FF2B5EF4-FFF2-40B4-BE49-F238E27FC236}">
                <a16:creationId xmlns:a16="http://schemas.microsoft.com/office/drawing/2014/main" id="{83A7A8A2-FE57-4A33-82B8-17BC875A87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1362075"/>
            <a:ext cx="2667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200" b="0">
                <a:solidFill>
                  <a:srgbClr val="6E6A6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E6A64"/>
                </a:solidFill>
                <a:latin typeface="Microsoft YaHei"/>
                <a:ea typeface="Microsoft YaHei"/>
                <a:cs typeface="Microsoft YaHei"/>
              </a:rPr>
              <a:t>阶段证据｜2026.06.29—08.01</a:t>
            </a:r>
          </a:p>
        </p:txBody>
      </p:sp>
      <p:sp>
        <p:nvSpPr>
          <p:cNvPr id="6" name="stage-number-1">
            <a:extLst xmlns:a="http://schemas.openxmlformats.org/drawingml/2006/main">
              <a:ext uri="{FF2B5EF4-FFF2-40B4-BE49-F238E27FC236}">
                <a16:creationId xmlns:a16="http://schemas.microsoft.com/office/drawing/2014/main" id="{9DC1E10D-56EB-41AA-8416-E9EF11967D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905000"/>
            <a:ext cx="2000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00" b="1">
                <a:solidFill>
                  <a:srgbClr val="7D26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7D2633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7" name="stage-title-1">
            <a:extLst xmlns:a="http://schemas.openxmlformats.org/drawingml/2006/main">
              <a:ext uri="{FF2B5EF4-FFF2-40B4-BE49-F238E27FC236}">
                <a16:creationId xmlns:a16="http://schemas.microsoft.com/office/drawing/2014/main" id="{16209AFE-8A63-455E-BBEB-218DB39564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2133600"/>
            <a:ext cx="2000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900" b="1">
                <a:solidFill>
                  <a:srgbClr val="24232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00" b="1">
                <a:solidFill>
                  <a:srgbClr val="242321"/>
                </a:solidFill>
                <a:latin typeface="Microsoft YaHei"/>
                <a:ea typeface="Microsoft YaHei"/>
                <a:cs typeface="Microsoft YaHei"/>
              </a:rPr>
              <a:t>业务输入</a:t>
            </a:r>
          </a:p>
        </p:txBody>
      </p:sp>
      <p:sp>
        <p:nvSpPr>
          <p:cNvPr id="8" name="offroad-loop-node-0">
            <a:extLst xmlns:a="http://schemas.openxmlformats.org/drawingml/2006/main">
              <a:ext uri="{FF2B5EF4-FFF2-40B4-BE49-F238E27FC236}">
                <a16:creationId xmlns:a16="http://schemas.microsoft.com/office/drawing/2014/main" id="{FCEC9434-165D-428A-9270-17A3DE84B2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2895600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303634"/>
            </a:solidFill>
            <a:prstDash val="solid"/>
          </a:ln>
        </p:spPr>
      </p:sp>
      <p:sp>
        <p:nvSpPr>
          <p:cNvPr id="9" name="offroad-loop-core-0">
            <a:extLst xmlns:a="http://schemas.openxmlformats.org/drawingml/2006/main">
              <a:ext uri="{FF2B5EF4-FFF2-40B4-BE49-F238E27FC236}">
                <a16:creationId xmlns:a16="http://schemas.microsoft.com/office/drawing/2014/main" id="{C5F4AB10-5197-4256-BB94-3300268BF1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30194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03634"/>
          </a:solidFill>
          <a:ln xmlns:a="http://schemas.openxmlformats.org/drawingml/2006/main" w="0">
            <a:solidFill>
              <a:srgbClr val="303634"/>
            </a:solidFill>
            <a:prstDash val="solid"/>
          </a:ln>
        </p:spPr>
      </p:sp>
      <p:sp>
        <p:nvSpPr>
          <p:cNvPr id="10" name="offroad-loop-body-0">
            <a:extLst xmlns:a="http://schemas.openxmlformats.org/drawingml/2006/main">
              <a:ext uri="{FF2B5EF4-FFF2-40B4-BE49-F238E27FC236}">
                <a16:creationId xmlns:a16="http://schemas.microsoft.com/office/drawing/2014/main" id="{0F50CA3B-8805-474B-B65A-D0F536B6CE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3429000"/>
            <a:ext cx="200025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300" b="0">
                <a:solidFill>
                  <a:srgbClr val="24232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00" b="0">
                <a:solidFill>
                  <a:srgbClr val="242321"/>
                </a:solidFill>
                <a:latin typeface="Microsoft YaHei"/>
                <a:ea typeface="Microsoft YaHei"/>
                <a:cs typeface="Microsoft YaHei"/>
              </a:rPr>
              <a:t>产品目标｜用户绘制边界与路线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300" b="0">
                <a:solidFill>
                  <a:srgbClr val="24232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00" b="0">
                <a:solidFill>
                  <a:srgbClr val="242321"/>
                </a:solidFill>
                <a:latin typeface="Microsoft YaHei"/>
                <a:ea typeface="Microsoft YaHei"/>
                <a:cs typeface="Microsoft YaHei"/>
              </a:rPr>
              <a:t>GPX / KMZ｜实车照片｜公开资料</a:t>
            </a:r>
          </a:p>
        </p:txBody>
      </p:sp>
      <p:sp>
        <p:nvSpPr>
          <p:cNvPr id="11" name="stage-number-2">
            <a:extLst xmlns:a="http://schemas.openxmlformats.org/drawingml/2006/main">
              <a:ext uri="{FF2B5EF4-FFF2-40B4-BE49-F238E27FC236}">
                <a16:creationId xmlns:a16="http://schemas.microsoft.com/office/drawing/2014/main" id="{D4509405-F525-46D4-8CCE-F34D7CDE3A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1905000"/>
            <a:ext cx="2000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00" b="1">
                <a:solidFill>
                  <a:srgbClr val="7D26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7D2633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12" name="stage-title-2">
            <a:extLst xmlns:a="http://schemas.openxmlformats.org/drawingml/2006/main">
              <a:ext uri="{FF2B5EF4-FFF2-40B4-BE49-F238E27FC236}">
                <a16:creationId xmlns:a16="http://schemas.microsoft.com/office/drawing/2014/main" id="{7B84EACD-A226-4084-B13A-B9F2DA41DC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2133600"/>
            <a:ext cx="2000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900" b="1">
                <a:solidFill>
                  <a:srgbClr val="24232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00" b="1">
                <a:solidFill>
                  <a:srgbClr val="242321"/>
                </a:solidFill>
                <a:latin typeface="Microsoft YaHei"/>
                <a:ea typeface="Microsoft YaHei"/>
                <a:cs typeface="Microsoft YaHei"/>
              </a:rPr>
              <a:t>大模型辅助澄清</a:t>
            </a:r>
          </a:p>
        </p:txBody>
      </p:sp>
      <p:sp>
        <p:nvSpPr>
          <p:cNvPr id="13" name="offroad-loop-node-1">
            <a:extLst xmlns:a="http://schemas.openxmlformats.org/drawingml/2006/main">
              <a:ext uri="{FF2B5EF4-FFF2-40B4-BE49-F238E27FC236}">
                <a16:creationId xmlns:a16="http://schemas.microsoft.com/office/drawing/2014/main" id="{94E99A0A-8EA9-4A08-BF56-0C208882D7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86175" y="2895600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303634"/>
            </a:solidFill>
            <a:prstDash val="solid"/>
          </a:ln>
        </p:spPr>
      </p:sp>
      <p:sp>
        <p:nvSpPr>
          <p:cNvPr id="14" name="offroad-loop-core-1">
            <a:extLst xmlns:a="http://schemas.openxmlformats.org/drawingml/2006/main">
              <a:ext uri="{FF2B5EF4-FFF2-40B4-BE49-F238E27FC236}">
                <a16:creationId xmlns:a16="http://schemas.microsoft.com/office/drawing/2014/main" id="{82C749CD-AFBE-41DC-9B12-7D22187B1F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30194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D2633"/>
          </a:solidFill>
          <a:ln xmlns:a="http://schemas.openxmlformats.org/drawingml/2006/main" w="0">
            <a:solidFill>
              <a:srgbClr val="7D2633"/>
            </a:solidFill>
            <a:prstDash val="solid"/>
          </a:ln>
        </p:spPr>
      </p:sp>
      <p:sp>
        <p:nvSpPr>
          <p:cNvPr id="15" name="offroad-loop-body-1">
            <a:extLst xmlns:a="http://schemas.openxmlformats.org/drawingml/2006/main">
              <a:ext uri="{FF2B5EF4-FFF2-40B4-BE49-F238E27FC236}">
                <a16:creationId xmlns:a16="http://schemas.microsoft.com/office/drawing/2014/main" id="{85B99665-251E-41F3-B3DA-294D9E039D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3429000"/>
            <a:ext cx="200025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300" b="0">
                <a:solidFill>
                  <a:srgbClr val="24232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00" b="0">
                <a:solidFill>
                  <a:srgbClr val="242321"/>
                </a:solidFill>
                <a:latin typeface="Microsoft YaHei"/>
                <a:ea typeface="Microsoft YaHei"/>
                <a:cs typeface="Microsoft YaHei"/>
              </a:rPr>
              <a:t>拆分 S1–S4 场景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300" b="0">
                <a:solidFill>
                  <a:srgbClr val="24232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00" b="0">
                <a:solidFill>
                  <a:srgbClr val="242321"/>
                </a:solidFill>
                <a:latin typeface="Microsoft YaHei"/>
                <a:ea typeface="Microsoft YaHei"/>
                <a:cs typeface="Microsoft YaHei"/>
              </a:rPr>
              <a:t>收敛导航与场景二维分类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300" b="0">
                <a:solidFill>
                  <a:srgbClr val="24232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00" b="0">
                <a:solidFill>
                  <a:srgbClr val="242321"/>
                </a:solidFill>
                <a:latin typeface="Microsoft YaHei"/>
                <a:ea typeface="Microsoft YaHei"/>
                <a:cs typeface="Microsoft YaHei"/>
              </a:rPr>
              <a:t>明确“激活内容 ≠ 开始导航”</a:t>
            </a:r>
          </a:p>
        </p:txBody>
      </p:sp>
      <p:sp>
        <p:nvSpPr>
          <p:cNvPr id="16" name="stage-number-3">
            <a:extLst xmlns:a="http://schemas.openxmlformats.org/drawingml/2006/main">
              <a:ext uri="{FF2B5EF4-FFF2-40B4-BE49-F238E27FC236}">
                <a16:creationId xmlns:a16="http://schemas.microsoft.com/office/drawing/2014/main" id="{1E4414DD-FD1F-458B-8679-BCB1CC6C40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1125" y="1905000"/>
            <a:ext cx="2000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00" b="1">
                <a:solidFill>
                  <a:srgbClr val="7D26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7D2633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17" name="stage-title-3">
            <a:extLst xmlns:a="http://schemas.openxmlformats.org/drawingml/2006/main">
              <a:ext uri="{FF2B5EF4-FFF2-40B4-BE49-F238E27FC236}">
                <a16:creationId xmlns:a16="http://schemas.microsoft.com/office/drawing/2014/main" id="{BBA50A89-953E-4C60-B380-DF32D8F816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1125" y="2133600"/>
            <a:ext cx="2000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900" b="1">
                <a:solidFill>
                  <a:srgbClr val="24232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00" b="1">
                <a:solidFill>
                  <a:srgbClr val="242321"/>
                </a:solidFill>
                <a:latin typeface="Microsoft YaHei"/>
                <a:ea typeface="Microsoft YaHei"/>
                <a:cs typeface="Microsoft YaHei"/>
              </a:rPr>
              <a:t>可审计数据契约</a:t>
            </a:r>
          </a:p>
        </p:txBody>
      </p:sp>
      <p:sp>
        <p:nvSpPr>
          <p:cNvPr id="18" name="offroad-loop-node-2">
            <a:extLst xmlns:a="http://schemas.openxmlformats.org/drawingml/2006/main">
              <a:ext uri="{FF2B5EF4-FFF2-40B4-BE49-F238E27FC236}">
                <a16:creationId xmlns:a16="http://schemas.microsoft.com/office/drawing/2014/main" id="{D09AEDAD-C410-400B-9D3D-197F16318F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2895600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303634"/>
            </a:solidFill>
            <a:prstDash val="solid"/>
          </a:ln>
        </p:spPr>
      </p:sp>
      <p:sp>
        <p:nvSpPr>
          <p:cNvPr id="19" name="offroad-loop-core-2">
            <a:extLst xmlns:a="http://schemas.openxmlformats.org/drawingml/2006/main">
              <a:ext uri="{FF2B5EF4-FFF2-40B4-BE49-F238E27FC236}">
                <a16:creationId xmlns:a16="http://schemas.microsoft.com/office/drawing/2014/main" id="{F7C0A227-20AF-490A-9E9E-00FAEA5F4C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3625" y="30194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03634"/>
          </a:solidFill>
          <a:ln xmlns:a="http://schemas.openxmlformats.org/drawingml/2006/main" w="0">
            <a:solidFill>
              <a:srgbClr val="303634"/>
            </a:solidFill>
            <a:prstDash val="solid"/>
          </a:ln>
        </p:spPr>
      </p:sp>
      <p:sp>
        <p:nvSpPr>
          <p:cNvPr id="20" name="offroad-loop-body-2">
            <a:extLst xmlns:a="http://schemas.openxmlformats.org/drawingml/2006/main">
              <a:ext uri="{FF2B5EF4-FFF2-40B4-BE49-F238E27FC236}">
                <a16:creationId xmlns:a16="http://schemas.microsoft.com/office/drawing/2014/main" id="{EB91C7DB-5485-4531-A898-D8FDA2CEE1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1125" y="3429000"/>
            <a:ext cx="200025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300" b="0">
                <a:solidFill>
                  <a:srgbClr val="24232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00" b="0">
                <a:solidFill>
                  <a:srgbClr val="242321"/>
                </a:solidFill>
                <a:latin typeface="Microsoft YaHei"/>
                <a:ea typeface="Microsoft YaHei"/>
                <a:cs typeface="Microsoft YaHei"/>
              </a:rPr>
              <a:t>OffroadPOI 统一根对象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300" b="0">
                <a:solidFill>
                  <a:srgbClr val="24232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00" b="0">
                <a:solidFill>
                  <a:srgbClr val="242321"/>
                </a:solidFill>
                <a:latin typeface="Microsoft YaHei"/>
                <a:ea typeface="Microsoft YaHei"/>
                <a:cs typeface="Microsoft YaHei"/>
              </a:rPr>
              <a:t>边界 / 路网 / 路线 / 点位按需装配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300" b="0">
                <a:solidFill>
                  <a:srgbClr val="24232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00" b="0">
                <a:solidFill>
                  <a:srgbClr val="242321"/>
                </a:solidFill>
                <a:latin typeface="Microsoft YaHei"/>
                <a:ea typeface="Microsoft YaHei"/>
                <a:cs typeface="Microsoft YaHei"/>
              </a:rPr>
              <a:t>1份 active_content，最多1条 active_route</a:t>
            </a:r>
          </a:p>
        </p:txBody>
      </p:sp>
      <p:sp>
        <p:nvSpPr>
          <p:cNvPr id="21" name="stage-number-4">
            <a:extLst xmlns:a="http://schemas.openxmlformats.org/drawingml/2006/main">
              <a:ext uri="{FF2B5EF4-FFF2-40B4-BE49-F238E27FC236}">
                <a16:creationId xmlns:a16="http://schemas.microsoft.com/office/drawing/2014/main" id="{0BABD455-33B0-42E8-920F-B3456C5BF1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1905000"/>
            <a:ext cx="2000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00" b="1">
                <a:solidFill>
                  <a:srgbClr val="7D26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7D2633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22" name="stage-title-4">
            <a:extLst xmlns:a="http://schemas.openxmlformats.org/drawingml/2006/main">
              <a:ext uri="{FF2B5EF4-FFF2-40B4-BE49-F238E27FC236}">
                <a16:creationId xmlns:a16="http://schemas.microsoft.com/office/drawing/2014/main" id="{270EA660-A3E1-4580-B6D6-BBFB31FFF7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2133600"/>
            <a:ext cx="2000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900" b="1">
                <a:solidFill>
                  <a:srgbClr val="24232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00" b="1">
                <a:solidFill>
                  <a:srgbClr val="242321"/>
                </a:solidFill>
                <a:latin typeface="Microsoft YaHei"/>
                <a:ea typeface="Microsoft YaHei"/>
                <a:cs typeface="Microsoft YaHei"/>
              </a:rPr>
              <a:t>快速形成原型</a:t>
            </a:r>
          </a:p>
        </p:txBody>
      </p:sp>
      <p:sp>
        <p:nvSpPr>
          <p:cNvPr id="23" name="offroad-loop-node-3">
            <a:extLst xmlns:a="http://schemas.openxmlformats.org/drawingml/2006/main">
              <a:ext uri="{FF2B5EF4-FFF2-40B4-BE49-F238E27FC236}">
                <a16:creationId xmlns:a16="http://schemas.microsoft.com/office/drawing/2014/main" id="{E39D96B8-7EBA-4FF1-963A-640DC71247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53425" y="2895600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303634"/>
            </a:solidFill>
            <a:prstDash val="solid"/>
          </a:ln>
        </p:spPr>
      </p:sp>
      <p:sp>
        <p:nvSpPr>
          <p:cNvPr id="24" name="offroad-loop-core-3">
            <a:extLst xmlns:a="http://schemas.openxmlformats.org/drawingml/2006/main">
              <a:ext uri="{FF2B5EF4-FFF2-40B4-BE49-F238E27FC236}">
                <a16:creationId xmlns:a16="http://schemas.microsoft.com/office/drawing/2014/main" id="{A8CD56A5-433E-4FC2-93A4-1C471C9017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30194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03634"/>
          </a:solidFill>
          <a:ln xmlns:a="http://schemas.openxmlformats.org/drawingml/2006/main" w="0">
            <a:solidFill>
              <a:srgbClr val="303634"/>
            </a:solidFill>
            <a:prstDash val="solid"/>
          </a:ln>
        </p:spPr>
      </p:sp>
      <p:sp>
        <p:nvSpPr>
          <p:cNvPr id="25" name="offroad-loop-body-3">
            <a:extLst xmlns:a="http://schemas.openxmlformats.org/drawingml/2006/main">
              <a:ext uri="{FF2B5EF4-FFF2-40B4-BE49-F238E27FC236}">
                <a16:creationId xmlns:a16="http://schemas.microsoft.com/office/drawing/2014/main" id="{BA7D84DC-D949-4428-81F0-F16F792D64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3429000"/>
            <a:ext cx="200025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300" b="0">
                <a:solidFill>
                  <a:srgbClr val="24232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00" b="0">
                <a:solidFill>
                  <a:srgbClr val="242321"/>
                </a:solidFill>
                <a:latin typeface="Microsoft YaHei"/>
                <a:ea typeface="Microsoft YaHei"/>
                <a:cs typeface="Microsoft YaHei"/>
              </a:rPr>
              <a:t>ImageGen 多轮视觉草案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300" b="0">
                <a:solidFill>
                  <a:srgbClr val="24232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00" b="0">
                <a:solidFill>
                  <a:srgbClr val="242321"/>
                </a:solidFill>
                <a:latin typeface="Microsoft YaHei"/>
                <a:ea typeface="Microsoft YaHei"/>
                <a:cs typeface="Microsoft YaHei"/>
              </a:rPr>
              <a:t>Vite + React + TypeScript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300" b="0">
                <a:solidFill>
                  <a:srgbClr val="24232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00" b="0">
                <a:solidFill>
                  <a:srgbClr val="242321"/>
                </a:solidFill>
                <a:latin typeface="Microsoft YaHei"/>
                <a:ea typeface="Microsoft YaHei"/>
                <a:cs typeface="Microsoft YaHei"/>
              </a:rPr>
              <a:t>高德 live 可交互原型</a:t>
            </a:r>
          </a:p>
        </p:txBody>
      </p:sp>
      <p:sp>
        <p:nvSpPr>
          <p:cNvPr id="26" name="stage-number-5">
            <a:extLst xmlns:a="http://schemas.openxmlformats.org/drawingml/2006/main">
              <a:ext uri="{FF2B5EF4-FFF2-40B4-BE49-F238E27FC236}">
                <a16:creationId xmlns:a16="http://schemas.microsoft.com/office/drawing/2014/main" id="{8424838C-06CB-446F-B9CE-7FB59C9D1F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1905000"/>
            <a:ext cx="190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00" b="1">
                <a:solidFill>
                  <a:srgbClr val="7D26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7D2633"/>
                </a:solidFill>
                <a:latin typeface="Microsoft YaHei"/>
                <a:ea typeface="Microsoft YaHei"/>
                <a:cs typeface="Microsoft YaHei"/>
              </a:rPr>
              <a:t>05</a:t>
            </a:r>
          </a:p>
        </p:txBody>
      </p:sp>
      <p:sp>
        <p:nvSpPr>
          <p:cNvPr id="27" name="stage-title-5">
            <a:extLst xmlns:a="http://schemas.openxmlformats.org/drawingml/2006/main">
              <a:ext uri="{FF2B5EF4-FFF2-40B4-BE49-F238E27FC236}">
                <a16:creationId xmlns:a16="http://schemas.microsoft.com/office/drawing/2014/main" id="{E50CBD75-8EB5-4BEA-9815-218CC0A950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2133600"/>
            <a:ext cx="1905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800" b="1">
                <a:solidFill>
                  <a:srgbClr val="24232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242321"/>
                </a:solidFill>
                <a:latin typeface="Microsoft YaHei"/>
                <a:ea typeface="Microsoft YaHei"/>
                <a:cs typeface="Microsoft YaHei"/>
              </a:rPr>
              <a:t>评审、冻结、发布</a:t>
            </a:r>
          </a:p>
        </p:txBody>
      </p:sp>
      <p:sp>
        <p:nvSpPr>
          <p:cNvPr id="28" name="offroad-loop-node-4">
            <a:extLst xmlns:a="http://schemas.openxmlformats.org/drawingml/2006/main">
              <a:ext uri="{FF2B5EF4-FFF2-40B4-BE49-F238E27FC236}">
                <a16:creationId xmlns:a16="http://schemas.microsoft.com/office/drawing/2014/main" id="{B80FA755-88BA-4D01-900E-F5CA07F539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91800" y="2895600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D2633"/>
          </a:solidFill>
          <a:ln xmlns:a="http://schemas.openxmlformats.org/drawingml/2006/main" w="14288">
            <a:solidFill>
              <a:srgbClr val="7D2633"/>
            </a:solidFill>
            <a:prstDash val="solid"/>
          </a:ln>
        </p:spPr>
      </p:sp>
      <p:sp>
        <p:nvSpPr>
          <p:cNvPr id="29" name="offroad-loop-core-4">
            <a:extLst xmlns:a="http://schemas.openxmlformats.org/drawingml/2006/main">
              <a:ext uri="{FF2B5EF4-FFF2-40B4-BE49-F238E27FC236}">
                <a16:creationId xmlns:a16="http://schemas.microsoft.com/office/drawing/2014/main" id="{D38A4001-CEAC-4DE3-ACE0-762364BBA8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15625" y="30194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30" name="offroad-loop-body-4">
            <a:extLst xmlns:a="http://schemas.openxmlformats.org/drawingml/2006/main">
              <a:ext uri="{FF2B5EF4-FFF2-40B4-BE49-F238E27FC236}">
                <a16:creationId xmlns:a16="http://schemas.microsoft.com/office/drawing/2014/main" id="{8EFEE1D7-885C-4B40-84B9-A6F66FF0BF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3429000"/>
            <a:ext cx="190500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300" b="0">
                <a:solidFill>
                  <a:srgbClr val="24232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00" b="0">
                <a:solidFill>
                  <a:srgbClr val="242321"/>
                </a:solidFill>
                <a:latin typeface="Microsoft YaHei"/>
                <a:ea typeface="Microsoft YaHei"/>
                <a:cs typeface="Microsoft YaHei"/>
              </a:rPr>
              <a:t>固定演示脚本 → 构建与机器审计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300" b="0">
                <a:solidFill>
                  <a:srgbClr val="24232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00" b="0">
                <a:solidFill>
                  <a:srgbClr val="242321"/>
                </a:solidFill>
                <a:latin typeface="Microsoft YaHei"/>
                <a:ea typeface="Microsoft YaHei"/>
                <a:cs typeface="Microsoft YaHei"/>
              </a:rPr>
              <a:t>截图 / JSON → SHA-256 冻结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300" b="0">
                <a:solidFill>
                  <a:srgbClr val="24232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00" b="0">
                <a:solidFill>
                  <a:srgbClr val="242321"/>
                </a:solidFill>
                <a:latin typeface="Microsoft YaHei"/>
                <a:ea typeface="Microsoft YaHei"/>
                <a:cs typeface="Microsoft YaHei"/>
              </a:rPr>
              <a:t>GPT Sites + Vercel 发布</a:t>
            </a:r>
          </a:p>
        </p:txBody>
      </p:sp>
      <p:cxnSp>
        <p:nvCxnSpPr>
          <p:cNvPr id="77" name=""/>
          <p:cNvCxnSpPr>
            <a:stCxn xmlns:a="http://schemas.openxmlformats.org/drawingml/2006/main" id="8" idx="6"/>
            <a:endCxn xmlns:a="http://schemas.openxmlformats.org/drawingml/2006/main" id="13" idx="2"/>
          </p:cNvCxnSpPr>
          <p:nvPr/>
        </p:nvCxnSpPr>
        <p:spPr>
          <a:xfrm xmlns:a="http://schemas.openxmlformats.org/drawingml/2006/main">
            <a:off x="1695450" y="3067050"/>
            <a:ext cx="1990725" cy="0"/>
          </a:xfrm>
          <a:prstGeom xmlns:a="http://schemas.openxmlformats.org/drawingml/2006/main" prst="straightConnector1">
            <a:avLst/>
          </a:prstGeom>
          <a:ln xmlns:a="http://schemas.openxmlformats.org/drawingml/2006/main" w="16669">
            <a:solidFill>
              <a:srgbClr val="D5D0C7"/>
            </a:solidFill>
            <a:prstDash val="solid"/>
            <a:headEnd type="none" w="med" len="med"/>
          </a:ln>
        </p:spPr>
      </p:cxnSp>
      <p:cxnSp>
        <p:nvCxnSpPr>
          <p:cNvPr id="78" name=""/>
          <p:cNvCxnSpPr>
            <a:stCxn xmlns:a="http://schemas.openxmlformats.org/drawingml/2006/main" id="13" idx="6"/>
            <a:endCxn xmlns:a="http://schemas.openxmlformats.org/drawingml/2006/main" id="18" idx="2"/>
          </p:cNvCxnSpPr>
          <p:nvPr/>
        </p:nvCxnSpPr>
        <p:spPr>
          <a:xfrm xmlns:a="http://schemas.openxmlformats.org/drawingml/2006/main">
            <a:off x="4029075" y="3067050"/>
            <a:ext cx="1990725" cy="0"/>
          </a:xfrm>
          <a:prstGeom xmlns:a="http://schemas.openxmlformats.org/drawingml/2006/main" prst="straightConnector1">
            <a:avLst/>
          </a:prstGeom>
          <a:ln xmlns:a="http://schemas.openxmlformats.org/drawingml/2006/main" w="16669">
            <a:solidFill>
              <a:srgbClr val="D5D0C7"/>
            </a:solidFill>
            <a:prstDash val="solid"/>
            <a:headEnd type="none" w="med" len="med"/>
          </a:ln>
        </p:spPr>
      </p:cxnSp>
      <p:cxnSp>
        <p:nvCxnSpPr>
          <p:cNvPr id="79" name=""/>
          <p:cNvCxnSpPr>
            <a:stCxn xmlns:a="http://schemas.openxmlformats.org/drawingml/2006/main" id="18" idx="6"/>
            <a:endCxn xmlns:a="http://schemas.openxmlformats.org/drawingml/2006/main" id="23" idx="2"/>
          </p:cNvCxnSpPr>
          <p:nvPr/>
        </p:nvCxnSpPr>
        <p:spPr>
          <a:xfrm xmlns:a="http://schemas.openxmlformats.org/drawingml/2006/main">
            <a:off x="6362700" y="3067050"/>
            <a:ext cx="1990725" cy="0"/>
          </a:xfrm>
          <a:prstGeom xmlns:a="http://schemas.openxmlformats.org/drawingml/2006/main" prst="straightConnector1">
            <a:avLst/>
          </a:prstGeom>
          <a:ln xmlns:a="http://schemas.openxmlformats.org/drawingml/2006/main" w="16669">
            <a:solidFill>
              <a:srgbClr val="D5D0C7"/>
            </a:solidFill>
            <a:prstDash val="solid"/>
            <a:headEnd type="none" w="med" len="med"/>
          </a:ln>
        </p:spPr>
      </p:cxnSp>
      <p:cxnSp>
        <p:nvCxnSpPr>
          <p:cNvPr id="80" name=""/>
          <p:cNvCxnSpPr>
            <a:stCxn xmlns:a="http://schemas.openxmlformats.org/drawingml/2006/main" id="23" idx="6"/>
            <a:endCxn xmlns:a="http://schemas.openxmlformats.org/drawingml/2006/main" id="28" idx="2"/>
          </p:cNvCxnSpPr>
          <p:nvPr/>
        </p:nvCxnSpPr>
        <p:spPr>
          <a:xfrm xmlns:a="http://schemas.openxmlformats.org/drawingml/2006/main">
            <a:off x="8696325" y="3067050"/>
            <a:ext cx="1895475" cy="0"/>
          </a:xfrm>
          <a:prstGeom xmlns:a="http://schemas.openxmlformats.org/drawingml/2006/main" prst="straightConnector1">
            <a:avLst/>
          </a:prstGeom>
          <a:ln xmlns:a="http://schemas.openxmlformats.org/drawingml/2006/main" w="16669">
            <a:solidFill>
              <a:srgbClr val="D5D0C7"/>
            </a:solidFill>
            <a:prstDash val="solid"/>
            <a:headEnd type="none" w="med" len="med"/>
          </a:ln>
        </p:spPr>
      </p:cxnSp>
      <p:sp>
        <p:nvSpPr>
          <p:cNvPr id="35" name="offroad-forward-arrow">
            <a:extLst xmlns:a="http://schemas.openxmlformats.org/drawingml/2006/main">
              <a:ext uri="{FF2B5EF4-FFF2-40B4-BE49-F238E27FC236}">
                <a16:creationId xmlns:a16="http://schemas.microsoft.com/office/drawing/2014/main" id="{1FFA4B63-9554-46CA-AA6B-0F17E435D4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6375" y="2771775"/>
            <a:ext cx="4286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2000" b="1">
                <a:solidFill>
                  <a:srgbClr val="6E6A6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00" b="1">
                <a:solidFill>
                  <a:srgbClr val="6E6A64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36" name="offroad-freeze-gate">
            <a:extLst xmlns:a="http://schemas.openxmlformats.org/drawingml/2006/main">
              <a:ext uri="{FF2B5EF4-FFF2-40B4-BE49-F238E27FC236}">
                <a16:creationId xmlns:a16="http://schemas.microsoft.com/office/drawing/2014/main" id="{5D10B050-F79E-4D6D-AF10-549CF1F8AF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9667875" y="1743075"/>
            <a:ext cx="0" cy="30670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7D2633"/>
            </a:solidFill>
            <a:prstDash val="solid"/>
          </a:ln>
        </p:spPr>
      </p:sp>
      <p:sp>
        <p:nvSpPr>
          <p:cNvPr id="37" name="offroad-freeze-gate-label">
            <a:extLst xmlns:a="http://schemas.openxmlformats.org/drawingml/2006/main">
              <a:ext uri="{FF2B5EF4-FFF2-40B4-BE49-F238E27FC236}">
                <a16:creationId xmlns:a16="http://schemas.microsoft.com/office/drawing/2014/main" id="{92F62FAE-FC4F-49A8-BA93-CA9A3240B9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1700" y="1714500"/>
            <a:ext cx="190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00" b="1">
                <a:solidFill>
                  <a:srgbClr val="7D26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00" b="1">
                <a:solidFill>
                  <a:srgbClr val="7D2633"/>
                </a:solidFill>
                <a:latin typeface="Microsoft YaHei"/>
                <a:ea typeface="Microsoft YaHei"/>
                <a:cs typeface="Microsoft YaHei"/>
              </a:rPr>
              <a:t>人工评审确认后冻结</a:t>
            </a:r>
          </a:p>
        </p:txBody>
      </p:sp>
      <p:sp>
        <p:nvSpPr>
          <p:cNvPr id="38" name="offroad-feedback-1">
            <a:extLst xmlns:a="http://schemas.openxmlformats.org/drawingml/2006/main">
              <a:ext uri="{FF2B5EF4-FFF2-40B4-BE49-F238E27FC236}">
                <a16:creationId xmlns:a16="http://schemas.microsoft.com/office/drawing/2014/main" id="{389AAE13-843E-44EA-8834-7F7AD75490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 flipV="0">
            <a:off x="3714750" y="4953000"/>
            <a:ext cx="70008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D5D0C7"/>
            </a:solidFill>
            <a:prstDash val="solid"/>
          </a:ln>
        </p:spPr>
      </p:sp>
      <p:sp>
        <p:nvSpPr>
          <p:cNvPr id="39" name="offroad-feedback-2">
            <a:extLst xmlns:a="http://schemas.openxmlformats.org/drawingml/2006/main">
              <a:ext uri="{FF2B5EF4-FFF2-40B4-BE49-F238E27FC236}">
                <a16:creationId xmlns:a16="http://schemas.microsoft.com/office/drawing/2014/main" id="{26A69EA5-0897-452C-A16F-BACF7309EB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1">
            <a:off x="3714750" y="4629150"/>
            <a:ext cx="0" cy="3238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7D2633"/>
            </a:solidFill>
            <a:prstDash val="solid"/>
          </a:ln>
        </p:spPr>
      </p:sp>
      <p:sp>
        <p:nvSpPr>
          <p:cNvPr id="40" name="offroad-feedback-up-arrow">
            <a:extLst xmlns:a="http://schemas.openxmlformats.org/drawingml/2006/main">
              <a:ext uri="{FF2B5EF4-FFF2-40B4-BE49-F238E27FC236}">
                <a16:creationId xmlns:a16="http://schemas.microsoft.com/office/drawing/2014/main" id="{4FF84CC6-16DD-4770-9028-3EAB0DB914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4533900"/>
            <a:ext cx="3429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800" b="1">
                <a:solidFill>
                  <a:srgbClr val="7D26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7D2633"/>
                </a:solidFill>
                <a:latin typeface="Microsoft YaHei"/>
                <a:ea typeface="Microsoft YaHei"/>
                <a:cs typeface="Microsoft YaHei"/>
              </a:rPr>
              <a:t>↑</a:t>
            </a:r>
          </a:p>
        </p:txBody>
      </p:sp>
      <p:sp>
        <p:nvSpPr>
          <p:cNvPr id="41" name="offroad-feedback-label">
            <a:extLst xmlns:a="http://schemas.openxmlformats.org/drawingml/2006/main">
              <a:ext uri="{FF2B5EF4-FFF2-40B4-BE49-F238E27FC236}">
                <a16:creationId xmlns:a16="http://schemas.microsoft.com/office/drawing/2014/main" id="{CC724D3D-5C27-43EE-AB82-3E91EA2395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6375" y="5048250"/>
            <a:ext cx="3810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400" b="1">
                <a:solidFill>
                  <a:srgbClr val="7D26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00" b="1">
                <a:solidFill>
                  <a:srgbClr val="7D2633"/>
                </a:solidFill>
                <a:latin typeface="Microsoft YaHei"/>
                <a:ea typeface="Microsoft YaHei"/>
                <a:cs typeface="Microsoft YaHei"/>
              </a:rPr>
              <a:t>← 评审反馈进入下一轮需求澄清</a:t>
            </a:r>
          </a:p>
        </p:txBody>
      </p:sp>
      <p:sp>
        <p:nvSpPr>
          <p:cNvPr id="42" name="offroad-feedback-boundary">
            <a:extLst xmlns:a="http://schemas.openxmlformats.org/drawingml/2006/main">
              <a:ext uri="{FF2B5EF4-FFF2-40B4-BE49-F238E27FC236}">
                <a16:creationId xmlns:a16="http://schemas.microsoft.com/office/drawing/2014/main" id="{F39AD1D7-8658-4A13-8C24-4DAED5FEFD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5381625"/>
            <a:ext cx="6762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200" b="0">
                <a:solidFill>
                  <a:srgbClr val="6E6A6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E6A64"/>
                </a:solidFill>
                <a:latin typeface="Microsoft YaHei"/>
                <a:ea typeface="Microsoft YaHei"/>
                <a:cs typeface="Microsoft YaHei"/>
              </a:rPr>
              <a:t>大模型持续生成候选工件；事实、边界和冻结版本由人确认</a:t>
            </a:r>
          </a:p>
        </p:txBody>
      </p:sp>
      <p:sp>
        <p:nvSpPr>
          <p:cNvPr id="43" name="conclusion-band">
            <a:extLst xmlns:a="http://schemas.openxmlformats.org/drawingml/2006/main">
              <a:ext uri="{FF2B5EF4-FFF2-40B4-BE49-F238E27FC236}">
                <a16:creationId xmlns:a16="http://schemas.microsoft.com/office/drawing/2014/main" id="{715D4E66-DE73-4B7C-869E-BEB797E929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5953125"/>
            <a:ext cx="11055096" cy="55245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303634"/>
          </a:solidFill>
          <a:ln xmlns:a="http://schemas.openxmlformats.org/drawingml/2006/main" w="0">
            <a:solidFill>
              <a:srgbClr val="303634"/>
            </a:solidFill>
            <a:prstDash val="solid"/>
          </a:ln>
        </p:spPr>
      </p:sp>
      <p:sp>
        <p:nvSpPr>
          <p:cNvPr id="44" name="conclusion-accent">
            <a:extLst xmlns:a="http://schemas.openxmlformats.org/drawingml/2006/main">
              <a:ext uri="{FF2B5EF4-FFF2-40B4-BE49-F238E27FC236}">
                <a16:creationId xmlns:a16="http://schemas.microsoft.com/office/drawing/2014/main" id="{BA7A51E5-46AF-410F-A9A0-D7A80C36DE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5953125"/>
            <a:ext cx="10477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D2633"/>
          </a:solidFill>
          <a:ln xmlns:a="http://schemas.openxmlformats.org/drawingml/2006/main" w="0">
            <a:solidFill>
              <a:srgbClr val="7D2633"/>
            </a:solidFill>
            <a:prstDash val="solid"/>
          </a:ln>
        </p:spPr>
      </p:sp>
      <p:sp>
        <p:nvSpPr>
          <p:cNvPr id="45" name="conclusion-label">
            <a:extLst xmlns:a="http://schemas.openxmlformats.org/drawingml/2006/main">
              <a:ext uri="{FF2B5EF4-FFF2-40B4-BE49-F238E27FC236}">
                <a16:creationId xmlns:a16="http://schemas.microsoft.com/office/drawing/2014/main" id="{5BEBEDAA-DBC1-42E2-8E06-2E5D66C64C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6048375"/>
            <a:ext cx="10001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3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核心价值</a:t>
            </a:r>
          </a:p>
        </p:txBody>
      </p:sp>
      <p:sp>
        <p:nvSpPr>
          <p:cNvPr id="46" name="conclusion-text">
            <a:extLst xmlns:a="http://schemas.openxmlformats.org/drawingml/2006/main">
              <a:ext uri="{FF2B5EF4-FFF2-40B4-BE49-F238E27FC236}">
                <a16:creationId xmlns:a16="http://schemas.microsoft.com/office/drawing/2014/main" id="{FA285611-58DA-4515-9FA2-A876953CD1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6029325"/>
            <a:ext cx="94773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人的评审确认是冻结门；大模型负责缩短“想法—契约—可点击证据”的距离。</a:t>
            </a:r>
          </a:p>
        </p:txBody>
      </p:sp>
    </p:spTree>
    <p:extLst>
      <p:ext uri="{BB962C8B-B14F-4D97-AF65-F5344CB8AC3E}">
        <p14:creationId xmlns:p14="http://schemas.microsoft.com/office/powerpoint/2010/main" val="411067872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7" name="page-title">
            <a:extLst xmlns:a="http://schemas.openxmlformats.org/drawingml/2006/main">
              <a:ext uri="{FF2B5EF4-FFF2-40B4-BE49-F238E27FC236}">
                <a16:creationId xmlns:a16="http://schemas.microsoft.com/office/drawing/2014/main" id="{EC433080-A0C1-447D-B834-D0CA57583C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320040"/>
            <a:ext cx="11055096" cy="42062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3100" b="1">
                <a:solidFill>
                  <a:srgbClr val="7D26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00" b="1">
                <a:solidFill>
                  <a:srgbClr val="7D2633"/>
                </a:solidFill>
                <a:latin typeface="Microsoft YaHei"/>
                <a:ea typeface="Microsoft YaHei"/>
                <a:cs typeface="Microsoft YaHei"/>
              </a:rPr>
              <a:t>越野地图：原型可发布，数据边界不越线</a:t>
            </a:r>
          </a:p>
        </p:txBody>
      </p:sp>
      <p:sp>
        <p:nvSpPr>
          <p:cNvPr id="2" name="page-subtitle">
            <a:extLst xmlns:a="http://schemas.openxmlformats.org/drawingml/2006/main">
              <a:ext uri="{FF2B5EF4-FFF2-40B4-BE49-F238E27FC236}">
                <a16:creationId xmlns:a16="http://schemas.microsoft.com/office/drawing/2014/main" id="{0AB2DCD6-1419-4C09-862E-1C2C5B5A6A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786384"/>
            <a:ext cx="11055096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00" b="0">
                <a:solidFill>
                  <a:srgbClr val="6E6A6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E6A64"/>
                </a:solidFill>
                <a:latin typeface="Microsoft YaHei"/>
                <a:ea typeface="Microsoft YaHei"/>
                <a:cs typeface="Microsoft YaHei"/>
              </a:rPr>
              <a:t>用户几何提供原型依据，公开资料只补充语义；全过程保留来源、验证与冻结证据</a:t>
            </a:r>
          </a:p>
        </p:txBody>
      </p:sp>
      <p:sp>
        <p:nvSpPr>
          <p:cNvPr id="3" name="title-divider">
            <a:extLst xmlns:a="http://schemas.openxmlformats.org/drawingml/2006/main">
              <a:ext uri="{FF2B5EF4-FFF2-40B4-BE49-F238E27FC236}">
                <a16:creationId xmlns:a16="http://schemas.microsoft.com/office/drawing/2014/main" id="{B9C5E842-5B3F-4D25-82B5-13E66981B6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566928" y="1097280"/>
            <a:ext cx="11055096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5D0C7"/>
            </a:solidFill>
            <a:prstDash val="solid"/>
          </a:ln>
        </p:spPr>
      </p:sp>
      <p:sp>
        <p:nvSpPr>
          <p:cNvPr id="4" name="offroad-data-path-title">
            <a:extLst xmlns:a="http://schemas.openxmlformats.org/drawingml/2006/main">
              <a:ext uri="{FF2B5EF4-FFF2-40B4-BE49-F238E27FC236}">
                <a16:creationId xmlns:a16="http://schemas.microsoft.com/office/drawing/2014/main" id="{468BF6C5-BAC5-4854-BF20-AF7F64BCEE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333500"/>
            <a:ext cx="2762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600" b="1">
                <a:solidFill>
                  <a:srgbClr val="7D26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00" b="1">
                <a:solidFill>
                  <a:srgbClr val="7D2633"/>
                </a:solidFill>
                <a:latin typeface="Microsoft YaHei"/>
                <a:ea typeface="Microsoft YaHei"/>
                <a:cs typeface="Microsoft YaHei"/>
              </a:rPr>
              <a:t>数据进入产品的唯一合法路径</a:t>
            </a:r>
          </a:p>
        </p:txBody>
      </p:sp>
      <p:sp>
        <p:nvSpPr>
          <p:cNvPr id="5" name="offroad-data-spine">
            <a:extLst xmlns:a="http://schemas.openxmlformats.org/drawingml/2006/main">
              <a:ext uri="{FF2B5EF4-FFF2-40B4-BE49-F238E27FC236}">
                <a16:creationId xmlns:a16="http://schemas.microsoft.com/office/drawing/2014/main" id="{BFD0E3C0-3B06-4FFA-AB63-46825508BA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781050" y="1847850"/>
            <a:ext cx="0" cy="35337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5D0C7"/>
            </a:solidFill>
            <a:prstDash val="solid"/>
          </a:ln>
        </p:spPr>
      </p:sp>
      <p:sp>
        <p:nvSpPr>
          <p:cNvPr id="6" name="data-step-0">
            <a:extLst xmlns:a="http://schemas.openxmlformats.org/drawingml/2006/main">
              <a:ext uri="{FF2B5EF4-FFF2-40B4-BE49-F238E27FC236}">
                <a16:creationId xmlns:a16="http://schemas.microsoft.com/office/drawing/2014/main" id="{D93D63B8-EF99-412B-8824-0E3F121F09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762125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303634"/>
            </a:solidFill>
            <a:prstDash val="solid"/>
          </a:ln>
        </p:spPr>
      </p:sp>
      <p:sp>
        <p:nvSpPr>
          <p:cNvPr id="7" name="data-step-num-0">
            <a:extLst xmlns:a="http://schemas.openxmlformats.org/drawingml/2006/main">
              <a:ext uri="{FF2B5EF4-FFF2-40B4-BE49-F238E27FC236}">
                <a16:creationId xmlns:a16="http://schemas.microsoft.com/office/drawing/2014/main" id="{B094DF33-8CD0-4299-A0C9-599FFC8F65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781175"/>
            <a:ext cx="3238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400" b="1">
                <a:solidFill>
                  <a:srgbClr val="30363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00" b="1">
                <a:solidFill>
                  <a:srgbClr val="303634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  <p:sp>
        <p:nvSpPr>
          <p:cNvPr id="8" name="data-step-title-0">
            <a:extLst xmlns:a="http://schemas.openxmlformats.org/drawingml/2006/main">
              <a:ext uri="{FF2B5EF4-FFF2-40B4-BE49-F238E27FC236}">
                <a16:creationId xmlns:a16="http://schemas.microsoft.com/office/drawing/2014/main" id="{7FC2C685-27C7-40AB-A5EB-786C7EAF79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1743075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00" b="1">
                <a:solidFill>
                  <a:srgbClr val="24232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242321"/>
                </a:solidFill>
                <a:latin typeface="Microsoft YaHei"/>
                <a:ea typeface="Microsoft YaHei"/>
                <a:cs typeface="Microsoft YaHei"/>
              </a:rPr>
              <a:t>几何依据</a:t>
            </a:r>
          </a:p>
        </p:txBody>
      </p:sp>
      <p:sp>
        <p:nvSpPr>
          <p:cNvPr id="9" name="data-step-body-0">
            <a:extLst xmlns:a="http://schemas.openxmlformats.org/drawingml/2006/main">
              <a:ext uri="{FF2B5EF4-FFF2-40B4-BE49-F238E27FC236}">
                <a16:creationId xmlns:a16="http://schemas.microsoft.com/office/drawing/2014/main" id="{A69C7F9E-6702-46B7-A05F-9AF18A08B5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2028825"/>
            <a:ext cx="214312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6E6A6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E6A64"/>
                </a:solidFill>
                <a:latin typeface="Microsoft YaHei"/>
                <a:ea typeface="Microsoft YaHei"/>
                <a:cs typeface="Microsoft YaHei"/>
              </a:rPr>
              <a:t>用户 GPX / KMZ / Google Earth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6E6A6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E6A64"/>
                </a:solidFill>
                <a:latin typeface="Microsoft YaHei"/>
                <a:ea typeface="Microsoft YaHei"/>
                <a:cs typeface="Microsoft YaHei"/>
              </a:rPr>
              <a:t>绘制边界与路线</a:t>
            </a:r>
          </a:p>
        </p:txBody>
      </p:sp>
      <p:sp>
        <p:nvSpPr>
          <p:cNvPr id="10" name="data-step-1">
            <a:extLst xmlns:a="http://schemas.openxmlformats.org/drawingml/2006/main">
              <a:ext uri="{FF2B5EF4-FFF2-40B4-BE49-F238E27FC236}">
                <a16:creationId xmlns:a16="http://schemas.microsoft.com/office/drawing/2014/main" id="{94B7C2A6-2E42-4C22-8CF2-CB985D0B52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714625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303634"/>
            </a:solidFill>
            <a:prstDash val="solid"/>
          </a:ln>
        </p:spPr>
      </p:sp>
      <p:sp>
        <p:nvSpPr>
          <p:cNvPr id="11" name="data-step-num-1">
            <a:extLst xmlns:a="http://schemas.openxmlformats.org/drawingml/2006/main">
              <a:ext uri="{FF2B5EF4-FFF2-40B4-BE49-F238E27FC236}">
                <a16:creationId xmlns:a16="http://schemas.microsoft.com/office/drawing/2014/main" id="{3281493B-D82E-45E6-99A2-A78AF62B70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733675"/>
            <a:ext cx="3238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400" b="1">
                <a:solidFill>
                  <a:srgbClr val="30363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00" b="1">
                <a:solidFill>
                  <a:srgbClr val="303634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  <p:sp>
        <p:nvSpPr>
          <p:cNvPr id="12" name="data-step-title-1">
            <a:extLst xmlns:a="http://schemas.openxmlformats.org/drawingml/2006/main">
              <a:ext uri="{FF2B5EF4-FFF2-40B4-BE49-F238E27FC236}">
                <a16:creationId xmlns:a16="http://schemas.microsoft.com/office/drawing/2014/main" id="{1A1C20F0-BDDB-473A-B44E-5284AFF89A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2695575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00" b="1">
                <a:solidFill>
                  <a:srgbClr val="24232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242321"/>
                </a:solidFill>
                <a:latin typeface="Microsoft YaHei"/>
                <a:ea typeface="Microsoft YaHei"/>
                <a:cs typeface="Microsoft YaHei"/>
              </a:rPr>
              <a:t>主数据</a:t>
            </a:r>
          </a:p>
        </p:txBody>
      </p:sp>
      <p:sp>
        <p:nvSpPr>
          <p:cNvPr id="13" name="data-step-body-1">
            <a:extLst xmlns:a="http://schemas.openxmlformats.org/drawingml/2006/main">
              <a:ext uri="{FF2B5EF4-FFF2-40B4-BE49-F238E27FC236}">
                <a16:creationId xmlns:a16="http://schemas.microsoft.com/office/drawing/2014/main" id="{260CBAC4-8E55-4E53-81B4-97E5C141BF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2981325"/>
            <a:ext cx="214312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6E6A6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E6A64"/>
                </a:solidFill>
                <a:latin typeface="Microsoft YaHei"/>
                <a:ea typeface="Microsoft YaHei"/>
                <a:cs typeface="Microsoft YaHei"/>
              </a:rPr>
              <a:t>WGS84 v0.4；记录来源、置信度、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6E6A6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E6A64"/>
                </a:solidFill>
                <a:latin typeface="Microsoft YaHei"/>
                <a:ea typeface="Microsoft YaHei"/>
                <a:cs typeface="Microsoft YaHei"/>
              </a:rPr>
              <a:t>验证等级与 SHA-256</a:t>
            </a:r>
          </a:p>
        </p:txBody>
      </p:sp>
      <p:sp>
        <p:nvSpPr>
          <p:cNvPr id="14" name="data-step-2">
            <a:extLst xmlns:a="http://schemas.openxmlformats.org/drawingml/2006/main">
              <a:ext uri="{FF2B5EF4-FFF2-40B4-BE49-F238E27FC236}">
                <a16:creationId xmlns:a16="http://schemas.microsoft.com/office/drawing/2014/main" id="{C2A46636-70B5-4A6C-ABEA-178F841856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667125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303634"/>
            </a:solidFill>
            <a:prstDash val="solid"/>
          </a:ln>
        </p:spPr>
      </p:sp>
      <p:sp>
        <p:nvSpPr>
          <p:cNvPr id="15" name="data-step-num-2">
            <a:extLst xmlns:a="http://schemas.openxmlformats.org/drawingml/2006/main">
              <a:ext uri="{FF2B5EF4-FFF2-40B4-BE49-F238E27FC236}">
                <a16:creationId xmlns:a16="http://schemas.microsoft.com/office/drawing/2014/main" id="{B599C8A1-46BD-49BF-8329-5C7DB4C85D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686175"/>
            <a:ext cx="3238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400" b="1">
                <a:solidFill>
                  <a:srgbClr val="30363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00" b="1">
                <a:solidFill>
                  <a:srgbClr val="303634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  <p:sp>
        <p:nvSpPr>
          <p:cNvPr id="16" name="data-step-title-2">
            <a:extLst xmlns:a="http://schemas.openxmlformats.org/drawingml/2006/main">
              <a:ext uri="{FF2B5EF4-FFF2-40B4-BE49-F238E27FC236}">
                <a16:creationId xmlns:a16="http://schemas.microsoft.com/office/drawing/2014/main" id="{1E4610DF-8040-459C-8052-090A9119A0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3648075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00" b="1">
                <a:solidFill>
                  <a:srgbClr val="24232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242321"/>
                </a:solidFill>
                <a:latin typeface="Microsoft YaHei"/>
                <a:ea typeface="Microsoft YaHei"/>
                <a:cs typeface="Microsoft YaHei"/>
              </a:rPr>
              <a:t>原型显示</a:t>
            </a:r>
          </a:p>
        </p:txBody>
      </p:sp>
      <p:sp>
        <p:nvSpPr>
          <p:cNvPr id="17" name="data-step-body-2">
            <a:extLst xmlns:a="http://schemas.openxmlformats.org/drawingml/2006/main">
              <a:ext uri="{FF2B5EF4-FFF2-40B4-BE49-F238E27FC236}">
                <a16:creationId xmlns:a16="http://schemas.microsoft.com/office/drawing/2014/main" id="{415C7009-E4AF-493B-9DCF-3529B9B20A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3933825"/>
            <a:ext cx="214312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6E6A6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E6A64"/>
                </a:solidFill>
                <a:latin typeface="Microsoft YaHei"/>
                <a:ea typeface="Microsoft YaHei"/>
                <a:cs typeface="Microsoft YaHei"/>
              </a:rPr>
              <a:t>渲染前转换为 GCJ-02；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6E6A6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E6A64"/>
                </a:solidFill>
                <a:latin typeface="Microsoft YaHei"/>
                <a:ea typeface="Microsoft YaHei"/>
                <a:cs typeface="Microsoft YaHei"/>
              </a:rPr>
              <a:t>接入高德地图与车机交互</a:t>
            </a:r>
          </a:p>
        </p:txBody>
      </p:sp>
      <p:sp>
        <p:nvSpPr>
          <p:cNvPr id="18" name="data-step-3">
            <a:extLst xmlns:a="http://schemas.openxmlformats.org/drawingml/2006/main">
              <a:ext uri="{FF2B5EF4-FFF2-40B4-BE49-F238E27FC236}">
                <a16:creationId xmlns:a16="http://schemas.microsoft.com/office/drawing/2014/main" id="{DA23408F-99C4-4CD4-B6F9-160A3E6ABF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619625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7D2633"/>
            </a:solidFill>
            <a:prstDash val="solid"/>
          </a:ln>
        </p:spPr>
      </p:sp>
      <p:sp>
        <p:nvSpPr>
          <p:cNvPr id="19" name="data-step-num-3">
            <a:extLst xmlns:a="http://schemas.openxmlformats.org/drawingml/2006/main">
              <a:ext uri="{FF2B5EF4-FFF2-40B4-BE49-F238E27FC236}">
                <a16:creationId xmlns:a16="http://schemas.microsoft.com/office/drawing/2014/main" id="{6C83FA2C-430E-4FE6-9FC1-271C15E215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638675"/>
            <a:ext cx="3238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400" b="1">
                <a:solidFill>
                  <a:srgbClr val="7D26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00" b="1">
                <a:solidFill>
                  <a:srgbClr val="7D2633"/>
                </a:solidFill>
                <a:latin typeface="Microsoft YaHei"/>
                <a:ea typeface="Microsoft YaHei"/>
                <a:cs typeface="Microsoft YaHei"/>
              </a:rPr>
              <a:t>4</a:t>
            </a:r>
          </a:p>
        </p:txBody>
      </p:sp>
      <p:sp>
        <p:nvSpPr>
          <p:cNvPr id="20" name="data-step-title-3">
            <a:extLst xmlns:a="http://schemas.openxmlformats.org/drawingml/2006/main">
              <a:ext uri="{FF2B5EF4-FFF2-40B4-BE49-F238E27FC236}">
                <a16:creationId xmlns:a16="http://schemas.microsoft.com/office/drawing/2014/main" id="{6C0CD763-C5CB-4BCC-96A7-5C7C6AB285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4600575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00" b="1">
                <a:solidFill>
                  <a:srgbClr val="24232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242321"/>
                </a:solidFill>
                <a:latin typeface="Microsoft YaHei"/>
                <a:ea typeface="Microsoft YaHei"/>
                <a:cs typeface="Microsoft YaHei"/>
              </a:rPr>
              <a:t>公开资料</a:t>
            </a:r>
          </a:p>
        </p:txBody>
      </p:sp>
      <p:sp>
        <p:nvSpPr>
          <p:cNvPr id="21" name="data-step-body-3">
            <a:extLst xmlns:a="http://schemas.openxmlformats.org/drawingml/2006/main">
              <a:ext uri="{FF2B5EF4-FFF2-40B4-BE49-F238E27FC236}">
                <a16:creationId xmlns:a16="http://schemas.microsoft.com/office/drawing/2014/main" id="{2FB801FC-6DD5-4462-933F-1712EDE673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4886325"/>
            <a:ext cx="214312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6E6A6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E6A64"/>
                </a:solidFill>
                <a:latin typeface="Microsoft YaHei"/>
                <a:ea typeface="Microsoft YaHei"/>
                <a:cs typeface="Microsoft YaHei"/>
              </a:rPr>
              <a:t>只补充背景、风险和候选照片；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6E6A6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E6A64"/>
                </a:solidFill>
                <a:latin typeface="Microsoft YaHei"/>
                <a:ea typeface="Microsoft YaHei"/>
                <a:cs typeface="Microsoft YaHei"/>
              </a:rPr>
              <a:t>不改坐标、不生成路线、不声明开放</a:t>
            </a:r>
          </a:p>
        </p:txBody>
      </p:sp>
      <p:sp>
        <p:nvSpPr>
          <p:cNvPr id="22" name="laozhanggou-title">
            <a:extLst xmlns:a="http://schemas.openxmlformats.org/drawingml/2006/main">
              <a:ext uri="{FF2B5EF4-FFF2-40B4-BE49-F238E27FC236}">
                <a16:creationId xmlns:a16="http://schemas.microsoft.com/office/drawing/2014/main" id="{14EB785F-AF85-457A-904F-567164C17B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1333500"/>
            <a:ext cx="4048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00" b="1">
                <a:solidFill>
                  <a:srgbClr val="24232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242321"/>
                </a:solidFill>
                <a:latin typeface="Microsoft YaHei"/>
                <a:ea typeface="Microsoft YaHei"/>
                <a:cs typeface="Microsoft YaHei"/>
              </a:rPr>
              <a:t>老掌沟｜路线、拓扑与风险点</a:t>
            </a:r>
          </a:p>
        </p:txBody>
      </p:sp>
      <p:pic>
        <p:nvPicPr>
          <p:cNvPr id="5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2135887efc84133"/>
          <a:stretch xmlns:a="http://schemas.openxmlformats.org/drawingml/2006/main"/>
        </p:blipFill>
        <p:spPr>
          <a:xfrm xmlns:a="http://schemas.openxmlformats.org/drawingml/2006/main">
            <a:off x="3524250" y="1784884"/>
            <a:ext cx="4953000" cy="2383357"/>
          </a:xfrm>
          <a:prstGeom xmlns:a="http://schemas.openxmlformats.org/drawingml/2006/main" prst="rect">
            <a:avLst/>
          </a:prstGeom>
        </p:spPr>
      </p:pic>
      <p:sp>
        <p:nvSpPr>
          <p:cNvPr id="24" name="wengniute-title">
            <a:extLst xmlns:a="http://schemas.openxmlformats.org/drawingml/2006/main">
              <a:ext uri="{FF2B5EF4-FFF2-40B4-BE49-F238E27FC236}">
                <a16:creationId xmlns:a16="http://schemas.microsoft.com/office/drawing/2014/main" id="{3D3B793C-39B5-4B6E-B1F7-EB2AE18A62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4429125"/>
            <a:ext cx="3143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300" b="1">
                <a:solidFill>
                  <a:srgbClr val="24232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00" b="1">
                <a:solidFill>
                  <a:srgbClr val="242321"/>
                </a:solidFill>
                <a:latin typeface="Microsoft YaHei"/>
                <a:ea typeface="Microsoft YaHei"/>
                <a:cs typeface="Microsoft YaHei"/>
              </a:rPr>
              <a:t>翁牛特｜边界、入口与区域说明</a:t>
            </a:r>
          </a:p>
        </p:txBody>
      </p:sp>
      <p:pic>
        <p:nvPicPr>
          <p:cNvPr id="6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90e879551c24312"/>
          <a:stretch xmlns:a="http://schemas.openxmlformats.org/drawingml/2006/main"/>
        </p:blipFill>
        <p:spPr>
          <a:xfrm xmlns:a="http://schemas.openxmlformats.org/drawingml/2006/main">
            <a:off x="5965387" y="4714875"/>
            <a:ext cx="1880476" cy="904875"/>
          </a:xfrm>
          <a:prstGeom xmlns:a="http://schemas.openxmlformats.org/drawingml/2006/main" prst="rect">
            <a:avLst/>
          </a:prstGeom>
        </p:spPr>
      </p:pic>
      <p:sp>
        <p:nvSpPr>
          <p:cNvPr id="26" name="status-divider-1">
            <a:extLst xmlns:a="http://schemas.openxmlformats.org/drawingml/2006/main">
              <a:ext uri="{FF2B5EF4-FFF2-40B4-BE49-F238E27FC236}">
                <a16:creationId xmlns:a16="http://schemas.microsoft.com/office/drawing/2014/main" id="{C22EB9DA-3001-43B2-9327-CB1CF0BF6F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8810625" y="1381125"/>
            <a:ext cx="0" cy="1905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25">
            <a:solidFill>
              <a:srgbClr val="6F7B72"/>
            </a:solidFill>
            <a:prstDash val="solid"/>
          </a:ln>
        </p:spPr>
      </p:sp>
      <p:sp>
        <p:nvSpPr>
          <p:cNvPr id="27" name="done-title">
            <a:extLst xmlns:a="http://schemas.openxmlformats.org/drawingml/2006/main">
              <a:ext uri="{FF2B5EF4-FFF2-40B4-BE49-F238E27FC236}">
                <a16:creationId xmlns:a16="http://schemas.microsoft.com/office/drawing/2014/main" id="{10902DF4-5FF0-4E1C-BCF2-F3AA063FF6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1125" y="1333500"/>
            <a:ext cx="2381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900" b="1">
                <a:solidFill>
                  <a:srgbClr val="6F7B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00" b="1">
                <a:solidFill>
                  <a:srgbClr val="6F7B72"/>
                </a:solidFill>
                <a:latin typeface="Microsoft YaHei"/>
                <a:ea typeface="Microsoft YaHei"/>
                <a:cs typeface="Microsoft YaHei"/>
              </a:rPr>
              <a:t>已完成</a:t>
            </a:r>
          </a:p>
        </p:txBody>
      </p:sp>
      <p:sp>
        <p:nvSpPr>
          <p:cNvPr id="28" name="done-list">
            <a:extLst xmlns:a="http://schemas.openxmlformats.org/drawingml/2006/main">
              <a:ext uri="{FF2B5EF4-FFF2-40B4-BE49-F238E27FC236}">
                <a16:creationId xmlns:a16="http://schemas.microsoft.com/office/drawing/2014/main" id="{790A014E-F4B1-4811-BD17-DD858A4598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1125" y="1714500"/>
            <a:ext cx="257175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300" b="0">
                <a:solidFill>
                  <a:srgbClr val="24232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00" b="0">
                <a:solidFill>
                  <a:srgbClr val="242321"/>
                </a:solidFill>
                <a:latin typeface="Microsoft YaHei"/>
                <a:ea typeface="Microsoft YaHei"/>
                <a:cs typeface="Microsoft YaHei"/>
              </a:rPr>
              <a:t>• 12 张 A/B/C 接受版视觉基线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300" b="0">
                <a:solidFill>
                  <a:srgbClr val="24232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00" b="0">
                <a:solidFill>
                  <a:srgbClr val="242321"/>
                </a:solidFill>
                <a:latin typeface="Microsoft YaHei"/>
                <a:ea typeface="Microsoft YaHei"/>
                <a:cs typeface="Microsoft YaHei"/>
              </a:rPr>
              <a:t>• 9 张界面还原 / 7 个关键状态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300" b="0">
                <a:solidFill>
                  <a:srgbClr val="24232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00" b="0">
                <a:solidFill>
                  <a:srgbClr val="242321"/>
                </a:solidFill>
                <a:latin typeface="Microsoft YaHei"/>
                <a:ea typeface="Microsoft YaHei"/>
                <a:cs typeface="Microsoft YaHei"/>
              </a:rPr>
              <a:t>• build / verify:m9：PASS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300" b="0">
                <a:solidFill>
                  <a:srgbClr val="24232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00" b="0">
                <a:solidFill>
                  <a:srgbClr val="242321"/>
                </a:solidFill>
                <a:latin typeface="Microsoft YaHei"/>
                <a:ea typeface="Microsoft YaHei"/>
                <a:cs typeface="Microsoft YaHei"/>
              </a:rPr>
              <a:t>• 控制台错误 0 / 页面错误 0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300" b="0">
                <a:solidFill>
                  <a:srgbClr val="24232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00" b="0">
                <a:solidFill>
                  <a:srgbClr val="242321"/>
                </a:solidFill>
                <a:latin typeface="Microsoft YaHei"/>
                <a:ea typeface="Microsoft YaHei"/>
                <a:cs typeface="Microsoft YaHei"/>
              </a:rPr>
              <a:t>• GPT Sites + Vercel 已发布</a:t>
            </a:r>
          </a:p>
        </p:txBody>
      </p:sp>
      <p:sp>
        <p:nvSpPr>
          <p:cNvPr id="29" name="status-divider-2">
            <a:extLst xmlns:a="http://schemas.openxmlformats.org/drawingml/2006/main">
              <a:ext uri="{FF2B5EF4-FFF2-40B4-BE49-F238E27FC236}">
                <a16:creationId xmlns:a16="http://schemas.microsoft.com/office/drawing/2014/main" id="{3AAF31AC-A090-4893-949C-FD26D34BF6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8810625" y="3476625"/>
            <a:ext cx="0" cy="1905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25">
            <a:solidFill>
              <a:srgbClr val="7D2633"/>
            </a:solidFill>
            <a:prstDash val="solid"/>
          </a:ln>
        </p:spPr>
      </p:sp>
      <p:sp>
        <p:nvSpPr>
          <p:cNvPr id="30" name="pending-title">
            <a:extLst xmlns:a="http://schemas.openxmlformats.org/drawingml/2006/main">
              <a:ext uri="{FF2B5EF4-FFF2-40B4-BE49-F238E27FC236}">
                <a16:creationId xmlns:a16="http://schemas.microsoft.com/office/drawing/2014/main" id="{4E450F21-114C-4B66-869B-DF40DD9E37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1125" y="3429000"/>
            <a:ext cx="2381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900" b="1">
                <a:solidFill>
                  <a:srgbClr val="7D26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00" b="1">
                <a:solidFill>
                  <a:srgbClr val="7D2633"/>
                </a:solidFill>
                <a:latin typeface="Microsoft YaHei"/>
                <a:ea typeface="Microsoft YaHei"/>
                <a:cs typeface="Microsoft YaHei"/>
              </a:rPr>
              <a:t>仍未完成</a:t>
            </a:r>
          </a:p>
        </p:txBody>
      </p:sp>
      <p:sp>
        <p:nvSpPr>
          <p:cNvPr id="31" name="pending-list">
            <a:extLst xmlns:a="http://schemas.openxmlformats.org/drawingml/2006/main">
              <a:ext uri="{FF2B5EF4-FFF2-40B4-BE49-F238E27FC236}">
                <a16:creationId xmlns:a16="http://schemas.microsoft.com/office/drawing/2014/main" id="{6E7E5BE1-B62A-4D75-B3B5-86EA328361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1125" y="3857625"/>
            <a:ext cx="2571750" cy="1476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300" b="0">
                <a:solidFill>
                  <a:srgbClr val="24232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00" b="0">
                <a:solidFill>
                  <a:srgbClr val="242321"/>
                </a:solidFill>
                <a:latin typeface="Microsoft YaHei"/>
                <a:ea typeface="Microsoft YaHei"/>
                <a:cs typeface="Microsoft YaHei"/>
              </a:rPr>
              <a:t>• 真实离线地图与文件持久化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300" b="0">
                <a:solidFill>
                  <a:srgbClr val="24232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00" b="0">
                <a:solidFill>
                  <a:srgbClr val="242321"/>
                </a:solidFill>
                <a:latin typeface="Microsoft YaHei"/>
                <a:ea typeface="Microsoft YaHei"/>
                <a:cs typeface="Microsoft YaHei"/>
              </a:rPr>
              <a:t>• 完整返航 / 最近出口动态演示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300" b="0">
                <a:solidFill>
                  <a:srgbClr val="24232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00" b="0">
                <a:solidFill>
                  <a:srgbClr val="242321"/>
                </a:solidFill>
                <a:latin typeface="Microsoft YaHei"/>
                <a:ea typeface="Microsoft YaHei"/>
                <a:cs typeface="Microsoft YaHei"/>
              </a:rPr>
              <a:t>• 现场通行核验与生产级安全逻辑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300" b="0">
                <a:solidFill>
                  <a:srgbClr val="24232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00" b="0">
                <a:solidFill>
                  <a:srgbClr val="242321"/>
                </a:solidFill>
                <a:latin typeface="Microsoft YaHei"/>
                <a:ea typeface="Microsoft YaHei"/>
                <a:cs typeface="Microsoft YaHei"/>
              </a:rPr>
              <a:t>• 真实救援调度与车辆控制</a:t>
            </a:r>
          </a:p>
        </p:txBody>
      </p:sp>
      <p:sp>
        <p:nvSpPr>
          <p:cNvPr id="32" name="offroad-review-data-note">
            <a:extLst xmlns:a="http://schemas.openxmlformats.org/drawingml/2006/main">
              <a:ext uri="{FF2B5EF4-FFF2-40B4-BE49-F238E27FC236}">
                <a16:creationId xmlns:a16="http://schemas.microsoft.com/office/drawing/2014/main" id="{5E564162-21C9-4ABB-AE3A-8FDABFFD6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1125" y="5429250"/>
            <a:ext cx="2571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100" b="1">
                <a:solidFill>
                  <a:srgbClr val="7D26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00" b="1">
                <a:solidFill>
                  <a:srgbClr val="7D2633"/>
                </a:solidFill>
                <a:latin typeface="Microsoft YaHei"/>
                <a:ea typeface="Microsoft YaHei"/>
                <a:cs typeface="Microsoft YaHei"/>
              </a:rPr>
              <a:t>用户几何也仅属原型评审数据。</a:t>
            </a:r>
          </a:p>
        </p:txBody>
      </p:sp>
      <p:sp>
        <p:nvSpPr>
          <p:cNvPr id="33" name="conclusion-band">
            <a:extLst xmlns:a="http://schemas.openxmlformats.org/drawingml/2006/main">
              <a:ext uri="{FF2B5EF4-FFF2-40B4-BE49-F238E27FC236}">
                <a16:creationId xmlns:a16="http://schemas.microsoft.com/office/drawing/2014/main" id="{62D75447-0774-439E-B994-9AC8F82153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5953125"/>
            <a:ext cx="11055096" cy="55245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303634"/>
          </a:solidFill>
          <a:ln xmlns:a="http://schemas.openxmlformats.org/drawingml/2006/main" w="0">
            <a:solidFill>
              <a:srgbClr val="303634"/>
            </a:solidFill>
            <a:prstDash val="solid"/>
          </a:ln>
        </p:spPr>
      </p:sp>
      <p:sp>
        <p:nvSpPr>
          <p:cNvPr id="34" name="conclusion-accent">
            <a:extLst xmlns:a="http://schemas.openxmlformats.org/drawingml/2006/main">
              <a:ext uri="{FF2B5EF4-FFF2-40B4-BE49-F238E27FC236}">
                <a16:creationId xmlns:a16="http://schemas.microsoft.com/office/drawing/2014/main" id="{E9EFF01A-D51C-4AB7-BDFB-39E538EF70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5953125"/>
            <a:ext cx="10477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D2633"/>
          </a:solidFill>
          <a:ln xmlns:a="http://schemas.openxmlformats.org/drawingml/2006/main" w="0">
            <a:solidFill>
              <a:srgbClr val="7D2633"/>
            </a:solidFill>
            <a:prstDash val="solid"/>
          </a:ln>
        </p:spPr>
      </p:sp>
      <p:sp>
        <p:nvSpPr>
          <p:cNvPr id="35" name="conclusion-label">
            <a:extLst xmlns:a="http://schemas.openxmlformats.org/drawingml/2006/main">
              <a:ext uri="{FF2B5EF4-FFF2-40B4-BE49-F238E27FC236}">
                <a16:creationId xmlns:a16="http://schemas.microsoft.com/office/drawing/2014/main" id="{B7003ADE-4943-4A61-9E80-4CFE9C44E3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6048375"/>
            <a:ext cx="10001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3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安全边界</a:t>
            </a:r>
          </a:p>
        </p:txBody>
      </p:sp>
      <p:sp>
        <p:nvSpPr>
          <p:cNvPr id="36" name="conclusion-text">
            <a:extLst xmlns:a="http://schemas.openxmlformats.org/drawingml/2006/main">
              <a:ext uri="{FF2B5EF4-FFF2-40B4-BE49-F238E27FC236}">
                <a16:creationId xmlns:a16="http://schemas.microsoft.com/office/drawing/2014/main" id="{1C69F1E9-A69E-4822-AA99-9F16CF32C3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6029325"/>
            <a:ext cx="94773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3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公开 POI、路线和媒体资料均为候选线索；未实地核验，不代表官方边界、准入或安全通过，不用于导航、救援或车辆控制。</a:t>
            </a:r>
          </a:p>
        </p:txBody>
      </p:sp>
    </p:spTree>
    <p:extLst>
      <p:ext uri="{BB962C8B-B14F-4D97-AF65-F5344CB8AC3E}">
        <p14:creationId xmlns:p14="http://schemas.microsoft.com/office/powerpoint/2010/main" val="29726135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2026-08-02T13:18:17.3150000Z</dcterms:created>
  <dcterms:modified xsi:type="dcterms:W3CDTF">2026-08-02T13:18:17.3160000Z</dcterms:modified>
</coreProperties>
</file>